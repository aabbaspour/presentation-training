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7" r:id="rId5"/>
    <p:sldId id="268" r:id="rId6"/>
    <p:sldId id="269" r:id="rId7"/>
    <p:sldId id="270" r:id="rId8"/>
    <p:sldId id="266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2" r:id="rId18"/>
    <p:sldId id="283" r:id="rId19"/>
    <p:sldId id="284" r:id="rId20"/>
    <p:sldId id="279" r:id="rId21"/>
    <p:sldId id="281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28" autoAdjust="0"/>
  </p:normalViewPr>
  <p:slideViewPr>
    <p:cSldViewPr>
      <p:cViewPr varScale="1">
        <p:scale>
          <a:sx n="77" d="100"/>
          <a:sy n="77" d="100"/>
        </p:scale>
        <p:origin x="-13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2185719"/>
            <a:ext cx="7543800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rtl="1" fontAlgn="base"/>
            <a:r>
              <a:rPr lang="en-US" sz="80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Google Search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4260904"/>
            <a:ext cx="1828799" cy="240141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170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9906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Logo Google 2013 Official.sv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754" y="297589"/>
            <a:ext cx="1752600" cy="60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33125"/>
            <a:ext cx="2695575" cy="58102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3200400"/>
            <a:ext cx="3800475" cy="561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3181350"/>
            <a:ext cx="3971925" cy="552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514600"/>
            <a:ext cx="3657600" cy="52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514600"/>
            <a:ext cx="3152775" cy="571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95725"/>
            <a:ext cx="4810125" cy="552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25436"/>
            <a:ext cx="2571750" cy="504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233125"/>
            <a:ext cx="3257550" cy="552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067" y="1955818"/>
            <a:ext cx="2828925" cy="476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905000"/>
            <a:ext cx="2495550" cy="504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295400"/>
            <a:ext cx="25527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4572000"/>
            <a:ext cx="3324225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810000"/>
            <a:ext cx="398145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4603469"/>
            <a:ext cx="3495675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162550"/>
            <a:ext cx="3733800" cy="476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054" y="5191125"/>
            <a:ext cx="3905250" cy="447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" y="5791200"/>
            <a:ext cx="273367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9" name="Picture 21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5" y="5791200"/>
            <a:ext cx="2905125" cy="485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0" name="Picture 22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791200"/>
            <a:ext cx="2724150" cy="504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484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</a:t>
            </a:r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search operators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2695575" cy="5810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6195" y="1219200"/>
            <a:ext cx="1655005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filetype: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1916668"/>
            <a:ext cx="3841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Example -&gt; marketing </a:t>
            </a:r>
            <a:r>
              <a:rPr lang="en-US"/>
              <a:t>plan filetype:doc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800" y="1371600"/>
            <a:ext cx="429136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Restrict search results by file type extension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7313" y="2362200"/>
            <a:ext cx="41112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smtClean="0"/>
              <a:t> </a:t>
            </a:r>
            <a:r>
              <a:rPr lang="fa-IR" smtClean="0"/>
              <a:t> </a:t>
            </a:r>
            <a:r>
              <a:rPr lang="en-US" smtClean="0"/>
              <a:t>doc</a:t>
            </a:r>
            <a:r>
              <a:rPr lang="fa-IR" smtClean="0"/>
              <a:t> ، </a:t>
            </a:r>
            <a:r>
              <a:rPr lang="en-US" smtClean="0"/>
              <a:t>docx</a:t>
            </a:r>
            <a:r>
              <a:rPr lang="fa-IR" smtClean="0"/>
              <a:t> ،  </a:t>
            </a:r>
            <a:r>
              <a:rPr lang="en-US" smtClean="0"/>
              <a:t>ppt </a:t>
            </a:r>
            <a:r>
              <a:rPr lang="fa-IR"/>
              <a:t> </a:t>
            </a:r>
            <a:r>
              <a:rPr lang="fa-IR" smtClean="0"/>
              <a:t>، </a:t>
            </a:r>
            <a:r>
              <a:rPr lang="en-US" smtClean="0"/>
              <a:t> xls </a:t>
            </a:r>
            <a:r>
              <a:rPr lang="fa-IR" smtClean="0"/>
              <a:t>، </a:t>
            </a:r>
            <a:r>
              <a:rPr lang="en-US" smtClean="0"/>
              <a:t>xls</a:t>
            </a:r>
            <a:r>
              <a:rPr lang="en-US"/>
              <a:t>x</a:t>
            </a:r>
            <a:r>
              <a:rPr lang="fa-IR" smtClean="0"/>
              <a:t>  ، </a:t>
            </a:r>
            <a:r>
              <a:rPr lang="en-US" smtClean="0"/>
              <a:t>swf</a:t>
            </a:r>
            <a:r>
              <a:rPr lang="fa-IR" smtClean="0"/>
              <a:t>، </a:t>
            </a:r>
            <a:r>
              <a:rPr lang="en-US" smtClean="0"/>
              <a:t>pdf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622606" y="2373868"/>
            <a:ext cx="208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mtClean="0">
                <a:cs typeface="B Nazanin" pitchFamily="2" charset="-78"/>
              </a:rPr>
              <a:t>برخی از پسوند های مجاز : </a:t>
            </a:r>
            <a:endParaRPr lang="en-US">
              <a:cs typeface="B Nazanin" pitchFamily="2" charset="-78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0" y="2819400"/>
            <a:ext cx="77724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6195" y="3288268"/>
            <a:ext cx="939488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site</a:t>
            </a:r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:</a:t>
            </a:r>
            <a:endParaRPr lang="en-US" sz="3200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68280" y="3507037"/>
            <a:ext cx="3027304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Search within a site or domain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19129" y="4202668"/>
            <a:ext cx="2909871" cy="369332"/>
            <a:chOff x="519129" y="5105400"/>
            <a:chExt cx="2909871" cy="369332"/>
          </a:xfrm>
        </p:grpSpPr>
        <p:sp>
          <p:nvSpPr>
            <p:cNvPr id="13" name="Rectangle 12"/>
            <p:cNvSpPr/>
            <p:nvPr/>
          </p:nvSpPr>
          <p:spPr>
            <a:xfrm>
              <a:off x="1652488" y="5105400"/>
              <a:ext cx="17765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fa-IR">
                  <a:cs typeface="B Nazanin" pitchFamily="2" charset="-78"/>
                </a:rPr>
                <a:t>مقاله </a:t>
              </a:r>
              <a:r>
                <a:rPr lang="en-US">
                  <a:cs typeface="B Nazanin" pitchFamily="2" charset="-78"/>
                </a:rPr>
                <a:t> site:masaf.ir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9129" y="5105400"/>
              <a:ext cx="12689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Example -&gt; 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19228" y="4659868"/>
            <a:ext cx="3945475" cy="369332"/>
            <a:chOff x="519228" y="5791200"/>
            <a:chExt cx="3945475" cy="369332"/>
          </a:xfrm>
        </p:grpSpPr>
        <p:sp>
          <p:nvSpPr>
            <p:cNvPr id="16" name="Rectangle 15"/>
            <p:cNvSpPr/>
            <p:nvPr/>
          </p:nvSpPr>
          <p:spPr>
            <a:xfrm>
              <a:off x="519228" y="5791200"/>
              <a:ext cx="12689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Example -&gt; 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652587" y="5791200"/>
              <a:ext cx="28121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Shia Muslim site:yahoo.com</a:t>
              </a: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69"/>
          <a:stretch/>
        </p:blipFill>
        <p:spPr bwMode="auto">
          <a:xfrm>
            <a:off x="5257800" y="2895600"/>
            <a:ext cx="3778759" cy="3925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483663" y="5181600"/>
            <a:ext cx="4305703" cy="381000"/>
            <a:chOff x="483663" y="6084332"/>
            <a:chExt cx="4305703" cy="381000"/>
          </a:xfrm>
        </p:grpSpPr>
        <p:sp>
          <p:nvSpPr>
            <p:cNvPr id="20" name="Rectangle 19"/>
            <p:cNvSpPr/>
            <p:nvPr/>
          </p:nvSpPr>
          <p:spPr>
            <a:xfrm>
              <a:off x="1617600" y="6096000"/>
              <a:ext cx="317176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cryptography </a:t>
              </a:r>
              <a:r>
                <a:rPr lang="en-US" smtClean="0"/>
                <a:t>site:www.IEEE.org</a:t>
              </a:r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3663" y="6084332"/>
              <a:ext cx="12689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Example -&gt;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430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</a:t>
            </a:r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search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6195" y="1219200"/>
            <a:ext cx="1124026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inurl: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2450068"/>
            <a:ext cx="3131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Example -&gt; </a:t>
            </a:r>
            <a:r>
              <a:rPr lang="en-US" smtClean="0"/>
              <a:t>  inurl:Cryptography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52800" y="1371600"/>
            <a:ext cx="429136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Search for a word or phrase within the URL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0" y="3581400"/>
            <a:ext cx="77724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12477" y="2450068"/>
            <a:ext cx="3954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Example -&gt;   allinurl : CryptoGraphy </a:t>
            </a:r>
            <a:r>
              <a:rPr lang="en-US" smtClean="0"/>
              <a:t> DES</a:t>
            </a: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00681" y="1803975"/>
            <a:ext cx="1646605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allinurl: </a:t>
            </a:r>
            <a:endParaRPr lang="en-US" sz="3200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66118" y="3059668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mtClean="0">
                <a:cs typeface="B Nazanin" pitchFamily="2" charset="-78"/>
              </a:rPr>
              <a:t>بدون فاصله </a:t>
            </a:r>
            <a:endParaRPr lang="en-US">
              <a:cs typeface="B Nazanin" pitchFamily="2" charset="-7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21419" y="306721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mtClean="0">
                <a:cs typeface="B Nazanin" pitchFamily="2" charset="-78"/>
              </a:rPr>
              <a:t>با فاصله </a:t>
            </a:r>
            <a:endParaRPr lang="en-US">
              <a:cs typeface="B Nazanin" pitchFamily="2" charset="-78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2133600" y="2743200"/>
            <a:ext cx="76200" cy="31646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4" idx="2"/>
          </p:cNvCxnSpPr>
          <p:nvPr/>
        </p:nvCxnSpPr>
        <p:spPr>
          <a:xfrm flipV="1">
            <a:off x="6172200" y="2819400"/>
            <a:ext cx="317774" cy="24026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89238" y="3643873"/>
            <a:ext cx="133004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intext: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000" y="4215825"/>
            <a:ext cx="1753237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allintext: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52800" y="3889523"/>
            <a:ext cx="3889655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</a:rPr>
              <a:t>Search for a word in the main body 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2113" y="5334000"/>
            <a:ext cx="3238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Example -&gt; </a:t>
            </a:r>
            <a:r>
              <a:rPr lang="en-US" smtClean="0"/>
              <a:t>  intext:Cryptography</a:t>
            </a:r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353590" y="5334000"/>
            <a:ext cx="4061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Example -&gt;   </a:t>
            </a:r>
            <a:r>
              <a:rPr lang="en-US" smtClean="0"/>
              <a:t>allintext </a:t>
            </a:r>
            <a:r>
              <a:rPr lang="en-US"/>
              <a:t>: CryptoGraphy </a:t>
            </a:r>
            <a:r>
              <a:rPr lang="en-US" smtClean="0"/>
              <a:t> DES</a:t>
            </a:r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807231" y="5943600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mtClean="0">
                <a:cs typeface="B Nazanin" pitchFamily="2" charset="-78"/>
              </a:rPr>
              <a:t>بدون فاصله </a:t>
            </a:r>
            <a:endParaRPr lang="en-US">
              <a:cs typeface="B Nazanin" pitchFamily="2" charset="-7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62532" y="5951149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mtClean="0">
                <a:cs typeface="B Nazanin" pitchFamily="2" charset="-78"/>
              </a:rPr>
              <a:t>با فاصله </a:t>
            </a:r>
            <a:endParaRPr lang="en-US">
              <a:cs typeface="B Nazanin" pitchFamily="2" charset="-78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 flipV="1">
            <a:off x="1974713" y="5627132"/>
            <a:ext cx="76200" cy="31646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40" idx="2"/>
          </p:cNvCxnSpPr>
          <p:nvPr/>
        </p:nvCxnSpPr>
        <p:spPr>
          <a:xfrm flipV="1">
            <a:off x="6013313" y="5703332"/>
            <a:ext cx="370994" cy="24026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18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</a:t>
            </a:r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search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6195" y="1219200"/>
            <a:ext cx="136069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intitle:</a:t>
            </a:r>
            <a:endParaRPr lang="en-US" sz="3200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2450068"/>
            <a:ext cx="3249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Example -&gt; </a:t>
            </a:r>
            <a:r>
              <a:rPr lang="en-US" smtClean="0"/>
              <a:t>  intitle:Cryptography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52800" y="1371600"/>
            <a:ext cx="4723409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Search for a word or phrase within the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0" y="3581400"/>
            <a:ext cx="77724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12477" y="2450068"/>
            <a:ext cx="4073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Example -&gt;   </a:t>
            </a:r>
            <a:r>
              <a:rPr lang="en-US" smtClean="0"/>
              <a:t>allintitle </a:t>
            </a:r>
            <a:r>
              <a:rPr lang="en-US"/>
              <a:t>: CryptoGraphy </a:t>
            </a:r>
            <a:r>
              <a:rPr lang="en-US" smtClean="0"/>
              <a:t> DES</a:t>
            </a: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00681" y="1803975"/>
            <a:ext cx="1883272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allintitle: </a:t>
            </a:r>
            <a:endParaRPr lang="en-US" sz="3200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66118" y="3059668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mtClean="0">
                <a:cs typeface="B Nazanin" pitchFamily="2" charset="-78"/>
              </a:rPr>
              <a:t>بدون فاصله </a:t>
            </a:r>
            <a:endParaRPr lang="en-US">
              <a:cs typeface="B Nazanin" pitchFamily="2" charset="-7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21419" y="306721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mtClean="0">
                <a:cs typeface="B Nazanin" pitchFamily="2" charset="-78"/>
              </a:rPr>
              <a:t>با فاصله </a:t>
            </a:r>
            <a:endParaRPr lang="en-US">
              <a:cs typeface="B Nazanin" pitchFamily="2" charset="-78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2209800" y="2743200"/>
            <a:ext cx="76200" cy="31646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4" idx="2"/>
          </p:cNvCxnSpPr>
          <p:nvPr/>
        </p:nvCxnSpPr>
        <p:spPr>
          <a:xfrm flipV="1">
            <a:off x="6172200" y="2819400"/>
            <a:ext cx="376829" cy="24026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84001" y="5105400"/>
            <a:ext cx="35837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Example </a:t>
            </a:r>
            <a:r>
              <a:rPr lang="en-US" smtClean="0"/>
              <a:t>-&gt;   inanchor:Cryptography</a:t>
            </a:r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455801" y="4026932"/>
            <a:ext cx="4543744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Search for a word or phrase within anchor 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5478" y="5105400"/>
            <a:ext cx="4407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Example -&gt;   </a:t>
            </a:r>
            <a:r>
              <a:rPr lang="en-US" smtClean="0"/>
              <a:t>allinanchor </a:t>
            </a:r>
            <a:r>
              <a:rPr lang="en-US"/>
              <a:t>: CryptoGraphy </a:t>
            </a:r>
            <a:r>
              <a:rPr lang="en-US" smtClean="0"/>
              <a:t> DES</a:t>
            </a: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03682" y="4267200"/>
            <a:ext cx="2379177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allinanchor</a:t>
            </a:r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: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0044" y="590721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mtClean="0">
                <a:cs typeface="B Nazanin" pitchFamily="2" charset="-78"/>
              </a:rPr>
              <a:t>بدون فاصله </a:t>
            </a:r>
            <a:endParaRPr lang="en-US">
              <a:cs typeface="B Nazanin" pitchFamily="2" charset="-7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72648" y="60671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mtClean="0">
                <a:cs typeface="B Nazanin" pitchFamily="2" charset="-78"/>
              </a:rPr>
              <a:t>با فاصله </a:t>
            </a:r>
            <a:endParaRPr lang="en-US">
              <a:cs typeface="B Nazanin" pitchFamily="2" charset="-78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H="1" flipV="1">
            <a:off x="2617172" y="5415693"/>
            <a:ext cx="165687" cy="49152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6400800" y="5474732"/>
            <a:ext cx="609600" cy="6171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03682" y="3682425"/>
            <a:ext cx="1955985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inanchor</a:t>
            </a:r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30178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</a:t>
            </a:r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search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6195" y="1219200"/>
            <a:ext cx="2079608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daterange: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2450068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-&gt; marketing plan </a:t>
            </a:r>
            <a:r>
              <a:rPr lang="en-US" smtClean="0"/>
              <a:t>daterange:2454832-2455196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52800" y="1371600"/>
            <a:ext cx="4901214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Restrict search results to pages indexed during the</a:t>
            </a:r>
          </a:p>
          <a:p>
            <a:r>
              <a:rPr lang="en-US"/>
              <a:t>specified range </a:t>
            </a:r>
            <a:r>
              <a:rPr lang="en-US" b="1">
                <a:solidFill>
                  <a:srgbClr val="FF0000"/>
                </a:solidFill>
              </a:rPr>
              <a:t>(requires Julian dates)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074084"/>
            <a:ext cx="4324350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419100" y="3074084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-&gt; </a:t>
            </a:r>
            <a:r>
              <a:rPr lang="fa-IR"/>
              <a:t>ایران خودرو </a:t>
            </a:r>
            <a:r>
              <a:rPr lang="en-US" smtClean="0"/>
              <a:t> daterange:2451597-2455250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85491" y="5102593"/>
            <a:ext cx="37389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Julian </a:t>
            </a:r>
            <a:r>
              <a:rPr lang="en-US" sz="2800" b="1" smtClean="0">
                <a:solidFill>
                  <a:srgbClr val="FF0000"/>
                </a:solidFill>
              </a:rPr>
              <a:t>dates Converter   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09962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</a:t>
            </a:r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search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6195" y="1219200"/>
            <a:ext cx="1561068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related: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968" y="2743200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-&gt; </a:t>
            </a:r>
            <a:r>
              <a:rPr lang="en-US" smtClean="0"/>
              <a:t> related:telerik.com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52800" y="1371600"/>
            <a:ext cx="3151376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Display pages of similar content</a:t>
            </a:r>
            <a:endParaRPr lang="en-US" b="1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686771"/>
            <a:ext cx="5043487" cy="4095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381800" y="2209800"/>
            <a:ext cx="754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-&gt;  related: related:www.asp.net/web-forms/videos/aspnet-ajax</a:t>
            </a:r>
          </a:p>
        </p:txBody>
      </p:sp>
      <p:cxnSp>
        <p:nvCxnSpPr>
          <p:cNvPr id="10" name="Elbow Connector 9"/>
          <p:cNvCxnSpPr>
            <a:endCxn id="5122" idx="1"/>
          </p:cNvCxnSpPr>
          <p:nvPr/>
        </p:nvCxnSpPr>
        <p:spPr>
          <a:xfrm rot="16200000" flipH="1">
            <a:off x="2830590" y="3526276"/>
            <a:ext cx="1806420" cy="609600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15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search </a:t>
            </a:r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operators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0375" y="1447800"/>
            <a:ext cx="993798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info: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1400" y="1631721"/>
            <a:ext cx="428053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</a:rPr>
              <a:t>Display info about a page that Google Know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780" y="2373868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</a:t>
            </a:r>
            <a:r>
              <a:rPr lang="en-US" smtClean="0"/>
              <a:t> -&gt;   info:masaf.ir</a:t>
            </a:r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804"/>
          <a:stretch/>
        </p:blipFill>
        <p:spPr bwMode="auto">
          <a:xfrm>
            <a:off x="1" y="3352800"/>
            <a:ext cx="4191000" cy="246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63" y="3352800"/>
            <a:ext cx="4529137" cy="2355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Straight Connector 16"/>
          <p:cNvCxnSpPr/>
          <p:nvPr/>
        </p:nvCxnSpPr>
        <p:spPr>
          <a:xfrm>
            <a:off x="4343400" y="3124200"/>
            <a:ext cx="0" cy="3352800"/>
          </a:xfrm>
          <a:prstGeom prst="line">
            <a:avLst/>
          </a:prstGeom>
          <a:ln w="57150">
            <a:prstDash val="dashDot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44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search </a:t>
            </a:r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operators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3400" y="1447800"/>
            <a:ext cx="949299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link:</a:t>
            </a:r>
            <a:endParaRPr lang="en-US" sz="3200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1555521"/>
            <a:ext cx="429027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>
                <a:solidFill>
                  <a:schemeClr val="dk1"/>
                </a:solidFill>
              </a:rPr>
              <a:t>Display pages that link to the specified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667" y="2209800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</a:t>
            </a:r>
            <a:r>
              <a:rPr lang="en-US" smtClean="0"/>
              <a:t> -&gt;   link:masaf.ir</a:t>
            </a:r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747556" y="2253734"/>
            <a:ext cx="4160636" cy="369332"/>
            <a:chOff x="4560145" y="2502932"/>
            <a:chExt cx="4160636" cy="369332"/>
          </a:xfrm>
        </p:grpSpPr>
        <p:sp>
          <p:nvSpPr>
            <p:cNvPr id="14" name="Rectangle 13"/>
            <p:cNvSpPr/>
            <p:nvPr/>
          </p:nvSpPr>
          <p:spPr>
            <a:xfrm>
              <a:off x="4560145" y="2502932"/>
              <a:ext cx="3835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rtl="1"/>
              <a:r>
                <a:rPr lang="fa-IR">
                  <a:cs typeface="B Nazanin" pitchFamily="2" charset="-78"/>
                </a:rPr>
                <a:t>این امکان یکی از ابزارهای بررسی در </a:t>
              </a:r>
              <a:r>
                <a:rPr lang="en-US">
                  <a:cs typeface="B Nazanin" pitchFamily="2" charset="-78"/>
                </a:rPr>
                <a:t>SEO </a:t>
              </a:r>
              <a:r>
                <a:rPr lang="fa-IR">
                  <a:cs typeface="B Nazanin" pitchFamily="2" charset="-78"/>
                </a:rPr>
                <a:t> میباشد .</a:t>
              </a:r>
              <a:endParaRPr lang="en-US">
                <a:cs typeface="B Nazanin" pitchFamily="2" charset="-78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8492181" y="2579132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/>
          <p:cNvCxnSpPr/>
          <p:nvPr/>
        </p:nvCxnSpPr>
        <p:spPr>
          <a:xfrm>
            <a:off x="861356" y="2819400"/>
            <a:ext cx="77724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2865" y="2819400"/>
            <a:ext cx="1305935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cache: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2664" y="3048000"/>
            <a:ext cx="4073936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Display Google’s cached version of a page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3400" y="3516868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 -&gt;   cache:www.Masaf.ir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762000" y="3962400"/>
            <a:ext cx="77724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60375" y="4343400"/>
            <a:ext cx="1423980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define: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4507468"/>
            <a:ext cx="244406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/>
              <a:t>Define a word or phrase</a:t>
            </a:r>
            <a:endParaRPr lang="en-US">
              <a:solidFill>
                <a:schemeClr val="dk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71" r="7612"/>
          <a:stretch/>
        </p:blipFill>
        <p:spPr bwMode="auto">
          <a:xfrm>
            <a:off x="5444745" y="4090775"/>
            <a:ext cx="3699255" cy="27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05" y="5388524"/>
            <a:ext cx="3633787" cy="14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460375" y="5029200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 -&gt;   Define:Cryptography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200400" y="6629400"/>
            <a:ext cx="25908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73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search </a:t>
            </a:r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operators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0375" y="1295400"/>
            <a:ext cx="139089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stocks:</a:t>
            </a:r>
            <a:endParaRPr lang="en-US" sz="3200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5105400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/>
              <a:t>Display stock quote and financial info for a specified</a:t>
            </a:r>
          </a:p>
          <a:p>
            <a:r>
              <a:rPr lang="en-US"/>
              <a:t>ticker symbol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9780" y="2221468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 -&gt;   stocks:Samsung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728784"/>
            <a:ext cx="7162800" cy="40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55575" y="3886200"/>
            <a:ext cx="1437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Stocks</a:t>
            </a:r>
            <a:r>
              <a:rPr lang="fa-IR" smtClean="0"/>
              <a:t> = </a:t>
            </a:r>
            <a:r>
              <a:rPr lang="en-US" smtClean="0"/>
              <a:t> </a:t>
            </a:r>
            <a:r>
              <a:rPr lang="fa-IR" smtClean="0"/>
              <a:t>سهام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4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search </a:t>
            </a:r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operators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1295400"/>
            <a:ext cx="4124462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{weather in location} </a:t>
            </a:r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:</a:t>
            </a:r>
            <a:endParaRPr lang="en-US" sz="3200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0" y="1371599"/>
            <a:ext cx="3127289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/>
              <a:t>Shows a multiday basic weather forecast for the</a:t>
            </a:r>
          </a:p>
          <a:p>
            <a:pPr algn="ctr"/>
            <a:r>
              <a:rPr lang="en-US"/>
              <a:t>specified location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2137" y="2819400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 -&gt; weather in Mashhad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514600"/>
            <a:ext cx="5097604" cy="424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60375" y="2292188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 -&gt; weather in Iran</a:t>
            </a:r>
          </a:p>
        </p:txBody>
      </p:sp>
      <p:cxnSp>
        <p:nvCxnSpPr>
          <p:cNvPr id="15" name="Elbow Connector 14"/>
          <p:cNvCxnSpPr>
            <a:stCxn id="10" idx="1"/>
            <a:endCxn id="8194" idx="1"/>
          </p:cNvCxnSpPr>
          <p:nvPr/>
        </p:nvCxnSpPr>
        <p:spPr>
          <a:xfrm rot="10800000" flipH="1" flipV="1">
            <a:off x="452136" y="3004066"/>
            <a:ext cx="3510263" cy="1630748"/>
          </a:xfrm>
          <a:prstGeom prst="bentConnector3">
            <a:avLst>
              <a:gd name="adj1" fmla="val -6512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8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search </a:t>
            </a:r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operators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1295400"/>
            <a:ext cx="4013215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{movies </a:t>
            </a:r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in location} </a:t>
            </a:r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:</a:t>
            </a:r>
            <a:endParaRPr lang="en-US" sz="3200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0" y="1371599"/>
            <a:ext cx="3127289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/>
              <a:t>Returns movie showtimes that are playing at all</a:t>
            </a:r>
          </a:p>
          <a:p>
            <a:pPr algn="ctr"/>
            <a:r>
              <a:rPr lang="en-US"/>
              <a:t>theaters in this location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375" y="2292188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 -&gt; movies in Iran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89" y="2866964"/>
            <a:ext cx="8260492" cy="3914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506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 search </a:t>
            </a:r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operators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600" y="1295400"/>
            <a:ext cx="4822346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32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{</a:t>
            </a:r>
            <a:r>
              <a:rPr lang="en-US" sz="32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flights to/from location} :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4711" y="1371599"/>
            <a:ext cx="3127289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/>
              <a:t>Returns flight times to, from, or between the</a:t>
            </a:r>
          </a:p>
          <a:p>
            <a:pPr algn="ctr"/>
            <a:r>
              <a:rPr lang="en-US"/>
              <a:t>locations specified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" y="2450068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Example  -&gt; flights from tehran to shiraz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54" y="2476854"/>
            <a:ext cx="4814546" cy="434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257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2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8382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101025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Google-related services</a:t>
            </a: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62986"/>
              </p:ext>
            </p:extLst>
          </p:nvPr>
        </p:nvGraphicFramePr>
        <p:xfrm>
          <a:off x="228600" y="914400"/>
          <a:ext cx="8683625" cy="583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473"/>
                <a:gridCol w="6470152"/>
              </a:tblGrid>
              <a:tr h="38176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9948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Desktop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Program installed on your PC that indexes your documents, emails, and visited web pages.</a:t>
                      </a:r>
                    </a:p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Search from your web browser.</a:t>
                      </a:r>
                      <a:endParaRPr lang="en-US" sz="1600"/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Toolbar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search within the search results and related functionality integrated into your Internet Explorer or Firefox web browser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Pack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Free software for your Windows PC, including antivirus, antispyware, Google Desktop, and much more, all in one easy download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Alerts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Automated, free monitoring service of search results in Google and Google News for chosen</a:t>
                      </a:r>
                    </a:p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keywords—a “clipping service” of sorts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Books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Google’s effort to digitize the world’s printed information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Soople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third-party interface to the Google search engine.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Sets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 a set of items from a few specified examples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Scholar 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Search through scholarly literature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381764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News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Search and browse news sources (both new and old, worldwide or within a particular country), by news source, relevance, or date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40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Google-related services</a:t>
            </a: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730654"/>
              </p:ext>
            </p:extLst>
          </p:nvPr>
        </p:nvGraphicFramePr>
        <p:xfrm>
          <a:off x="228600" y="1287353"/>
          <a:ext cx="8683625" cy="5494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473"/>
                <a:gridCol w="6470152"/>
              </a:tblGrid>
              <a:tr h="38176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9948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Groups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Browse, search, create, and post to discussion groups and Usenet newsgroups and to email discussion list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Images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Search for photos, clipart, logos, icons, and illustrations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Directory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searchable directory of sites, editorially reviewed and organized by topic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Search by Country</a:t>
                      </a:r>
                    </a:p>
                    <a:p>
                      <a:pPr algn="ctr"/>
                      <a:r>
                        <a:rPr lang="en-US" sz="14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 Language</a:t>
                      </a:r>
                      <a:endParaRPr lang="en-US" sz="14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Search only those websites that are in a particular country . http://www.askapache.com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YouTube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http://www.youtube.com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Google+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(Google Plus)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https://plus.google.com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Product Search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http://www.google.com/prdhp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Blogger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http://www.blogger.com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381764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Web History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https://history.google.com/history  </a:t>
                      </a:r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  <a:r>
                        <a:rPr lang="en-US" sz="18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600" b="0" i="1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http://www.google.com/searchhistory</a:t>
                      </a:r>
                      <a:r>
                        <a:rPr lang="en-US" sz="18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48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Google-related services</a:t>
            </a: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44856"/>
              </p:ext>
            </p:extLst>
          </p:nvPr>
        </p:nvGraphicFramePr>
        <p:xfrm>
          <a:off x="228600" y="1287353"/>
          <a:ext cx="8683625" cy="5189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473"/>
                <a:gridCol w="6470152"/>
              </a:tblGrid>
              <a:tr h="38176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9948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Reader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http://reader.google.com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SMS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http://sms.google.com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Mobile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http://www.google.com/mobile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Talk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https://talk.google.com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Earth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http://earth.google.com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Picasa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http://picasa.google.com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Patent Search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http://www.google.com/patents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Trends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http://www.google.com/trends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381764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Calendar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http://www.google.com/calendar</a:t>
                      </a:r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69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Google-related services</a:t>
            </a: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341885"/>
              </p:ext>
            </p:extLst>
          </p:nvPr>
        </p:nvGraphicFramePr>
        <p:xfrm>
          <a:off x="228600" y="1287353"/>
          <a:ext cx="8683625" cy="531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473"/>
                <a:gridCol w="6470152"/>
              </a:tblGrid>
              <a:tr h="38176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9948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Code Search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http://www.google.com/codesearch</a:t>
                      </a:r>
                      <a:endParaRPr lang="en-US" sz="1800" b="0" i="1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Google Mobile App for Smartphones</a:t>
                      </a:r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1" u="none" strike="noStrike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http://m.google.com     Or http://www.google.com/mobile</a:t>
                      </a:r>
                      <a:endParaRPr lang="en-US" sz="1800" b="0" i="1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b="0" i="1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18091">
                <a:tc>
                  <a:txBody>
                    <a:bodyPr/>
                    <a:lstStyle/>
                    <a:p>
                      <a:pPr algn="ctr"/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381764">
                <a:tc>
                  <a:txBody>
                    <a:bodyPr/>
                    <a:lstStyle/>
                    <a:p>
                      <a:pPr algn="ctr"/>
                      <a:endParaRPr lang="en-US" sz="1800" b="1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b="0" i="0" u="none" strike="noStrike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1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7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762000" y="1143000"/>
            <a:ext cx="77724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733801" y="304799"/>
            <a:ext cx="466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cs typeface="B Nazanin" pitchFamily="2" charset="-78"/>
              </a:rPr>
              <a:t>Google</a:t>
            </a:r>
            <a:endParaRPr lang="en-US" sz="3200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cs typeface="B Nazanin" pitchFamily="2" charset="-78"/>
            </a:endParaRPr>
          </a:p>
        </p:txBody>
      </p:sp>
      <p:sp>
        <p:nvSpPr>
          <p:cNvPr id="3" name="AutoShape 2" descr="Image result for Goog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Goog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1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4049</TotalTime>
  <Words>732</Words>
  <Application>Microsoft Office PowerPoint</Application>
  <PresentationFormat>On-screen Show (4:3)</PresentationFormat>
  <Paragraphs>165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Abbaspoor,Afshin</dc:creator>
  <cp:lastModifiedBy>Abbaspoor,Afshin</cp:lastModifiedBy>
  <cp:revision>137</cp:revision>
  <dcterms:created xsi:type="dcterms:W3CDTF">2006-08-16T00:00:00Z</dcterms:created>
  <dcterms:modified xsi:type="dcterms:W3CDTF">2015-03-16T10:08:05Z</dcterms:modified>
</cp:coreProperties>
</file>