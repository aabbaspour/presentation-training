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13"/>
  </p:notesMasterIdLst>
  <p:handoutMasterIdLst>
    <p:handoutMasterId r:id="rId14"/>
  </p:handoutMasterIdLst>
  <p:sldIdLst>
    <p:sldId id="267" r:id="rId5"/>
    <p:sldId id="278" r:id="rId6"/>
    <p:sldId id="284" r:id="rId7"/>
    <p:sldId id="285" r:id="rId8"/>
    <p:sldId id="286" r:id="rId9"/>
    <p:sldId id="282" r:id="rId10"/>
    <p:sldId id="277" r:id="rId11"/>
    <p:sldId id="283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9" autoAdjust="0"/>
  </p:normalViewPr>
  <p:slideViewPr>
    <p:cSldViewPr>
      <p:cViewPr>
        <p:scale>
          <a:sx n="80" d="100"/>
          <a:sy n="80" d="100"/>
        </p:scale>
        <p:origin x="378" y="-19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6E22E-288A-414B-A8DE-E4DBD03D5FC0}" type="datetimeFigureOut">
              <a:rPr lang="en-US"/>
              <a:t>7/14/2019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14579-D02A-4B51-B5DF-8EC449F77AC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81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9AE7E-E0F9-4C51-AD9A-F4C3A6E23BBF}" type="datetimeFigureOut">
              <a:rPr lang="en-US"/>
              <a:t>7/14/2019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74690-7256-4BB9-AC0F-97AEAE8CDEC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42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6792" y="1905003"/>
            <a:ext cx="9435241" cy="1625599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2103" y="3657123"/>
            <a:ext cx="9429931" cy="99107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1218882" y="1600200"/>
            <a:ext cx="9739746" cy="73152"/>
            <a:chOff x="914400" y="1200150"/>
            <a:chExt cx="7306712" cy="54864"/>
          </a:xfrm>
        </p:grpSpPr>
        <p:sp>
          <p:nvSpPr>
            <p:cNvPr id="8" name="Oval 7"/>
            <p:cNvSpPr/>
            <p:nvPr/>
          </p:nvSpPr>
          <p:spPr>
            <a:xfrm>
              <a:off x="8166248" y="12001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Oval 8"/>
            <p:cNvSpPr/>
            <p:nvPr/>
          </p:nvSpPr>
          <p:spPr>
            <a:xfrm>
              <a:off x="914400" y="12001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1036847" y="1207626"/>
              <a:ext cx="7074290" cy="38998"/>
              <a:chOff x="2141408" y="1752956"/>
              <a:chExt cx="7315200" cy="38998"/>
            </a:xfrm>
            <a:solidFill>
              <a:schemeClr val="tx2"/>
            </a:solidFill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2141408" y="1752956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2141408" y="1791954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/>
          <p:cNvGrpSpPr/>
          <p:nvPr/>
        </p:nvGrpSpPr>
        <p:grpSpPr>
          <a:xfrm>
            <a:off x="1218882" y="4851400"/>
            <a:ext cx="9739746" cy="73152"/>
            <a:chOff x="914400" y="3638550"/>
            <a:chExt cx="7306712" cy="54864"/>
          </a:xfrm>
        </p:grpSpPr>
        <p:sp>
          <p:nvSpPr>
            <p:cNvPr id="14" name="Oval 13"/>
            <p:cNvSpPr/>
            <p:nvPr/>
          </p:nvSpPr>
          <p:spPr>
            <a:xfrm>
              <a:off x="8166248" y="36385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914400" y="36385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1036847" y="3646026"/>
              <a:ext cx="7074290" cy="38998"/>
              <a:chOff x="2141408" y="1752956"/>
              <a:chExt cx="7315200" cy="38998"/>
            </a:xfrm>
            <a:solidFill>
              <a:schemeClr val="tx2"/>
            </a:solidFill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141408" y="1752956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141408" y="1791954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43764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906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030" y="990599"/>
            <a:ext cx="9344765" cy="2235203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8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030" y="3733800"/>
            <a:ext cx="9344765" cy="1219200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3273781" y="3475736"/>
            <a:ext cx="5641265" cy="54864"/>
            <a:chOff x="2455975" y="2588441"/>
            <a:chExt cx="4232051" cy="41148"/>
          </a:xfrm>
        </p:grpSpPr>
        <p:sp>
          <p:nvSpPr>
            <p:cNvPr id="14" name="Oval 13"/>
            <p:cNvSpPr/>
            <p:nvPr/>
          </p:nvSpPr>
          <p:spPr>
            <a:xfrm>
              <a:off x="6642306" y="2588441"/>
              <a:ext cx="45720" cy="41148"/>
            </a:xfrm>
            <a:prstGeom prst="ellipse">
              <a:avLst/>
            </a:prstGeom>
            <a:solidFill>
              <a:schemeClr val="tx1"/>
            </a:solidFill>
            <a:ln w="264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455975" y="2588441"/>
              <a:ext cx="45720" cy="41148"/>
            </a:xfrm>
            <a:prstGeom prst="ellipse">
              <a:avLst/>
            </a:prstGeom>
            <a:solidFill>
              <a:schemeClr val="tx1"/>
            </a:solidFill>
            <a:ln w="264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563229" y="2594391"/>
              <a:ext cx="4023360" cy="29249"/>
              <a:chOff x="2550323" y="3458731"/>
              <a:chExt cx="4023360" cy="38998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550323" y="3458731"/>
                <a:ext cx="402336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550323" y="3497729"/>
                <a:ext cx="402336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55262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803400"/>
            <a:ext cx="4773956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803400"/>
            <a:ext cx="4773956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077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2945" y="1803400"/>
            <a:ext cx="4769806" cy="7112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514600"/>
            <a:ext cx="4773956" cy="35560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0049" y="1803400"/>
            <a:ext cx="4769806" cy="7112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5986" y="2514600"/>
            <a:ext cx="4773956" cy="35560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258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593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28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803400"/>
            <a:ext cx="6602281" cy="4267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0"/>
            <a:ext cx="2844060" cy="4267201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864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8883" y="1803400"/>
            <a:ext cx="6602280" cy="426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338739" y="1925320"/>
            <a:ext cx="6362567" cy="402336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1"/>
            <a:ext cx="2844060" cy="41656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505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322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34563" y="434975"/>
            <a:ext cx="1168400" cy="5661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434975"/>
            <a:ext cx="8413750" cy="566102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570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304721" y="301752"/>
            <a:ext cx="11579384" cy="6254496"/>
          </a:xfrm>
          <a:prstGeom prst="roundRect">
            <a:avLst>
              <a:gd name="adj" fmla="val 2341"/>
            </a:avLst>
          </a:prstGeom>
          <a:solidFill>
            <a:srgbClr val="FFFFFF"/>
          </a:solidFill>
          <a:ln>
            <a:noFill/>
          </a:ln>
          <a:effectLst>
            <a:innerShdw blurRad="508000">
              <a:srgbClr val="FFD14B">
                <a:alpha val="69804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431800"/>
            <a:ext cx="9751060" cy="1168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803400"/>
            <a:ext cx="975106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2" y="6172200"/>
            <a:ext cx="741487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E36636D-D922-432D-A958-524484B5923D}" type="datetimeFigureOut">
              <a:rPr lang="en-US"/>
              <a:pPr/>
              <a:t>7/14/2019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58928" y="6172200"/>
            <a:ext cx="711015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722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039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53896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1">
                <a:shade val="12000"/>
                <a:satMod val="240000"/>
              </a:schemeClr>
              <a:schemeClr val="bg1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a-IR" sz="7200" dirty="0" smtClean="0">
                <a:cs typeface="B Nazanin" panose="00000400000000000000" pitchFamily="2" charset="-78"/>
              </a:rPr>
              <a:t>مهارت حل مسئله 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250000"/>
              </a:lnSpc>
            </a:pPr>
            <a:r>
              <a:rPr lang="en-US" sz="2400" dirty="0">
                <a:cs typeface="B Arash" panose="00000400000000000000" pitchFamily="2" charset="-78"/>
              </a:rPr>
              <a:t>problem solving</a:t>
            </a:r>
            <a:endParaRPr lang="en-US" sz="2400" dirty="0">
              <a:cs typeface="B Arash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0754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533400"/>
            <a:ext cx="9751060" cy="787400"/>
          </a:xfrm>
        </p:spPr>
        <p:txBody>
          <a:bodyPr>
            <a:normAutofit/>
          </a:bodyPr>
          <a:lstStyle/>
          <a:p>
            <a:pPr algn="r"/>
            <a:r>
              <a:rPr lang="fa-IR" sz="4000" dirty="0" smtClean="0">
                <a:solidFill>
                  <a:srgbClr val="993300"/>
                </a:solidFill>
                <a:cs typeface="B Nazanin" panose="00000400000000000000" pitchFamily="2" charset="-78"/>
              </a:rPr>
              <a:t>تعریف مسئله  </a:t>
            </a:r>
            <a:endParaRPr lang="en-US" sz="4000" dirty="0">
              <a:solidFill>
                <a:srgbClr val="993300"/>
              </a:solidFill>
              <a:cs typeface="B Nazanin" panose="00000400000000000000" pitchFamily="2" charset="-78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218883" y="1371600"/>
            <a:ext cx="9828529" cy="0"/>
          </a:xfrm>
          <a:prstGeom prst="line">
            <a:avLst/>
          </a:prstGeom>
          <a:ln w="28575">
            <a:headEnd type="oval" w="med" len="med"/>
            <a:tailEnd type="oval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4212" y="1600200"/>
            <a:ext cx="81367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 rtl="1"/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وقتی </a:t>
            </a:r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وضعیت فعلی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</a:t>
            </a:r>
            <a:r>
              <a:rPr lang="en-US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Current State</a:t>
            </a:r>
            <a:r>
              <a:rPr lang="fa-IR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خود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را می‌شناسید و نیز </a:t>
            </a:r>
            <a:r>
              <a:rPr lang="fa-IR" sz="1600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می‌دانید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که </a:t>
            </a:r>
            <a:r>
              <a:rPr lang="fa-IR" sz="1600" b="1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وضعیت مطلوب و هدف شما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</a:t>
            </a:r>
            <a:r>
              <a:rPr lang="en-US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Goal State</a:t>
            </a:r>
            <a:r>
              <a:rPr lang="fa-IR" sz="12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چیست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؛ اما </a:t>
            </a:r>
            <a:r>
              <a:rPr lang="fa-IR" sz="1600" b="1" dirty="0">
                <a:solidFill>
                  <a:srgbClr val="0070C0"/>
                </a:solidFill>
                <a:latin typeface="IRANSans"/>
                <a:cs typeface="B Nazanin" panose="00000400000000000000" pitchFamily="2" charset="-78"/>
              </a:rPr>
              <a:t>نمی‌دانید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که </a:t>
            </a:r>
            <a:r>
              <a:rPr lang="fa-IR" sz="1600" dirty="0">
                <a:solidFill>
                  <a:srgbClr val="0070C0"/>
                </a:solidFill>
                <a:latin typeface="IRANSans"/>
                <a:cs typeface="B Nazanin" panose="00000400000000000000" pitchFamily="2" charset="-78"/>
              </a:rPr>
              <a:t>با طی کردن چه مسیری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می‌توانید از </a:t>
            </a:r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وضعیت فعلی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به </a:t>
            </a:r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وضعیت مطلوب 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برسید، عملاً با یک </a:t>
            </a:r>
            <a:r>
              <a:rPr lang="fa-IR" sz="1600" b="1" dirty="0">
                <a:solidFill>
                  <a:schemeClr val="tx1">
                    <a:lumMod val="75000"/>
                  </a:schemeClr>
                </a:solidFill>
                <a:latin typeface="IRANSans"/>
                <a:cs typeface="B Nazanin" panose="00000400000000000000" pitchFamily="2" charset="-78"/>
              </a:rPr>
              <a:t>مسئله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مواجه هستید</a:t>
            </a:r>
            <a:r>
              <a:rPr lang="fa-IR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.</a:t>
            </a:r>
            <a:endParaRPr lang="en-US" sz="1600" dirty="0">
              <a:cs typeface="B Nazanin" panose="00000400000000000000" pitchFamily="2" charset="-78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8912186" y="1600200"/>
            <a:ext cx="2741456" cy="1800998"/>
            <a:chOff x="8912186" y="1600200"/>
            <a:chExt cx="2741456" cy="1800998"/>
          </a:xfrm>
        </p:grpSpPr>
        <p:sp>
          <p:nvSpPr>
            <p:cNvPr id="5" name="Rectangle 4"/>
            <p:cNvSpPr/>
            <p:nvPr/>
          </p:nvSpPr>
          <p:spPr>
            <a:xfrm>
              <a:off x="9577432" y="2895600"/>
              <a:ext cx="141096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fontAlgn="base"/>
              <a:r>
                <a:rPr lang="en-US" sz="1200" b="1" cap="all" dirty="0">
                  <a:solidFill>
                    <a:srgbClr val="0C4C7A"/>
                  </a:solidFill>
                  <a:latin typeface="Lato" panose="020F0502020204030203" pitchFamily="34" charset="0"/>
                </a:rPr>
                <a:t>IAN ROBERTSON</a:t>
              </a:r>
              <a:endParaRPr lang="en-US" sz="1200" b="1" i="0" cap="all" dirty="0">
                <a:solidFill>
                  <a:srgbClr val="0C4C7A"/>
                </a:solidFill>
                <a:effectLst/>
                <a:latin typeface="Lato" panose="020F0502020204030203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8912186" y="3124199"/>
              <a:ext cx="274145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DA0579"/>
                  </a:solidFill>
                  <a:latin typeface="Raleway"/>
                </a:rPr>
                <a:t>Clinical Psychologist &amp; Neuroscientist</a:t>
              </a:r>
              <a:endParaRPr lang="en-US" sz="1200" dirty="0"/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8912186" y="1600200"/>
              <a:ext cx="2135226" cy="1295400"/>
              <a:chOff x="8912186" y="1600200"/>
              <a:chExt cx="2135226" cy="1295400"/>
            </a:xfrm>
          </p:grpSpPr>
          <p:pic>
            <p:nvPicPr>
              <p:cNvPr id="1026" name="Picture 2" descr="Related image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593" r="10145"/>
              <a:stretch/>
            </p:blipFill>
            <p:spPr bwMode="auto">
              <a:xfrm>
                <a:off x="9518416" y="1600200"/>
                <a:ext cx="1528996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28667" t="5999" r="28666" b="6001"/>
              <a:stretch/>
            </p:blipFill>
            <p:spPr>
              <a:xfrm>
                <a:off x="8912186" y="1666875"/>
                <a:ext cx="838200" cy="1152525"/>
              </a:xfrm>
              <a:prstGeom prst="rect">
                <a:avLst/>
              </a:prstGeom>
            </p:spPr>
          </p:pic>
        </p:grpSp>
      </p:grpSp>
      <p:grpSp>
        <p:nvGrpSpPr>
          <p:cNvPr id="24" name="Group 23"/>
          <p:cNvGrpSpPr/>
          <p:nvPr/>
        </p:nvGrpSpPr>
        <p:grpSpPr>
          <a:xfrm>
            <a:off x="421843" y="2590800"/>
            <a:ext cx="8008920" cy="1815882"/>
            <a:chOff x="421843" y="2667000"/>
            <a:chExt cx="8008920" cy="1815882"/>
          </a:xfrm>
        </p:grpSpPr>
        <p:sp>
          <p:nvSpPr>
            <p:cNvPr id="12" name="Rectangle 11"/>
            <p:cNvSpPr/>
            <p:nvPr/>
          </p:nvSpPr>
          <p:spPr>
            <a:xfrm>
              <a:off x="421843" y="2667000"/>
              <a:ext cx="7825097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Low" rtl="1"/>
              <a:r>
                <a:rPr lang="fa-IR" sz="1600" dirty="0" smtClean="0">
                  <a:solidFill>
                    <a:schemeClr val="tx2"/>
                  </a:solidFill>
                  <a:latin typeface="IRANSans"/>
                  <a:cs typeface="B Nazanin" panose="00000400000000000000" pitchFamily="2" charset="-78"/>
                </a:rPr>
                <a:t>50+127 = ؟</a:t>
              </a:r>
            </a:p>
            <a:p>
              <a:pPr algn="justLow" rtl="1"/>
              <a:r>
                <a:rPr lang="fa-IR" sz="1400" dirty="0" smtClean="0">
                  <a:solidFill>
                    <a:schemeClr val="tx2"/>
                  </a:solidFill>
                  <a:latin typeface="IRANSans"/>
                  <a:cs typeface="B Nazanin" panose="00000400000000000000" pitchFamily="2" charset="-78"/>
                </a:rPr>
                <a:t> </a:t>
              </a:r>
              <a:r>
                <a:rPr lang="fa-IR" sz="1600" dirty="0">
                  <a:solidFill>
                    <a:schemeClr val="tx2"/>
                  </a:solidFill>
                  <a:cs typeface="B Nazanin" panose="00000400000000000000" pitchFamily="2" charset="-78"/>
                </a:rPr>
                <a:t>ترافیک وب‌سایت من کم است </a:t>
              </a:r>
              <a:r>
                <a:rPr lang="fa-IR" sz="1600" dirty="0">
                  <a:solidFill>
                    <a:schemeClr val="tx2"/>
                  </a:solidFill>
                  <a:cs typeface="B Nazanin" panose="00000400000000000000" pitchFamily="2" charset="-78"/>
                </a:rPr>
                <a:t>می‌خواهم </a:t>
              </a:r>
              <a:r>
                <a:rPr lang="fa-IR" sz="1600" dirty="0">
                  <a:solidFill>
                    <a:schemeClr val="tx2"/>
                  </a:solidFill>
                  <a:cs typeface="B Nazanin" panose="00000400000000000000" pitchFamily="2" charset="-78"/>
                </a:rPr>
                <a:t>طی سه ماه آینده بازدیدها را ده برابر کنم</a:t>
              </a:r>
              <a:r>
                <a:rPr lang="fa-IR" sz="1600" dirty="0">
                  <a:solidFill>
                    <a:schemeClr val="tx2"/>
                  </a:solidFill>
                  <a:cs typeface="B Nazanin" panose="00000400000000000000" pitchFamily="2" charset="-78"/>
                </a:rPr>
                <a:t>.</a:t>
              </a:r>
              <a:endParaRPr lang="en-US" sz="1600" dirty="0">
                <a:solidFill>
                  <a:schemeClr val="tx2"/>
                </a:solidFill>
                <a:cs typeface="B Nazanin" panose="00000400000000000000" pitchFamily="2" charset="-78"/>
              </a:endParaRPr>
            </a:p>
            <a:p>
              <a:pPr algn="justLow" rtl="1"/>
              <a:r>
                <a:rPr lang="fa-IR" sz="1600" dirty="0">
                  <a:solidFill>
                    <a:schemeClr val="tx2"/>
                  </a:solidFill>
                  <a:cs typeface="B Nazanin" panose="00000400000000000000" pitchFamily="2" charset="-78"/>
                </a:rPr>
                <a:t>در حال حاضر انگیزه‌ی همکاران در شرکت بسیار کم است. </a:t>
              </a:r>
              <a:r>
                <a:rPr lang="fa-IR" sz="1600" dirty="0">
                  <a:solidFill>
                    <a:schemeClr val="tx2"/>
                  </a:solidFill>
                  <a:cs typeface="B Nazanin" panose="00000400000000000000" pitchFamily="2" charset="-78"/>
                </a:rPr>
                <a:t>می‌خواهیم انگیزه‌ی آنها افزایش پیدا کند</a:t>
              </a:r>
              <a:r>
                <a:rPr lang="fa-IR" sz="1600" dirty="0" smtClean="0">
                  <a:solidFill>
                    <a:schemeClr val="tx2"/>
                  </a:solidFill>
                  <a:cs typeface="B Nazanin" panose="00000400000000000000" pitchFamily="2" charset="-78"/>
                </a:rPr>
                <a:t>.</a:t>
              </a:r>
            </a:p>
            <a:p>
              <a:pPr algn="justLow" rtl="1"/>
              <a:r>
                <a:rPr lang="fa-IR" sz="1600" dirty="0" smtClean="0">
                  <a:solidFill>
                    <a:schemeClr val="tx2"/>
                  </a:solidFill>
                  <a:cs typeface="B Nazanin" panose="00000400000000000000" pitchFamily="2" charset="-78"/>
                </a:rPr>
                <a:t>ترافیک سایت بالا برود بهتر است یا زیاد بالا نباشد ؟ </a:t>
              </a:r>
            </a:p>
            <a:p>
              <a:pPr algn="justLow" rtl="1"/>
              <a:r>
                <a:rPr lang="fa-IR" sz="1600" dirty="0" smtClean="0">
                  <a:solidFill>
                    <a:schemeClr val="tx2"/>
                  </a:solidFill>
                  <a:cs typeface="B Nazanin" panose="00000400000000000000" pitchFamily="2" charset="-78"/>
                </a:rPr>
                <a:t>من میخواهم در آمد سالیانه شرکت را افزایش دهم ؟ ( با فرض اینکه نمیدانم در آمد فعلی چقدر است و چه شرایطی دارد )</a:t>
              </a:r>
            </a:p>
            <a:p>
              <a:pPr algn="justLow" rtl="1"/>
              <a:r>
                <a:rPr lang="fa-IR" sz="1600" dirty="0">
                  <a:solidFill>
                    <a:schemeClr val="tx2"/>
                  </a:solidFill>
                  <a:cs typeface="B Nazanin" panose="00000400000000000000" pitchFamily="2" charset="-78"/>
                </a:rPr>
                <a:t>در حال حاضر حقوق من متناسب با تخصص کم من، راضی کننده نیست چه کنم که به حقوق 3 برابری دست پیدا کنم ؟ </a:t>
              </a:r>
              <a:endParaRPr lang="en-US" sz="1600" dirty="0">
                <a:solidFill>
                  <a:schemeClr val="tx2"/>
                </a:solidFill>
                <a:cs typeface="B Nazanin" panose="00000400000000000000" pitchFamily="2" charset="-78"/>
              </a:endParaRPr>
            </a:p>
            <a:p>
              <a:pPr algn="justLow" rtl="1"/>
              <a:endParaRPr lang="en-US" sz="1600" dirty="0">
                <a:solidFill>
                  <a:schemeClr val="tx2"/>
                </a:solidFill>
                <a:cs typeface="B Nazanin" panose="00000400000000000000" pitchFamily="2" charset="-78"/>
              </a:endParaRPr>
            </a:p>
          </p:txBody>
        </p:sp>
        <p:sp>
          <p:nvSpPr>
            <p:cNvPr id="9" name="&quot;No&quot; Symbol 8"/>
            <p:cNvSpPr/>
            <p:nvPr/>
          </p:nvSpPr>
          <p:spPr>
            <a:xfrm>
              <a:off x="8228012" y="2747682"/>
              <a:ext cx="181018" cy="181018"/>
            </a:xfrm>
            <a:prstGeom prst="noSmoking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028" name="Picture 4" descr="Related imag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5685" y="3948161"/>
              <a:ext cx="215078" cy="215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&quot;No&quot; Symbol 26"/>
            <p:cNvSpPr/>
            <p:nvPr/>
          </p:nvSpPr>
          <p:spPr>
            <a:xfrm>
              <a:off x="8228012" y="3715592"/>
              <a:ext cx="181018" cy="181018"/>
            </a:xfrm>
            <a:prstGeom prst="noSmoking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28" name="Picture 4" descr="Related imag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5685" y="2989804"/>
              <a:ext cx="215078" cy="215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4" descr="Related imag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5685" y="3218404"/>
              <a:ext cx="215078" cy="215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&quot;No&quot; Symbol 29"/>
            <p:cNvSpPr/>
            <p:nvPr/>
          </p:nvSpPr>
          <p:spPr>
            <a:xfrm>
              <a:off x="8228012" y="3483023"/>
              <a:ext cx="181018" cy="181018"/>
            </a:xfrm>
            <a:prstGeom prst="noSmoking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142412" y="3429000"/>
            <a:ext cx="2121254" cy="614246"/>
            <a:chOff x="8912186" y="3629797"/>
            <a:chExt cx="2121254" cy="614246"/>
          </a:xfrm>
        </p:grpSpPr>
        <p:grpSp>
          <p:nvGrpSpPr>
            <p:cNvPr id="33" name="Group 32"/>
            <p:cNvGrpSpPr/>
            <p:nvPr/>
          </p:nvGrpSpPr>
          <p:grpSpPr>
            <a:xfrm>
              <a:off x="9249896" y="3629797"/>
              <a:ext cx="1492716" cy="369332"/>
              <a:chOff x="9249896" y="3629797"/>
              <a:chExt cx="1492716" cy="369332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9249896" y="3629797"/>
                <a:ext cx="1492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a-IR" b="1" dirty="0" smtClean="0">
                    <a:solidFill>
                      <a:srgbClr val="000000"/>
                    </a:solidFill>
                    <a:latin typeface="IRANSans"/>
                    <a:cs typeface="B Nazanin" panose="00000400000000000000" pitchFamily="2" charset="-78"/>
                  </a:rPr>
                  <a:t> مسئله</a:t>
                </a:r>
                <a:r>
                  <a:rPr lang="en-US" b="1" dirty="0">
                    <a:solidFill>
                      <a:srgbClr val="000000"/>
                    </a:solidFill>
                    <a:latin typeface="IRANSans"/>
                    <a:cs typeface="B Nazanin" panose="00000400000000000000" pitchFamily="2" charset="-78"/>
                  </a:rPr>
                  <a:t>=</a:t>
                </a:r>
                <a:r>
                  <a:rPr lang="fa-IR" b="1" dirty="0" smtClean="0">
                    <a:solidFill>
                      <a:srgbClr val="000000"/>
                    </a:solidFill>
                    <a:latin typeface="IRANSans"/>
                    <a:cs typeface="B Nazanin" panose="00000400000000000000" pitchFamily="2" charset="-78"/>
                  </a:rPr>
                  <a:t> مشکل</a:t>
                </a:r>
                <a:r>
                  <a:rPr lang="fa-IR" dirty="0" smtClean="0">
                    <a:solidFill>
                      <a:srgbClr val="000000"/>
                    </a:solidFill>
                    <a:latin typeface="IRANSans"/>
                    <a:cs typeface="B Nazanin" panose="00000400000000000000" pitchFamily="2" charset="-78"/>
                  </a:rPr>
                  <a:t> </a:t>
                </a:r>
                <a:endParaRPr lang="en-US" dirty="0">
                  <a:cs typeface="B Nazanin" panose="00000400000000000000" pitchFamily="2" charset="-78"/>
                </a:endParaRPr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 flipH="1">
                <a:off x="9926236" y="3689954"/>
                <a:ext cx="38734" cy="152402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Rectangle 33"/>
            <p:cNvSpPr/>
            <p:nvPr/>
          </p:nvSpPr>
          <p:spPr>
            <a:xfrm>
              <a:off x="8912186" y="3967044"/>
              <a:ext cx="84350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tx1">
                      <a:lumMod val="75000"/>
                    </a:schemeClr>
                  </a:solidFill>
                  <a:latin typeface="IRANSans"/>
                  <a:cs typeface="B Nazanin" panose="00000400000000000000" pitchFamily="2" charset="-78"/>
                </a:rPr>
                <a:t>Problem</a:t>
              </a:r>
              <a:r>
                <a:rPr lang="en-US" sz="1200" dirty="0">
                  <a:solidFill>
                    <a:schemeClr val="tx1">
                      <a:lumMod val="75000"/>
                    </a:schemeClr>
                  </a:solidFill>
                  <a:latin typeface="IRANSans"/>
                  <a:cs typeface="B Nazanin" panose="00000400000000000000" pitchFamily="2" charset="-78"/>
                </a:rPr>
                <a:t> </a:t>
              </a:r>
              <a:endParaRPr lang="en-US" sz="1200" dirty="0">
                <a:solidFill>
                  <a:schemeClr val="tx1">
                    <a:lumMod val="75000"/>
                  </a:schemeClr>
                </a:solidFill>
                <a:cs typeface="B Nazanin" panose="00000400000000000000" pitchFamily="2" charset="-78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282914" y="3967044"/>
              <a:ext cx="75052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rgbClr val="002060"/>
                  </a:solidFill>
                  <a:latin typeface="IRANSans"/>
                  <a:cs typeface="B Nazanin" panose="00000400000000000000" pitchFamily="2" charset="-78"/>
                </a:rPr>
                <a:t>trouble </a:t>
              </a:r>
            </a:p>
          </p:txBody>
        </p:sp>
      </p:grpSp>
      <p:sp>
        <p:nvSpPr>
          <p:cNvPr id="37" name="Rectangle 36"/>
          <p:cNvSpPr/>
          <p:nvPr/>
        </p:nvSpPr>
        <p:spPr>
          <a:xfrm>
            <a:off x="684212" y="4292025"/>
            <a:ext cx="10673604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Low" rtl="1"/>
            <a:r>
              <a:rPr lang="fa-IR" sz="1600" b="1" dirty="0">
                <a:solidFill>
                  <a:srgbClr val="C00000"/>
                </a:solidFill>
                <a:latin typeface="IRANSans"/>
                <a:cs typeface="B Nazanin" panose="00000400000000000000" pitchFamily="2" charset="-78"/>
              </a:rPr>
              <a:t>مشکل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می‌تواند یک نارضایتی، ناراحتی، نگرانی و یک وضعیت نامطلوب باشد؛ اما آن‌قدر </a:t>
            </a:r>
            <a:r>
              <a:rPr lang="fa-IR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مبهم که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نمی‌توان ‌آن را توضیح داد و تشریح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کرد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.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این‌که </a:t>
            </a:r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یک جای کار می‌لنگد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و چیزی در جایی آن‌چنان‌که باید باشد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نیست یک مشکل است نه یک مسئله . </a:t>
            </a:r>
            <a:endParaRPr lang="en-US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84212" y="4977825"/>
            <a:ext cx="10673604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Low" rtl="1"/>
            <a:r>
              <a:rPr lang="fa-IR" sz="1600" b="1" dirty="0">
                <a:solidFill>
                  <a:srgbClr val="C00000"/>
                </a:solidFill>
                <a:latin typeface="IRANSans"/>
                <a:cs typeface="B Nazanin" panose="00000400000000000000" pitchFamily="2" charset="-78"/>
              </a:rPr>
              <a:t>مشکل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در مقایسه با </a:t>
            </a:r>
            <a:r>
              <a:rPr lang="fa-IR" sz="1600" b="1" dirty="0">
                <a:solidFill>
                  <a:srgbClr val="0070C0"/>
                </a:solidFill>
                <a:latin typeface="IRANSans"/>
                <a:cs typeface="B Nazanin" panose="00000400000000000000" pitchFamily="2" charset="-78"/>
              </a:rPr>
              <a:t>مسئله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، بسیار </a:t>
            </a:r>
            <a:r>
              <a:rPr lang="fa-I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IRANSans"/>
                <a:cs typeface="B Nazanin" panose="00000400000000000000" pitchFamily="2" charset="-78"/>
              </a:rPr>
              <a:t>مبهم‌تر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است. مسئله </a:t>
            </a:r>
            <a:r>
              <a:rPr lang="fa-IR" sz="1600" dirty="0">
                <a:solidFill>
                  <a:srgbClr val="0070C0"/>
                </a:solidFill>
                <a:latin typeface="IRANSans"/>
                <a:cs typeface="B Nazanin" panose="00000400000000000000" pitchFamily="2" charset="-78"/>
              </a:rPr>
              <a:t>شفاف‌تر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است و در آن، وضعیت فعلی و احتمالاً وضعیت مطلوب، تا حد خوبی مشخص شده است. آن‌چه </a:t>
            </a:r>
            <a:r>
              <a:rPr lang="fa-IR" sz="1600" dirty="0">
                <a:solidFill>
                  <a:srgbClr val="0070C0"/>
                </a:solidFill>
                <a:latin typeface="IRANSans"/>
                <a:cs typeface="B Nazanin" panose="00000400000000000000" pitchFamily="2" charset="-78"/>
              </a:rPr>
              <a:t>نمی‌دانیم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، </a:t>
            </a:r>
            <a:r>
              <a:rPr lang="fa-IR" sz="1600" b="1" dirty="0">
                <a:solidFill>
                  <a:srgbClr val="0070C0"/>
                </a:solidFill>
                <a:latin typeface="IRANSans"/>
                <a:cs typeface="B Nazanin" panose="00000400000000000000" pitchFamily="2" charset="-78"/>
              </a:rPr>
              <a:t>روش و اقدام‌های مناسب برای حرکت از وضعیت فعلی به وضعیت مطلوب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است.</a:t>
            </a:r>
            <a:endParaRPr lang="en-US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84212" y="5638800"/>
            <a:ext cx="10672016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fa-IR" sz="1600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مشکل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“</a:t>
            </a:r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دیده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” می‌شود؛ اما </a:t>
            </a:r>
            <a:r>
              <a:rPr lang="fa-IR" sz="1600" dirty="0">
                <a:solidFill>
                  <a:srgbClr val="0070C0"/>
                </a:solidFill>
                <a:latin typeface="IRANSans"/>
                <a:cs typeface="B Nazanin" panose="00000400000000000000" pitchFamily="2" charset="-78"/>
              </a:rPr>
              <a:t>مسئله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“</a:t>
            </a:r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تعریف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” </a:t>
            </a:r>
            <a:r>
              <a:rPr lang="fa-IR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می‌شود</a:t>
            </a:r>
            <a:r>
              <a:rPr lang="en-US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. </a:t>
            </a:r>
            <a:r>
              <a:rPr lang="fa-IR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اینکه ما مشکل کار خود یا زندگی خود را ببینیم ( متوجه بشویم ) خیلی مهم است اما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کافی نیست .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باید </a:t>
            </a:r>
            <a:r>
              <a:rPr lang="fa-IR" sz="1600" b="1" dirty="0">
                <a:solidFill>
                  <a:schemeClr val="accent6">
                    <a:lumMod val="50000"/>
                  </a:schemeClr>
                </a:solidFill>
                <a:latin typeface="IRANSans"/>
                <a:cs typeface="B Nazanin" panose="00000400000000000000" pitchFamily="2" charset="-78"/>
              </a:rPr>
              <a:t>مشکل را به مسئله تبدیل کرد</a:t>
            </a:r>
            <a:r>
              <a:rPr lang="fa-IR" sz="1600" b="1" dirty="0">
                <a:solidFill>
                  <a:schemeClr val="accent6">
                    <a:lumMod val="50000"/>
                  </a:schemeClr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solidFill>
                  <a:schemeClr val="accent6">
                    <a:lumMod val="50000"/>
                  </a:schemeClr>
                </a:solidFill>
                <a:latin typeface="IRANSans"/>
                <a:cs typeface="B Nazanin" panose="00000400000000000000" pitchFamily="2" charset="-78"/>
              </a:rPr>
              <a:t>.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در ادامه باید راهکارهایی برای تغییر وضعیت موجود و رسیدن به وضعیت مطلوب جستجو کنیم و از میان آن‌ها، مناسب‌ترین راهکار را </a:t>
            </a:r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انتخاب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کنیم.</a:t>
            </a:r>
            <a:endParaRPr lang="fa-IR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598612" y="6172200"/>
            <a:ext cx="1241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b="1" dirty="0" smtClean="0">
                <a:solidFill>
                  <a:srgbClr val="CC0000"/>
                </a:solidFill>
                <a:latin typeface="IRANSans"/>
                <a:cs typeface="B Nazanin" panose="00000400000000000000" pitchFamily="2" charset="-78"/>
              </a:rPr>
              <a:t>تصمیم گیری 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42" name="Arc 41"/>
          <p:cNvSpPr/>
          <p:nvPr/>
        </p:nvSpPr>
        <p:spPr>
          <a:xfrm rot="11262901">
            <a:off x="1435149" y="5827622"/>
            <a:ext cx="583048" cy="599702"/>
          </a:xfrm>
          <a:prstGeom prst="arc">
            <a:avLst>
              <a:gd name="adj1" fmla="val 15898722"/>
              <a:gd name="adj2" fmla="val 20710220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6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533400"/>
            <a:ext cx="9751060" cy="787400"/>
          </a:xfrm>
        </p:spPr>
        <p:txBody>
          <a:bodyPr>
            <a:normAutofit/>
          </a:bodyPr>
          <a:lstStyle/>
          <a:p>
            <a:pPr algn="r"/>
            <a:r>
              <a:rPr lang="fa-IR" sz="4000" dirty="0" smtClean="0">
                <a:solidFill>
                  <a:srgbClr val="993300"/>
                </a:solidFill>
                <a:cs typeface="B Nazanin" panose="00000400000000000000" pitchFamily="2" charset="-78"/>
              </a:rPr>
              <a:t>تعریف مسئله  </a:t>
            </a:r>
            <a:endParaRPr lang="en-US" sz="4000" dirty="0">
              <a:solidFill>
                <a:srgbClr val="993300"/>
              </a:solidFill>
              <a:cs typeface="B Nazanin" panose="00000400000000000000" pitchFamily="2" charset="-78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218883" y="1371600"/>
            <a:ext cx="9828529" cy="0"/>
          </a:xfrm>
          <a:prstGeom prst="line">
            <a:avLst/>
          </a:prstGeom>
          <a:ln w="28575">
            <a:headEnd type="oval" w="med" len="med"/>
            <a:tailEnd type="oval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11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533400"/>
            <a:ext cx="9751060" cy="787400"/>
          </a:xfrm>
        </p:spPr>
        <p:txBody>
          <a:bodyPr>
            <a:normAutofit/>
          </a:bodyPr>
          <a:lstStyle/>
          <a:p>
            <a:pPr algn="r"/>
            <a:r>
              <a:rPr lang="fa-IR" sz="4000" dirty="0" smtClean="0">
                <a:solidFill>
                  <a:srgbClr val="993300"/>
                </a:solidFill>
                <a:cs typeface="B Nazanin" panose="00000400000000000000" pitchFamily="2" charset="-78"/>
              </a:rPr>
              <a:t>تعریف مسئله  </a:t>
            </a:r>
            <a:endParaRPr lang="en-US" sz="4000" dirty="0">
              <a:solidFill>
                <a:srgbClr val="993300"/>
              </a:solidFill>
              <a:cs typeface="B Nazanin" panose="00000400000000000000" pitchFamily="2" charset="-78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218883" y="1371600"/>
            <a:ext cx="9828529" cy="0"/>
          </a:xfrm>
          <a:prstGeom prst="line">
            <a:avLst/>
          </a:prstGeom>
          <a:ln w="28575">
            <a:headEnd type="oval" w="med" len="med"/>
            <a:tailEnd type="oval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00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533400"/>
            <a:ext cx="9751060" cy="787400"/>
          </a:xfrm>
        </p:spPr>
        <p:txBody>
          <a:bodyPr>
            <a:normAutofit/>
          </a:bodyPr>
          <a:lstStyle/>
          <a:p>
            <a:pPr algn="r"/>
            <a:r>
              <a:rPr lang="fa-IR" sz="4000" dirty="0" smtClean="0">
                <a:solidFill>
                  <a:srgbClr val="993300"/>
                </a:solidFill>
                <a:cs typeface="B Nazanin" panose="00000400000000000000" pitchFamily="2" charset="-78"/>
              </a:rPr>
              <a:t>تعریف مسئله  </a:t>
            </a:r>
            <a:endParaRPr lang="en-US" sz="4000" dirty="0">
              <a:solidFill>
                <a:srgbClr val="993300"/>
              </a:solidFill>
              <a:cs typeface="B Nazanin" panose="00000400000000000000" pitchFamily="2" charset="-78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218883" y="1371600"/>
            <a:ext cx="9828529" cy="0"/>
          </a:xfrm>
          <a:prstGeom prst="line">
            <a:avLst/>
          </a:prstGeom>
          <a:ln w="28575">
            <a:headEnd type="oval" w="med" len="med"/>
            <a:tailEnd type="oval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69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7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5" name="Picture Placeholder 4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44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6792" y="1905003"/>
            <a:ext cx="9435241" cy="2590797"/>
          </a:xfrm>
        </p:spPr>
        <p:txBody>
          <a:bodyPr>
            <a:normAutofit/>
          </a:bodyPr>
          <a:lstStyle/>
          <a:p>
            <a:r>
              <a:rPr lang="fa-IR" sz="16600" dirty="0" smtClean="0">
                <a:cs typeface="B Nazanin" panose="00000400000000000000" pitchFamily="2" charset="-78"/>
              </a:rPr>
              <a:t>پایان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82102" y="4953000"/>
            <a:ext cx="9429931" cy="991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</a:pPr>
            <a:r>
              <a:rPr lang="en-US" dirty="0" smtClean="0"/>
              <a:t>Afshin.Abbaspour@gmail.com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08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oks Classic 16x9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01059.potx" id="{C5FD5170-17AC-4815-968A-FDC1AAB6E99D}" vid="{74C691A5-1550-4555-B870-169F3443F41D}"/>
    </a:ext>
  </a:extLst>
</a:theme>
</file>

<file path=ppt/theme/theme2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1360476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706496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D80E12-3BE9-4746-820E-FFB249F467F2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D003AC8-209A-4321-A17C-1B7A206433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ED4759-CFDD-43F0-817C-11D919719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book education presentation (widescreen)</Template>
  <TotalTime>469</TotalTime>
  <Words>178</Words>
  <Application>Microsoft Office PowerPoint</Application>
  <PresentationFormat>Custom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 Arash</vt:lpstr>
      <vt:lpstr>B Nazanin</vt:lpstr>
      <vt:lpstr>Constantia</vt:lpstr>
      <vt:lpstr>IRANSans</vt:lpstr>
      <vt:lpstr>Lato</vt:lpstr>
      <vt:lpstr>Raleway</vt:lpstr>
      <vt:lpstr>Books Classic 16x9</vt:lpstr>
      <vt:lpstr>مهارت حل مسئله </vt:lpstr>
      <vt:lpstr>تعریف مسئله  </vt:lpstr>
      <vt:lpstr>تعریف مسئله  </vt:lpstr>
      <vt:lpstr>تعریف مسئله  </vt:lpstr>
      <vt:lpstr>تعریف مسئله  </vt:lpstr>
      <vt:lpstr>Add a Slide Title - 4</vt:lpstr>
      <vt:lpstr>Add a Slide Title - 5</vt:lpstr>
      <vt:lpstr>پایان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مهارت حل مسئله </dc:title>
  <dc:creator>Abbaspour</dc:creator>
  <cp:lastModifiedBy>Abbaspour</cp:lastModifiedBy>
  <cp:revision>13</cp:revision>
  <dcterms:created xsi:type="dcterms:W3CDTF">2019-07-14T05:42:23Z</dcterms:created>
  <dcterms:modified xsi:type="dcterms:W3CDTF">2019-07-14T13:31:25Z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