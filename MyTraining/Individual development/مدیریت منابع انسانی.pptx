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wdp" ContentType="image/vnd.ms-photo"/>
  <Override PartName="/ppt/presentation.xml" ContentType="application/vnd.openxmlformats-officedocument.presentationml.presentation.mai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 Id="rId4"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removePersonalInfoOnSave="1" autoCompressPictures="0">
  <p:sldMasterIdLst>
    <p:sldMasterId id="2147483876" r:id="rId4"/>
  </p:sldMasterIdLst>
  <p:sldIdLst>
    <p:sldId id="256" r:id="rId5"/>
    <p:sldId id="265" r:id="rId6"/>
    <p:sldId id="257" r:id="rId7"/>
    <p:sldId id="266" r:id="rId8"/>
    <p:sldId id="267" r:id="rId9"/>
    <p:sldId id="264" r:id="rId10"/>
    <p:sldId id="268" r:id="rId11"/>
    <p:sldId id="270" r:id="rId12"/>
    <p:sldId id="269" r:id="rId13"/>
    <p:sldId id="271" r:id="rId14"/>
    <p:sldId id="272" r:id="rId15"/>
    <p:sldId id="260" r:id="rId16"/>
  </p:sldIdLst>
  <p:sldSz cx="1219200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FFFFCC"/>
    <a:srgbClr val="C1382D"/>
    <a:srgbClr val="01050E"/>
    <a:srgbClr val="050B17"/>
    <a:srgbClr val="01060A"/>
    <a:srgbClr val="233C5B"/>
    <a:srgbClr val="111926"/>
    <a:srgbClr val="0E1824"/>
    <a:srgbClr val="0E1623"/>
    <a:srgbClr val="09111E"/>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8042" autoAdjust="0"/>
    <p:restoredTop sz="94660"/>
  </p:normalViewPr>
  <p:slideViewPr>
    <p:cSldViewPr snapToGrid="0">
      <p:cViewPr varScale="1">
        <p:scale>
          <a:sx n="73" d="100"/>
          <a:sy n="73" d="100"/>
        </p:scale>
        <p:origin x="498"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4.xml"/><Relationship Id="rId13" Type="http://schemas.openxmlformats.org/officeDocument/2006/relationships/slide" Target="slides/slide9.xml"/><Relationship Id="rId18" Type="http://schemas.openxmlformats.org/officeDocument/2006/relationships/viewProps" Target="viewProps.xml"/><Relationship Id="rId3" Type="http://schemas.openxmlformats.org/officeDocument/2006/relationships/customXml" Target="../customXml/item3.xml"/><Relationship Id="rId7" Type="http://schemas.openxmlformats.org/officeDocument/2006/relationships/slide" Target="slides/slide3.xml"/><Relationship Id="rId12" Type="http://schemas.openxmlformats.org/officeDocument/2006/relationships/slide" Target="slides/slide8.xml"/><Relationship Id="rId17" Type="http://schemas.openxmlformats.org/officeDocument/2006/relationships/presProps" Target="presProps.xml"/><Relationship Id="rId2" Type="http://schemas.openxmlformats.org/officeDocument/2006/relationships/customXml" Target="../customXml/item2.xml"/><Relationship Id="rId16" Type="http://schemas.openxmlformats.org/officeDocument/2006/relationships/slide" Target="slides/slide12.xml"/><Relationship Id="rId20" Type="http://schemas.openxmlformats.org/officeDocument/2006/relationships/tableStyles" Target="tableStyles.xml"/><Relationship Id="rId1" Type="http://schemas.openxmlformats.org/officeDocument/2006/relationships/customXml" Target="../customXml/item1.xml"/><Relationship Id="rId6" Type="http://schemas.openxmlformats.org/officeDocument/2006/relationships/slide" Target="slides/slide2.xml"/><Relationship Id="rId11" Type="http://schemas.openxmlformats.org/officeDocument/2006/relationships/slide" Target="slides/slide7.xml"/><Relationship Id="rId5" Type="http://schemas.openxmlformats.org/officeDocument/2006/relationships/slide" Target="slides/slide1.xml"/><Relationship Id="rId15" Type="http://schemas.openxmlformats.org/officeDocument/2006/relationships/slide" Target="slides/slide11.xml"/><Relationship Id="rId10" Type="http://schemas.openxmlformats.org/officeDocument/2006/relationships/slide" Target="slides/slide6.xml"/><Relationship Id="rId19" Type="http://schemas.openxmlformats.org/officeDocument/2006/relationships/theme" Target="theme/theme1.xml"/><Relationship Id="rId4" Type="http://schemas.openxmlformats.org/officeDocument/2006/relationships/slideMaster" Target="slideMasters/slideMaster1.xml"/><Relationship Id="rId9" Type="http://schemas.openxmlformats.org/officeDocument/2006/relationships/slide" Target="slides/slide5.xml"/><Relationship Id="rId14" Type="http://schemas.openxmlformats.org/officeDocument/2006/relationships/slide" Target="slides/slide10.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p:cNvSpPr>
            <a:spLocks noGrp="1"/>
          </p:cNvSpPr>
          <p:nvPr>
            <p:ph type="ctrTitle"/>
          </p:nvPr>
        </p:nvSpPr>
        <p:spPr>
          <a:xfrm>
            <a:off x="1109980" y="882376"/>
            <a:ext cx="9966960" cy="2926080"/>
          </a:xfrm>
        </p:spPr>
        <p:txBody>
          <a:bodyPr anchor="b">
            <a:normAutofit/>
          </a:bodyPr>
          <a:lstStyle>
            <a:lvl1pPr algn="ctr">
              <a:lnSpc>
                <a:spcPct val="85000"/>
              </a:lnSpc>
              <a:defRPr sz="7200" b="1" cap="all" baseline="0">
                <a:solidFill>
                  <a:srgbClr val="FFFFFF"/>
                </a:solidFill>
              </a:defRPr>
            </a:lvl1pPr>
          </a:lstStyle>
          <a:p>
            <a:r>
              <a:rPr lang="en-US" noProof="0" smtClean="0"/>
              <a:t>Click to edit Master title style</a:t>
            </a:r>
            <a:endParaRPr lang="en-US" noProof="0"/>
          </a:p>
        </p:txBody>
      </p:sp>
      <p:sp>
        <p:nvSpPr>
          <p:cNvPr id="3" name="Subtitle 2"/>
          <p:cNvSpPr>
            <a:spLocks noGrp="1"/>
          </p:cNvSpPr>
          <p:nvPr>
            <p:ph type="subTitle" idx="1"/>
          </p:nvPr>
        </p:nvSpPr>
        <p:spPr>
          <a:xfrm>
            <a:off x="1709530" y="3869634"/>
            <a:ext cx="8767860" cy="1388165"/>
          </a:xfrm>
        </p:spPr>
        <p:txBody>
          <a:bodyPr>
            <a:normAutofit/>
          </a:bodyPr>
          <a:lstStyle>
            <a:lvl1pPr marL="0" indent="0" algn="ctr">
              <a:buNone/>
              <a:defRPr sz="2200">
                <a:solidFill>
                  <a:srgbClr val="FFFFFF"/>
                </a:solidFill>
              </a:defRPr>
            </a:lvl1pPr>
            <a:lvl2pPr marL="457200" indent="0" algn="ctr">
              <a:buNone/>
              <a:defRPr sz="2200"/>
            </a:lvl2pPr>
            <a:lvl3pPr marL="914400" indent="0" algn="ctr">
              <a:buNone/>
              <a:defRPr sz="2200"/>
            </a:lvl3pPr>
            <a:lvl4pPr marL="1371600" indent="0" algn="ctr">
              <a:buNone/>
              <a:defRPr sz="2000"/>
            </a:lvl4pPr>
            <a:lvl5pPr marL="1828800" indent="0" algn="ctr">
              <a:buNone/>
              <a:defRPr sz="2000"/>
            </a:lvl5pPr>
            <a:lvl6pPr marL="2286000" indent="0" algn="ctr">
              <a:buNone/>
              <a:defRPr sz="2000"/>
            </a:lvl6pPr>
            <a:lvl7pPr marL="2743200" indent="0" algn="ctr">
              <a:buNone/>
              <a:defRPr sz="2000"/>
            </a:lvl7pPr>
            <a:lvl8pPr marL="3200400" indent="0" algn="ctr">
              <a:buNone/>
              <a:defRPr sz="2000"/>
            </a:lvl8pPr>
            <a:lvl9pPr marL="3657600" indent="0" algn="ctr">
              <a:buNone/>
              <a:defRPr sz="2000"/>
            </a:lvl9pPr>
          </a:lstStyle>
          <a:p>
            <a:r>
              <a:rPr lang="en-US" noProof="0" smtClean="0"/>
              <a:t>Click to edit Master subtitle style</a:t>
            </a:r>
            <a:endParaRPr lang="en-US" noProof="0"/>
          </a:p>
        </p:txBody>
      </p:sp>
      <p:sp>
        <p:nvSpPr>
          <p:cNvPr id="4" name="Date Placeholder 3"/>
          <p:cNvSpPr>
            <a:spLocks noGrp="1"/>
          </p:cNvSpPr>
          <p:nvPr>
            <p:ph type="dt" sz="half" idx="10"/>
          </p:nvPr>
        </p:nvSpPr>
        <p:spPr/>
        <p:txBody>
          <a:bodyPr/>
          <a:lstStyle>
            <a:lvl1pPr>
              <a:defRPr>
                <a:solidFill>
                  <a:srgbClr val="FFFFFF"/>
                </a:solidFill>
              </a:defRPr>
            </a:lvl1pPr>
          </a:lstStyle>
          <a:p>
            <a:fld id="{9AB3A824-1A51-4B26-AD58-A6D8E14F6C04}" type="datetimeFigureOut">
              <a:rPr lang="en-US" noProof="0" smtClean="0"/>
              <a:t>6/19/2019</a:t>
            </a:fld>
            <a:endParaRPr lang="en-US" noProof="0" dirty="0"/>
          </a:p>
        </p:txBody>
      </p:sp>
      <p:sp>
        <p:nvSpPr>
          <p:cNvPr id="5" name="Footer Placeholder 4"/>
          <p:cNvSpPr>
            <a:spLocks noGrp="1"/>
          </p:cNvSpPr>
          <p:nvPr>
            <p:ph type="ftr" sz="quarter" idx="11"/>
          </p:nvPr>
        </p:nvSpPr>
        <p:spPr/>
        <p:txBody>
          <a:bodyPr/>
          <a:lstStyle>
            <a:lvl1pPr>
              <a:defRPr>
                <a:solidFill>
                  <a:srgbClr val="FFFFFF"/>
                </a:solidFill>
              </a:defRPr>
            </a:lvl1pPr>
          </a:lstStyle>
          <a:p>
            <a:r>
              <a:rPr lang="en-US" noProof="0" dirty="0"/>
              <a:t>
              </a:t>
            </a:r>
          </a:p>
        </p:txBody>
      </p:sp>
      <p:sp>
        <p:nvSpPr>
          <p:cNvPr id="6" name="Slide Number Placeholder 5"/>
          <p:cNvSpPr>
            <a:spLocks noGrp="1"/>
          </p:cNvSpPr>
          <p:nvPr>
            <p:ph type="sldNum" sz="quarter" idx="12"/>
          </p:nvPr>
        </p:nvSpPr>
        <p:spPr/>
        <p:txBody>
          <a:bodyPr/>
          <a:lstStyle>
            <a:lvl1pPr>
              <a:defRPr>
                <a:solidFill>
                  <a:srgbClr val="FFFFFF"/>
                </a:solidFill>
              </a:defRPr>
            </a:lvl1pPr>
          </a:lstStyle>
          <a:p>
            <a:fld id="{6D22F896-40B5-4ADD-8801-0D06FADFA095}" type="slidenum">
              <a:rPr lang="en-US" noProof="0" smtClean="0"/>
              <a:t>‹#›</a:t>
            </a:fld>
            <a:endParaRPr lang="en-US" noProof="0" dirty="0"/>
          </a:p>
        </p:txBody>
      </p:sp>
      <p:cxnSp>
        <p:nvCxnSpPr>
          <p:cNvPr id="8" name="Straight Connector 7"/>
          <p:cNvCxnSpPr/>
          <p:nvPr/>
        </p:nvCxnSpPr>
        <p:spPr>
          <a:xfrm>
            <a:off x="1978660" y="3733800"/>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05178728"/>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smtClean="0"/>
              <a:t>Click to edit Master title style</a:t>
            </a:r>
            <a:endParaRPr lang="en-US" noProof="0"/>
          </a:p>
        </p:txBody>
      </p:sp>
      <p:sp>
        <p:nvSpPr>
          <p:cNvPr id="3" name="Content Placeholder 2"/>
          <p:cNvSpPr>
            <a:spLocks noGrp="1"/>
          </p:cNvSpPr>
          <p:nvPr>
            <p:ph idx="1"/>
          </p:nvPr>
        </p:nvSpPr>
        <p:spPr/>
        <p:txBody>
          <a:body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Date Placeholder 3"/>
          <p:cNvSpPr>
            <a:spLocks noGrp="1"/>
          </p:cNvSpPr>
          <p:nvPr>
            <p:ph type="dt" sz="half" idx="10"/>
          </p:nvPr>
        </p:nvSpPr>
        <p:spPr/>
        <p:txBody>
          <a:bodyPr/>
          <a:lstStyle/>
          <a:p>
            <a:fld id="{97D162C4-EDD9-4389-A98B-B87ECEA2A816}" type="datetimeFigureOut">
              <a:rPr lang="en-US" noProof="0" smtClean="0"/>
              <a:t>6/19/2019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3472039002"/>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1106424" y="1173575"/>
            <a:ext cx="9966960" cy="2926080"/>
          </a:xfrm>
        </p:spPr>
        <p:txBody>
          <a:bodyPr anchor="b">
            <a:noAutofit/>
          </a:bodyPr>
          <a:lstStyle>
            <a:lvl1pPr algn="ctr">
              <a:lnSpc>
                <a:spcPct val="85000"/>
              </a:lnSpc>
              <a:defRPr sz="7200" b="0" cap="all" baseline="0"/>
            </a:lvl1pPr>
          </a:lstStyle>
          <a:p>
            <a:r>
              <a:rPr lang="en-US" noProof="0" smtClean="0"/>
              <a:t>Click to edit Master title style</a:t>
            </a:r>
            <a:endParaRPr lang="en-US" noProof="0"/>
          </a:p>
        </p:txBody>
      </p:sp>
      <p:sp>
        <p:nvSpPr>
          <p:cNvPr id="3" name="Text Placeholder 2"/>
          <p:cNvSpPr>
            <a:spLocks noGrp="1"/>
          </p:cNvSpPr>
          <p:nvPr>
            <p:ph type="body" idx="1"/>
          </p:nvPr>
        </p:nvSpPr>
        <p:spPr>
          <a:xfrm>
            <a:off x="1709928" y="4154520"/>
            <a:ext cx="8769096" cy="1363806"/>
          </a:xfrm>
        </p:spPr>
        <p:txBody>
          <a:bodyPr anchor="t">
            <a:normAutofit/>
          </a:bodyPr>
          <a:lstStyle>
            <a:lvl1pPr marL="0" indent="0" algn="ctr">
              <a:buNone/>
              <a:defRPr sz="2200">
                <a:solidFill>
                  <a:schemeClr val="accent1"/>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noProof="0" smtClean="0"/>
              <a:t>Edit Master text styles</a:t>
            </a:r>
          </a:p>
        </p:txBody>
      </p:sp>
      <p:sp>
        <p:nvSpPr>
          <p:cNvPr id="4" name="Date Placeholder 3"/>
          <p:cNvSpPr>
            <a:spLocks noGrp="1"/>
          </p:cNvSpPr>
          <p:nvPr>
            <p:ph type="dt" sz="half" idx="10"/>
          </p:nvPr>
        </p:nvSpPr>
        <p:spPr/>
        <p:txBody>
          <a:bodyPr/>
          <a:lstStyle/>
          <a:p>
            <a:fld id="{3E5059C3-6A89-4494-99FF-5A4D6FFD50EB}" type="datetimeFigureOut">
              <a:rPr lang="en-US" noProof="0" smtClean="0"/>
              <a:t>6/19/2019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cxnSp>
        <p:nvCxnSpPr>
          <p:cNvPr id="7" name="Straight Connector 6"/>
          <p:cNvCxnSpPr/>
          <p:nvPr/>
        </p:nvCxnSpPr>
        <p:spPr>
          <a:xfrm>
            <a:off x="1981200" y="4020408"/>
            <a:ext cx="8229601" cy="0"/>
          </a:xfrm>
          <a:prstGeom prst="line">
            <a:avLst/>
          </a:prstGeom>
          <a:ln>
            <a:solidFill>
              <a:schemeClr val="accent1"/>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53936035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8" name="Title 7"/>
          <p:cNvSpPr>
            <a:spLocks noGrp="1"/>
          </p:cNvSpPr>
          <p:nvPr>
            <p:ph type="title"/>
          </p:nvPr>
        </p:nvSpPr>
        <p:spPr/>
        <p:txBody>
          <a:bodyPr/>
          <a:lstStyle/>
          <a:p>
            <a:r>
              <a:rPr lang="en-US" noProof="0" smtClean="0"/>
              <a:t>Click to edit Master title style</a:t>
            </a:r>
            <a:endParaRPr lang="en-US" noProof="0"/>
          </a:p>
        </p:txBody>
      </p:sp>
      <p:sp>
        <p:nvSpPr>
          <p:cNvPr id="3" name="Content Placeholder 2"/>
          <p:cNvSpPr>
            <a:spLocks noGrp="1"/>
          </p:cNvSpPr>
          <p:nvPr>
            <p:ph sz="half" idx="1"/>
          </p:nvPr>
        </p:nvSpPr>
        <p:spPr>
          <a:xfrm>
            <a:off x="1143000" y="2057399"/>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Content Placeholder 3"/>
          <p:cNvSpPr>
            <a:spLocks noGrp="1"/>
          </p:cNvSpPr>
          <p:nvPr>
            <p:ph sz="half" idx="2"/>
          </p:nvPr>
        </p:nvSpPr>
        <p:spPr>
          <a:xfrm>
            <a:off x="6267612" y="2057400"/>
            <a:ext cx="4754880" cy="402336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5" name="Date Placeholder 4"/>
          <p:cNvSpPr>
            <a:spLocks noGrp="1"/>
          </p:cNvSpPr>
          <p:nvPr>
            <p:ph type="dt" sz="half" idx="10"/>
          </p:nvPr>
        </p:nvSpPr>
        <p:spPr/>
        <p:txBody>
          <a:bodyPr/>
          <a:lstStyle/>
          <a:p>
            <a:fld id="{CA954B2F-12DE-47F5-8894-472B206D2E1E}" type="datetimeFigureOut">
              <a:rPr lang="en-US" noProof="0" smtClean="0"/>
              <a:t>6/19/2019</a:t>
            </a:fld>
            <a:endParaRPr lang="en-US" noProof="0" dirty="0"/>
          </a:p>
        </p:txBody>
      </p:sp>
      <p:sp>
        <p:nvSpPr>
          <p:cNvPr id="6" name="Footer Placeholder 5"/>
          <p:cNvSpPr>
            <a:spLocks noGrp="1"/>
          </p:cNvSpPr>
          <p:nvPr>
            <p:ph type="ftr" sz="quarter" idx="11"/>
          </p:nvPr>
        </p:nvSpPr>
        <p:spPr/>
        <p:txBody>
          <a:bodyPr/>
          <a:lstStyle/>
          <a:p>
            <a:r>
              <a:rPr lang="en-US" noProof="0" dirty="0"/>
              <a:t>
              </a:t>
            </a:r>
          </a:p>
        </p:txBody>
      </p:sp>
      <p:sp>
        <p:nvSpPr>
          <p:cNvPr id="7" name="Slide Number Placeholder 6"/>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2181670044"/>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10" name="Title 9"/>
          <p:cNvSpPr>
            <a:spLocks noGrp="1"/>
          </p:cNvSpPr>
          <p:nvPr>
            <p:ph type="title"/>
          </p:nvPr>
        </p:nvSpPr>
        <p:spPr/>
        <p:txBody>
          <a:bodyPr/>
          <a:lstStyle/>
          <a:p>
            <a:r>
              <a:rPr lang="en-US" noProof="0" smtClean="0"/>
              <a:t>Click to edit Master title style</a:t>
            </a:r>
            <a:endParaRPr lang="en-US" noProof="0"/>
          </a:p>
        </p:txBody>
      </p:sp>
      <p:sp>
        <p:nvSpPr>
          <p:cNvPr id="3" name="Text Placeholder 2"/>
          <p:cNvSpPr>
            <a:spLocks noGrp="1"/>
          </p:cNvSpPr>
          <p:nvPr>
            <p:ph type="body" idx="1"/>
          </p:nvPr>
        </p:nvSpPr>
        <p:spPr>
          <a:xfrm>
            <a:off x="1143000" y="2001511"/>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smtClean="0"/>
              <a:t>Edit Master text styles</a:t>
            </a:r>
          </a:p>
        </p:txBody>
      </p:sp>
      <p:sp>
        <p:nvSpPr>
          <p:cNvPr id="4" name="Content Placeholder 3"/>
          <p:cNvSpPr>
            <a:spLocks noGrp="1"/>
          </p:cNvSpPr>
          <p:nvPr>
            <p:ph sz="half" idx="2"/>
          </p:nvPr>
        </p:nvSpPr>
        <p:spPr>
          <a:xfrm>
            <a:off x="1143000" y="2721483"/>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5" name="Text Placeholder 4"/>
          <p:cNvSpPr>
            <a:spLocks noGrp="1"/>
          </p:cNvSpPr>
          <p:nvPr>
            <p:ph type="body" sz="quarter" idx="3"/>
          </p:nvPr>
        </p:nvSpPr>
        <p:spPr>
          <a:xfrm>
            <a:off x="6269173" y="1999032"/>
            <a:ext cx="4754880" cy="777240"/>
          </a:xfrm>
        </p:spPr>
        <p:txBody>
          <a:bodyPr anchor="ctr"/>
          <a:lstStyle>
            <a:lvl1pPr marL="0" indent="0">
              <a:spcBef>
                <a:spcPts val="0"/>
              </a:spcBef>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noProof="0" smtClean="0"/>
              <a:t>Edit Master text styles</a:t>
            </a:r>
          </a:p>
        </p:txBody>
      </p:sp>
      <p:sp>
        <p:nvSpPr>
          <p:cNvPr id="6" name="Content Placeholder 5"/>
          <p:cNvSpPr>
            <a:spLocks noGrp="1"/>
          </p:cNvSpPr>
          <p:nvPr>
            <p:ph sz="quarter" idx="4"/>
          </p:nvPr>
        </p:nvSpPr>
        <p:spPr>
          <a:xfrm>
            <a:off x="6269173" y="2719322"/>
            <a:ext cx="4754880" cy="3383280"/>
          </a:xfrm>
        </p:spPr>
        <p:txBody>
          <a:bodyPr/>
          <a:lstStyle>
            <a:lvl1pPr>
              <a:defRPr sz="2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7" name="Date Placeholder 6"/>
          <p:cNvSpPr>
            <a:spLocks noGrp="1"/>
          </p:cNvSpPr>
          <p:nvPr>
            <p:ph type="dt" sz="half" idx="10"/>
          </p:nvPr>
        </p:nvSpPr>
        <p:spPr/>
        <p:txBody>
          <a:bodyPr/>
          <a:lstStyle/>
          <a:p>
            <a:fld id="{3CBC1C18-307B-4F68-A007-B5B542270E8D}" type="datetimeFigureOut">
              <a:rPr lang="en-US" noProof="0" smtClean="0"/>
              <a:t>6/19/2019</a:t>
            </a:fld>
            <a:endParaRPr lang="en-US" noProof="0" dirty="0"/>
          </a:p>
        </p:txBody>
      </p:sp>
      <p:sp>
        <p:nvSpPr>
          <p:cNvPr id="8" name="Footer Placeholder 7"/>
          <p:cNvSpPr>
            <a:spLocks noGrp="1"/>
          </p:cNvSpPr>
          <p:nvPr>
            <p:ph type="ftr" sz="quarter" idx="11"/>
          </p:nvPr>
        </p:nvSpPr>
        <p:spPr/>
        <p:txBody>
          <a:bodyPr/>
          <a:lstStyle/>
          <a:p>
            <a:r>
              <a:rPr lang="en-US" noProof="0" dirty="0"/>
              <a:t>
              </a:t>
            </a:r>
          </a:p>
        </p:txBody>
      </p:sp>
      <p:sp>
        <p:nvSpPr>
          <p:cNvPr id="9" name="Slide Number Placeholder 8"/>
          <p:cNvSpPr>
            <a:spLocks noGrp="1"/>
          </p:cNvSpPr>
          <p:nvPr>
            <p:ph type="sldNum" sz="quarter" idx="12"/>
          </p:nvPr>
        </p:nvSpPr>
        <p:spPr/>
        <p:txBody>
          <a:bodyPr/>
          <a:lstStyle/>
          <a:p>
            <a:fld id="{6D22F896-40B5-4ADD-8801-0D06FADFA095}" type="slidenum">
              <a:rPr lang="en-US" noProof="0" smtClean="0"/>
              <a:pPr/>
              <a:t>‹#›</a:t>
            </a:fld>
            <a:endParaRPr lang="en-US" noProof="0" dirty="0"/>
          </a:p>
        </p:txBody>
      </p:sp>
    </p:spTree>
    <p:extLst>
      <p:ext uri="{BB962C8B-B14F-4D97-AF65-F5344CB8AC3E}">
        <p14:creationId xmlns:p14="http://schemas.microsoft.com/office/powerpoint/2010/main" val="1963352574"/>
      </p:ext>
    </p:extLst>
  </p:cSld>
  <p:clrMapOvr>
    <a:masterClrMapping/>
  </p:clrMapOvr>
  <p:hf sldNum="0" hdr="0" ft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smtClean="0"/>
              <a:t>Click to edit Master title style</a:t>
            </a:r>
            <a:endParaRPr lang="en-US" noProof="0"/>
          </a:p>
        </p:txBody>
      </p:sp>
      <p:sp>
        <p:nvSpPr>
          <p:cNvPr id="3" name="Date Placeholder 2"/>
          <p:cNvSpPr>
            <a:spLocks noGrp="1"/>
          </p:cNvSpPr>
          <p:nvPr>
            <p:ph type="dt" sz="half" idx="10"/>
          </p:nvPr>
        </p:nvSpPr>
        <p:spPr/>
        <p:txBody>
          <a:bodyPr/>
          <a:lstStyle/>
          <a:p>
            <a:fld id="{1FAF3416-4057-4DAA-829D-4CA07428D088}" type="datetimeFigureOut">
              <a:rPr lang="en-US" noProof="0" smtClean="0"/>
              <a:t>6/19/2019</a:t>
            </a:fld>
            <a:endParaRPr lang="en-US" noProof="0" dirty="0"/>
          </a:p>
        </p:txBody>
      </p:sp>
      <p:sp>
        <p:nvSpPr>
          <p:cNvPr id="4" name="Footer Placeholder 3"/>
          <p:cNvSpPr>
            <a:spLocks noGrp="1"/>
          </p:cNvSpPr>
          <p:nvPr>
            <p:ph type="ftr" sz="quarter" idx="11"/>
          </p:nvPr>
        </p:nvSpPr>
        <p:spPr/>
        <p:txBody>
          <a:bodyPr/>
          <a:lstStyle/>
          <a:p>
            <a:r>
              <a:rPr lang="en-US" noProof="0" dirty="0"/>
              <a:t>
              </a:t>
            </a:r>
          </a:p>
        </p:txBody>
      </p:sp>
      <p:sp>
        <p:nvSpPr>
          <p:cNvPr id="5" name="Slide Number Placeholder 4"/>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300542876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921D9284-D300-4297-87F7-E791DCC15DB1}" type="datetimeFigureOut">
              <a:rPr lang="en-US" noProof="0" smtClean="0"/>
              <a:t>6/19/2019</a:t>
            </a:fld>
            <a:endParaRPr lang="en-US" noProof="0" dirty="0"/>
          </a:p>
        </p:txBody>
      </p:sp>
      <p:sp>
        <p:nvSpPr>
          <p:cNvPr id="3" name="Footer Placeholder 2"/>
          <p:cNvSpPr>
            <a:spLocks noGrp="1"/>
          </p:cNvSpPr>
          <p:nvPr>
            <p:ph type="ftr" sz="quarter" idx="11"/>
          </p:nvPr>
        </p:nvSpPr>
        <p:spPr/>
        <p:txBody>
          <a:bodyPr/>
          <a:lstStyle/>
          <a:p>
            <a:r>
              <a:rPr lang="en-US" noProof="0" dirty="0"/>
              <a:t>
              </a:t>
            </a:r>
          </a:p>
        </p:txBody>
      </p:sp>
      <p:sp>
        <p:nvSpPr>
          <p:cNvPr id="4" name="Slide Number Placeholder 3"/>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98825989"/>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noProof="0" smtClean="0"/>
              <a:t>Click to edit Master title style</a:t>
            </a:r>
            <a:endParaRPr lang="en-US" noProof="0"/>
          </a:p>
        </p:txBody>
      </p:sp>
      <p:sp>
        <p:nvSpPr>
          <p:cNvPr id="3" name="Content Placeholder 2"/>
          <p:cNvSpPr>
            <a:spLocks noGrp="1"/>
          </p:cNvSpPr>
          <p:nvPr>
            <p:ph idx="1"/>
          </p:nvPr>
        </p:nvSpPr>
        <p:spPr>
          <a:xfrm>
            <a:off x="5852159" y="1097280"/>
            <a:ext cx="5212080" cy="4663440"/>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Text Placeholder 3"/>
          <p:cNvSpPr>
            <a:spLocks noGrp="1"/>
          </p:cNvSpPr>
          <p:nvPr>
            <p:ph type="body" sz="half" idx="2"/>
          </p:nvPr>
        </p:nvSpPr>
        <p:spPr>
          <a:xfrm>
            <a:off x="1143000" y="2834640"/>
            <a:ext cx="3931920" cy="301752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smtClean="0"/>
              <a:t>Edit Master text styles</a:t>
            </a:r>
          </a:p>
        </p:txBody>
      </p:sp>
      <p:sp>
        <p:nvSpPr>
          <p:cNvPr id="5" name="Date Placeholder 4"/>
          <p:cNvSpPr>
            <a:spLocks noGrp="1"/>
          </p:cNvSpPr>
          <p:nvPr>
            <p:ph type="dt" sz="half" idx="10"/>
          </p:nvPr>
        </p:nvSpPr>
        <p:spPr/>
        <p:txBody>
          <a:bodyPr/>
          <a:lstStyle/>
          <a:p>
            <a:fld id="{37D525BB-DA17-4BA0-B3C8-3AC3ABC827E6}" type="datetimeFigureOut">
              <a:rPr lang="en-US" noProof="0" smtClean="0"/>
              <a:t>6/19/2019</a:t>
            </a:fld>
            <a:endParaRPr lang="en-US" noProof="0" dirty="0"/>
          </a:p>
        </p:txBody>
      </p:sp>
      <p:sp>
        <p:nvSpPr>
          <p:cNvPr id="6" name="Footer Placeholder 5"/>
          <p:cNvSpPr>
            <a:spLocks noGrp="1"/>
          </p:cNvSpPr>
          <p:nvPr>
            <p:ph type="ftr" sz="quarter" idx="11"/>
          </p:nvPr>
        </p:nvSpPr>
        <p:spPr/>
        <p:txBody>
          <a:bodyPr/>
          <a:lstStyle/>
          <a:p>
            <a:r>
              <a:rPr lang="en-US" noProof="0" dirty="0"/>
              <a:t>
              </a:t>
            </a:r>
          </a:p>
        </p:txBody>
      </p:sp>
      <p:sp>
        <p:nvSpPr>
          <p:cNvPr id="7" name="Slide Number Placeholder 6"/>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215838360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143000" y="1097280"/>
            <a:ext cx="3931920" cy="1737360"/>
          </a:xfrm>
        </p:spPr>
        <p:txBody>
          <a:bodyPr anchor="b">
            <a:noAutofit/>
          </a:bodyPr>
          <a:lstStyle>
            <a:lvl1pPr>
              <a:lnSpc>
                <a:spcPct val="90000"/>
              </a:lnSpc>
              <a:defRPr sz="4000" b="0"/>
            </a:lvl1pPr>
          </a:lstStyle>
          <a:p>
            <a:r>
              <a:rPr lang="en-US" noProof="0" smtClean="0"/>
              <a:t>Click to edit Master title style</a:t>
            </a:r>
            <a:endParaRPr lang="en-US" noProof="0"/>
          </a:p>
        </p:txBody>
      </p:sp>
      <p:sp>
        <p:nvSpPr>
          <p:cNvPr id="3" name="Picture Placeholder 2"/>
          <p:cNvSpPr>
            <a:spLocks noGrp="1" noChangeAspect="1"/>
          </p:cNvSpPr>
          <p:nvPr>
            <p:ph type="pic" idx="1"/>
          </p:nvPr>
        </p:nvSpPr>
        <p:spPr>
          <a:xfrm>
            <a:off x="5413248" y="1069847"/>
            <a:ext cx="6099048" cy="4800600"/>
          </a:xfrm>
        </p:spPr>
        <p:txBody>
          <a:bodyPr lIns="274320" tIns="182880" anchor="t">
            <a:normAutofit/>
          </a:bodyPr>
          <a:lstStyle>
            <a:lvl1pPr marL="0" indent="0">
              <a:buNone/>
              <a:defRPr sz="28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US" noProof="0" smtClean="0"/>
              <a:t>Click icon to add picture</a:t>
            </a:r>
            <a:endParaRPr lang="en-US" noProof="0" dirty="0"/>
          </a:p>
        </p:txBody>
      </p:sp>
      <p:sp>
        <p:nvSpPr>
          <p:cNvPr id="4" name="Text Placeholder 3"/>
          <p:cNvSpPr>
            <a:spLocks noGrp="1"/>
          </p:cNvSpPr>
          <p:nvPr>
            <p:ph type="body" sz="half" idx="2"/>
          </p:nvPr>
        </p:nvSpPr>
        <p:spPr>
          <a:xfrm>
            <a:off x="1143000" y="2834640"/>
            <a:ext cx="3931920" cy="2880360"/>
          </a:xfrm>
        </p:spPr>
        <p:txBody>
          <a:bodyPr>
            <a:normAutofit/>
          </a:bodyPr>
          <a:lstStyle>
            <a:lvl1pPr marL="0" indent="0">
              <a:lnSpc>
                <a:spcPct val="100000"/>
              </a:lnSpc>
              <a:spcBef>
                <a:spcPts val="1000"/>
              </a:spcBef>
              <a:buNone/>
              <a:defRPr sz="17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noProof="0" smtClean="0"/>
              <a:t>Edit Master text styles</a:t>
            </a:r>
          </a:p>
        </p:txBody>
      </p:sp>
      <p:sp>
        <p:nvSpPr>
          <p:cNvPr id="5" name="Date Placeholder 4"/>
          <p:cNvSpPr>
            <a:spLocks noGrp="1"/>
          </p:cNvSpPr>
          <p:nvPr>
            <p:ph type="dt" sz="half" idx="10"/>
          </p:nvPr>
        </p:nvSpPr>
        <p:spPr/>
        <p:txBody>
          <a:bodyPr/>
          <a:lstStyle/>
          <a:p>
            <a:fld id="{B16C4C9A-3960-41CF-A4E9-2A8FB932454B}" type="datetimeFigureOut">
              <a:rPr lang="en-US" noProof="0" smtClean="0"/>
              <a:t>6/19/2019</a:t>
            </a:fld>
            <a:endParaRPr lang="en-US" noProof="0" dirty="0"/>
          </a:p>
        </p:txBody>
      </p:sp>
      <p:sp>
        <p:nvSpPr>
          <p:cNvPr id="6" name="Footer Placeholder 5"/>
          <p:cNvSpPr>
            <a:spLocks noGrp="1"/>
          </p:cNvSpPr>
          <p:nvPr>
            <p:ph type="ftr" sz="quarter" idx="11"/>
          </p:nvPr>
        </p:nvSpPr>
        <p:spPr/>
        <p:txBody>
          <a:bodyPr/>
          <a:lstStyle/>
          <a:p>
            <a:r>
              <a:rPr lang="en-US" noProof="0" dirty="0"/>
              <a:t>
              </a:t>
            </a:r>
          </a:p>
        </p:txBody>
      </p:sp>
      <p:sp>
        <p:nvSpPr>
          <p:cNvPr id="7" name="Slide Number Placeholder 6"/>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74084873"/>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noProof="0" smtClean="0"/>
              <a:t>Click to edit Master title style</a:t>
            </a:r>
            <a:endParaRPr lang="en-US" noProof="0"/>
          </a:p>
        </p:txBody>
      </p:sp>
      <p:sp>
        <p:nvSpPr>
          <p:cNvPr id="3" name="Vertical Text Placeholder 2"/>
          <p:cNvSpPr>
            <a:spLocks noGrp="1"/>
          </p:cNvSpPr>
          <p:nvPr>
            <p:ph type="body" orient="vert" idx="1"/>
          </p:nvPr>
        </p:nvSpPr>
        <p:spPr/>
        <p:txBody>
          <a:bodyPr vert="eaVert"/>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Date Placeholder 3"/>
          <p:cNvSpPr>
            <a:spLocks noGrp="1"/>
          </p:cNvSpPr>
          <p:nvPr>
            <p:ph type="dt" sz="half" idx="10"/>
          </p:nvPr>
        </p:nvSpPr>
        <p:spPr/>
        <p:txBody>
          <a:bodyPr/>
          <a:lstStyle/>
          <a:p>
            <a:fld id="{D857E33E-8B18-4087-B112-809917729534}" type="datetimeFigureOut">
              <a:rPr lang="en-US" noProof="0" smtClean="0"/>
              <a:t>6/19/2019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43552621"/>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762000"/>
            <a:ext cx="2324100" cy="5410200"/>
          </a:xfrm>
        </p:spPr>
        <p:txBody>
          <a:bodyPr vert="eaVert"/>
          <a:lstStyle/>
          <a:p>
            <a:r>
              <a:rPr lang="en-US" noProof="0" smtClean="0"/>
              <a:t>Click to edit Master title style</a:t>
            </a:r>
            <a:endParaRPr lang="en-US" noProof="0"/>
          </a:p>
        </p:txBody>
      </p:sp>
      <p:sp>
        <p:nvSpPr>
          <p:cNvPr id="3" name="Vertical Text Placeholder 2"/>
          <p:cNvSpPr>
            <a:spLocks noGrp="1"/>
          </p:cNvSpPr>
          <p:nvPr>
            <p:ph type="body" orient="vert" idx="1"/>
          </p:nvPr>
        </p:nvSpPr>
        <p:spPr>
          <a:xfrm>
            <a:off x="1143000" y="762000"/>
            <a:ext cx="7429500" cy="5410200"/>
          </a:xfrm>
        </p:spPr>
        <p:txBody>
          <a:bodyPr vert="eaVert"/>
          <a:lstStyle/>
          <a:p>
            <a:pPr lvl="0"/>
            <a:r>
              <a:rPr lang="en-US" noProof="0" smtClean="0"/>
              <a:t>Edit Master text styles</a:t>
            </a:r>
          </a:p>
          <a:p>
            <a:pPr lvl="1"/>
            <a:r>
              <a:rPr lang="en-US" noProof="0" smtClean="0"/>
              <a:t>Second level</a:t>
            </a:r>
          </a:p>
          <a:p>
            <a:pPr lvl="2"/>
            <a:r>
              <a:rPr lang="en-US" noProof="0" smtClean="0"/>
              <a:t>Third level</a:t>
            </a:r>
          </a:p>
          <a:p>
            <a:pPr lvl="3"/>
            <a:r>
              <a:rPr lang="en-US" noProof="0" smtClean="0"/>
              <a:t>Fourth level</a:t>
            </a:r>
          </a:p>
          <a:p>
            <a:pPr lvl="4"/>
            <a:r>
              <a:rPr lang="en-US" noProof="0" smtClean="0"/>
              <a:t>Fifth level</a:t>
            </a:r>
            <a:endParaRPr lang="en-US" noProof="0"/>
          </a:p>
        </p:txBody>
      </p:sp>
      <p:sp>
        <p:nvSpPr>
          <p:cNvPr id="4" name="Date Placeholder 3"/>
          <p:cNvSpPr>
            <a:spLocks noGrp="1"/>
          </p:cNvSpPr>
          <p:nvPr>
            <p:ph type="dt" sz="half" idx="10"/>
          </p:nvPr>
        </p:nvSpPr>
        <p:spPr/>
        <p:txBody>
          <a:bodyPr/>
          <a:lstStyle/>
          <a:p>
            <a:fld id="{D3FFE419-2371-464F-8239-3959401C3561}" type="datetimeFigureOut">
              <a:rPr lang="en-US" noProof="0" smtClean="0"/>
              <a:t>6/19/2019</a:t>
            </a:fld>
            <a:endParaRPr lang="en-US" noProof="0" dirty="0"/>
          </a:p>
        </p:txBody>
      </p:sp>
      <p:sp>
        <p:nvSpPr>
          <p:cNvPr id="5" name="Footer Placeholder 4"/>
          <p:cNvSpPr>
            <a:spLocks noGrp="1"/>
          </p:cNvSpPr>
          <p:nvPr>
            <p:ph type="ftr" sz="quarter" idx="11"/>
          </p:nvPr>
        </p:nvSpPr>
        <p:spPr/>
        <p:txBody>
          <a:bodyPr/>
          <a:lstStyle/>
          <a:p>
            <a:r>
              <a:rPr lang="en-US" noProof="0" dirty="0"/>
              <a:t>
              </a:t>
            </a:r>
          </a:p>
        </p:txBody>
      </p:sp>
      <p:sp>
        <p:nvSpPr>
          <p:cNvPr id="6" name="Slide Number Placeholder 5"/>
          <p:cNvSpPr>
            <a:spLocks noGrp="1"/>
          </p:cNvSpPr>
          <p:nvPr>
            <p:ph type="sldNum" sz="quarter" idx="12"/>
          </p:nvPr>
        </p:nvSpPr>
        <p:spPr/>
        <p:txBody>
          <a:bodyPr/>
          <a:lstStyle/>
          <a:p>
            <a:fld id="{6D22F896-40B5-4ADD-8801-0D06FADFA095}" type="slidenum">
              <a:rPr lang="en-US" noProof="0" smtClean="0"/>
              <a:t>‹#›</a:t>
            </a:fld>
            <a:endParaRPr lang="en-US" noProof="0" dirty="0"/>
          </a:p>
        </p:txBody>
      </p:sp>
    </p:spTree>
    <p:extLst>
      <p:ext uri="{BB962C8B-B14F-4D97-AF65-F5344CB8AC3E}">
        <p14:creationId xmlns:p14="http://schemas.microsoft.com/office/powerpoint/2010/main" val="199476388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7" name="Rectangle 6"/>
          <p:cNvSpPr>
            <a:spLocks noChangeAspect="1"/>
          </p:cNvSpPr>
          <p:nvPr/>
        </p:nvSpPr>
        <p:spPr>
          <a:xfrm>
            <a:off x="231140" y="243840"/>
            <a:ext cx="11724640" cy="6377939"/>
          </a:xfrm>
          <a:prstGeom prst="rect">
            <a:avLst/>
          </a:prstGeom>
          <a:solidFill>
            <a:schemeClr val="bg1"/>
          </a:solidFill>
          <a:ln w="12700">
            <a:noFill/>
          </a:ln>
        </p:spPr>
        <p:style>
          <a:lnRef idx="2">
            <a:schemeClr val="accent1">
              <a:shade val="50000"/>
            </a:schemeClr>
          </a:lnRef>
          <a:fillRef idx="1">
            <a:schemeClr val="accent1"/>
          </a:fillRef>
          <a:effectRef idx="0">
            <a:schemeClr val="accent1"/>
          </a:effectRef>
          <a:fontRef idx="minor">
            <a:schemeClr val="lt1"/>
          </a:fontRef>
        </p:style>
      </p:sp>
      <p:sp>
        <p:nvSpPr>
          <p:cNvPr id="2" name="Title Placeholder 1"/>
          <p:cNvSpPr>
            <a:spLocks noGrp="1"/>
          </p:cNvSpPr>
          <p:nvPr>
            <p:ph type="title"/>
          </p:nvPr>
        </p:nvSpPr>
        <p:spPr>
          <a:xfrm>
            <a:off x="1143000" y="609600"/>
            <a:ext cx="9875520" cy="1356360"/>
          </a:xfrm>
          <a:prstGeom prst="rect">
            <a:avLst/>
          </a:prstGeom>
        </p:spPr>
        <p:txBody>
          <a:bodyPr vert="horz" lIns="91440" tIns="45720" rIns="91440" bIns="45720" rtlCol="0" anchor="ctr">
            <a:normAutofit/>
          </a:bodyPr>
          <a:lstStyle/>
          <a:p>
            <a:r>
              <a:rPr lang="en-US" noProof="0" smtClean="0"/>
              <a:t>Click to edit Master title style</a:t>
            </a:r>
            <a:endParaRPr lang="en-US" noProof="0"/>
          </a:p>
        </p:txBody>
      </p:sp>
      <p:sp>
        <p:nvSpPr>
          <p:cNvPr id="3" name="Text Placeholder 2"/>
          <p:cNvSpPr>
            <a:spLocks noGrp="1"/>
          </p:cNvSpPr>
          <p:nvPr>
            <p:ph type="body" idx="1"/>
          </p:nvPr>
        </p:nvSpPr>
        <p:spPr>
          <a:xfrm>
            <a:off x="1143000" y="2057400"/>
            <a:ext cx="9872871" cy="4038600"/>
          </a:xfrm>
          <a:prstGeom prst="rect">
            <a:avLst/>
          </a:prstGeom>
        </p:spPr>
        <p:txBody>
          <a:bodyPr vert="horz" lIns="91440" tIns="45720" rIns="91440" bIns="45720" rtlCol="0">
            <a:normAutofit/>
          </a:bodyPr>
          <a:lstStyle/>
          <a:p>
            <a:pPr lvl="0"/>
            <a:r>
              <a:rPr lang="en-US" noProof="0"/>
              <a:t>Edit Master text styles</a:t>
            </a:r>
          </a:p>
          <a:p>
            <a:pPr lvl="1"/>
            <a:r>
              <a:rPr lang="en-US" noProof="0"/>
              <a:t>Second level</a:t>
            </a:r>
          </a:p>
          <a:p>
            <a:pPr lvl="2"/>
            <a:r>
              <a:rPr lang="en-US" noProof="0"/>
              <a:t>Third level</a:t>
            </a:r>
          </a:p>
          <a:p>
            <a:pPr lvl="3"/>
            <a:r>
              <a:rPr lang="en-US" noProof="0"/>
              <a:t>Fourth level</a:t>
            </a:r>
          </a:p>
          <a:p>
            <a:pPr lvl="4"/>
            <a:r>
              <a:rPr lang="en-US" noProof="0"/>
              <a:t>Fifth level</a:t>
            </a:r>
          </a:p>
        </p:txBody>
      </p:sp>
      <p:sp>
        <p:nvSpPr>
          <p:cNvPr id="4" name="Date Placeholder 3"/>
          <p:cNvSpPr>
            <a:spLocks noGrp="1"/>
          </p:cNvSpPr>
          <p:nvPr>
            <p:ph type="dt" sz="half" idx="2"/>
          </p:nvPr>
        </p:nvSpPr>
        <p:spPr>
          <a:xfrm>
            <a:off x="1142996" y="6223828"/>
            <a:ext cx="2329074" cy="365125"/>
          </a:xfrm>
          <a:prstGeom prst="rect">
            <a:avLst/>
          </a:prstGeom>
        </p:spPr>
        <p:txBody>
          <a:bodyPr vert="horz" lIns="91440" tIns="45720" rIns="91440" bIns="45720" rtlCol="0" anchor="ctr"/>
          <a:lstStyle>
            <a:lvl1pPr algn="l">
              <a:defRPr sz="1200">
                <a:solidFill>
                  <a:schemeClr val="accent1"/>
                </a:solidFill>
              </a:defRPr>
            </a:lvl1pPr>
          </a:lstStyle>
          <a:p>
            <a:fld id="{3CBC1C18-307B-4F68-A007-B5B542270E8D}" type="datetimeFigureOut">
              <a:rPr lang="en-US" noProof="0" smtClean="0"/>
              <a:t>6/19/2019</a:t>
            </a:fld>
            <a:endParaRPr lang="en-US" noProof="0" dirty="0"/>
          </a:p>
        </p:txBody>
      </p:sp>
      <p:sp>
        <p:nvSpPr>
          <p:cNvPr id="5" name="Footer Placeholder 4"/>
          <p:cNvSpPr>
            <a:spLocks noGrp="1"/>
          </p:cNvSpPr>
          <p:nvPr>
            <p:ph type="ftr" sz="quarter" idx="3"/>
          </p:nvPr>
        </p:nvSpPr>
        <p:spPr>
          <a:xfrm>
            <a:off x="3949148" y="6223828"/>
            <a:ext cx="4717774" cy="365125"/>
          </a:xfrm>
          <a:prstGeom prst="rect">
            <a:avLst/>
          </a:prstGeom>
        </p:spPr>
        <p:txBody>
          <a:bodyPr vert="horz" lIns="91440" tIns="45720" rIns="91440" bIns="45720" rtlCol="0" anchor="ctr"/>
          <a:lstStyle>
            <a:lvl1pPr algn="ctr">
              <a:defRPr sz="1200">
                <a:solidFill>
                  <a:schemeClr val="accent1"/>
                </a:solidFill>
              </a:defRPr>
            </a:lvl1pPr>
          </a:lstStyle>
          <a:p>
            <a:r>
              <a:rPr lang="en-US" noProof="0" dirty="0"/>
              <a:t>
              </a:t>
            </a:r>
          </a:p>
        </p:txBody>
      </p:sp>
      <p:sp>
        <p:nvSpPr>
          <p:cNvPr id="6" name="Slide Number Placeholder 5"/>
          <p:cNvSpPr>
            <a:spLocks noGrp="1"/>
          </p:cNvSpPr>
          <p:nvPr>
            <p:ph type="sldNum" sz="quarter" idx="4"/>
          </p:nvPr>
        </p:nvSpPr>
        <p:spPr>
          <a:xfrm>
            <a:off x="9329530" y="6223828"/>
            <a:ext cx="1706217" cy="365125"/>
          </a:xfrm>
          <a:prstGeom prst="rect">
            <a:avLst/>
          </a:prstGeom>
        </p:spPr>
        <p:txBody>
          <a:bodyPr vert="horz" lIns="91440" tIns="45720" rIns="91440" bIns="45720" rtlCol="0" anchor="ctr"/>
          <a:lstStyle>
            <a:lvl1pPr algn="r">
              <a:defRPr sz="1200">
                <a:solidFill>
                  <a:schemeClr val="accent1"/>
                </a:solidFill>
              </a:defRPr>
            </a:lvl1pPr>
          </a:lstStyle>
          <a:p>
            <a:fld id="{6D22F896-40B5-4ADD-8801-0D06FADFA095}" type="slidenum">
              <a:rPr lang="en-US" noProof="0" smtClean="0"/>
              <a:pPr/>
              <a:t>‹#›</a:t>
            </a:fld>
            <a:endParaRPr lang="en-US" noProof="0" dirty="0"/>
          </a:p>
        </p:txBody>
      </p:sp>
    </p:spTree>
    <p:extLst>
      <p:ext uri="{BB962C8B-B14F-4D97-AF65-F5344CB8AC3E}">
        <p14:creationId xmlns:p14="http://schemas.microsoft.com/office/powerpoint/2010/main" val="1702258854"/>
      </p:ext>
    </p:extLst>
  </p:cSld>
  <p:clrMap bg1="lt1" tx1="dk1" bg2="lt2" tx2="dk2" accent1="accent1" accent2="accent2" accent3="accent3" accent4="accent4" accent5="accent5" accent6="accent6" hlink="hlink" folHlink="folHlink"/>
  <p:sldLayoutIdLst>
    <p:sldLayoutId id="2147483877" r:id="rId1"/>
    <p:sldLayoutId id="2147483878" r:id="rId2"/>
    <p:sldLayoutId id="2147483879" r:id="rId3"/>
    <p:sldLayoutId id="2147483880" r:id="rId4"/>
    <p:sldLayoutId id="2147483881" r:id="rId5"/>
    <p:sldLayoutId id="2147483882" r:id="rId6"/>
    <p:sldLayoutId id="2147483883" r:id="rId7"/>
    <p:sldLayoutId id="2147483884" r:id="rId8"/>
    <p:sldLayoutId id="2147483885" r:id="rId9"/>
    <p:sldLayoutId id="2147483886" r:id="rId10"/>
    <p:sldLayoutId id="2147483887" r:id="rId11"/>
  </p:sldLayoutIdLst>
  <p:hf sldNum="0" hdr="0" ftr="0" dt="0"/>
  <p:txStyles>
    <p:titleStyle>
      <a:lvl1pPr algn="l" defTabSz="914400" rtl="0" eaLnBrk="1" latinLnBrk="0" hangingPunct="1">
        <a:lnSpc>
          <a:spcPct val="90000"/>
        </a:lnSpc>
        <a:spcBef>
          <a:spcPct val="0"/>
        </a:spcBef>
        <a:buNone/>
        <a:defRPr sz="4400" kern="1200">
          <a:solidFill>
            <a:schemeClr val="accent1"/>
          </a:solidFill>
          <a:latin typeface="+mj-lt"/>
          <a:ea typeface="+mj-ea"/>
          <a:cs typeface="+mj-cs"/>
        </a:defRPr>
      </a:lvl1pPr>
    </p:titleStyle>
    <p:bodyStyle>
      <a:lvl1pPr marL="228600" indent="-182880" algn="l" defTabSz="914400" rtl="0" eaLnBrk="1" latinLnBrk="0" hangingPunct="1">
        <a:lnSpc>
          <a:spcPct val="90000"/>
        </a:lnSpc>
        <a:spcBef>
          <a:spcPts val="1400"/>
        </a:spcBef>
        <a:buClr>
          <a:schemeClr val="accent1"/>
        </a:buClr>
        <a:buSzPct val="80000"/>
        <a:buFont typeface="Corbel" pitchFamily="34" charset="0"/>
        <a:buChar char="•"/>
        <a:defRPr sz="2200" kern="1200">
          <a:solidFill>
            <a:schemeClr val="accent1"/>
          </a:solidFill>
          <a:latin typeface="+mn-lt"/>
          <a:ea typeface="+mn-ea"/>
          <a:cs typeface="+mn-cs"/>
        </a:defRPr>
      </a:lvl1pPr>
      <a:lvl2pPr marL="45720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2000" kern="1200">
          <a:solidFill>
            <a:schemeClr val="accent1"/>
          </a:solidFill>
          <a:latin typeface="+mn-lt"/>
          <a:ea typeface="+mn-ea"/>
          <a:cs typeface="+mn-cs"/>
        </a:defRPr>
      </a:lvl2pPr>
      <a:lvl3pPr marL="73152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800" kern="1200">
          <a:solidFill>
            <a:schemeClr val="accent1"/>
          </a:solidFill>
          <a:latin typeface="+mn-lt"/>
          <a:ea typeface="+mn-ea"/>
          <a:cs typeface="+mn-cs"/>
        </a:defRPr>
      </a:lvl3pPr>
      <a:lvl4pPr marL="100584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4pPr>
      <a:lvl5pPr marL="1280160" indent="-18288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5pPr>
      <a:lvl6pPr marL="16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6pPr>
      <a:lvl7pPr marL="19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7pPr>
      <a:lvl8pPr marL="22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8pPr>
      <a:lvl9pPr marL="2500000" indent="-228600" algn="l" defTabSz="914400" rtl="0" eaLnBrk="1" latinLnBrk="0" hangingPunct="1">
        <a:lnSpc>
          <a:spcPct val="90000"/>
        </a:lnSpc>
        <a:spcBef>
          <a:spcPts val="200"/>
        </a:spcBef>
        <a:spcAft>
          <a:spcPts val="400"/>
        </a:spcAft>
        <a:buClr>
          <a:schemeClr val="accent1"/>
        </a:buClr>
        <a:buSzPct val="80000"/>
        <a:buFont typeface="Corbel" pitchFamily="34" charset="0"/>
        <a:buChar char="•"/>
        <a:defRPr sz="1600" kern="1200">
          <a:solidFill>
            <a:schemeClr val="accent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microsoft.com/office/2007/relationships/hdphoto" Target="../media/hdphoto1.wdp"/><Relationship Id="rId2" Type="http://schemas.openxmlformats.org/officeDocument/2006/relationships/image" Target="../media/image1.png"/><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png"/><Relationship Id="rId1" Type="http://schemas.openxmlformats.org/officeDocument/2006/relationships/slideLayout" Target="../slideLayouts/slideLayout4.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8.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4.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4.xml"/></Relationships>
</file>

<file path=ppt/slides/_rels/slide12.xml.rels><?xml version="1.0" encoding="UTF-8" standalone="yes"?>
<Relationships xmlns="http://schemas.openxmlformats.org/package/2006/relationships"><Relationship Id="rId2" Type="http://schemas.openxmlformats.org/officeDocument/2006/relationships/image" Target="../media/image5.jpe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cxnSp>
        <p:nvCxnSpPr>
          <p:cNvPr id="50" name="Straight Connector 41">
            <a:extLst>
              <a:ext uri="{FF2B5EF4-FFF2-40B4-BE49-F238E27FC236}">
                <a16:creationId xmlns:a16="http://schemas.microsoft.com/office/drawing/2014/main" id="{63FED537-3AF1-4C36-9904-77B6A54D27B5}"/>
              </a:ext>
              <a:ext uri="{C183D7F6-B498-43B3-948B-1728B52AA6E4}">
                <adec:decorative xmlns:adec="http://schemas.microsoft.com/office/drawing/2017/decorative" xmlns="" val="1"/>
              </a:ext>
            </a:extLst>
          </p:cNvPr>
          <p:cNvCxnSpPr>
            <a:cxnSpLocks noGrp="1" noRot="1" noChangeAspect="1" noMove="1" noResize="1" noEditPoints="1" noAdjustHandles="1" noChangeArrowheads="1" noChangeShapeType="1"/>
          </p:cNvCxnSpPr>
          <p:nvPr>
            <p:extLst>
              <p:ext uri="{386F3935-93C4-4BCD-93E2-E3B085C9AB24}">
                <p16:designElem xmlns:p16="http://schemas.microsoft.com/office/powerpoint/2015/main" val="1"/>
              </p:ext>
            </p:extLst>
          </p:nvPr>
        </p:nvCxnSpPr>
        <p:spPr>
          <a:xfrm>
            <a:off x="1978660" y="5462458"/>
            <a:ext cx="8229601" cy="0"/>
          </a:xfrm>
          <a:prstGeom prst="line">
            <a:avLst/>
          </a:prstGeom>
          <a:ln>
            <a:solidFill>
              <a:srgbClr val="FFFFFF"/>
            </a:solidFill>
          </a:ln>
        </p:spPr>
        <p:style>
          <a:lnRef idx="1">
            <a:schemeClr val="accent1"/>
          </a:lnRef>
          <a:fillRef idx="0">
            <a:schemeClr val="accent1"/>
          </a:fillRef>
          <a:effectRef idx="0">
            <a:schemeClr val="accent1"/>
          </a:effectRef>
          <a:fontRef idx="minor">
            <a:schemeClr val="tx1"/>
          </a:fontRef>
        </p:style>
      </p:cxnSp>
      <p:sp>
        <p:nvSpPr>
          <p:cNvPr id="2" name="Title 1">
            <a:extLst>
              <a:ext uri="{FF2B5EF4-FFF2-40B4-BE49-F238E27FC236}">
                <a16:creationId xmlns:a16="http://schemas.microsoft.com/office/drawing/2014/main" id="{050E78D6-F072-48E7-8270-20EFBDD26F36}"/>
              </a:ext>
            </a:extLst>
          </p:cNvPr>
          <p:cNvSpPr>
            <a:spLocks noGrp="1"/>
          </p:cNvSpPr>
          <p:nvPr>
            <p:ph type="ctrTitle"/>
          </p:nvPr>
        </p:nvSpPr>
        <p:spPr>
          <a:xfrm>
            <a:off x="872840" y="3853615"/>
            <a:ext cx="9966960" cy="1325880"/>
          </a:xfrm>
        </p:spPr>
        <p:txBody>
          <a:bodyPr>
            <a:noAutofit/>
          </a:bodyPr>
          <a:lstStyle/>
          <a:p>
            <a:r>
              <a:rPr lang="fa-IR" sz="6500" dirty="0" smtClean="0">
                <a:cs typeface="B Nazanin" panose="00000400000000000000" pitchFamily="2" charset="-78"/>
              </a:rPr>
              <a:t>مدیریت منابع انسانی</a:t>
            </a:r>
            <a:endParaRPr lang="fa-IR" sz="6500" dirty="0">
              <a:cs typeface="B Nazanin" panose="00000400000000000000" pitchFamily="2" charset="-78"/>
            </a:endParaRPr>
          </a:p>
        </p:txBody>
      </p:sp>
      <p:sp>
        <p:nvSpPr>
          <p:cNvPr id="3" name="Subtitle 2">
            <a:extLst>
              <a:ext uri="{FF2B5EF4-FFF2-40B4-BE49-F238E27FC236}">
                <a16:creationId xmlns:a16="http://schemas.microsoft.com/office/drawing/2014/main" id="{3FC7BD98-5486-489C-BAA0-A69CEFF691B3}"/>
              </a:ext>
            </a:extLst>
          </p:cNvPr>
          <p:cNvSpPr>
            <a:spLocks noGrp="1"/>
          </p:cNvSpPr>
          <p:nvPr>
            <p:ph type="subTitle" idx="1"/>
          </p:nvPr>
        </p:nvSpPr>
        <p:spPr>
          <a:xfrm>
            <a:off x="1709530" y="5624419"/>
            <a:ext cx="8767860" cy="553690"/>
          </a:xfrm>
        </p:spPr>
        <p:txBody>
          <a:bodyPr>
            <a:normAutofit/>
          </a:bodyPr>
          <a:lstStyle/>
          <a:p>
            <a:r>
              <a:rPr lang="en-US" b="1" i="1" dirty="0"/>
              <a:t>Human Resource Management</a:t>
            </a:r>
            <a:endParaRPr lang="en-US" sz="2000" i="1" dirty="0"/>
          </a:p>
        </p:txBody>
      </p:sp>
      <p:pic>
        <p:nvPicPr>
          <p:cNvPr id="9" name="Picture 8"/>
          <p:cNvPicPr>
            <a:picLocks noChangeAspect="1"/>
          </p:cNvPicPr>
          <p:nvPr/>
        </p:nvPicPr>
        <p:blipFill>
          <a:blip r:embed="rId2">
            <a:extLst>
              <a:ext uri="{BEBA8EAE-BF5A-486C-A8C5-ECC9F3942E4B}">
                <a14:imgProps xmlns:a14="http://schemas.microsoft.com/office/drawing/2010/main">
                  <a14:imgLayer r:embed="rId3">
                    <a14:imgEffect>
                      <a14:artisticCrisscrossEtching/>
                    </a14:imgEffect>
                  </a14:imgLayer>
                </a14:imgProps>
              </a:ext>
            </a:extLst>
          </a:blip>
          <a:stretch>
            <a:fillRect/>
          </a:stretch>
        </p:blipFill>
        <p:spPr>
          <a:xfrm>
            <a:off x="2595154" y="263493"/>
            <a:ext cx="6940732" cy="3470366"/>
          </a:xfrm>
          <a:prstGeom prst="rect">
            <a:avLst/>
          </a:prstGeom>
          <a:ln>
            <a:noFill/>
          </a:ln>
          <a:effectLst>
            <a:softEdge rad="127000"/>
          </a:effectLst>
        </p:spPr>
      </p:pic>
    </p:spTree>
    <p:extLst>
      <p:ext uri="{BB962C8B-B14F-4D97-AF65-F5344CB8AC3E}">
        <p14:creationId xmlns:p14="http://schemas.microsoft.com/office/powerpoint/2010/main" val="834050406"/>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تیلوریسم</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pic>
        <p:nvPicPr>
          <p:cNvPr id="5" name="Picture 4"/>
          <p:cNvPicPr>
            <a:picLocks noChangeAspect="1"/>
          </p:cNvPicPr>
          <p:nvPr/>
        </p:nvPicPr>
        <p:blipFill rotWithShape="1">
          <a:blip r:embed="rId2"/>
          <a:srcRect b="17335"/>
          <a:stretch/>
        </p:blipFill>
        <p:spPr>
          <a:xfrm>
            <a:off x="9895929" y="1492294"/>
            <a:ext cx="1148716" cy="1426973"/>
          </a:xfrm>
          <a:prstGeom prst="rect">
            <a:avLst/>
          </a:prstGeom>
        </p:spPr>
      </p:pic>
      <p:sp>
        <p:nvSpPr>
          <p:cNvPr id="6" name="Rectangle 5"/>
          <p:cNvSpPr/>
          <p:nvPr/>
        </p:nvSpPr>
        <p:spPr>
          <a:xfrm>
            <a:off x="365760" y="1390190"/>
            <a:ext cx="9283858" cy="830997"/>
          </a:xfrm>
          <a:prstGeom prst="rect">
            <a:avLst/>
          </a:prstGeom>
        </p:spPr>
        <p:txBody>
          <a:bodyPr wrap="square">
            <a:spAutoFit/>
          </a:bodyPr>
          <a:lstStyle/>
          <a:p>
            <a:pPr marL="285750" indent="-285750" algn="r" rtl="1">
              <a:buFont typeface="Arial" panose="020B0604020202020204" pitchFamily="34" charset="0"/>
              <a:buChar char="•"/>
            </a:pPr>
            <a:r>
              <a:rPr lang="fa-IR" sz="1600" dirty="0">
                <a:solidFill>
                  <a:srgbClr val="000000"/>
                </a:solidFill>
                <a:latin typeface="IRANSans"/>
                <a:cs typeface="B Nazanin" panose="00000400000000000000" pitchFamily="2" charset="-78"/>
              </a:rPr>
              <a:t>فردیک تیلور (۱۹۱۵-۱۸۵۶) ، مهندس مکانیک بود</a:t>
            </a:r>
            <a:r>
              <a:rPr lang="fa-IR" sz="1600" dirty="0" smtClean="0">
                <a:solidFill>
                  <a:srgbClr val="000000"/>
                </a:solidFill>
                <a:latin typeface="IRANSans"/>
                <a:cs typeface="B Nazanin" panose="00000400000000000000" pitchFamily="2" charset="-78"/>
              </a:rPr>
              <a:t>. وی </a:t>
            </a:r>
            <a:r>
              <a:rPr lang="fa-IR" sz="1600" dirty="0">
                <a:solidFill>
                  <a:srgbClr val="000000"/>
                </a:solidFill>
                <a:latin typeface="IRANSans"/>
                <a:cs typeface="B Nazanin" panose="00000400000000000000" pitchFamily="2" charset="-78"/>
              </a:rPr>
              <a:t>ابتدا مدتی در یک کارگاه هیدرولیک کار کرد و سپس، به کارخانجات فولاد میدوِیل</a:t>
            </a:r>
            <a:r>
              <a:rPr lang="en-US" sz="1600" dirty="0">
                <a:solidFill>
                  <a:srgbClr val="000000"/>
                </a:solidFill>
                <a:latin typeface="IRANSans"/>
                <a:cs typeface="B Nazanin" panose="00000400000000000000" pitchFamily="2" charset="-78"/>
              </a:rPr>
              <a:t> </a:t>
            </a:r>
            <a:r>
              <a:rPr lang="fa-IR" sz="1600" dirty="0">
                <a:solidFill>
                  <a:srgbClr val="000000"/>
                </a:solidFill>
                <a:latin typeface="IRANSans"/>
                <a:cs typeface="B Nazanin" panose="00000400000000000000" pitchFamily="2" charset="-78"/>
              </a:rPr>
              <a:t>رفت</a:t>
            </a:r>
            <a:r>
              <a:rPr lang="fa-IR" sz="1600" dirty="0" smtClean="0">
                <a:solidFill>
                  <a:srgbClr val="000000"/>
                </a:solidFill>
                <a:latin typeface="IRANSans"/>
                <a:cs typeface="B Nazanin" panose="00000400000000000000" pitchFamily="2" charset="-78"/>
              </a:rPr>
              <a:t>. او </a:t>
            </a:r>
            <a:r>
              <a:rPr lang="fa-IR" sz="1600" dirty="0">
                <a:solidFill>
                  <a:srgbClr val="000000"/>
                </a:solidFill>
                <a:latin typeface="IRANSans"/>
                <a:cs typeface="B Nazanin" panose="00000400000000000000" pitchFamily="2" charset="-78"/>
              </a:rPr>
              <a:t>در آنجا به سمت سرپرست کارگاه تراشکاری منصوب شد</a:t>
            </a:r>
            <a:r>
              <a:rPr lang="en-US" sz="1600" dirty="0">
                <a:solidFill>
                  <a:srgbClr val="000000"/>
                </a:solidFill>
                <a:latin typeface="IRANSans"/>
                <a:cs typeface="B Nazanin" panose="00000400000000000000" pitchFamily="2" charset="-78"/>
              </a:rPr>
              <a:t>.</a:t>
            </a:r>
            <a:endParaRPr lang="fa-IR" sz="1600" dirty="0">
              <a:solidFill>
                <a:srgbClr val="000000"/>
              </a:solidFill>
              <a:latin typeface="IRANSans"/>
              <a:cs typeface="B Nazanin" panose="00000400000000000000" pitchFamily="2" charset="-78"/>
            </a:endParaRPr>
          </a:p>
          <a:p>
            <a:pPr marL="285750" indent="-285750" algn="r" rtl="1">
              <a:buFont typeface="Arial" panose="020B0604020202020204" pitchFamily="34" charset="0"/>
              <a:buChar char="•"/>
            </a:pPr>
            <a:endParaRPr lang="en-US" sz="1600" dirty="0">
              <a:cs typeface="B Nazanin" panose="00000400000000000000" pitchFamily="2" charset="-78"/>
            </a:endParaRPr>
          </a:p>
        </p:txBody>
      </p:sp>
      <p:sp>
        <p:nvSpPr>
          <p:cNvPr id="10" name="Rectangle 9"/>
          <p:cNvSpPr/>
          <p:nvPr/>
        </p:nvSpPr>
        <p:spPr>
          <a:xfrm>
            <a:off x="365760" y="2110930"/>
            <a:ext cx="9283857" cy="584775"/>
          </a:xfrm>
          <a:prstGeom prst="rect">
            <a:avLst/>
          </a:prstGeom>
        </p:spPr>
        <p:txBody>
          <a:bodyPr wrap="square">
            <a:spAutoFit/>
          </a:bodyPr>
          <a:lstStyle/>
          <a:p>
            <a:pPr marL="285750" indent="-285750" algn="r" rtl="1">
              <a:buFont typeface="Arial" panose="020B0604020202020204" pitchFamily="34" charset="0"/>
              <a:buChar char="•"/>
            </a:pPr>
            <a:r>
              <a:rPr lang="fa-IR" sz="1600" dirty="0" smtClean="0">
                <a:solidFill>
                  <a:srgbClr val="000000"/>
                </a:solidFill>
                <a:latin typeface="IRANSans"/>
                <a:cs typeface="B Nazanin" panose="00000400000000000000" pitchFamily="2" charset="-78"/>
              </a:rPr>
              <a:t>تیلور</a:t>
            </a:r>
            <a:r>
              <a:rPr lang="fa-IR" sz="1600" dirty="0">
                <a:solidFill>
                  <a:srgbClr val="000000"/>
                </a:solidFill>
                <a:latin typeface="IRANSans"/>
                <a:cs typeface="B Nazanin" panose="00000400000000000000" pitchFamily="2" charset="-78"/>
              </a:rPr>
              <a:t> </a:t>
            </a:r>
            <a:r>
              <a:rPr lang="fa-IR" sz="1600" dirty="0" smtClean="0">
                <a:solidFill>
                  <a:srgbClr val="000000"/>
                </a:solidFill>
                <a:latin typeface="IRANSans"/>
                <a:cs typeface="B Nazanin" panose="00000400000000000000" pitchFamily="2" charset="-78"/>
              </a:rPr>
              <a:t>معتقد بود کارگران میتوانند خروجی بهتری داشته باشند اما همه آنها در یک توافق نا نوشته کند کار میکنند تا میزان خروجی استاندارد و انتظار مدیران بالا نرود .  </a:t>
            </a:r>
            <a:endParaRPr lang="fa-IR" sz="1600" dirty="0">
              <a:solidFill>
                <a:srgbClr val="000000"/>
              </a:solidFill>
              <a:latin typeface="IRANSans"/>
              <a:cs typeface="B Nazanin" panose="00000400000000000000" pitchFamily="2" charset="-78"/>
            </a:endParaRPr>
          </a:p>
        </p:txBody>
      </p:sp>
      <p:sp>
        <p:nvSpPr>
          <p:cNvPr id="9" name="Rectangle 8"/>
          <p:cNvSpPr/>
          <p:nvPr/>
        </p:nvSpPr>
        <p:spPr>
          <a:xfrm>
            <a:off x="675434" y="3271282"/>
            <a:ext cx="10369211" cy="338554"/>
          </a:xfrm>
          <a:prstGeom prst="rect">
            <a:avLst/>
          </a:prstGeom>
        </p:spPr>
        <p:txBody>
          <a:bodyPr wrap="square">
            <a:spAutoFit/>
          </a:bodyPr>
          <a:lstStyle/>
          <a:p>
            <a:pPr marL="285750" indent="-285750" algn="r" rtl="1">
              <a:buFont typeface="Arial" panose="020B0604020202020204" pitchFamily="34" charset="0"/>
              <a:buChar char="•"/>
            </a:pPr>
            <a:r>
              <a:rPr lang="fa-IR" sz="1600" dirty="0">
                <a:solidFill>
                  <a:srgbClr val="000000"/>
                </a:solidFill>
                <a:latin typeface="IRANSans"/>
                <a:cs typeface="B Nazanin" panose="00000400000000000000" pitchFamily="2" charset="-78"/>
              </a:rPr>
              <a:t>تیلور به نتیجه رسید که اگر سرعت متوسط کارگران در گذشته را معیار خروجی تعریف کنیم، تمام تاریخ آینده‌ی بشر، قربانی تنبلی امروز انسان خواهد شد.</a:t>
            </a:r>
            <a:endParaRPr lang="en-US" sz="1600" dirty="0">
              <a:solidFill>
                <a:srgbClr val="000000"/>
              </a:solidFill>
              <a:latin typeface="IRANSans"/>
              <a:cs typeface="B Nazanin" panose="00000400000000000000" pitchFamily="2" charset="-78"/>
            </a:endParaRPr>
          </a:p>
        </p:txBody>
      </p:sp>
      <p:sp>
        <p:nvSpPr>
          <p:cNvPr id="11" name="Rectangle 10"/>
          <p:cNvSpPr/>
          <p:nvPr/>
        </p:nvSpPr>
        <p:spPr>
          <a:xfrm>
            <a:off x="-376125" y="2799524"/>
            <a:ext cx="10025742" cy="338554"/>
          </a:xfrm>
          <a:prstGeom prst="rect">
            <a:avLst/>
          </a:prstGeom>
        </p:spPr>
        <p:txBody>
          <a:bodyPr wrap="square">
            <a:spAutoFit/>
          </a:bodyPr>
          <a:lstStyle/>
          <a:p>
            <a:pPr marL="285750" indent="-285750" algn="r" rtl="1">
              <a:buFont typeface="Arial" panose="020B0604020202020204" pitchFamily="34" charset="0"/>
              <a:buChar char="•"/>
            </a:pPr>
            <a:r>
              <a:rPr lang="fa-IR" sz="1600" dirty="0" smtClean="0">
                <a:solidFill>
                  <a:srgbClr val="000000"/>
                </a:solidFill>
                <a:latin typeface="IRANSans"/>
                <a:cs typeface="B Nazanin" panose="00000400000000000000" pitchFamily="2" charset="-78"/>
              </a:rPr>
              <a:t>تیلور  </a:t>
            </a:r>
            <a:r>
              <a:rPr lang="fa-IR" sz="1600" dirty="0">
                <a:solidFill>
                  <a:srgbClr val="000000"/>
                </a:solidFill>
                <a:latin typeface="IRANSans"/>
                <a:cs typeface="B Nazanin" panose="00000400000000000000" pitchFamily="2" charset="-78"/>
              </a:rPr>
              <a:t>بر این باور بود که اصل دارایی کارخانه، ماشین آلات آن هستند</a:t>
            </a:r>
            <a:r>
              <a:rPr lang="fa-IR" sz="1600" dirty="0" smtClean="0">
                <a:solidFill>
                  <a:srgbClr val="000000"/>
                </a:solidFill>
                <a:latin typeface="IRANSans"/>
                <a:cs typeface="B Nazanin" panose="00000400000000000000" pitchFamily="2" charset="-78"/>
              </a:rPr>
              <a:t>. و باید تلاش کرد تا خزوجی ماشین ها به ظرفیت اسمی آن نزدیک شود . </a:t>
            </a:r>
            <a:endParaRPr lang="en-US" sz="1600" dirty="0">
              <a:solidFill>
                <a:srgbClr val="000000"/>
              </a:solidFill>
              <a:latin typeface="IRANSans"/>
              <a:cs typeface="B Nazanin" panose="00000400000000000000" pitchFamily="2" charset="-78"/>
            </a:endParaRPr>
          </a:p>
        </p:txBody>
      </p:sp>
      <p:sp>
        <p:nvSpPr>
          <p:cNvPr id="12" name="Rectangle 11"/>
          <p:cNvSpPr/>
          <p:nvPr/>
        </p:nvSpPr>
        <p:spPr>
          <a:xfrm>
            <a:off x="675434" y="3755216"/>
            <a:ext cx="10369211" cy="584775"/>
          </a:xfrm>
          <a:prstGeom prst="rect">
            <a:avLst/>
          </a:prstGeom>
        </p:spPr>
        <p:txBody>
          <a:bodyPr wrap="square">
            <a:spAutoFit/>
          </a:bodyPr>
          <a:lstStyle/>
          <a:p>
            <a:pPr marL="285750" indent="-285750" algn="r" rtl="1">
              <a:buFont typeface="Arial" panose="020B0604020202020204" pitchFamily="34" charset="0"/>
              <a:buChar char="•"/>
            </a:pPr>
            <a:r>
              <a:rPr lang="fa-IR" sz="1600" dirty="0" smtClean="0">
                <a:solidFill>
                  <a:srgbClr val="000000"/>
                </a:solidFill>
                <a:latin typeface="IRANSans"/>
                <a:cs typeface="B Nazanin" panose="00000400000000000000" pitchFamily="2" charset="-78"/>
              </a:rPr>
              <a:t>به تدریج به مکررا ماشین ها و  دستگاه ها از کار می افتاد و کارگران </a:t>
            </a:r>
            <a:r>
              <a:rPr lang="fa-IR" sz="1600" dirty="0">
                <a:solidFill>
                  <a:srgbClr val="000000"/>
                </a:solidFill>
                <a:latin typeface="IRANSans"/>
                <a:cs typeface="B Nazanin" panose="00000400000000000000" pitchFamily="2" charset="-78"/>
              </a:rPr>
              <a:t>اصرار داشتند که دستگاه‌ها، از فشار کار زیاد خراب شده‌اند و تیلور مدام تکرار می‌کرد که این خرابی‌ها عمدی هستند. </a:t>
            </a:r>
            <a:r>
              <a:rPr lang="fa-IR" sz="1600" b="1" dirty="0">
                <a:solidFill>
                  <a:srgbClr val="050B17"/>
                </a:solidFill>
                <a:latin typeface="IRANSans"/>
                <a:cs typeface="B Nazanin" panose="00000400000000000000" pitchFamily="2" charset="-78"/>
              </a:rPr>
              <a:t>(نگرش مکانیکی به کارکنان)</a:t>
            </a:r>
            <a:endParaRPr lang="en-US" sz="1600" b="1" dirty="0">
              <a:solidFill>
                <a:srgbClr val="050B17"/>
              </a:solidFill>
              <a:latin typeface="IRANSans"/>
              <a:cs typeface="B Nazanin" panose="00000400000000000000" pitchFamily="2" charset="-78"/>
            </a:endParaRPr>
          </a:p>
        </p:txBody>
      </p:sp>
      <p:sp>
        <p:nvSpPr>
          <p:cNvPr id="13" name="Rectangle 12"/>
          <p:cNvSpPr/>
          <p:nvPr/>
        </p:nvSpPr>
        <p:spPr>
          <a:xfrm>
            <a:off x="2011681" y="4478359"/>
            <a:ext cx="9032964" cy="338554"/>
          </a:xfrm>
          <a:prstGeom prst="rect">
            <a:avLst/>
          </a:prstGeom>
          <a:solidFill>
            <a:schemeClr val="accent1">
              <a:lumMod val="40000"/>
              <a:lumOff val="60000"/>
            </a:schemeClr>
          </a:solidFill>
        </p:spPr>
        <p:txBody>
          <a:bodyPr wrap="square">
            <a:spAutoFit/>
          </a:bodyPr>
          <a:lstStyle/>
          <a:p>
            <a:pPr marL="285750" indent="-285750" algn="r" rtl="1">
              <a:buFont typeface="Arial" panose="020B0604020202020204" pitchFamily="34" charset="0"/>
              <a:buChar char="•"/>
            </a:pPr>
            <a:r>
              <a:rPr lang="fa-IR" sz="1600" dirty="0">
                <a:solidFill>
                  <a:srgbClr val="000000"/>
                </a:solidFill>
                <a:latin typeface="IRANSans"/>
                <a:cs typeface="B Nazanin" panose="00000400000000000000" pitchFamily="2" charset="-78"/>
              </a:rPr>
              <a:t>تیلور، حاصل تجربیات خود را در کتاب </a:t>
            </a:r>
            <a:r>
              <a:rPr lang="fa-IR" sz="1600" b="1" dirty="0">
                <a:solidFill>
                  <a:schemeClr val="accent6">
                    <a:lumMod val="50000"/>
                  </a:schemeClr>
                </a:solidFill>
                <a:latin typeface="IRANSans"/>
                <a:cs typeface="B Nazanin" panose="00000400000000000000" pitchFamily="2" charset="-78"/>
              </a:rPr>
              <a:t>مدیریت علمی</a:t>
            </a:r>
            <a:r>
              <a:rPr lang="fa-IR" sz="1600" dirty="0">
                <a:solidFill>
                  <a:srgbClr val="000000"/>
                </a:solidFill>
                <a:latin typeface="IRANSans"/>
                <a:cs typeface="B Nazanin" panose="00000400000000000000" pitchFamily="2" charset="-78"/>
              </a:rPr>
              <a:t> تالیف و منتشر کرد.</a:t>
            </a:r>
            <a:endParaRPr lang="en-US" sz="1600" dirty="0">
              <a:solidFill>
                <a:srgbClr val="000000"/>
              </a:solidFill>
              <a:latin typeface="IRANSans"/>
              <a:cs typeface="B Nazanin" panose="00000400000000000000" pitchFamily="2" charset="-78"/>
            </a:endParaRPr>
          </a:p>
        </p:txBody>
      </p:sp>
      <p:sp>
        <p:nvSpPr>
          <p:cNvPr id="14" name="Rectangle 13"/>
          <p:cNvSpPr/>
          <p:nvPr/>
        </p:nvSpPr>
        <p:spPr>
          <a:xfrm>
            <a:off x="3422469" y="5082449"/>
            <a:ext cx="7622176" cy="338554"/>
          </a:xfrm>
          <a:prstGeom prst="rect">
            <a:avLst/>
          </a:prstGeom>
        </p:spPr>
        <p:txBody>
          <a:bodyPr wrap="square">
            <a:spAutoFit/>
          </a:bodyPr>
          <a:lstStyle/>
          <a:p>
            <a:pPr marL="285750" indent="-285750" algn="r" rtl="1">
              <a:buFont typeface="Arial" panose="020B0604020202020204" pitchFamily="34" charset="0"/>
              <a:buChar char="•"/>
            </a:pPr>
            <a:r>
              <a:rPr lang="fa-IR" sz="1600" b="1" dirty="0">
                <a:solidFill>
                  <a:srgbClr val="C00000"/>
                </a:solidFill>
                <a:latin typeface="IRANSans"/>
                <a:cs typeface="B Nazanin" panose="00000400000000000000" pitchFamily="2" charset="-78"/>
              </a:rPr>
              <a:t>تیلوریسم</a:t>
            </a:r>
            <a:r>
              <a:rPr lang="fa-IR" sz="1600" dirty="0">
                <a:solidFill>
                  <a:srgbClr val="000000"/>
                </a:solidFill>
                <a:latin typeface="IRANSans"/>
                <a:cs typeface="B Nazanin" panose="00000400000000000000" pitchFamily="2" charset="-78"/>
              </a:rPr>
              <a:t> و</a:t>
            </a:r>
            <a:r>
              <a:rPr lang="fa-IR" sz="1600" b="1" dirty="0">
                <a:solidFill>
                  <a:srgbClr val="000000"/>
                </a:solidFill>
                <a:latin typeface="IRANSans"/>
                <a:cs typeface="B Nazanin" panose="00000400000000000000" pitchFamily="2" charset="-78"/>
              </a:rPr>
              <a:t> مدیریت علمی</a:t>
            </a:r>
            <a:r>
              <a:rPr lang="fa-IR" sz="1600" dirty="0">
                <a:solidFill>
                  <a:srgbClr val="000000"/>
                </a:solidFill>
                <a:latin typeface="IRANSans"/>
                <a:cs typeface="B Nazanin" panose="00000400000000000000" pitchFamily="2" charset="-78"/>
              </a:rPr>
              <a:t>، به عنوان مکتبی که انسان را نمی‌بیند و جدی نمی‌گیرد مشهور شد.</a:t>
            </a:r>
            <a:endParaRPr lang="en-US" sz="1600" dirty="0">
              <a:solidFill>
                <a:srgbClr val="000000"/>
              </a:solidFill>
              <a:latin typeface="IRANSans"/>
              <a:cs typeface="B Nazanin" panose="00000400000000000000" pitchFamily="2" charset="-78"/>
            </a:endParaRPr>
          </a:p>
        </p:txBody>
      </p:sp>
      <p:pic>
        <p:nvPicPr>
          <p:cNvPr id="15" name="Picture 14"/>
          <p:cNvPicPr>
            <a:picLocks noChangeAspect="1"/>
          </p:cNvPicPr>
          <p:nvPr/>
        </p:nvPicPr>
        <p:blipFill>
          <a:blip r:embed="rId3"/>
          <a:stretch>
            <a:fillRect/>
          </a:stretch>
        </p:blipFill>
        <p:spPr>
          <a:xfrm>
            <a:off x="623182" y="4470621"/>
            <a:ext cx="1336247" cy="2065297"/>
          </a:xfrm>
          <a:prstGeom prst="rect">
            <a:avLst/>
          </a:prstGeom>
        </p:spPr>
      </p:pic>
      <p:sp>
        <p:nvSpPr>
          <p:cNvPr id="16" name="Rectangle 15"/>
          <p:cNvSpPr/>
          <p:nvPr/>
        </p:nvSpPr>
        <p:spPr>
          <a:xfrm>
            <a:off x="2011681" y="5686539"/>
            <a:ext cx="9032964" cy="830997"/>
          </a:xfrm>
          <a:prstGeom prst="rect">
            <a:avLst/>
          </a:prstGeom>
          <a:solidFill>
            <a:schemeClr val="accent1">
              <a:lumMod val="40000"/>
              <a:lumOff val="60000"/>
            </a:schemeClr>
          </a:solidFill>
        </p:spPr>
        <p:txBody>
          <a:bodyPr wrap="square">
            <a:spAutoFit/>
          </a:bodyPr>
          <a:lstStyle/>
          <a:p>
            <a:pPr marL="285750" indent="-285750" algn="r" rtl="1">
              <a:buFont typeface="Arial" panose="020B0604020202020204" pitchFamily="34" charset="0"/>
              <a:buChar char="•"/>
            </a:pPr>
            <a:r>
              <a:rPr lang="fa-IR" sz="1600" dirty="0">
                <a:solidFill>
                  <a:srgbClr val="000000"/>
                </a:solidFill>
                <a:latin typeface="IRANSans"/>
                <a:cs typeface="B Nazanin" panose="00000400000000000000" pitchFamily="2" charset="-78"/>
              </a:rPr>
              <a:t>با این حال، نباید فراموش کنیم که هنوز هم هر جا از </a:t>
            </a:r>
            <a:r>
              <a:rPr lang="fa-IR" sz="1600" b="1" dirty="0">
                <a:solidFill>
                  <a:srgbClr val="C00000"/>
                </a:solidFill>
                <a:latin typeface="IRANSans"/>
                <a:cs typeface="B Nazanin" panose="00000400000000000000" pitchFamily="2" charset="-78"/>
              </a:rPr>
              <a:t>کارایی و اثربخشی</a:t>
            </a:r>
            <a:r>
              <a:rPr lang="fa-IR" sz="1600" dirty="0">
                <a:solidFill>
                  <a:srgbClr val="000000"/>
                </a:solidFill>
                <a:latin typeface="IRANSans"/>
                <a:cs typeface="B Nazanin" panose="00000400000000000000" pitchFamily="2" charset="-78"/>
              </a:rPr>
              <a:t> و بهره وری حرف می‌زنیم، در حال استفاده از دستاوردهای تیلور و تیلوریسم </a:t>
            </a:r>
            <a:r>
              <a:rPr lang="fa-IR" sz="1600" dirty="0" smtClean="0">
                <a:solidFill>
                  <a:srgbClr val="000000"/>
                </a:solidFill>
                <a:latin typeface="IRANSans"/>
                <a:cs typeface="B Nazanin" panose="00000400000000000000" pitchFamily="2" charset="-78"/>
              </a:rPr>
              <a:t>هستیم.</a:t>
            </a:r>
            <a:r>
              <a:rPr lang="en-US" sz="1600" dirty="0" smtClean="0">
                <a:solidFill>
                  <a:srgbClr val="000000"/>
                </a:solidFill>
                <a:latin typeface="IRANSans"/>
                <a:cs typeface="B Nazanin" panose="00000400000000000000" pitchFamily="2" charset="-78"/>
              </a:rPr>
              <a:t> </a:t>
            </a:r>
            <a:r>
              <a:rPr lang="fa-IR" sz="1600" dirty="0" smtClean="0">
                <a:solidFill>
                  <a:srgbClr val="000000"/>
                </a:solidFill>
                <a:latin typeface="IRANSans"/>
                <a:cs typeface="B Nazanin" panose="00000400000000000000" pitchFamily="2" charset="-78"/>
              </a:rPr>
              <a:t>تیلور </a:t>
            </a:r>
            <a:r>
              <a:rPr lang="fa-IR" sz="1600" dirty="0">
                <a:solidFill>
                  <a:srgbClr val="000000"/>
                </a:solidFill>
                <a:latin typeface="IRANSans"/>
                <a:cs typeface="B Nazanin" panose="00000400000000000000" pitchFamily="2" charset="-78"/>
              </a:rPr>
              <a:t>و مکتب مدیریت علمی، هرگز کنار گذاشته نشدند. بلکه مکاتب دیگری آمدند و آن را تکمیل کردند تا جنبه‌های انسانی مدیریت نیز در تولید و خلق ثروت، به فراموشی سپرده نشوند.</a:t>
            </a:r>
          </a:p>
        </p:txBody>
      </p:sp>
    </p:spTree>
    <p:extLst>
      <p:ext uri="{BB962C8B-B14F-4D97-AF65-F5344CB8AC3E}">
        <p14:creationId xmlns:p14="http://schemas.microsoft.com/office/powerpoint/2010/main" val="4084700276"/>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مدیریت منابع انسانی چیست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28" name="Rectangle 27"/>
          <p:cNvSpPr/>
          <p:nvPr/>
        </p:nvSpPr>
        <p:spPr>
          <a:xfrm>
            <a:off x="574766" y="1512448"/>
            <a:ext cx="10750731" cy="646331"/>
          </a:xfrm>
          <a:prstGeom prst="rect">
            <a:avLst/>
          </a:prstGeom>
        </p:spPr>
        <p:txBody>
          <a:bodyPr wrap="square">
            <a:spAutoFit/>
          </a:bodyPr>
          <a:lstStyle/>
          <a:p>
            <a:pPr marL="285750" indent="-285750" algn="r" rtl="1">
              <a:buFont typeface="Wingdings" panose="05000000000000000000" pitchFamily="2" charset="2"/>
              <a:buChar char="ü"/>
            </a:pPr>
            <a:r>
              <a:rPr lang="fa-IR" b="1" dirty="0">
                <a:solidFill>
                  <a:schemeClr val="bg2">
                    <a:lumMod val="25000"/>
                  </a:schemeClr>
                </a:solidFill>
                <a:cs typeface="B Nazanin" panose="00000400000000000000" pitchFamily="2" charset="-78"/>
              </a:rPr>
              <a:t>مدیریت منابع انسانی</a:t>
            </a:r>
            <a:r>
              <a:rPr lang="fa-IR" dirty="0">
                <a:cs typeface="B Nazanin" panose="00000400000000000000" pitchFamily="2" charset="-78"/>
              </a:rPr>
              <a:t> نقشی است که در هر سازمانی که </a:t>
            </a:r>
            <a:r>
              <a:rPr lang="fa-IR" b="1" dirty="0">
                <a:cs typeface="B Nazanin" panose="00000400000000000000" pitchFamily="2" charset="-78"/>
              </a:rPr>
              <a:t>بیش از یک نفر عضو </a:t>
            </a:r>
            <a:r>
              <a:rPr lang="fa-IR" dirty="0">
                <a:cs typeface="B Nazanin" panose="00000400000000000000" pitchFamily="2" charset="-78"/>
              </a:rPr>
              <a:t>داشته باشد معنا دارد. به عبارتی، حتی در یک سوپرمارکت بسیار کوچک هم همچنان بخش عمده‌ای از وظایف مدیر منابع انسانی، قابل پیگیری و اجراست.</a:t>
            </a:r>
            <a:endParaRPr lang="en-US" dirty="0">
              <a:cs typeface="B Nazanin" panose="00000400000000000000" pitchFamily="2" charset="-78"/>
            </a:endParaRPr>
          </a:p>
        </p:txBody>
      </p:sp>
      <p:sp>
        <p:nvSpPr>
          <p:cNvPr id="3" name="Rectangle 2"/>
          <p:cNvSpPr/>
          <p:nvPr/>
        </p:nvSpPr>
        <p:spPr>
          <a:xfrm>
            <a:off x="1169125" y="2946517"/>
            <a:ext cx="9588137" cy="888705"/>
          </a:xfrm>
          <a:prstGeom prst="rect">
            <a:avLst/>
          </a:prstGeom>
          <a:solidFill>
            <a:schemeClr val="accent1">
              <a:lumMod val="40000"/>
              <a:lumOff val="60000"/>
            </a:schemeClr>
          </a:solidFill>
          <a:ln>
            <a:solidFill>
              <a:schemeClr val="accent6">
                <a:lumMod val="75000"/>
              </a:schemeClr>
            </a:solidFill>
          </a:ln>
        </p:spPr>
        <p:txBody>
          <a:bodyPr wrap="square">
            <a:spAutoFit/>
          </a:bodyPr>
          <a:lstStyle/>
          <a:p>
            <a:pPr algn="r" rtl="1">
              <a:lnSpc>
                <a:spcPct val="150000"/>
              </a:lnSpc>
            </a:pPr>
            <a:r>
              <a:rPr lang="fa-IR" b="1" dirty="0">
                <a:solidFill>
                  <a:schemeClr val="bg2">
                    <a:lumMod val="25000"/>
                  </a:schemeClr>
                </a:solidFill>
                <a:cs typeface="B Nazanin" panose="00000400000000000000" pitchFamily="2" charset="-78"/>
              </a:rPr>
              <a:t>واحد مدیریت منابع انسانی قرار است </a:t>
            </a:r>
            <a:r>
              <a:rPr lang="fa-IR" b="1" dirty="0">
                <a:solidFill>
                  <a:srgbClr val="0070C0"/>
                </a:solidFill>
                <a:cs typeface="B Nazanin" panose="00000400000000000000" pitchFamily="2" charset="-78"/>
              </a:rPr>
              <a:t>کمک</a:t>
            </a:r>
            <a:r>
              <a:rPr lang="fa-IR" b="1" dirty="0">
                <a:solidFill>
                  <a:schemeClr val="bg2">
                    <a:lumMod val="25000"/>
                  </a:schemeClr>
                </a:solidFill>
                <a:cs typeface="B Nazanin" panose="00000400000000000000" pitchFamily="2" charset="-78"/>
              </a:rPr>
              <a:t> کند تا سازمان، در </a:t>
            </a:r>
            <a:r>
              <a:rPr lang="fa-IR" b="1" dirty="0">
                <a:solidFill>
                  <a:srgbClr val="FF0000"/>
                </a:solidFill>
                <a:cs typeface="B Nazanin" panose="00000400000000000000" pitchFamily="2" charset="-78"/>
              </a:rPr>
              <a:t>افق زمانی بلند مدت</a:t>
            </a:r>
            <a:r>
              <a:rPr lang="fa-IR" b="1" dirty="0">
                <a:solidFill>
                  <a:schemeClr val="bg2">
                    <a:lumMod val="25000"/>
                  </a:schemeClr>
                </a:solidFill>
                <a:cs typeface="B Nazanin" panose="00000400000000000000" pitchFamily="2" charset="-78"/>
              </a:rPr>
              <a:t>، با </a:t>
            </a:r>
            <a:r>
              <a:rPr lang="fa-IR" b="1" dirty="0">
                <a:solidFill>
                  <a:srgbClr val="C00000"/>
                </a:solidFill>
                <a:cs typeface="B Nazanin" panose="00000400000000000000" pitchFamily="2" charset="-78"/>
              </a:rPr>
              <a:t>کمترین هزینه</a:t>
            </a:r>
            <a:r>
              <a:rPr lang="fa-IR" b="1" dirty="0">
                <a:solidFill>
                  <a:schemeClr val="bg2">
                    <a:lumMod val="25000"/>
                  </a:schemeClr>
                </a:solidFill>
                <a:cs typeface="B Nazanin" panose="00000400000000000000" pitchFamily="2" charset="-78"/>
              </a:rPr>
              <a:t>، </a:t>
            </a:r>
            <a:r>
              <a:rPr lang="fa-IR" b="1" dirty="0">
                <a:solidFill>
                  <a:srgbClr val="7030A0"/>
                </a:solidFill>
                <a:cs typeface="B Nazanin" panose="00000400000000000000" pitchFamily="2" charset="-78"/>
              </a:rPr>
              <a:t>حداکثر کارایی </a:t>
            </a:r>
            <a:r>
              <a:rPr lang="fa-IR" b="1" dirty="0">
                <a:solidFill>
                  <a:schemeClr val="bg2">
                    <a:lumMod val="25000"/>
                  </a:schemeClr>
                </a:solidFill>
                <a:cs typeface="B Nazanin" panose="00000400000000000000" pitchFamily="2" charset="-78"/>
              </a:rPr>
              <a:t>را از کارکنان برای حرکت در راستای اهداف استراتژیک سازمان، کسب نماید.</a:t>
            </a:r>
            <a:endParaRPr lang="en-US" b="1" dirty="0">
              <a:solidFill>
                <a:schemeClr val="bg2">
                  <a:lumMod val="25000"/>
                </a:schemeClr>
              </a:solidFill>
              <a:cs typeface="B Nazanin" panose="00000400000000000000" pitchFamily="2" charset="-78"/>
            </a:endParaRPr>
          </a:p>
        </p:txBody>
      </p:sp>
      <p:sp>
        <p:nvSpPr>
          <p:cNvPr id="4" name="Rectangle 3"/>
          <p:cNvSpPr/>
          <p:nvPr/>
        </p:nvSpPr>
        <p:spPr>
          <a:xfrm>
            <a:off x="396239" y="2195442"/>
            <a:ext cx="4855029" cy="584775"/>
          </a:xfrm>
          <a:prstGeom prst="rect">
            <a:avLst/>
          </a:prstGeom>
        </p:spPr>
        <p:txBody>
          <a:bodyPr wrap="square">
            <a:spAutoFit/>
          </a:bodyPr>
          <a:lstStyle/>
          <a:p>
            <a:r>
              <a:rPr lang="en-US" sz="1600" dirty="0" smtClean="0">
                <a:solidFill>
                  <a:srgbClr val="000000"/>
                </a:solidFill>
                <a:latin typeface="IRANSans"/>
                <a:cs typeface="B Nazanin" panose="00000400000000000000" pitchFamily="2" charset="-78"/>
              </a:rPr>
              <a:t> </a:t>
            </a:r>
            <a:r>
              <a:rPr lang="fa-IR" sz="1600" dirty="0" smtClean="0">
                <a:solidFill>
                  <a:srgbClr val="000000"/>
                </a:solidFill>
                <a:latin typeface="IRANSans"/>
                <a:cs typeface="B Nazanin" panose="00000400000000000000" pitchFamily="2" charset="-78"/>
              </a:rPr>
              <a:t>اگر</a:t>
            </a:r>
            <a:r>
              <a:rPr lang="fa-IR" sz="1600" dirty="0">
                <a:solidFill>
                  <a:srgbClr val="000000"/>
                </a:solidFill>
                <a:latin typeface="IRANSans"/>
                <a:cs typeface="B Nazanin" panose="00000400000000000000" pitchFamily="2" charset="-78"/>
              </a:rPr>
              <a:t> </a:t>
            </a:r>
            <a:r>
              <a:rPr lang="fa-IR" sz="1600" b="1" dirty="0">
                <a:solidFill>
                  <a:srgbClr val="FF0000"/>
                </a:solidFill>
                <a:latin typeface="IRANSans"/>
                <a:cs typeface="B Nazanin" panose="00000400000000000000" pitchFamily="2" charset="-78"/>
              </a:rPr>
              <a:t>افق زمانی بلندمدت</a:t>
            </a:r>
            <a:r>
              <a:rPr lang="fa-IR" sz="1600" dirty="0">
                <a:solidFill>
                  <a:srgbClr val="000000"/>
                </a:solidFill>
                <a:latin typeface="IRANSans"/>
                <a:cs typeface="B Nazanin" panose="00000400000000000000" pitchFamily="2" charset="-78"/>
              </a:rPr>
              <a:t> را از تعریف </a:t>
            </a:r>
            <a:r>
              <a:rPr lang="fa-IR" sz="1600" dirty="0" smtClean="0">
                <a:solidFill>
                  <a:srgbClr val="000000"/>
                </a:solidFill>
                <a:latin typeface="IRANSans"/>
                <a:cs typeface="B Nazanin" panose="00000400000000000000" pitchFamily="2" charset="-78"/>
              </a:rPr>
              <a:t>زیر </a:t>
            </a:r>
            <a:r>
              <a:rPr lang="fa-IR" sz="1600" dirty="0">
                <a:solidFill>
                  <a:srgbClr val="000000"/>
                </a:solidFill>
                <a:latin typeface="IRANSans"/>
                <a:cs typeface="B Nazanin" panose="00000400000000000000" pitchFamily="2" charset="-78"/>
              </a:rPr>
              <a:t>حذف کنیم، عملاً نقش واحد منابع انسانی را در حد سرکارگرهای معادن </a:t>
            </a:r>
            <a:r>
              <a:rPr lang="fa-IR" sz="1600" b="1" dirty="0">
                <a:solidFill>
                  <a:srgbClr val="0070C0"/>
                </a:solidFill>
                <a:latin typeface="IRANSans"/>
                <a:cs typeface="B Nazanin" panose="00000400000000000000" pitchFamily="2" charset="-78"/>
              </a:rPr>
              <a:t>فردریک تیلور</a:t>
            </a:r>
            <a:r>
              <a:rPr lang="fa-IR" sz="1600" dirty="0">
                <a:solidFill>
                  <a:srgbClr val="000000"/>
                </a:solidFill>
                <a:latin typeface="IRANSans"/>
                <a:cs typeface="B Nazanin" panose="00000400000000000000" pitchFamily="2" charset="-78"/>
              </a:rPr>
              <a:t>، پایین آورده‌ایم.</a:t>
            </a:r>
            <a:endParaRPr lang="en-US" sz="1600" dirty="0">
              <a:cs typeface="B Nazanin" panose="00000400000000000000" pitchFamily="2" charset="-78"/>
            </a:endParaRPr>
          </a:p>
        </p:txBody>
      </p:sp>
      <p:sp>
        <p:nvSpPr>
          <p:cNvPr id="5" name="Arc 4"/>
          <p:cNvSpPr/>
          <p:nvPr/>
        </p:nvSpPr>
        <p:spPr>
          <a:xfrm rot="21118628">
            <a:off x="4311476" y="2410248"/>
            <a:ext cx="1283254" cy="895452"/>
          </a:xfrm>
          <a:prstGeom prst="arc">
            <a:avLst>
              <a:gd name="adj1" fmla="val 17993901"/>
              <a:gd name="adj2" fmla="val 2043973"/>
            </a:avLst>
          </a:prstGeom>
          <a:ln w="38100" cap="flat" cmpd="sng" algn="ctr">
            <a:solidFill>
              <a:srgbClr val="002060"/>
            </a:solidFill>
            <a:prstDash val="solid"/>
            <a:round/>
            <a:headEnd type="triangle" w="med" len="med"/>
            <a:tailEnd type="none" w="med" len="med"/>
          </a:ln>
        </p:spPr>
        <p:style>
          <a:lnRef idx="0">
            <a:scrgbClr r="0" g="0" b="0"/>
          </a:lnRef>
          <a:fillRef idx="0">
            <a:scrgbClr r="0" g="0" b="0"/>
          </a:fillRef>
          <a:effectRef idx="0">
            <a:scrgbClr r="0" g="0" b="0"/>
          </a:effectRef>
          <a:fontRef idx="minor">
            <a:schemeClr val="tx1"/>
          </a:fontRef>
        </p:style>
        <p:txBody>
          <a:bodyPr rtlCol="0" anchor="ctr"/>
          <a:lstStyle/>
          <a:p>
            <a:pPr algn="ctr"/>
            <a:endParaRPr lang="en-US"/>
          </a:p>
        </p:txBody>
      </p:sp>
      <p:sp>
        <p:nvSpPr>
          <p:cNvPr id="6" name="Rectangle 5"/>
          <p:cNvSpPr/>
          <p:nvPr/>
        </p:nvSpPr>
        <p:spPr>
          <a:xfrm>
            <a:off x="505096" y="4111372"/>
            <a:ext cx="11203578" cy="1200329"/>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 rtl="1"/>
            <a:r>
              <a:rPr lang="fa-IR" dirty="0">
                <a:solidFill>
                  <a:srgbClr val="000000"/>
                </a:solidFill>
                <a:latin typeface="IRANSans"/>
                <a:cs typeface="B Nazanin" panose="00000400000000000000" pitchFamily="2" charset="-78"/>
              </a:rPr>
              <a:t>امروز فضای کسب و کار </a:t>
            </a:r>
            <a:r>
              <a:rPr lang="fa-IR" b="1" dirty="0">
                <a:solidFill>
                  <a:srgbClr val="000000"/>
                </a:solidFill>
                <a:latin typeface="IRANSans"/>
                <a:cs typeface="B Nazanin" panose="00000400000000000000" pitchFamily="2" charset="-78"/>
              </a:rPr>
              <a:t>رقابتی‌تر</a:t>
            </a:r>
            <a:r>
              <a:rPr lang="fa-IR" dirty="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است.</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یکی </a:t>
            </a:r>
            <a:r>
              <a:rPr lang="fa-IR" dirty="0">
                <a:solidFill>
                  <a:srgbClr val="000000"/>
                </a:solidFill>
                <a:latin typeface="IRANSans"/>
                <a:cs typeface="B Nazanin" panose="00000400000000000000" pitchFamily="2" charset="-78"/>
              </a:rPr>
              <a:t>از سنگین‌ترین هزینه‌های یک کسب و کار، کارکنان با تجربه‌ای هستند که به هر دلیل محیط کار را ترک می‌کنند و آموخته‌ها و تجربیات خود را به محیطی دیگر می‌برند</a:t>
            </a:r>
            <a:r>
              <a:rPr lang="fa-IR" dirty="0" smtClean="0">
                <a:solidFill>
                  <a:srgbClr val="000000"/>
                </a:solidFill>
                <a:latin typeface="IRANSans"/>
                <a:cs typeface="B Nazanin" panose="00000400000000000000" pitchFamily="2" charset="-78"/>
              </a:rPr>
              <a:t>.</a:t>
            </a:r>
            <a:r>
              <a:rPr lang="en-US" dirty="0" smtClean="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امروز </a:t>
            </a:r>
            <a:r>
              <a:rPr lang="fa-IR" dirty="0">
                <a:solidFill>
                  <a:srgbClr val="000000"/>
                </a:solidFill>
                <a:latin typeface="IRANSans"/>
                <a:cs typeface="B Nazanin" panose="00000400000000000000" pitchFamily="2" charset="-78"/>
              </a:rPr>
              <a:t>صرف اینکه بتوانیم از یکی از کارکنان خود در طول یک سال، بیشترین خروجی را بگیریم، چندان ارزشمند نیست</a:t>
            </a:r>
            <a:r>
              <a:rPr lang="fa-IR" b="1" dirty="0" smtClean="0">
                <a:solidFill>
                  <a:srgbClr val="FF0000"/>
                </a:solidFill>
                <a:latin typeface="IRANSans"/>
                <a:cs typeface="B Nazanin" panose="00000400000000000000" pitchFamily="2" charset="-78"/>
              </a:rPr>
              <a:t>.</a:t>
            </a:r>
            <a:r>
              <a:rPr lang="en-US" b="1" dirty="0" smtClean="0">
                <a:solidFill>
                  <a:srgbClr val="FF0000"/>
                </a:solidFill>
                <a:latin typeface="IRANSans"/>
                <a:cs typeface="B Nazanin" panose="00000400000000000000" pitchFamily="2" charset="-78"/>
              </a:rPr>
              <a:t> </a:t>
            </a:r>
            <a:r>
              <a:rPr lang="fa-IR" b="1" dirty="0" smtClean="0">
                <a:solidFill>
                  <a:srgbClr val="FF0000"/>
                </a:solidFill>
                <a:latin typeface="IRANSans"/>
                <a:cs typeface="B Nazanin" panose="00000400000000000000" pitchFamily="2" charset="-78"/>
              </a:rPr>
              <a:t>هنر </a:t>
            </a:r>
            <a:r>
              <a:rPr lang="fa-IR" b="1" dirty="0">
                <a:solidFill>
                  <a:srgbClr val="FF0000"/>
                </a:solidFill>
                <a:latin typeface="IRANSans"/>
                <a:cs typeface="B Nazanin" panose="00000400000000000000" pitchFamily="2" charset="-78"/>
              </a:rPr>
              <a:t>این است که بتوانیم در طول عمر مفید کاری او، بیشترین خروجی را کسب کنیم </a:t>
            </a:r>
            <a:r>
              <a:rPr lang="fa-IR" dirty="0">
                <a:solidFill>
                  <a:srgbClr val="000000"/>
                </a:solidFill>
                <a:latin typeface="IRANSans"/>
                <a:cs typeface="B Nazanin" panose="00000400000000000000" pitchFamily="2" charset="-78"/>
              </a:rPr>
              <a:t>و از همه ابزارهای ممکن استفاده کنیم که </a:t>
            </a:r>
            <a:r>
              <a:rPr lang="fa-IR" b="1" dirty="0">
                <a:solidFill>
                  <a:srgbClr val="0070C0"/>
                </a:solidFill>
                <a:latin typeface="IRANSans"/>
                <a:cs typeface="B Nazanin" panose="00000400000000000000" pitchFamily="2" charset="-78"/>
              </a:rPr>
              <a:t>ماندگاری</a:t>
            </a:r>
            <a:r>
              <a:rPr lang="fa-IR" dirty="0">
                <a:solidFill>
                  <a:srgbClr val="000000"/>
                </a:solidFill>
                <a:latin typeface="IRANSans"/>
                <a:cs typeface="B Nazanin" panose="00000400000000000000" pitchFamily="2" charset="-78"/>
              </a:rPr>
              <a:t> و </a:t>
            </a:r>
            <a:r>
              <a:rPr lang="fa-IR" b="1" dirty="0">
                <a:solidFill>
                  <a:srgbClr val="0070C0"/>
                </a:solidFill>
                <a:latin typeface="IRANSans"/>
                <a:cs typeface="B Nazanin" panose="00000400000000000000" pitchFamily="2" charset="-78"/>
              </a:rPr>
              <a:t>رضایت کارکنان مفید </a:t>
            </a:r>
            <a:r>
              <a:rPr lang="fa-IR" dirty="0">
                <a:solidFill>
                  <a:srgbClr val="000000"/>
                </a:solidFill>
                <a:latin typeface="IRANSans"/>
                <a:cs typeface="B Nazanin" panose="00000400000000000000" pitchFamily="2" charset="-78"/>
              </a:rPr>
              <a:t>در یک سازمان افزایش یافته و باقی ماندن کارکنان بی خاصیت و کم خاصیت در یک سازمان، به سادگی امکان پذیر نباشد.</a:t>
            </a:r>
            <a:endParaRPr lang="fa-IR" b="0" i="0" dirty="0">
              <a:solidFill>
                <a:srgbClr val="000000"/>
              </a:solidFill>
              <a:effectLst/>
              <a:latin typeface="IRANSans"/>
              <a:cs typeface="B Nazanin" panose="00000400000000000000" pitchFamily="2" charset="-78"/>
            </a:endParaRPr>
          </a:p>
        </p:txBody>
      </p:sp>
      <p:sp>
        <p:nvSpPr>
          <p:cNvPr id="7" name="Rectangle 6"/>
          <p:cNvSpPr/>
          <p:nvPr/>
        </p:nvSpPr>
        <p:spPr>
          <a:xfrm>
            <a:off x="2234836" y="5548864"/>
            <a:ext cx="7456714" cy="923330"/>
          </a:xfrm>
          <a:prstGeom prst="rect">
            <a:avLst/>
          </a:prstGeom>
          <a:solidFill>
            <a:schemeClr val="accent3">
              <a:lumMod val="20000"/>
              <a:lumOff val="80000"/>
            </a:schemeClr>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 rtl="1"/>
            <a:r>
              <a:rPr lang="fa-IR" dirty="0">
                <a:solidFill>
                  <a:srgbClr val="000000"/>
                </a:solidFill>
                <a:latin typeface="IRANSans"/>
                <a:cs typeface="B Nazanin" panose="00000400000000000000" pitchFamily="2" charset="-78"/>
              </a:rPr>
              <a:t>وقتی می‌گوییم </a:t>
            </a:r>
            <a:r>
              <a:rPr lang="fa-IR" b="1" dirty="0">
                <a:solidFill>
                  <a:srgbClr val="C00000"/>
                </a:solidFill>
                <a:latin typeface="IRANSans"/>
                <a:cs typeface="B Nazanin" panose="00000400000000000000" pitchFamily="2" charset="-78"/>
              </a:rPr>
              <a:t>کسب حداکثر خروجی</a:t>
            </a:r>
            <a:r>
              <a:rPr lang="fa-IR" dirty="0">
                <a:solidFill>
                  <a:srgbClr val="000000"/>
                </a:solidFill>
                <a:latin typeface="IRANSans"/>
                <a:cs typeface="B Nazanin" panose="00000400000000000000" pitchFamily="2" charset="-78"/>
              </a:rPr>
              <a:t> از کارکنان، </a:t>
            </a:r>
            <a:r>
              <a:rPr lang="fa-IR" b="1" dirty="0">
                <a:solidFill>
                  <a:srgbClr val="C00000"/>
                </a:solidFill>
                <a:latin typeface="IRANSans"/>
                <a:cs typeface="B Nazanin" panose="00000400000000000000" pitchFamily="2" charset="-78"/>
              </a:rPr>
              <a:t>نگاهی فیزیکی</a:t>
            </a:r>
            <a:r>
              <a:rPr lang="fa-IR" dirty="0">
                <a:solidFill>
                  <a:srgbClr val="000000"/>
                </a:solidFill>
                <a:latin typeface="IRANSans"/>
                <a:cs typeface="B Nazanin" panose="00000400000000000000" pitchFamily="2" charset="-78"/>
              </a:rPr>
              <a:t> و</a:t>
            </a:r>
            <a:r>
              <a:rPr lang="fa-IR" b="1" dirty="0">
                <a:solidFill>
                  <a:srgbClr val="000000"/>
                </a:solidFill>
                <a:latin typeface="IRANSans"/>
                <a:cs typeface="B Nazanin" panose="00000400000000000000" pitchFamily="2" charset="-78"/>
              </a:rPr>
              <a:t> </a:t>
            </a:r>
            <a:r>
              <a:rPr lang="fa-IR" b="1" dirty="0">
                <a:solidFill>
                  <a:srgbClr val="C00000"/>
                </a:solidFill>
                <a:latin typeface="IRANSans"/>
                <a:cs typeface="B Nazanin" panose="00000400000000000000" pitchFamily="2" charset="-78"/>
              </a:rPr>
              <a:t>غیر انسانی</a:t>
            </a:r>
            <a:r>
              <a:rPr lang="fa-IR" dirty="0">
                <a:solidFill>
                  <a:srgbClr val="000000"/>
                </a:solidFill>
                <a:latin typeface="IRANSans"/>
                <a:cs typeface="B Nazanin" panose="00000400000000000000" pitchFamily="2" charset="-78"/>
              </a:rPr>
              <a:t> به کارکنان داریم.</a:t>
            </a:r>
          </a:p>
          <a:p>
            <a:pPr algn="just" rtl="1"/>
            <a:r>
              <a:rPr lang="fa-IR" dirty="0">
                <a:solidFill>
                  <a:srgbClr val="000000"/>
                </a:solidFill>
                <a:latin typeface="IRANSans"/>
                <a:cs typeface="B Nazanin" panose="00000400000000000000" pitchFamily="2" charset="-78"/>
              </a:rPr>
              <a:t>اما وقتی می‌گوییم </a:t>
            </a:r>
            <a:r>
              <a:rPr lang="fa-IR" b="1" dirty="0">
                <a:solidFill>
                  <a:schemeClr val="accent6">
                    <a:lumMod val="75000"/>
                  </a:schemeClr>
                </a:solidFill>
                <a:latin typeface="IRANSans"/>
                <a:cs typeface="B Nazanin" panose="00000400000000000000" pitchFamily="2" charset="-78"/>
              </a:rPr>
              <a:t>ایجاد حداکثر خروجی در </a:t>
            </a:r>
            <a:r>
              <a:rPr lang="fa-IR" b="1" dirty="0">
                <a:solidFill>
                  <a:srgbClr val="00B050"/>
                </a:solidFill>
                <a:latin typeface="IRANSans"/>
                <a:cs typeface="B Nazanin" panose="00000400000000000000" pitchFamily="2" charset="-78"/>
              </a:rPr>
              <a:t>بلندمدت</a:t>
            </a:r>
            <a:r>
              <a:rPr lang="fa-IR" dirty="0">
                <a:solidFill>
                  <a:srgbClr val="000000"/>
                </a:solidFill>
                <a:latin typeface="IRANSans"/>
                <a:cs typeface="B Nazanin" panose="00000400000000000000" pitchFamily="2" charset="-78"/>
              </a:rPr>
              <a:t>، به ناچار باید جنبه‌های انسانی لحاظ شوند.</a:t>
            </a:r>
          </a:p>
          <a:p>
            <a:pPr algn="just" rtl="1"/>
            <a:r>
              <a:rPr lang="fa-IR" dirty="0">
                <a:solidFill>
                  <a:srgbClr val="000000"/>
                </a:solidFill>
                <a:latin typeface="IRANSans"/>
                <a:cs typeface="B Nazanin" panose="00000400000000000000" pitchFamily="2" charset="-78"/>
              </a:rPr>
              <a:t>بنابراین افزودن واژه‌ی </a:t>
            </a:r>
            <a:r>
              <a:rPr lang="fa-IR" b="1" dirty="0">
                <a:solidFill>
                  <a:srgbClr val="00B050"/>
                </a:solidFill>
                <a:latin typeface="IRANSans"/>
                <a:cs typeface="B Nazanin" panose="00000400000000000000" pitchFamily="2" charset="-78"/>
              </a:rPr>
              <a:t>بلندمدت</a:t>
            </a:r>
            <a:r>
              <a:rPr lang="fa-IR" dirty="0">
                <a:solidFill>
                  <a:srgbClr val="000000"/>
                </a:solidFill>
                <a:latin typeface="IRANSans"/>
                <a:cs typeface="B Nazanin" panose="00000400000000000000" pitchFamily="2" charset="-78"/>
              </a:rPr>
              <a:t>، به معنای تغییر نگرش از</a:t>
            </a:r>
            <a:r>
              <a:rPr lang="fa-IR" b="1" dirty="0">
                <a:solidFill>
                  <a:srgbClr val="000000"/>
                </a:solidFill>
                <a:latin typeface="IRANSans"/>
                <a:cs typeface="B Nazanin" panose="00000400000000000000" pitchFamily="2" charset="-78"/>
              </a:rPr>
              <a:t> </a:t>
            </a:r>
            <a:r>
              <a:rPr lang="fa-IR" dirty="0">
                <a:solidFill>
                  <a:srgbClr val="000000"/>
                </a:solidFill>
                <a:latin typeface="IRANSans"/>
                <a:cs typeface="B Nazanin" panose="00000400000000000000" pitchFamily="2" charset="-78"/>
              </a:rPr>
              <a:t>فضای مکانیکی به </a:t>
            </a:r>
            <a:r>
              <a:rPr lang="fa-IR" b="1" dirty="0">
                <a:solidFill>
                  <a:srgbClr val="00B050"/>
                </a:solidFill>
                <a:latin typeface="IRANSans"/>
                <a:cs typeface="B Nazanin" panose="00000400000000000000" pitchFamily="2" charset="-78"/>
              </a:rPr>
              <a:t>فضای انسانی</a:t>
            </a:r>
            <a:r>
              <a:rPr lang="fa-IR" dirty="0">
                <a:solidFill>
                  <a:srgbClr val="000000"/>
                </a:solidFill>
                <a:latin typeface="IRANSans"/>
                <a:cs typeface="B Nazanin" panose="00000400000000000000" pitchFamily="2" charset="-78"/>
              </a:rPr>
              <a:t> است.</a:t>
            </a:r>
            <a:endParaRPr lang="fa-IR" b="0" i="0" dirty="0">
              <a:solidFill>
                <a:srgbClr val="000000"/>
              </a:solidFill>
              <a:effectLst/>
              <a:latin typeface="IRANSans"/>
              <a:cs typeface="B Nazanin" panose="00000400000000000000" pitchFamily="2" charset="-78"/>
            </a:endParaRPr>
          </a:p>
        </p:txBody>
      </p:sp>
    </p:spTree>
    <p:extLst>
      <p:ext uri="{BB962C8B-B14F-4D97-AF65-F5344CB8AC3E}">
        <p14:creationId xmlns:p14="http://schemas.microsoft.com/office/powerpoint/2010/main" val="928474382"/>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a:cs typeface="B Nazanin" panose="00000400000000000000" pitchFamily="2" charset="-78"/>
              </a:rPr>
              <a:t>وظایف واحد مدیریت منابع </a:t>
            </a:r>
            <a:r>
              <a:rPr lang="fa-IR" sz="4800" dirty="0" smtClean="0">
                <a:cs typeface="B Nazanin" panose="00000400000000000000" pitchFamily="2" charset="-78"/>
              </a:rPr>
              <a:t>انسانی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8117568" y="1977543"/>
            <a:ext cx="3207929" cy="369332"/>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مدیریت فرایند جذب نیروی انسانی</a:t>
            </a:r>
            <a:endParaRPr lang="en-US" dirty="0">
              <a:cs typeface="B Nazanin" panose="00000400000000000000" pitchFamily="2" charset="-78"/>
            </a:endParaRPr>
          </a:p>
        </p:txBody>
      </p:sp>
      <p:sp>
        <p:nvSpPr>
          <p:cNvPr id="4" name="Rectangle 3"/>
          <p:cNvSpPr/>
          <p:nvPr/>
        </p:nvSpPr>
        <p:spPr>
          <a:xfrm>
            <a:off x="362584" y="1475490"/>
            <a:ext cx="7598229" cy="1477328"/>
          </a:xfrm>
          <a:prstGeom prst="rect">
            <a:avLst/>
          </a:prstGeom>
        </p:spPr>
        <p:txBody>
          <a:bodyPr wrap="square">
            <a:spAutoFit/>
          </a:bodyPr>
          <a:lstStyle/>
          <a:p>
            <a:pPr marL="285750" indent="-285750" algn="just" rtl="1">
              <a:buFont typeface="Arial" panose="020B0604020202020204" pitchFamily="34" charset="0"/>
              <a:buChar char="•"/>
            </a:pPr>
            <a:r>
              <a:rPr lang="fa-IR" dirty="0">
                <a:solidFill>
                  <a:srgbClr val="000000"/>
                </a:solidFill>
                <a:latin typeface="IRANSans"/>
                <a:cs typeface="B Nazanin" panose="00000400000000000000" pitchFamily="2" charset="-78"/>
              </a:rPr>
              <a:t>اطلاع داشتن از </a:t>
            </a:r>
            <a:r>
              <a:rPr lang="fa-IR" b="1" dirty="0">
                <a:solidFill>
                  <a:srgbClr val="0070C0"/>
                </a:solidFill>
                <a:latin typeface="IRANSans"/>
                <a:cs typeface="B Nazanin" panose="00000400000000000000" pitchFamily="2" charset="-78"/>
              </a:rPr>
              <a:t>وضعیت بازار کار</a:t>
            </a:r>
          </a:p>
          <a:p>
            <a:pPr marL="285750" indent="-285750" algn="just" rtl="1">
              <a:buFont typeface="Arial" panose="020B0604020202020204" pitchFamily="34" charset="0"/>
              <a:buChar char="•"/>
            </a:pPr>
            <a:r>
              <a:rPr lang="fa-IR" dirty="0" smtClean="0">
                <a:solidFill>
                  <a:srgbClr val="000000"/>
                </a:solidFill>
                <a:latin typeface="IRANSans"/>
                <a:cs typeface="B Nazanin" panose="00000400000000000000" pitchFamily="2" charset="-78"/>
              </a:rPr>
              <a:t>شناخت </a:t>
            </a:r>
            <a:r>
              <a:rPr lang="fa-IR" dirty="0">
                <a:solidFill>
                  <a:srgbClr val="C00000"/>
                </a:solidFill>
                <a:latin typeface="IRANSans"/>
                <a:cs typeface="B Nazanin" panose="00000400000000000000" pitchFamily="2" charset="-78"/>
              </a:rPr>
              <a:t>موقعیت‌های شغلی </a:t>
            </a:r>
            <a:r>
              <a:rPr lang="fa-IR" dirty="0">
                <a:solidFill>
                  <a:srgbClr val="000000"/>
                </a:solidFill>
                <a:latin typeface="IRANSans"/>
                <a:cs typeface="B Nazanin" panose="00000400000000000000" pitchFamily="2" charset="-78"/>
              </a:rPr>
              <a:t>خالی در سازمان و موقعیت‌ها و فرصت‌هایی که در آینده ایجاد خواهند شد</a:t>
            </a:r>
          </a:p>
          <a:p>
            <a:pPr marL="285750" indent="-285750" algn="just" rtl="1">
              <a:buFont typeface="Arial" panose="020B0604020202020204" pitchFamily="34" charset="0"/>
              <a:buChar char="•"/>
            </a:pPr>
            <a:r>
              <a:rPr lang="fa-IR" b="1" dirty="0" smtClean="0">
                <a:solidFill>
                  <a:schemeClr val="accent3">
                    <a:lumMod val="50000"/>
                  </a:schemeClr>
                </a:solidFill>
                <a:latin typeface="IRANSans"/>
                <a:cs typeface="B Nazanin" panose="00000400000000000000" pitchFamily="2" charset="-78"/>
              </a:rPr>
              <a:t>شناخت</a:t>
            </a:r>
            <a:r>
              <a:rPr lang="fa-IR" dirty="0" smtClean="0">
                <a:solidFill>
                  <a:srgbClr val="000000"/>
                </a:solidFill>
                <a:latin typeface="IRANSans"/>
                <a:cs typeface="B Nazanin" panose="00000400000000000000" pitchFamily="2" charset="-78"/>
              </a:rPr>
              <a:t> </a:t>
            </a:r>
            <a:r>
              <a:rPr lang="fa-IR" dirty="0">
                <a:solidFill>
                  <a:srgbClr val="000000"/>
                </a:solidFill>
                <a:latin typeface="IRANSans"/>
                <a:cs typeface="B Nazanin" panose="00000400000000000000" pitchFamily="2" charset="-78"/>
              </a:rPr>
              <a:t>سایر </a:t>
            </a:r>
            <a:r>
              <a:rPr lang="fa-IR" b="1" dirty="0">
                <a:solidFill>
                  <a:schemeClr val="accent3">
                    <a:lumMod val="50000"/>
                  </a:schemeClr>
                </a:solidFill>
                <a:latin typeface="IRANSans"/>
                <a:cs typeface="B Nazanin" panose="00000400000000000000" pitchFamily="2" charset="-78"/>
              </a:rPr>
              <a:t>فرصت‌ها</a:t>
            </a:r>
            <a:r>
              <a:rPr lang="fa-IR" dirty="0">
                <a:solidFill>
                  <a:srgbClr val="000000"/>
                </a:solidFill>
                <a:latin typeface="IRANSans"/>
                <a:cs typeface="B Nazanin" panose="00000400000000000000" pitchFamily="2" charset="-78"/>
              </a:rPr>
              <a:t>یی که در جامعه برای نیروی کار وجود </a:t>
            </a:r>
            <a:r>
              <a:rPr lang="fa-IR" dirty="0" smtClean="0">
                <a:solidFill>
                  <a:srgbClr val="000000"/>
                </a:solidFill>
                <a:latin typeface="IRANSans"/>
                <a:cs typeface="B Nazanin" panose="00000400000000000000" pitchFamily="2" charset="-78"/>
              </a:rPr>
              <a:t>دارد</a:t>
            </a:r>
            <a:endParaRPr lang="en-US" dirty="0" smtClean="0">
              <a:solidFill>
                <a:srgbClr val="000000"/>
              </a:solidFill>
              <a:latin typeface="IRANSans"/>
              <a:cs typeface="B Nazanin" panose="00000400000000000000" pitchFamily="2" charset="-78"/>
            </a:endParaRPr>
          </a:p>
          <a:p>
            <a:pPr marL="285750" indent="-285750" algn="just" rtl="1">
              <a:buFont typeface="Arial" panose="020B0604020202020204" pitchFamily="34" charset="0"/>
              <a:buChar char="•"/>
            </a:pPr>
            <a:r>
              <a:rPr lang="fa-IR" b="1" dirty="0" smtClean="0">
                <a:solidFill>
                  <a:srgbClr val="000000"/>
                </a:solidFill>
                <a:latin typeface="IRANSans"/>
                <a:cs typeface="B Nazanin" panose="00000400000000000000" pitchFamily="2" charset="-78"/>
              </a:rPr>
              <a:t>ابزارهای</a:t>
            </a:r>
            <a:r>
              <a:rPr lang="fa-IR" dirty="0" smtClean="0">
                <a:solidFill>
                  <a:srgbClr val="000000"/>
                </a:solidFill>
                <a:latin typeface="IRANSans"/>
                <a:cs typeface="B Nazanin" panose="00000400000000000000" pitchFamily="2" charset="-78"/>
              </a:rPr>
              <a:t> </a:t>
            </a:r>
            <a:r>
              <a:rPr lang="fa-IR" dirty="0">
                <a:solidFill>
                  <a:srgbClr val="000000"/>
                </a:solidFill>
                <a:latin typeface="IRANSans"/>
                <a:cs typeface="B Nazanin" panose="00000400000000000000" pitchFamily="2" charset="-78"/>
              </a:rPr>
              <a:t>موجود برای </a:t>
            </a:r>
            <a:r>
              <a:rPr lang="fa-IR" b="1" dirty="0">
                <a:solidFill>
                  <a:srgbClr val="000000"/>
                </a:solidFill>
                <a:latin typeface="IRANSans"/>
                <a:cs typeface="B Nazanin" panose="00000400000000000000" pitchFamily="2" charset="-78"/>
              </a:rPr>
              <a:t>جستجوی نیروی کار</a:t>
            </a:r>
          </a:p>
          <a:p>
            <a:pPr marL="285750" indent="-285750" algn="just" rtl="1">
              <a:buFont typeface="Arial" panose="020B0604020202020204" pitchFamily="34" charset="0"/>
              <a:buChar char="•"/>
            </a:pPr>
            <a:r>
              <a:rPr lang="fa-IR" dirty="0" smtClean="0">
                <a:solidFill>
                  <a:srgbClr val="000000"/>
                </a:solidFill>
                <a:latin typeface="IRANSans"/>
                <a:cs typeface="B Nazanin" panose="00000400000000000000" pitchFamily="2" charset="-78"/>
              </a:rPr>
              <a:t>برگزاری </a:t>
            </a:r>
            <a:r>
              <a:rPr lang="fa-IR" b="1" dirty="0">
                <a:solidFill>
                  <a:schemeClr val="accent6">
                    <a:lumMod val="75000"/>
                  </a:schemeClr>
                </a:solidFill>
                <a:latin typeface="IRANSans"/>
                <a:cs typeface="B Nazanin" panose="00000400000000000000" pitchFamily="2" charset="-78"/>
              </a:rPr>
              <a:t>مصاحبه</a:t>
            </a:r>
            <a:r>
              <a:rPr lang="fa-IR" dirty="0">
                <a:solidFill>
                  <a:srgbClr val="000000"/>
                </a:solidFill>
                <a:latin typeface="IRANSans"/>
                <a:cs typeface="B Nazanin" panose="00000400000000000000" pitchFamily="2" charset="-78"/>
              </a:rPr>
              <a:t>‌های شغلی</a:t>
            </a:r>
            <a:endParaRPr lang="fa-IR" b="0" i="0" dirty="0">
              <a:solidFill>
                <a:srgbClr val="000000"/>
              </a:solidFill>
              <a:effectLst/>
              <a:latin typeface="IRANSans"/>
              <a:cs typeface="B Nazanin" panose="00000400000000000000" pitchFamily="2" charset="-78"/>
            </a:endParaRPr>
          </a:p>
        </p:txBody>
      </p:sp>
      <p:sp>
        <p:nvSpPr>
          <p:cNvPr id="5" name="Right Brace 4"/>
          <p:cNvSpPr/>
          <p:nvPr/>
        </p:nvSpPr>
        <p:spPr>
          <a:xfrm>
            <a:off x="7960813" y="1371600"/>
            <a:ext cx="156755" cy="1581218"/>
          </a:xfrm>
          <a:prstGeom prst="rightBrace">
            <a:avLst/>
          </a:prstGeom>
          <a:ln w="28575">
            <a:solidFill>
              <a:srgbClr val="C1382D"/>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
        <p:nvSpPr>
          <p:cNvPr id="6" name="Rectangle 5"/>
          <p:cNvSpPr/>
          <p:nvPr/>
        </p:nvSpPr>
        <p:spPr>
          <a:xfrm>
            <a:off x="8580835" y="3232186"/>
            <a:ext cx="2744662" cy="646331"/>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طراحی نظام حقوق و </a:t>
            </a:r>
            <a:r>
              <a:rPr lang="fa-IR" b="1" dirty="0" smtClean="0">
                <a:latin typeface="IRANSans"/>
                <a:cs typeface="B Nazanin" panose="00000400000000000000" pitchFamily="2" charset="-78"/>
              </a:rPr>
              <a:t>دستمزد</a:t>
            </a:r>
          </a:p>
          <a:p>
            <a:pPr algn="ctr" rtl="1"/>
            <a:r>
              <a:rPr lang="fa-IR" b="1" dirty="0" smtClean="0">
                <a:latin typeface="IRANSans"/>
                <a:cs typeface="B Nazanin" panose="00000400000000000000" pitchFamily="2" charset="-78"/>
              </a:rPr>
              <a:t> </a:t>
            </a:r>
            <a:r>
              <a:rPr lang="fa-IR" b="1" dirty="0">
                <a:latin typeface="IRANSans"/>
                <a:cs typeface="B Nazanin" panose="00000400000000000000" pitchFamily="2" charset="-78"/>
              </a:rPr>
              <a:t>و </a:t>
            </a:r>
            <a:r>
              <a:rPr lang="fa-IR" b="1" dirty="0" smtClean="0">
                <a:latin typeface="IRANSans"/>
                <a:cs typeface="B Nazanin" panose="00000400000000000000" pitchFamily="2" charset="-78"/>
              </a:rPr>
              <a:t>جبران </a:t>
            </a:r>
            <a:r>
              <a:rPr lang="fa-IR" b="1" dirty="0">
                <a:latin typeface="IRANSans"/>
                <a:cs typeface="B Nazanin" panose="00000400000000000000" pitchFamily="2" charset="-78"/>
              </a:rPr>
              <a:t>خدمت کارکنان</a:t>
            </a:r>
            <a:endParaRPr lang="en-US" b="1" dirty="0">
              <a:latin typeface="IRANSans"/>
              <a:cs typeface="B Nazanin" panose="00000400000000000000" pitchFamily="2" charset="-78"/>
            </a:endParaRPr>
          </a:p>
        </p:txBody>
      </p:sp>
      <p:sp>
        <p:nvSpPr>
          <p:cNvPr id="7" name="Rectangle 6"/>
          <p:cNvSpPr/>
          <p:nvPr/>
        </p:nvSpPr>
        <p:spPr>
          <a:xfrm>
            <a:off x="362584" y="3139853"/>
            <a:ext cx="8218251"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smtClean="0">
                <a:solidFill>
                  <a:srgbClr val="000000"/>
                </a:solidFill>
                <a:latin typeface="IRANSans"/>
                <a:cs typeface="B Nazanin" panose="00000400000000000000" pitchFamily="2" charset="-78"/>
              </a:rPr>
              <a:t>این مورد فقط به تعیین حقوق و کارانه و پاداش های مادی منتهی نمیشود بلکه باید مواردی مانند حق استفاده از پارکینک ، تنظیم نامه توبیخ یا تشویق ، تقدیر شدن در یک جلسه رسمی و .... میتواند به عنوان جبران خدمت کارکنان در نظر گرفته شود .   </a:t>
            </a:r>
            <a:endParaRPr lang="en-US" dirty="0"/>
          </a:p>
        </p:txBody>
      </p:sp>
      <p:sp>
        <p:nvSpPr>
          <p:cNvPr id="9" name="Rectangle 8"/>
          <p:cNvSpPr/>
          <p:nvPr/>
        </p:nvSpPr>
        <p:spPr>
          <a:xfrm>
            <a:off x="8776402" y="4594405"/>
            <a:ext cx="2549095" cy="369332"/>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تدوین شاخص‌های عملکرد</a:t>
            </a:r>
            <a:endParaRPr lang="en-US" b="1" dirty="0">
              <a:latin typeface="IRANSans"/>
              <a:cs typeface="B Nazanin" panose="00000400000000000000" pitchFamily="2" charset="-78"/>
            </a:endParaRPr>
          </a:p>
        </p:txBody>
      </p:sp>
      <p:sp>
        <p:nvSpPr>
          <p:cNvPr id="10" name="Rectangle 9"/>
          <p:cNvSpPr/>
          <p:nvPr/>
        </p:nvSpPr>
        <p:spPr>
          <a:xfrm>
            <a:off x="362583" y="4337072"/>
            <a:ext cx="8218251" cy="1200329"/>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en-US" dirty="0" smtClean="0">
                <a:solidFill>
                  <a:srgbClr val="000000"/>
                </a:solidFill>
                <a:latin typeface="IRANSans"/>
                <a:cs typeface="B Nazanin" panose="00000400000000000000" pitchFamily="2" charset="-78"/>
              </a:rPr>
              <a:t>شاخص‌هایی </a:t>
            </a:r>
            <a:r>
              <a:rPr lang="en-US" dirty="0" err="1" smtClean="0">
                <a:solidFill>
                  <a:srgbClr val="000000"/>
                </a:solidFill>
                <a:latin typeface="IRANSans"/>
                <a:cs typeface="B Nazanin" panose="00000400000000000000" pitchFamily="2" charset="-78"/>
              </a:rPr>
              <a:t>نظیر</a:t>
            </a:r>
            <a:r>
              <a:rPr lang="en-US" dirty="0" smtClean="0">
                <a:solidFill>
                  <a:srgbClr val="000000"/>
                </a:solidFill>
                <a:latin typeface="IRANSans"/>
                <a:cs typeface="B Nazanin" panose="00000400000000000000" pitchFamily="2" charset="-78"/>
              </a:rPr>
              <a:t> </a:t>
            </a:r>
            <a:r>
              <a:rPr lang="en-US" b="1" dirty="0" err="1" smtClean="0">
                <a:solidFill>
                  <a:srgbClr val="002060"/>
                </a:solidFill>
                <a:latin typeface="IRANSans"/>
                <a:cs typeface="B Nazanin" panose="00000400000000000000" pitchFamily="2" charset="-78"/>
              </a:rPr>
              <a:t>رضایت</a:t>
            </a:r>
            <a:r>
              <a:rPr lang="en-US" b="1" dirty="0" smtClean="0">
                <a:solidFill>
                  <a:srgbClr val="002060"/>
                </a:solidFill>
                <a:latin typeface="IRANSans"/>
                <a:cs typeface="B Nazanin" panose="00000400000000000000" pitchFamily="2" charset="-78"/>
              </a:rPr>
              <a:t> همکاران</a:t>
            </a:r>
            <a:r>
              <a:rPr lang="en-US" dirty="0" smtClean="0">
                <a:solidFill>
                  <a:srgbClr val="000000"/>
                </a:solidFill>
                <a:latin typeface="IRANSans"/>
                <a:cs typeface="B Nazanin" panose="00000400000000000000" pitchFamily="2" charset="-78"/>
              </a:rPr>
              <a:t>، </a:t>
            </a:r>
            <a:r>
              <a:rPr lang="en-US" b="1" dirty="0" err="1" smtClean="0">
                <a:solidFill>
                  <a:srgbClr val="FF0000"/>
                </a:solidFill>
                <a:latin typeface="IRANSans"/>
                <a:cs typeface="B Nazanin" panose="00000400000000000000" pitchFamily="2" charset="-78"/>
              </a:rPr>
              <a:t>شادی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آنها</a:t>
            </a:r>
            <a:r>
              <a:rPr lang="en-US" dirty="0" smtClean="0">
                <a:solidFill>
                  <a:srgbClr val="000000"/>
                </a:solidFill>
                <a:latin typeface="IRANSans"/>
                <a:cs typeface="B Nazanin" panose="00000400000000000000" pitchFamily="2" charset="-78"/>
              </a:rPr>
              <a:t>، </a:t>
            </a:r>
            <a:r>
              <a:rPr lang="en-US" b="1" dirty="0" err="1" smtClean="0">
                <a:solidFill>
                  <a:srgbClr val="000000"/>
                </a:solidFill>
                <a:latin typeface="IRANSans"/>
                <a:cs typeface="B Nazanin" panose="00000400000000000000" pitchFamily="2" charset="-78"/>
              </a:rPr>
              <a:t>ایمنی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آنها</a:t>
            </a:r>
            <a:r>
              <a:rPr lang="en-US" dirty="0" smtClean="0">
                <a:solidFill>
                  <a:srgbClr val="000000"/>
                </a:solidFill>
                <a:latin typeface="IRANSans"/>
                <a:cs typeface="B Nazanin" panose="00000400000000000000" pitchFamily="2" charset="-78"/>
              </a:rPr>
              <a:t> </a:t>
            </a:r>
            <a:r>
              <a:rPr lang="en-US" b="1" dirty="0" err="1" smtClean="0">
                <a:solidFill>
                  <a:srgbClr val="000000"/>
                </a:solidFill>
                <a:latin typeface="IRANSans"/>
                <a:cs typeface="B Nazanin" panose="00000400000000000000" pitchFamily="2" charset="-78"/>
              </a:rPr>
              <a:t>در</a:t>
            </a:r>
            <a:r>
              <a:rPr lang="en-US" b="1" dirty="0" smtClean="0">
                <a:solidFill>
                  <a:srgbClr val="000000"/>
                </a:solidFill>
                <a:latin typeface="IRANSans"/>
                <a:cs typeface="B Nazanin" panose="00000400000000000000" pitchFamily="2" charset="-78"/>
              </a:rPr>
              <a:t> </a:t>
            </a:r>
            <a:r>
              <a:rPr lang="en-US" b="1" dirty="0" err="1" smtClean="0">
                <a:solidFill>
                  <a:srgbClr val="000000"/>
                </a:solidFill>
                <a:latin typeface="IRANSans"/>
                <a:cs typeface="B Nazanin" panose="00000400000000000000" pitchFamily="2" charset="-78"/>
              </a:rPr>
              <a:t>محیط</a:t>
            </a:r>
            <a:r>
              <a:rPr lang="en-US" b="1" dirty="0" smtClean="0">
                <a:solidFill>
                  <a:srgbClr val="000000"/>
                </a:solidFill>
                <a:latin typeface="IRANSans"/>
                <a:cs typeface="B Nazanin" panose="00000400000000000000" pitchFamily="2" charset="-78"/>
              </a:rPr>
              <a:t> </a:t>
            </a:r>
            <a:r>
              <a:rPr lang="en-US" b="1" dirty="0" err="1" smtClean="0">
                <a:solidFill>
                  <a:srgbClr val="000000"/>
                </a:solidFill>
                <a:latin typeface="IRANSans"/>
                <a:cs typeface="B Nazanin" panose="00000400000000000000" pitchFamily="2" charset="-78"/>
              </a:rPr>
              <a:t>کار</a:t>
            </a:r>
            <a:r>
              <a:rPr lang="en-US" dirty="0" smtClean="0">
                <a:solidFill>
                  <a:srgbClr val="000000"/>
                </a:solidFill>
                <a:latin typeface="IRANSans"/>
                <a:cs typeface="B Nazanin" panose="00000400000000000000" pitchFamily="2" charset="-78"/>
              </a:rPr>
              <a:t>، </a:t>
            </a:r>
            <a:r>
              <a:rPr lang="en-US" b="1" dirty="0" err="1" smtClean="0">
                <a:solidFill>
                  <a:srgbClr val="00B050"/>
                </a:solidFill>
                <a:latin typeface="IRANSans"/>
                <a:cs typeface="B Nazanin" panose="00000400000000000000" pitchFamily="2" charset="-78"/>
              </a:rPr>
              <a:t>میزان</a:t>
            </a:r>
            <a:r>
              <a:rPr lang="en-US" b="1" dirty="0" smtClean="0">
                <a:solidFill>
                  <a:srgbClr val="00B050"/>
                </a:solidFill>
                <a:latin typeface="IRANSans"/>
                <a:cs typeface="B Nazanin" panose="00000400000000000000" pitchFamily="2" charset="-78"/>
              </a:rPr>
              <a:t> </a:t>
            </a:r>
            <a:r>
              <a:rPr lang="en-US" b="1" dirty="0" err="1" smtClean="0">
                <a:solidFill>
                  <a:srgbClr val="00B050"/>
                </a:solidFill>
                <a:latin typeface="IRANSans"/>
                <a:cs typeface="B Nazanin" panose="00000400000000000000" pitchFamily="2" charset="-78"/>
              </a:rPr>
              <a:t>رفاه</a:t>
            </a:r>
            <a:r>
              <a:rPr lang="en-US" b="1" dirty="0" smtClean="0">
                <a:solidFill>
                  <a:srgbClr val="00B05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آنها</a:t>
            </a:r>
            <a:r>
              <a:rPr lang="en-US" dirty="0" smtClean="0">
                <a:solidFill>
                  <a:srgbClr val="000000"/>
                </a:solidFill>
                <a:latin typeface="IRANSans"/>
                <a:cs typeface="B Nazanin" panose="00000400000000000000" pitchFamily="2" charset="-78"/>
              </a:rPr>
              <a:t>، </a:t>
            </a:r>
            <a:r>
              <a:rPr lang="en-US" b="1" dirty="0" err="1" smtClean="0">
                <a:solidFill>
                  <a:srgbClr val="C00000"/>
                </a:solidFill>
                <a:latin typeface="IRANSans"/>
                <a:cs typeface="B Nazanin" panose="00000400000000000000" pitchFamily="2" charset="-78"/>
              </a:rPr>
              <a:t>انگیزه</a:t>
            </a:r>
            <a:r>
              <a:rPr lang="en-US" dirty="0" smtClean="0">
                <a:solidFill>
                  <a:srgbClr val="000000"/>
                </a:solidFill>
                <a:latin typeface="IRANSans"/>
                <a:cs typeface="B Nazanin" panose="00000400000000000000" pitchFamily="2" charset="-78"/>
              </a:rPr>
              <a:t>، </a:t>
            </a:r>
            <a:r>
              <a:rPr lang="en-US" b="1" dirty="0" err="1" smtClean="0">
                <a:solidFill>
                  <a:srgbClr val="000000"/>
                </a:solidFill>
                <a:latin typeface="IRANSans"/>
                <a:cs typeface="B Nazanin" panose="00000400000000000000" pitchFamily="2" charset="-78"/>
              </a:rPr>
              <a:t>خروجی</a:t>
            </a:r>
            <a:r>
              <a:rPr lang="en-US" b="1" dirty="0" smtClean="0">
                <a:solidFill>
                  <a:srgbClr val="000000"/>
                </a:solidFill>
                <a:latin typeface="IRANSans"/>
                <a:cs typeface="B Nazanin" panose="00000400000000000000" pitchFamily="2" charset="-78"/>
              </a:rPr>
              <a:t> </a:t>
            </a:r>
            <a:r>
              <a:rPr lang="en-US" b="1" dirty="0" err="1" smtClean="0">
                <a:solidFill>
                  <a:srgbClr val="000000"/>
                </a:solidFill>
                <a:latin typeface="IRANSans"/>
                <a:cs typeface="B Nazanin" panose="00000400000000000000" pitchFamily="2" charset="-78"/>
              </a:rPr>
              <a:t>مالی</a:t>
            </a:r>
            <a:r>
              <a:rPr lang="en-US" b="1" dirty="0" smtClean="0">
                <a:solidFill>
                  <a:srgbClr val="000000"/>
                </a:solidFill>
                <a:latin typeface="IRANSans"/>
                <a:cs typeface="B Nazanin" panose="00000400000000000000" pitchFamily="2" charset="-78"/>
              </a:rPr>
              <a:t> و </a:t>
            </a:r>
            <a:r>
              <a:rPr lang="en-US" b="1" dirty="0" err="1" smtClean="0">
                <a:solidFill>
                  <a:srgbClr val="000000"/>
                </a:solidFill>
                <a:latin typeface="IRANSans"/>
                <a:cs typeface="B Nazanin" panose="00000400000000000000" pitchFamily="2" charset="-78"/>
              </a:rPr>
              <a:t>کارایی</a:t>
            </a:r>
            <a:r>
              <a:rPr lang="en-US" b="1" dirty="0" smtClean="0">
                <a:solidFill>
                  <a:srgbClr val="000000"/>
                </a:solidFill>
                <a:latin typeface="IRANSans"/>
                <a:cs typeface="B Nazanin" panose="00000400000000000000" pitchFamily="2" charset="-78"/>
              </a:rPr>
              <a:t> </a:t>
            </a:r>
            <a:r>
              <a:rPr lang="en-US" dirty="0" smtClean="0">
                <a:solidFill>
                  <a:srgbClr val="000000"/>
                </a:solidFill>
                <a:latin typeface="IRANSans"/>
                <a:cs typeface="B Nazanin" panose="00000400000000000000" pitchFamily="2" charset="-78"/>
              </a:rPr>
              <a:t>و </a:t>
            </a:r>
            <a:r>
              <a:rPr lang="en-US" b="1" dirty="0" err="1" smtClean="0">
                <a:solidFill>
                  <a:srgbClr val="7030A0"/>
                </a:solidFill>
                <a:latin typeface="IRANSans"/>
                <a:cs typeface="B Nazanin" panose="00000400000000000000" pitchFamily="2" charset="-78"/>
              </a:rPr>
              <a:t>راندمان</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نمونه‌هایی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از</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این</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شاخص‌ها</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هستند</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که</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باید</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واحد</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مدیریت</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منابع</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انسانی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آنها</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را</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تعریف</a:t>
            </a:r>
            <a:r>
              <a:rPr lang="en-US" dirty="0" smtClean="0">
                <a:solidFill>
                  <a:srgbClr val="000000"/>
                </a:solidFill>
                <a:latin typeface="IRANSans"/>
                <a:cs typeface="B Nazanin" panose="00000400000000000000" pitchFamily="2" charset="-78"/>
              </a:rPr>
              <a:t> و </a:t>
            </a:r>
            <a:r>
              <a:rPr lang="en-US" dirty="0" err="1" smtClean="0">
                <a:solidFill>
                  <a:srgbClr val="000000"/>
                </a:solidFill>
                <a:latin typeface="IRANSans"/>
                <a:cs typeface="B Nazanin" panose="00000400000000000000" pitchFamily="2" charset="-78"/>
              </a:rPr>
              <a:t>طبقه</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بندی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نموده</a:t>
            </a:r>
            <a:r>
              <a:rPr lang="en-US" dirty="0" smtClean="0">
                <a:solidFill>
                  <a:srgbClr val="000000"/>
                </a:solidFill>
                <a:latin typeface="IRANSans"/>
                <a:cs typeface="B Nazanin" panose="00000400000000000000" pitchFamily="2" charset="-78"/>
              </a:rPr>
              <a:t> و </a:t>
            </a:r>
            <a:r>
              <a:rPr lang="en-US" dirty="0" err="1" smtClean="0">
                <a:solidFill>
                  <a:srgbClr val="000000"/>
                </a:solidFill>
                <a:latin typeface="IRANSans"/>
                <a:cs typeface="B Nazanin" panose="00000400000000000000" pitchFamily="2" charset="-78"/>
              </a:rPr>
              <a:t>شیوه‌های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اندازه</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گیری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آنها</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را</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نیز</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مشخص</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نماید.همچنین</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واحد</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منابع</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انسانی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باید</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به</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صورت</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منظم</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این</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شاخص‌ها</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را</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اندازه</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گیری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کرده</a:t>
            </a:r>
            <a:r>
              <a:rPr lang="en-US" dirty="0" smtClean="0">
                <a:solidFill>
                  <a:srgbClr val="000000"/>
                </a:solidFill>
                <a:latin typeface="IRANSans"/>
                <a:cs typeface="B Nazanin" panose="00000400000000000000" pitchFamily="2" charset="-78"/>
              </a:rPr>
              <a:t> و </a:t>
            </a:r>
            <a:r>
              <a:rPr lang="en-US" dirty="0" err="1" smtClean="0">
                <a:solidFill>
                  <a:srgbClr val="000000"/>
                </a:solidFill>
                <a:latin typeface="IRANSans"/>
                <a:cs typeface="B Nazanin" panose="00000400000000000000" pitchFamily="2" charset="-78"/>
              </a:rPr>
              <a:t>در</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حرکت</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آنها</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به</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سمت</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مطلوب</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همکاری</a:t>
            </a:r>
            <a:r>
              <a:rPr lang="en-US" dirty="0" smtClean="0">
                <a:solidFill>
                  <a:srgbClr val="000000"/>
                </a:solidFill>
                <a:latin typeface="IRANSans"/>
                <a:cs typeface="B Nazanin" panose="00000400000000000000" pitchFamily="2" charset="-78"/>
              </a:rPr>
              <a:t> </a:t>
            </a:r>
            <a:r>
              <a:rPr lang="en-US" dirty="0" err="1" smtClean="0">
                <a:solidFill>
                  <a:srgbClr val="000000"/>
                </a:solidFill>
                <a:latin typeface="IRANSans"/>
                <a:cs typeface="B Nazanin" panose="00000400000000000000" pitchFamily="2" charset="-78"/>
              </a:rPr>
              <a:t>کند</a:t>
            </a:r>
            <a:r>
              <a:rPr lang="en-US" dirty="0" smtClean="0">
                <a:solidFill>
                  <a:srgbClr val="000000"/>
                </a:solidFill>
                <a:latin typeface="IRANSans"/>
                <a:cs typeface="B Nazanin" panose="00000400000000000000" pitchFamily="2" charset="-78"/>
              </a:rPr>
              <a:t>.</a:t>
            </a:r>
            <a:endParaRPr lang="en-US" dirty="0">
              <a:solidFill>
                <a:srgbClr val="000000"/>
              </a:solidFill>
              <a:latin typeface="IRANSans"/>
              <a:cs typeface="B Nazanin" panose="00000400000000000000" pitchFamily="2" charset="-78"/>
            </a:endParaRPr>
          </a:p>
        </p:txBody>
      </p:sp>
      <p:sp>
        <p:nvSpPr>
          <p:cNvPr id="11" name="Rectangle 10"/>
          <p:cNvSpPr/>
          <p:nvPr/>
        </p:nvSpPr>
        <p:spPr>
          <a:xfrm>
            <a:off x="9653244" y="5920968"/>
            <a:ext cx="1672253" cy="369332"/>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ارزیابی عملکرد</a:t>
            </a:r>
            <a:endParaRPr lang="en-US" b="1" dirty="0">
              <a:latin typeface="IRANSans"/>
              <a:cs typeface="B Nazanin" panose="00000400000000000000" pitchFamily="2" charset="-78"/>
            </a:endParaRPr>
          </a:p>
        </p:txBody>
      </p:sp>
      <p:sp>
        <p:nvSpPr>
          <p:cNvPr id="12" name="Rectangle 11"/>
          <p:cNvSpPr/>
          <p:nvPr/>
        </p:nvSpPr>
        <p:spPr>
          <a:xfrm>
            <a:off x="362585" y="5811291"/>
            <a:ext cx="8218250" cy="646331"/>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کسانی که در یک سازمان کار می‌کنند باید مطمئن باشند که </a:t>
            </a:r>
            <a:r>
              <a:rPr lang="fa-IR" b="1" dirty="0">
                <a:solidFill>
                  <a:srgbClr val="000000"/>
                </a:solidFill>
                <a:latin typeface="IRANSans"/>
                <a:cs typeface="B Nazanin" panose="00000400000000000000" pitchFamily="2" charset="-78"/>
              </a:rPr>
              <a:t>چشمی</a:t>
            </a:r>
            <a:r>
              <a:rPr lang="fa-IR" dirty="0">
                <a:solidFill>
                  <a:srgbClr val="000000"/>
                </a:solidFill>
                <a:latin typeface="IRANSans"/>
                <a:cs typeface="B Nazanin" panose="00000400000000000000" pitchFamily="2" charset="-78"/>
              </a:rPr>
              <a:t> </a:t>
            </a:r>
            <a:r>
              <a:rPr lang="fa-IR" b="1" dirty="0">
                <a:solidFill>
                  <a:srgbClr val="000000"/>
                </a:solidFill>
                <a:latin typeface="IRANSans"/>
                <a:cs typeface="B Nazanin" panose="00000400000000000000" pitchFamily="2" charset="-78"/>
              </a:rPr>
              <a:t>هست</a:t>
            </a:r>
            <a:r>
              <a:rPr lang="fa-IR" dirty="0">
                <a:solidFill>
                  <a:srgbClr val="000000"/>
                </a:solidFill>
                <a:latin typeface="IRANSans"/>
                <a:cs typeface="B Nazanin" panose="00000400000000000000" pitchFamily="2" charset="-78"/>
              </a:rPr>
              <a:t> که آنها را می‌بیند و زحمات آنها را درک </a:t>
            </a:r>
            <a:r>
              <a:rPr lang="fa-IR" dirty="0" smtClean="0">
                <a:solidFill>
                  <a:srgbClr val="000000"/>
                </a:solidFill>
                <a:latin typeface="IRANSans"/>
                <a:cs typeface="B Nazanin" panose="00000400000000000000" pitchFamily="2" charset="-78"/>
              </a:rPr>
              <a:t>می‌کند. همچنین </a:t>
            </a:r>
            <a:r>
              <a:rPr lang="fa-IR" b="1" dirty="0">
                <a:solidFill>
                  <a:srgbClr val="FF0000"/>
                </a:solidFill>
                <a:latin typeface="IRANSans"/>
                <a:cs typeface="B Nazanin" panose="00000400000000000000" pitchFamily="2" charset="-78"/>
              </a:rPr>
              <a:t>تفاوت</a:t>
            </a:r>
            <a:r>
              <a:rPr lang="fa-IR" dirty="0">
                <a:solidFill>
                  <a:srgbClr val="000000"/>
                </a:solidFill>
                <a:latin typeface="IRANSans"/>
                <a:cs typeface="B Nazanin" panose="00000400000000000000" pitchFamily="2" charset="-78"/>
              </a:rPr>
              <a:t> کسی که بهتر کار می‌کند با کسی که خوب کار نمی‌کند دیده و ثبت می‌شود.</a:t>
            </a:r>
          </a:p>
        </p:txBody>
      </p:sp>
    </p:spTree>
    <p:extLst>
      <p:ext uri="{BB962C8B-B14F-4D97-AF65-F5344CB8AC3E}">
        <p14:creationId xmlns:p14="http://schemas.microsoft.com/office/powerpoint/2010/main" val="844088663"/>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a:cs typeface="B Nazanin" panose="00000400000000000000" pitchFamily="2" charset="-78"/>
              </a:rPr>
              <a:t>وظایف واحد مدیریت منابع </a:t>
            </a:r>
            <a:r>
              <a:rPr lang="fa-IR" sz="4800" dirty="0" smtClean="0">
                <a:cs typeface="B Nazanin" panose="00000400000000000000" pitchFamily="2" charset="-78"/>
              </a:rPr>
              <a:t>انسانی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8437492" y="1703221"/>
            <a:ext cx="3201517" cy="369332"/>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استفاده استراتژیک از منابع انسانی</a:t>
            </a:r>
            <a:endParaRPr lang="en-US" b="1" dirty="0">
              <a:latin typeface="IRANSans"/>
              <a:cs typeface="B Nazanin" panose="00000400000000000000" pitchFamily="2" charset="-78"/>
            </a:endParaRPr>
          </a:p>
        </p:txBody>
      </p:sp>
      <p:sp>
        <p:nvSpPr>
          <p:cNvPr id="13" name="Rectangle 12"/>
          <p:cNvSpPr/>
          <p:nvPr/>
        </p:nvSpPr>
        <p:spPr>
          <a:xfrm>
            <a:off x="431074" y="1426222"/>
            <a:ext cx="8059782"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وقتی از انسان‌ها به عنوان </a:t>
            </a:r>
            <a:r>
              <a:rPr lang="fa-IR" b="1" dirty="0">
                <a:solidFill>
                  <a:srgbClr val="FF0000"/>
                </a:solidFill>
                <a:latin typeface="IRANSans"/>
                <a:cs typeface="B Nazanin" panose="00000400000000000000" pitchFamily="2" charset="-78"/>
              </a:rPr>
              <a:t>منابع</a:t>
            </a:r>
            <a:r>
              <a:rPr lang="fa-IR" dirty="0">
                <a:solidFill>
                  <a:srgbClr val="000000"/>
                </a:solidFill>
                <a:latin typeface="IRANSans"/>
                <a:cs typeface="B Nazanin" panose="00000400000000000000" pitchFamily="2" charset="-78"/>
              </a:rPr>
              <a:t> </a:t>
            </a:r>
            <a:r>
              <a:rPr lang="fa-IR" b="1" dirty="0">
                <a:solidFill>
                  <a:srgbClr val="000000"/>
                </a:solidFill>
                <a:latin typeface="IRANSans"/>
                <a:cs typeface="B Nazanin" panose="00000400000000000000" pitchFamily="2" charset="-78"/>
              </a:rPr>
              <a:t>انسانی</a:t>
            </a:r>
            <a:r>
              <a:rPr lang="fa-IR" dirty="0">
                <a:solidFill>
                  <a:srgbClr val="000000"/>
                </a:solidFill>
                <a:latin typeface="IRANSans"/>
                <a:cs typeface="B Nazanin" panose="00000400000000000000" pitchFamily="2" charset="-78"/>
              </a:rPr>
              <a:t> یاد می‌کنیم، یعنی اینکه مانند هر </a:t>
            </a:r>
            <a:r>
              <a:rPr lang="fa-IR" b="1" dirty="0">
                <a:solidFill>
                  <a:srgbClr val="FF0000"/>
                </a:solidFill>
                <a:latin typeface="IRANSans"/>
                <a:cs typeface="B Nazanin" panose="00000400000000000000" pitchFamily="2" charset="-78"/>
              </a:rPr>
              <a:t>منبع</a:t>
            </a:r>
            <a:r>
              <a:rPr lang="fa-IR" dirty="0">
                <a:solidFill>
                  <a:srgbClr val="000000"/>
                </a:solidFill>
                <a:latin typeface="IRANSans"/>
                <a:cs typeface="B Nazanin" panose="00000400000000000000" pitchFamily="2" charset="-78"/>
              </a:rPr>
              <a:t> دیگری، باید برای تولید و رشد و نگهداری آن تلاش </a:t>
            </a:r>
            <a:r>
              <a:rPr lang="fa-IR" dirty="0" smtClean="0">
                <a:solidFill>
                  <a:srgbClr val="000000"/>
                </a:solidFill>
                <a:latin typeface="IRANSans"/>
                <a:cs typeface="B Nazanin" panose="00000400000000000000" pitchFamily="2" charset="-78"/>
              </a:rPr>
              <a:t>کنیم. همچنین</a:t>
            </a:r>
            <a:r>
              <a:rPr lang="fa-IR" dirty="0">
                <a:solidFill>
                  <a:srgbClr val="000000"/>
                </a:solidFill>
                <a:latin typeface="IRANSans"/>
                <a:cs typeface="B Nazanin" panose="00000400000000000000" pitchFamily="2" charset="-78"/>
              </a:rPr>
              <a:t>، باید یادمان باشد که این منبع، چندان هم تجدیدپذیر نیست. استفاده‌ی استراتژیک هم، بحث دیگری است که همیشه وقتی از یک منبع حرف می‌زنیم، اهمیت پیدا می‌کند.</a:t>
            </a:r>
          </a:p>
        </p:txBody>
      </p:sp>
      <p:sp>
        <p:nvSpPr>
          <p:cNvPr id="4" name="Rectangle 3"/>
          <p:cNvSpPr/>
          <p:nvPr/>
        </p:nvSpPr>
        <p:spPr>
          <a:xfrm>
            <a:off x="8865493" y="3396224"/>
            <a:ext cx="2773516" cy="646331"/>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ایجاد حس امنیت شغلی برای </a:t>
            </a:r>
            <a:endParaRPr lang="fa-IR" b="1" dirty="0" smtClean="0">
              <a:latin typeface="IRANSans"/>
              <a:cs typeface="B Nazanin" panose="00000400000000000000" pitchFamily="2" charset="-78"/>
            </a:endParaRPr>
          </a:p>
          <a:p>
            <a:pPr algn="ctr" rtl="1"/>
            <a:r>
              <a:rPr lang="fa-IR" b="1" dirty="0" smtClean="0">
                <a:latin typeface="IRANSans"/>
                <a:cs typeface="B Nazanin" panose="00000400000000000000" pitchFamily="2" charset="-78"/>
              </a:rPr>
              <a:t>همکاران </a:t>
            </a:r>
            <a:r>
              <a:rPr lang="fa-IR" b="1" dirty="0">
                <a:latin typeface="IRANSans"/>
                <a:cs typeface="B Nazanin" panose="00000400000000000000" pitchFamily="2" charset="-78"/>
              </a:rPr>
              <a:t>مفید و توانمند</a:t>
            </a:r>
            <a:endParaRPr lang="en-US" b="1" dirty="0">
              <a:latin typeface="IRANSans"/>
              <a:cs typeface="B Nazanin" panose="00000400000000000000" pitchFamily="2" charset="-78"/>
            </a:endParaRPr>
          </a:p>
        </p:txBody>
      </p:sp>
      <p:sp>
        <p:nvSpPr>
          <p:cNvPr id="5" name="Rectangle 4"/>
          <p:cNvSpPr/>
          <p:nvPr/>
        </p:nvSpPr>
        <p:spPr>
          <a:xfrm>
            <a:off x="431073" y="2510906"/>
            <a:ext cx="8059783" cy="2031325"/>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امنیت شغلی باید برای کسانی </a:t>
            </a:r>
            <a:r>
              <a:rPr lang="fa-IR" dirty="0" smtClean="0">
                <a:solidFill>
                  <a:srgbClr val="000000"/>
                </a:solidFill>
                <a:latin typeface="IRANSans"/>
                <a:cs typeface="B Nazanin" panose="00000400000000000000" pitchFamily="2" charset="-78"/>
              </a:rPr>
              <a:t>باشد عنصری </a:t>
            </a:r>
            <a:r>
              <a:rPr lang="fa-IR" dirty="0">
                <a:solidFill>
                  <a:srgbClr val="000000"/>
                </a:solidFill>
                <a:latin typeface="IRANSans"/>
                <a:cs typeface="B Nazanin" panose="00000400000000000000" pitchFamily="2" charset="-78"/>
              </a:rPr>
              <a:t>مفید در سازمان تلقی می‌شوند.</a:t>
            </a:r>
          </a:p>
          <a:p>
            <a:pPr algn="justLow" rtl="1"/>
            <a:r>
              <a:rPr lang="fa-IR" b="1" dirty="0">
                <a:solidFill>
                  <a:srgbClr val="000000"/>
                </a:solidFill>
                <a:latin typeface="IRANSans"/>
                <a:cs typeface="B Nazanin" panose="00000400000000000000" pitchFamily="2" charset="-78"/>
              </a:rPr>
              <a:t>امنیت شغلی اگر برای همه‌ی افراد سازمان به یک اندازه وجود داشته باشد، فرقی با ناامنی شغلی ندارد</a:t>
            </a:r>
            <a:r>
              <a:rPr lang="fa-IR" b="1" dirty="0" smtClean="0">
                <a:solidFill>
                  <a:srgbClr val="000000"/>
                </a:solidFill>
                <a:latin typeface="IRANSans"/>
                <a:cs typeface="B Nazanin" panose="00000400000000000000" pitchFamily="2" charset="-78"/>
              </a:rPr>
              <a:t>.</a:t>
            </a:r>
          </a:p>
          <a:p>
            <a:pPr algn="justLow" rtl="1"/>
            <a:r>
              <a:rPr lang="fa-IR" b="1" dirty="0">
                <a:solidFill>
                  <a:srgbClr val="FF0000"/>
                </a:solidFill>
                <a:latin typeface="IRANSans"/>
                <a:cs typeface="B Nazanin" panose="00000400000000000000" pitchFamily="2" charset="-78"/>
              </a:rPr>
              <a:t> امنیت شغلی بر پایه قرارداد حقوقی</a:t>
            </a:r>
            <a:r>
              <a:rPr lang="fa-IR" dirty="0">
                <a:solidFill>
                  <a:srgbClr val="000000"/>
                </a:solidFill>
                <a:latin typeface="IRANSans"/>
                <a:cs typeface="B Nazanin" panose="00000400000000000000" pitchFamily="2" charset="-78"/>
              </a:rPr>
              <a:t>، ساده‌ترین و سطحی‌ترین شکل امنیت است.</a:t>
            </a:r>
          </a:p>
          <a:p>
            <a:pPr algn="justLow" rtl="1"/>
            <a:r>
              <a:rPr lang="fa-IR" dirty="0">
                <a:solidFill>
                  <a:srgbClr val="000000"/>
                </a:solidFill>
                <a:latin typeface="IRANSans"/>
                <a:cs typeface="B Nazanin" panose="00000400000000000000" pitchFamily="2" charset="-78"/>
              </a:rPr>
              <a:t>عمیق‌ترین شکل امنیت به کمک ابزارهای زیر به دست می‌آیند:</a:t>
            </a:r>
          </a:p>
          <a:p>
            <a:pPr marL="285750" indent="-285750" algn="justLow" rtl="1">
              <a:buFont typeface="Wingdings" panose="05000000000000000000" pitchFamily="2" charset="2"/>
              <a:buChar char="ü"/>
            </a:pPr>
            <a:r>
              <a:rPr lang="fa-IR" b="1" dirty="0">
                <a:solidFill>
                  <a:srgbClr val="002060"/>
                </a:solidFill>
                <a:latin typeface="IRANSans"/>
                <a:cs typeface="B Nazanin" panose="00000400000000000000" pitchFamily="2" charset="-78"/>
              </a:rPr>
              <a:t>  اعطای اختیارات و واگذاری مسئولیت‌ها به همکاران (غنی سازی شغلی)</a:t>
            </a:r>
          </a:p>
          <a:p>
            <a:pPr marL="285750" indent="-285750" algn="justLow" rtl="1">
              <a:buFont typeface="Wingdings" panose="05000000000000000000" pitchFamily="2" charset="2"/>
              <a:buChar char="ü"/>
            </a:pPr>
            <a:r>
              <a:rPr lang="fa-IR" b="1" dirty="0">
                <a:solidFill>
                  <a:srgbClr val="002060"/>
                </a:solidFill>
                <a:latin typeface="IRANSans"/>
                <a:cs typeface="B Nazanin" panose="00000400000000000000" pitchFamily="2" charset="-78"/>
              </a:rPr>
              <a:t>   مشارکت دادن همکاران در منافع</a:t>
            </a:r>
          </a:p>
          <a:p>
            <a:pPr marL="285750" indent="-285750" algn="justLow" rtl="1">
              <a:buFont typeface="Wingdings" panose="05000000000000000000" pitchFamily="2" charset="2"/>
              <a:buChar char="ü"/>
            </a:pPr>
            <a:r>
              <a:rPr lang="fa-IR" b="1" dirty="0">
                <a:solidFill>
                  <a:srgbClr val="002060"/>
                </a:solidFill>
                <a:latin typeface="IRANSans"/>
                <a:cs typeface="B Nazanin" panose="00000400000000000000" pitchFamily="2" charset="-78"/>
              </a:rPr>
              <a:t>  توانمندسازی </a:t>
            </a:r>
            <a:r>
              <a:rPr lang="fa-IR" b="1" dirty="0" smtClean="0">
                <a:solidFill>
                  <a:srgbClr val="002060"/>
                </a:solidFill>
                <a:latin typeface="IRANSans"/>
                <a:cs typeface="B Nazanin" panose="00000400000000000000" pitchFamily="2" charset="-78"/>
              </a:rPr>
              <a:t>همکاران</a:t>
            </a:r>
            <a:endParaRPr lang="fa-IR" b="1" dirty="0">
              <a:solidFill>
                <a:srgbClr val="002060"/>
              </a:solidFill>
              <a:latin typeface="IRANSans"/>
              <a:cs typeface="B Nazanin" panose="00000400000000000000" pitchFamily="2" charset="-78"/>
            </a:endParaRPr>
          </a:p>
        </p:txBody>
      </p:sp>
      <p:sp>
        <p:nvSpPr>
          <p:cNvPr id="7" name="Rectangle 6"/>
          <p:cNvSpPr/>
          <p:nvPr/>
        </p:nvSpPr>
        <p:spPr>
          <a:xfrm>
            <a:off x="8865493" y="4858394"/>
            <a:ext cx="2755883" cy="646331"/>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همسوسازی کارکنان جدید با </a:t>
            </a:r>
            <a:endParaRPr lang="fa-IR" b="1" dirty="0" smtClean="0">
              <a:latin typeface="IRANSans"/>
              <a:cs typeface="B Nazanin" panose="00000400000000000000" pitchFamily="2" charset="-78"/>
            </a:endParaRPr>
          </a:p>
          <a:p>
            <a:pPr algn="ctr" rtl="1"/>
            <a:r>
              <a:rPr lang="fa-IR" b="1" dirty="0" smtClean="0">
                <a:latin typeface="IRANSans"/>
                <a:cs typeface="B Nazanin" panose="00000400000000000000" pitchFamily="2" charset="-78"/>
              </a:rPr>
              <a:t>سازمان </a:t>
            </a:r>
            <a:r>
              <a:rPr lang="fa-IR" b="1" dirty="0">
                <a:latin typeface="IRANSans"/>
                <a:cs typeface="B Nazanin" panose="00000400000000000000" pitchFamily="2" charset="-78"/>
              </a:rPr>
              <a:t>و فرهنگ </a:t>
            </a:r>
            <a:r>
              <a:rPr lang="fa-IR" b="1" dirty="0" smtClean="0">
                <a:latin typeface="IRANSans"/>
                <a:cs typeface="B Nazanin" panose="00000400000000000000" pitchFamily="2" charset="-78"/>
              </a:rPr>
              <a:t>سازمانی</a:t>
            </a:r>
            <a:endParaRPr lang="fa-IR" b="1" dirty="0">
              <a:latin typeface="IRANSans"/>
              <a:cs typeface="B Nazanin" panose="00000400000000000000" pitchFamily="2" charset="-78"/>
            </a:endParaRPr>
          </a:p>
        </p:txBody>
      </p:sp>
      <p:sp>
        <p:nvSpPr>
          <p:cNvPr id="9" name="Rectangle 8"/>
          <p:cNvSpPr/>
          <p:nvPr/>
        </p:nvSpPr>
        <p:spPr>
          <a:xfrm>
            <a:off x="431074" y="4719895"/>
            <a:ext cx="8059782"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هر عضو جدیدی در سازمان، به هر حال با گذشت زمان، فرهنگ و قوانین و بایدها و نبایدها و الگوهای ارزشی سازمان را فرا خواهد گرفت. اما هنر واحد مدیریت منابع انسانی در آن است که </a:t>
            </a:r>
            <a:r>
              <a:rPr lang="fa-IR" b="1" dirty="0">
                <a:solidFill>
                  <a:srgbClr val="000000"/>
                </a:solidFill>
                <a:latin typeface="IRANSans"/>
                <a:cs typeface="B Nazanin" panose="00000400000000000000" pitchFamily="2" charset="-78"/>
              </a:rPr>
              <a:t>زمان</a:t>
            </a:r>
            <a:r>
              <a:rPr lang="fa-IR" dirty="0">
                <a:solidFill>
                  <a:srgbClr val="000000"/>
                </a:solidFill>
                <a:latin typeface="IRANSans"/>
                <a:cs typeface="B Nazanin" panose="00000400000000000000" pitchFamily="2" charset="-78"/>
              </a:rPr>
              <a:t> این فراگیری، به حداقل ممکن </a:t>
            </a:r>
            <a:r>
              <a:rPr lang="fa-IR" b="1" dirty="0">
                <a:solidFill>
                  <a:srgbClr val="C00000"/>
                </a:solidFill>
                <a:latin typeface="IRANSans"/>
                <a:cs typeface="B Nazanin" panose="00000400000000000000" pitchFamily="2" charset="-78"/>
              </a:rPr>
              <a:t>کاهش</a:t>
            </a:r>
            <a:r>
              <a:rPr lang="fa-IR" dirty="0">
                <a:solidFill>
                  <a:srgbClr val="000000"/>
                </a:solidFill>
                <a:latin typeface="IRANSans"/>
                <a:cs typeface="B Nazanin" panose="00000400000000000000" pitchFamily="2" charset="-78"/>
              </a:rPr>
              <a:t> یابد.</a:t>
            </a:r>
            <a:endParaRPr lang="en-US" dirty="0">
              <a:solidFill>
                <a:srgbClr val="000000"/>
              </a:solidFill>
              <a:latin typeface="IRANSans"/>
              <a:cs typeface="B Nazanin" panose="00000400000000000000" pitchFamily="2" charset="-78"/>
            </a:endParaRPr>
          </a:p>
        </p:txBody>
      </p:sp>
      <p:sp>
        <p:nvSpPr>
          <p:cNvPr id="10" name="Rectangle 9"/>
          <p:cNvSpPr/>
          <p:nvPr/>
        </p:nvSpPr>
        <p:spPr>
          <a:xfrm>
            <a:off x="8408637" y="5926212"/>
            <a:ext cx="3212739" cy="369332"/>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شناخت و مدیریت فرهنگ </a:t>
            </a:r>
            <a:r>
              <a:rPr lang="fa-IR" b="1" dirty="0" smtClean="0">
                <a:latin typeface="IRANSans"/>
                <a:cs typeface="B Nazanin" panose="00000400000000000000" pitchFamily="2" charset="-78"/>
              </a:rPr>
              <a:t>سازمانی</a:t>
            </a:r>
            <a:endParaRPr lang="en-US" b="1" dirty="0">
              <a:latin typeface="IRANSans"/>
              <a:cs typeface="B Nazanin" panose="00000400000000000000" pitchFamily="2" charset="-78"/>
            </a:endParaRPr>
          </a:p>
        </p:txBody>
      </p:sp>
      <p:sp>
        <p:nvSpPr>
          <p:cNvPr id="11" name="Rectangle 10"/>
          <p:cNvSpPr/>
          <p:nvPr/>
        </p:nvSpPr>
        <p:spPr>
          <a:xfrm>
            <a:off x="1902995" y="5926212"/>
            <a:ext cx="4801314" cy="369332"/>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آموزش کارکنان و تلاش برای ارتقای دانش و مهارت </a:t>
            </a:r>
            <a:r>
              <a:rPr lang="fa-IR" b="1" dirty="0" smtClean="0">
                <a:latin typeface="IRANSans"/>
                <a:cs typeface="B Nazanin" panose="00000400000000000000" pitchFamily="2" charset="-78"/>
              </a:rPr>
              <a:t>آنان</a:t>
            </a:r>
            <a:endParaRPr lang="fa-IR" b="1" dirty="0">
              <a:latin typeface="IRANSans"/>
              <a:cs typeface="B Nazanin" panose="00000400000000000000" pitchFamily="2" charset="-78"/>
            </a:endParaRPr>
          </a:p>
        </p:txBody>
      </p:sp>
    </p:spTree>
    <p:extLst>
      <p:ext uri="{BB962C8B-B14F-4D97-AF65-F5344CB8AC3E}">
        <p14:creationId xmlns:p14="http://schemas.microsoft.com/office/powerpoint/2010/main" val="183409101"/>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a:cs typeface="B Nazanin" panose="00000400000000000000" pitchFamily="2" charset="-78"/>
              </a:rPr>
              <a:t>وظایف واحد مدیریت منابع </a:t>
            </a:r>
            <a:r>
              <a:rPr lang="fa-IR" sz="4800" dirty="0" smtClean="0">
                <a:cs typeface="B Nazanin" panose="00000400000000000000" pitchFamily="2" charset="-78"/>
              </a:rPr>
              <a:t>انسانی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8138407" y="1961497"/>
            <a:ext cx="3187090" cy="646331"/>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ایفای نقش رابط بین مدیریت ارشد </a:t>
            </a:r>
            <a:endParaRPr lang="fa-IR" b="1" dirty="0" smtClean="0">
              <a:latin typeface="IRANSans"/>
              <a:cs typeface="B Nazanin" panose="00000400000000000000" pitchFamily="2" charset="-78"/>
            </a:endParaRPr>
          </a:p>
          <a:p>
            <a:pPr algn="ctr" rtl="1"/>
            <a:r>
              <a:rPr lang="fa-IR" b="1" dirty="0" smtClean="0">
                <a:latin typeface="IRANSans"/>
                <a:cs typeface="B Nazanin" panose="00000400000000000000" pitchFamily="2" charset="-78"/>
              </a:rPr>
              <a:t>و </a:t>
            </a:r>
            <a:r>
              <a:rPr lang="fa-IR" b="1" dirty="0">
                <a:latin typeface="IRANSans"/>
                <a:cs typeface="B Nazanin" panose="00000400000000000000" pitchFamily="2" charset="-78"/>
              </a:rPr>
              <a:t>کارکنان </a:t>
            </a:r>
            <a:r>
              <a:rPr lang="fa-IR" b="1" dirty="0" smtClean="0">
                <a:latin typeface="IRANSans"/>
                <a:cs typeface="B Nazanin" panose="00000400000000000000" pitchFamily="2" charset="-78"/>
              </a:rPr>
              <a:t>سازمان</a:t>
            </a:r>
            <a:endParaRPr lang="fa-IR" b="1" dirty="0">
              <a:latin typeface="IRANSans"/>
              <a:cs typeface="B Nazanin" panose="00000400000000000000" pitchFamily="2" charset="-78"/>
            </a:endParaRPr>
          </a:p>
        </p:txBody>
      </p:sp>
      <p:sp>
        <p:nvSpPr>
          <p:cNvPr id="5" name="Rectangle 4"/>
          <p:cNvSpPr/>
          <p:nvPr/>
        </p:nvSpPr>
        <p:spPr>
          <a:xfrm>
            <a:off x="509451" y="1684497"/>
            <a:ext cx="7628956" cy="1200329"/>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واحد منابع انسانی باید </a:t>
            </a:r>
            <a:r>
              <a:rPr lang="fa-IR" b="1" dirty="0">
                <a:solidFill>
                  <a:srgbClr val="7030A0"/>
                </a:solidFill>
                <a:latin typeface="IRANSans"/>
                <a:cs typeface="B Nazanin" panose="00000400000000000000" pitchFamily="2" charset="-78"/>
              </a:rPr>
              <a:t>تنشهای محیط کار </a:t>
            </a:r>
            <a:r>
              <a:rPr lang="fa-IR" dirty="0">
                <a:solidFill>
                  <a:srgbClr val="000000"/>
                </a:solidFill>
                <a:latin typeface="IRANSans"/>
                <a:cs typeface="B Nazanin" panose="00000400000000000000" pitchFamily="2" charset="-78"/>
              </a:rPr>
              <a:t>را درک کرده و از سوی دیگر </a:t>
            </a:r>
            <a:r>
              <a:rPr lang="fa-IR" b="1" dirty="0">
                <a:solidFill>
                  <a:srgbClr val="7030A0"/>
                </a:solidFill>
                <a:latin typeface="IRANSans"/>
                <a:cs typeface="B Nazanin" panose="00000400000000000000" pitchFamily="2" charset="-78"/>
              </a:rPr>
              <a:t>دغدغه و تنشهای مدیریت </a:t>
            </a:r>
            <a:r>
              <a:rPr lang="fa-IR" dirty="0">
                <a:solidFill>
                  <a:srgbClr val="000000"/>
                </a:solidFill>
                <a:latin typeface="IRANSans"/>
                <a:cs typeface="B Nazanin" panose="00000400000000000000" pitchFamily="2" charset="-78"/>
              </a:rPr>
              <a:t>را نیز بفهمد و تلاش کند که تعارض و تضاد ها را </a:t>
            </a:r>
            <a:r>
              <a:rPr lang="fa-IR" dirty="0" smtClean="0">
                <a:solidFill>
                  <a:srgbClr val="000000"/>
                </a:solidFill>
                <a:latin typeface="IRANSans"/>
                <a:cs typeface="B Nazanin" panose="00000400000000000000" pitchFamily="2" charset="-78"/>
              </a:rPr>
              <a:t>جذب </a:t>
            </a:r>
            <a:r>
              <a:rPr lang="fa-IR" dirty="0">
                <a:solidFill>
                  <a:srgbClr val="000000"/>
                </a:solidFill>
                <a:latin typeface="IRANSans"/>
                <a:cs typeface="B Nazanin" panose="00000400000000000000" pitchFamily="2" charset="-78"/>
              </a:rPr>
              <a:t>کند و به حداقل برساند </a:t>
            </a:r>
            <a:r>
              <a:rPr lang="fa-IR" dirty="0" smtClean="0">
                <a:solidFill>
                  <a:srgbClr val="000000"/>
                </a:solidFill>
                <a:latin typeface="IRANSans"/>
                <a:cs typeface="B Nazanin" panose="00000400000000000000" pitchFamily="2" charset="-78"/>
              </a:rPr>
              <a:t>. البته مدیریت ارشد باید زمینه را برای نقش آفرینی مدیریت منابع انسانی فراهم کند . مدیریتی که برای کنترل امور کارکنان تمایل دارد برای اعطای وام و ... همواره مستقیما مداخله کند رسما این زمین بازی را از واحد منابع انسانی گرفته است . </a:t>
            </a:r>
            <a:endParaRPr lang="fa-IR" dirty="0">
              <a:solidFill>
                <a:srgbClr val="000000"/>
              </a:solidFill>
              <a:latin typeface="IRANSans"/>
              <a:cs typeface="B Nazanin" panose="00000400000000000000" pitchFamily="2" charset="-78"/>
            </a:endParaRPr>
          </a:p>
        </p:txBody>
      </p:sp>
      <p:sp>
        <p:nvSpPr>
          <p:cNvPr id="4" name="Rectangle 3"/>
          <p:cNvSpPr/>
          <p:nvPr/>
        </p:nvSpPr>
        <p:spPr>
          <a:xfrm>
            <a:off x="509451" y="3161826"/>
            <a:ext cx="7628956" cy="646331"/>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اهمیت بحث انگیزه در حدی است که برخی منابع علمی، ترجیح می‌دهند حفظ انگیزه را نه به عنوان یکی از وظایف،‌‌ بلکه به عنوان </a:t>
            </a:r>
            <a:r>
              <a:rPr lang="fa-IR" b="1" dirty="0">
                <a:solidFill>
                  <a:srgbClr val="FF0000"/>
                </a:solidFill>
                <a:latin typeface="IRANSans"/>
                <a:cs typeface="B Nazanin" panose="00000400000000000000" pitchFamily="2" charset="-78"/>
              </a:rPr>
              <a:t>مهم‌ترین وظیفه </a:t>
            </a:r>
            <a:r>
              <a:rPr lang="fa-IR" dirty="0">
                <a:solidFill>
                  <a:srgbClr val="000000"/>
                </a:solidFill>
                <a:latin typeface="IRANSans"/>
                <a:cs typeface="B Nazanin" panose="00000400000000000000" pitchFamily="2" charset="-78"/>
              </a:rPr>
              <a:t>و گاه </a:t>
            </a:r>
            <a:r>
              <a:rPr lang="fa-IR" b="1" dirty="0">
                <a:solidFill>
                  <a:schemeClr val="accent6">
                    <a:lumMod val="75000"/>
                  </a:schemeClr>
                </a:solidFill>
                <a:latin typeface="IRANSans"/>
                <a:cs typeface="B Nazanin" panose="00000400000000000000" pitchFamily="2" charset="-78"/>
              </a:rPr>
              <a:t>ماموریت واحد منابع انسانی</a:t>
            </a:r>
            <a:r>
              <a:rPr lang="fa-IR" dirty="0">
                <a:solidFill>
                  <a:srgbClr val="000000"/>
                </a:solidFill>
                <a:latin typeface="IRANSans"/>
                <a:cs typeface="B Nazanin" panose="00000400000000000000" pitchFamily="2" charset="-78"/>
              </a:rPr>
              <a:t> مطرح کنند.</a:t>
            </a:r>
            <a:endParaRPr lang="en-US" dirty="0">
              <a:solidFill>
                <a:srgbClr val="000000"/>
              </a:solidFill>
              <a:latin typeface="IRANSans"/>
              <a:cs typeface="B Nazanin" panose="00000400000000000000" pitchFamily="2" charset="-78"/>
            </a:endParaRPr>
          </a:p>
        </p:txBody>
      </p:sp>
      <p:sp>
        <p:nvSpPr>
          <p:cNvPr id="7" name="Rectangle 6"/>
          <p:cNvSpPr/>
          <p:nvPr/>
        </p:nvSpPr>
        <p:spPr>
          <a:xfrm>
            <a:off x="9188373" y="3300325"/>
            <a:ext cx="2137124" cy="369332"/>
          </a:xfrm>
          <a:prstGeom prst="rect">
            <a:avLst/>
          </a:prstGeom>
        </p:spPr>
        <p:txBody>
          <a:bodyPr wrap="none">
            <a:spAutoFit/>
          </a:bodyPr>
          <a:lstStyle/>
          <a:p>
            <a:pPr marL="285750" indent="-285750" algn="r" rtl="1">
              <a:buFont typeface="Wingdings" panose="05000000000000000000" pitchFamily="2" charset="2"/>
              <a:buChar char="v"/>
            </a:pPr>
            <a:r>
              <a:rPr lang="fa-IR" b="1" dirty="0" smtClean="0">
                <a:latin typeface="IRANSans"/>
                <a:cs typeface="B Nazanin" panose="00000400000000000000" pitchFamily="2" charset="-78"/>
              </a:rPr>
              <a:t>حفظ انگیزه همکاران </a:t>
            </a:r>
          </a:p>
        </p:txBody>
      </p:sp>
      <p:sp>
        <p:nvSpPr>
          <p:cNvPr id="6" name="Rectangle 5"/>
          <p:cNvSpPr/>
          <p:nvPr/>
        </p:nvSpPr>
        <p:spPr>
          <a:xfrm>
            <a:off x="8649765" y="4545034"/>
            <a:ext cx="2675732" cy="369332"/>
          </a:xfrm>
          <a:prstGeom prst="rect">
            <a:avLst/>
          </a:prstGeom>
        </p:spPr>
        <p:txBody>
          <a:bodyPr wrap="none">
            <a:spAutoFit/>
          </a:bodyPr>
          <a:lstStyle/>
          <a:p>
            <a:pPr marL="285750" indent="-285750" algn="r" rtl="1">
              <a:buFont typeface="Wingdings" panose="05000000000000000000" pitchFamily="2" charset="2"/>
              <a:buChar char="v"/>
            </a:pPr>
            <a:r>
              <a:rPr lang="fa-IR" b="1" dirty="0">
                <a:latin typeface="IRANSans"/>
                <a:cs typeface="B Nazanin" panose="00000400000000000000" pitchFamily="2" charset="-78"/>
              </a:rPr>
              <a:t>مدیریت فرایند ترک </a:t>
            </a:r>
            <a:r>
              <a:rPr lang="fa-IR" b="1" dirty="0" smtClean="0">
                <a:latin typeface="IRANSans"/>
                <a:cs typeface="B Nazanin" panose="00000400000000000000" pitchFamily="2" charset="-78"/>
              </a:rPr>
              <a:t>سازمان</a:t>
            </a:r>
            <a:endParaRPr lang="fa-IR" b="1" dirty="0">
              <a:latin typeface="IRANSans"/>
              <a:cs typeface="B Nazanin" panose="00000400000000000000" pitchFamily="2" charset="-78"/>
            </a:endParaRPr>
          </a:p>
        </p:txBody>
      </p:sp>
      <p:sp>
        <p:nvSpPr>
          <p:cNvPr id="9" name="Rectangle 8"/>
          <p:cNvSpPr/>
          <p:nvPr/>
        </p:nvSpPr>
        <p:spPr>
          <a:xfrm>
            <a:off x="509451" y="4141438"/>
            <a:ext cx="7628955" cy="923330"/>
          </a:xfrm>
          <a:prstGeom prst="rect">
            <a:avLst/>
          </a:prstGeom>
        </p:spPr>
        <p:style>
          <a:lnRef idx="2">
            <a:schemeClr val="accent2"/>
          </a:lnRef>
          <a:fillRef idx="1">
            <a:schemeClr val="lt1"/>
          </a:fillRef>
          <a:effectRef idx="0">
            <a:schemeClr val="accent2"/>
          </a:effectRef>
          <a:fontRef idx="minor">
            <a:schemeClr val="dk1"/>
          </a:fontRef>
        </p:style>
        <p:txBody>
          <a:bodyPr wrap="square">
            <a:spAutoFit/>
          </a:bodyPr>
          <a:lstStyle/>
          <a:p>
            <a:pPr algn="justLow" rtl="1"/>
            <a:r>
              <a:rPr lang="fa-IR" dirty="0">
                <a:solidFill>
                  <a:srgbClr val="000000"/>
                </a:solidFill>
                <a:latin typeface="IRANSans"/>
                <a:cs typeface="B Nazanin" panose="00000400000000000000" pitchFamily="2" charset="-78"/>
              </a:rPr>
              <a:t>همکار من که امروز می‌بیند من در حال تسویه مالی و جمع کردن وسایل از روی میزم هستم، احتمالاً همان لحظه خودش را در همان شرایط تصور می‌کند</a:t>
            </a:r>
            <a:r>
              <a:rPr lang="fa-IR" dirty="0" smtClean="0">
                <a:solidFill>
                  <a:srgbClr val="000000"/>
                </a:solidFill>
                <a:latin typeface="IRANSans"/>
                <a:cs typeface="B Nazanin" panose="00000400000000000000" pitchFamily="2" charset="-78"/>
              </a:rPr>
              <a:t>. او </a:t>
            </a:r>
            <a:r>
              <a:rPr lang="fa-IR" dirty="0">
                <a:solidFill>
                  <a:srgbClr val="000000"/>
                </a:solidFill>
                <a:latin typeface="IRANSans"/>
                <a:cs typeface="B Nazanin" panose="00000400000000000000" pitchFamily="2" charset="-78"/>
              </a:rPr>
              <a:t>در آینه‌ی </a:t>
            </a:r>
            <a:r>
              <a:rPr lang="fa-IR" b="1" dirty="0">
                <a:solidFill>
                  <a:srgbClr val="C00000"/>
                </a:solidFill>
                <a:latin typeface="IRANSans"/>
                <a:cs typeface="B Nazanin" panose="00000400000000000000" pitchFamily="2" charset="-78"/>
              </a:rPr>
              <a:t>برخوردی که با من می‌شود</a:t>
            </a:r>
            <a:r>
              <a:rPr lang="fa-IR" dirty="0">
                <a:solidFill>
                  <a:srgbClr val="000000"/>
                </a:solidFill>
                <a:latin typeface="IRANSans"/>
                <a:cs typeface="B Nazanin" panose="00000400000000000000" pitchFamily="2" charset="-78"/>
              </a:rPr>
              <a:t>، </a:t>
            </a:r>
            <a:r>
              <a:rPr lang="fa-IR" b="1" dirty="0">
                <a:solidFill>
                  <a:srgbClr val="000000"/>
                </a:solidFill>
                <a:latin typeface="IRANSans"/>
                <a:cs typeface="B Nazanin" panose="00000400000000000000" pitchFamily="2" charset="-78"/>
              </a:rPr>
              <a:t>آینده خودش </a:t>
            </a:r>
            <a:r>
              <a:rPr lang="fa-IR" dirty="0">
                <a:solidFill>
                  <a:srgbClr val="000000"/>
                </a:solidFill>
                <a:latin typeface="IRANSans"/>
                <a:cs typeface="B Nazanin" panose="00000400000000000000" pitchFamily="2" charset="-78"/>
              </a:rPr>
              <a:t>را می‌بیند و خوشحال یا ناراحت می‌شود.</a:t>
            </a:r>
          </a:p>
        </p:txBody>
      </p:sp>
      <p:sp>
        <p:nvSpPr>
          <p:cNvPr id="10" name="Rectangle 9"/>
          <p:cNvSpPr/>
          <p:nvPr/>
        </p:nvSpPr>
        <p:spPr>
          <a:xfrm>
            <a:off x="509451" y="5156205"/>
            <a:ext cx="10816046" cy="369332"/>
          </a:xfrm>
          <a:prstGeom prst="rect">
            <a:avLst/>
          </a:prstGeom>
          <a:solidFill>
            <a:srgbClr val="FFFFCC"/>
          </a:solidFill>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Wingdings" panose="05000000000000000000" pitchFamily="2" charset="2"/>
              <a:buChar char="ü"/>
            </a:pPr>
            <a:r>
              <a:rPr lang="fa-IR" dirty="0">
                <a:solidFill>
                  <a:srgbClr val="000000"/>
                </a:solidFill>
                <a:latin typeface="IRANSans"/>
                <a:cs typeface="B Nazanin" panose="00000400000000000000" pitchFamily="2" charset="-78"/>
              </a:rPr>
              <a:t> </a:t>
            </a:r>
            <a:r>
              <a:rPr lang="fa-IR" b="1" dirty="0">
                <a:solidFill>
                  <a:srgbClr val="C00000"/>
                </a:solidFill>
                <a:latin typeface="IRANSans"/>
                <a:cs typeface="B Nazanin" panose="00000400000000000000" pitchFamily="2" charset="-78"/>
              </a:rPr>
              <a:t>مبلغان واقعی </a:t>
            </a:r>
            <a:r>
              <a:rPr lang="fa-IR" dirty="0">
                <a:solidFill>
                  <a:srgbClr val="000000"/>
                </a:solidFill>
                <a:latin typeface="IRANSans"/>
                <a:cs typeface="B Nazanin" panose="00000400000000000000" pitchFamily="2" charset="-78"/>
              </a:rPr>
              <a:t>برند یک مجموعه، کسانی نیستند که به تازگی به آن مجموعه ملحق شده‌اند؛ بلکه کسانی هستند که آن مجموعه را ترک کرده‌اند.</a:t>
            </a:r>
            <a:endParaRPr lang="en-US" dirty="0">
              <a:solidFill>
                <a:srgbClr val="000000"/>
              </a:solidFill>
              <a:latin typeface="IRANSans"/>
              <a:cs typeface="B Nazanin" panose="00000400000000000000" pitchFamily="2" charset="-78"/>
            </a:endParaRPr>
          </a:p>
        </p:txBody>
      </p:sp>
      <p:sp>
        <p:nvSpPr>
          <p:cNvPr id="11" name="Rectangle 10"/>
          <p:cNvSpPr/>
          <p:nvPr/>
        </p:nvSpPr>
        <p:spPr>
          <a:xfrm>
            <a:off x="509451" y="5601670"/>
            <a:ext cx="10816046" cy="369332"/>
          </a:xfrm>
          <a:prstGeom prst="rect">
            <a:avLst/>
          </a:prstGeom>
          <a:solidFill>
            <a:srgbClr val="FFFFCC"/>
          </a:solidFill>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Wingdings" panose="05000000000000000000" pitchFamily="2" charset="2"/>
              <a:buChar char="ü"/>
            </a:pPr>
            <a:r>
              <a:rPr lang="fa-IR" dirty="0">
                <a:solidFill>
                  <a:srgbClr val="000000"/>
                </a:solidFill>
                <a:latin typeface="IRANSans"/>
                <a:cs typeface="B Nazanin" panose="00000400000000000000" pitchFamily="2" charset="-78"/>
              </a:rPr>
              <a:t>هم اطلاعات بیشتر و دقیق‌تری دارند و هم احتمالاً برای بحث در مورد گذشته </a:t>
            </a:r>
            <a:r>
              <a:rPr lang="fa-IR" b="1" dirty="0">
                <a:solidFill>
                  <a:srgbClr val="C00000"/>
                </a:solidFill>
                <a:latin typeface="IRANSans"/>
                <a:cs typeface="B Nazanin" panose="00000400000000000000" pitchFamily="2" charset="-78"/>
              </a:rPr>
              <a:t>انگیزه</a:t>
            </a:r>
            <a:r>
              <a:rPr lang="fa-IR" b="1" dirty="0">
                <a:solidFill>
                  <a:srgbClr val="000000"/>
                </a:solidFill>
                <a:latin typeface="IRANSans"/>
                <a:cs typeface="B Nazanin" panose="00000400000000000000" pitchFamily="2" charset="-78"/>
              </a:rPr>
              <a:t>‌ی</a:t>
            </a:r>
            <a:r>
              <a:rPr lang="fa-IR" dirty="0">
                <a:solidFill>
                  <a:srgbClr val="000000"/>
                </a:solidFill>
                <a:latin typeface="IRANSans"/>
                <a:cs typeface="B Nazanin" panose="00000400000000000000" pitchFamily="2" charset="-78"/>
              </a:rPr>
              <a:t> بیشتری خواهند داشت.</a:t>
            </a:r>
            <a:endParaRPr lang="en-US" dirty="0">
              <a:solidFill>
                <a:srgbClr val="000000"/>
              </a:solidFill>
              <a:latin typeface="IRANSans"/>
              <a:cs typeface="B Nazanin" panose="00000400000000000000" pitchFamily="2" charset="-78"/>
            </a:endParaRPr>
          </a:p>
        </p:txBody>
      </p:sp>
      <p:sp>
        <p:nvSpPr>
          <p:cNvPr id="12" name="Rectangle 11"/>
          <p:cNvSpPr/>
          <p:nvPr/>
        </p:nvSpPr>
        <p:spPr>
          <a:xfrm>
            <a:off x="509451" y="6047135"/>
            <a:ext cx="10816046" cy="369332"/>
          </a:xfrm>
          <a:prstGeom prst="rect">
            <a:avLst/>
          </a:prstGeom>
          <a:solidFill>
            <a:srgbClr val="FFFFCC"/>
          </a:solidFill>
        </p:spPr>
        <p:style>
          <a:lnRef idx="2">
            <a:schemeClr val="accent2"/>
          </a:lnRef>
          <a:fillRef idx="1">
            <a:schemeClr val="lt1"/>
          </a:fillRef>
          <a:effectRef idx="0">
            <a:schemeClr val="accent2"/>
          </a:effectRef>
          <a:fontRef idx="minor">
            <a:schemeClr val="dk1"/>
          </a:fontRef>
        </p:style>
        <p:txBody>
          <a:bodyPr wrap="square">
            <a:spAutoFit/>
          </a:bodyPr>
          <a:lstStyle/>
          <a:p>
            <a:pPr marL="285750" indent="-285750" algn="justLow" rtl="1">
              <a:buFont typeface="Wingdings" panose="05000000000000000000" pitchFamily="2" charset="2"/>
              <a:buChar char="ü"/>
            </a:pPr>
            <a:r>
              <a:rPr lang="fa-IR" dirty="0" smtClean="0">
                <a:solidFill>
                  <a:srgbClr val="000000"/>
                </a:solidFill>
                <a:latin typeface="IRANSans"/>
                <a:cs typeface="B Nazanin" panose="00000400000000000000" pitchFamily="2" charset="-78"/>
              </a:rPr>
              <a:t>مصاحبه خروج ، راضی نگه داشتن کارمند قبلی ، طراحی فرآیند تسویه حساب و ... از موارد </a:t>
            </a:r>
            <a:r>
              <a:rPr lang="fa-IR" b="1" dirty="0" smtClean="0">
                <a:solidFill>
                  <a:srgbClr val="002060"/>
                </a:solidFill>
                <a:latin typeface="IRANSans"/>
                <a:cs typeface="B Nazanin" panose="00000400000000000000" pitchFamily="2" charset="-78"/>
              </a:rPr>
              <a:t>مدیریت فرآیند ترک سازمان </a:t>
            </a:r>
            <a:r>
              <a:rPr lang="fa-IR" dirty="0" smtClean="0">
                <a:solidFill>
                  <a:srgbClr val="000000"/>
                </a:solidFill>
                <a:latin typeface="IRANSans"/>
                <a:cs typeface="B Nazanin" panose="00000400000000000000" pitchFamily="2" charset="-78"/>
              </a:rPr>
              <a:t>محسوب می شود . </a:t>
            </a:r>
            <a:endParaRPr lang="en-US" dirty="0">
              <a:solidFill>
                <a:srgbClr val="000000"/>
              </a:solidFill>
              <a:latin typeface="IRANSans"/>
              <a:cs typeface="B Nazanin" panose="00000400000000000000" pitchFamily="2" charset="-78"/>
            </a:endParaRPr>
          </a:p>
        </p:txBody>
      </p:sp>
    </p:spTree>
    <p:extLst>
      <p:ext uri="{BB962C8B-B14F-4D97-AF65-F5344CB8AC3E}">
        <p14:creationId xmlns:p14="http://schemas.microsoft.com/office/powerpoint/2010/main" val="2639954980"/>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smtClean="0">
                <a:cs typeface="B Nazanin" panose="00000400000000000000" pitchFamily="2" charset="-78"/>
              </a:rPr>
              <a:t>شغل و طراحی شغل </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
        <p:nvSpPr>
          <p:cNvPr id="3" name="Rectangle 2"/>
          <p:cNvSpPr/>
          <p:nvPr/>
        </p:nvSpPr>
        <p:spPr>
          <a:xfrm>
            <a:off x="764178" y="1359961"/>
            <a:ext cx="10502537" cy="954107"/>
          </a:xfrm>
          <a:prstGeom prst="rect">
            <a:avLst/>
          </a:prstGeom>
        </p:spPr>
        <p:txBody>
          <a:bodyPr wrap="square">
            <a:spAutoFit/>
          </a:bodyPr>
          <a:lstStyle/>
          <a:p>
            <a:pPr algn="just" rtl="1"/>
            <a:r>
              <a:rPr lang="fa-IR" dirty="0">
                <a:solidFill>
                  <a:srgbClr val="000000"/>
                </a:solidFill>
                <a:latin typeface="IRANSans"/>
                <a:cs typeface="B Nazanin" panose="00000400000000000000" pitchFamily="2" charset="-78"/>
              </a:rPr>
              <a:t> </a:t>
            </a:r>
            <a:r>
              <a:rPr lang="fa-IR" b="1" dirty="0">
                <a:solidFill>
                  <a:srgbClr val="C00000"/>
                </a:solidFill>
                <a:latin typeface="IRANSans"/>
                <a:cs typeface="B Nazanin" panose="00000400000000000000" pitchFamily="2" charset="-78"/>
              </a:rPr>
              <a:t>پست</a:t>
            </a:r>
            <a:r>
              <a:rPr lang="fa-IR" b="1" dirty="0">
                <a:solidFill>
                  <a:srgbClr val="000000"/>
                </a:solidFill>
                <a:latin typeface="IRANSans"/>
                <a:cs typeface="B Nazanin" panose="00000400000000000000" pitchFamily="2" charset="-78"/>
              </a:rPr>
              <a:t> از یک جایگاه حرف می‌زند و </a:t>
            </a:r>
            <a:r>
              <a:rPr lang="fa-IR" b="1" dirty="0">
                <a:solidFill>
                  <a:srgbClr val="C00000"/>
                </a:solidFill>
                <a:latin typeface="IRANSans"/>
                <a:cs typeface="B Nazanin" panose="00000400000000000000" pitchFamily="2" charset="-78"/>
              </a:rPr>
              <a:t>شغل</a:t>
            </a:r>
            <a:r>
              <a:rPr lang="fa-IR" b="1" dirty="0">
                <a:solidFill>
                  <a:srgbClr val="000000"/>
                </a:solidFill>
                <a:latin typeface="IRANSans"/>
                <a:cs typeface="B Nazanin" panose="00000400000000000000" pitchFamily="2" charset="-78"/>
              </a:rPr>
              <a:t> از یک فعالیت معنادار و مفید</a:t>
            </a:r>
            <a:r>
              <a:rPr lang="fa-IR" dirty="0">
                <a:solidFill>
                  <a:srgbClr val="000000"/>
                </a:solidFill>
                <a:latin typeface="IRANSans"/>
                <a:cs typeface="B Nazanin" panose="00000400000000000000" pitchFamily="2" charset="-78"/>
              </a:rPr>
              <a:t> </a:t>
            </a:r>
            <a:r>
              <a:rPr lang="fa-IR" b="1" dirty="0">
                <a:solidFill>
                  <a:srgbClr val="000000"/>
                </a:solidFill>
                <a:latin typeface="IRANSans"/>
                <a:cs typeface="B Nazanin" panose="00000400000000000000" pitchFamily="2" charset="-78"/>
              </a:rPr>
              <a:t>اقتصادی</a:t>
            </a:r>
            <a:r>
              <a:rPr lang="fa-IR" dirty="0">
                <a:solidFill>
                  <a:srgbClr val="000000"/>
                </a:solidFill>
                <a:latin typeface="IRANSans"/>
                <a:cs typeface="B Nazanin" panose="00000400000000000000" pitchFamily="2" charset="-78"/>
              </a:rPr>
              <a:t> و این دو الزاماً یکی نیستند</a:t>
            </a:r>
            <a:r>
              <a:rPr lang="fa-IR" b="1" dirty="0">
                <a:solidFill>
                  <a:srgbClr val="000000"/>
                </a:solidFill>
                <a:latin typeface="IRANSans"/>
                <a:cs typeface="B Nazanin" panose="00000400000000000000" pitchFamily="2" charset="-78"/>
              </a:rPr>
              <a:t>.</a:t>
            </a:r>
            <a:r>
              <a:rPr lang="fa-IR" dirty="0">
                <a:solidFill>
                  <a:srgbClr val="000000"/>
                </a:solidFill>
                <a:latin typeface="IRANSans"/>
                <a:cs typeface="B Nazanin" panose="00000400000000000000" pitchFamily="2" charset="-78"/>
              </a:rPr>
              <a:t> مثلاً ممکن است برای به‌کارگیری یک فرد که با مدیر ارشد یک سازمان نزدیک است، جایگاهی در چارت در نظر گرفته شود (پست). اما او هیچ کار ویژه یا مفیدی نداشته باشد و صرفاً به فهرست حقوق‌بگیران آن مجموعه اضافه شود.</a:t>
            </a:r>
            <a:r>
              <a:rPr lang="en-US" dirty="0">
                <a:solidFill>
                  <a:srgbClr val="000000"/>
                </a:solidFill>
                <a:latin typeface="IRANSans"/>
                <a:cs typeface="B Nazanin" panose="00000400000000000000" pitchFamily="2" charset="-78"/>
              </a:rPr>
              <a:t> </a:t>
            </a:r>
            <a:r>
              <a:rPr lang="fa-IR" dirty="0">
                <a:solidFill>
                  <a:srgbClr val="000000"/>
                </a:solidFill>
                <a:latin typeface="IRANSans"/>
                <a:cs typeface="B Nazanin" panose="00000400000000000000" pitchFamily="2" charset="-78"/>
              </a:rPr>
              <a:t>در نتیجه </a:t>
            </a:r>
            <a:r>
              <a:rPr lang="fa-IR" b="1" dirty="0">
                <a:solidFill>
                  <a:schemeClr val="accent6">
                    <a:lumMod val="50000"/>
                  </a:schemeClr>
                </a:solidFill>
                <a:latin typeface="IRANSans"/>
                <a:cs typeface="B Nazanin" panose="00000400000000000000" pitchFamily="2" charset="-78"/>
              </a:rPr>
              <a:t>شغل</a:t>
            </a:r>
            <a:r>
              <a:rPr lang="fa-IR" dirty="0">
                <a:solidFill>
                  <a:srgbClr val="000000"/>
                </a:solidFill>
                <a:latin typeface="IRANSans"/>
                <a:cs typeface="B Nazanin" panose="00000400000000000000" pitchFamily="2" charset="-78"/>
              </a:rPr>
              <a:t> مجموعه‌ای از </a:t>
            </a:r>
            <a:r>
              <a:rPr lang="fa-IR" b="1" u="sng" dirty="0">
                <a:solidFill>
                  <a:schemeClr val="accent6">
                    <a:lumMod val="50000"/>
                  </a:schemeClr>
                </a:solidFill>
                <a:latin typeface="IRANSans"/>
                <a:cs typeface="B Nazanin" panose="00000400000000000000" pitchFamily="2" charset="-78"/>
              </a:rPr>
              <a:t>وظایف</a:t>
            </a:r>
            <a:r>
              <a:rPr lang="fa-IR" b="1" u="sng" dirty="0">
                <a:latin typeface="IRANSans"/>
                <a:cs typeface="B Nazanin" panose="00000400000000000000" pitchFamily="2" charset="-78"/>
              </a:rPr>
              <a:t>،</a:t>
            </a:r>
            <a:r>
              <a:rPr lang="fa-IR" b="1" u="sng" dirty="0">
                <a:solidFill>
                  <a:srgbClr val="C00000"/>
                </a:solidFill>
                <a:latin typeface="IRANSans"/>
                <a:cs typeface="B Nazanin" panose="00000400000000000000" pitchFamily="2" charset="-78"/>
              </a:rPr>
              <a:t> </a:t>
            </a:r>
            <a:r>
              <a:rPr lang="fa-IR" b="1" u="sng" dirty="0">
                <a:solidFill>
                  <a:schemeClr val="accent6">
                    <a:lumMod val="50000"/>
                  </a:schemeClr>
                </a:solidFill>
                <a:latin typeface="IRANSans"/>
                <a:cs typeface="B Nazanin" panose="00000400000000000000" pitchFamily="2" charset="-78"/>
              </a:rPr>
              <a:t>فعالیت‌ها</a:t>
            </a:r>
            <a:r>
              <a:rPr lang="fa-IR" b="1" u="sng" dirty="0">
                <a:solidFill>
                  <a:srgbClr val="C00000"/>
                </a:solidFill>
                <a:latin typeface="IRANSans"/>
                <a:cs typeface="B Nazanin" panose="00000400000000000000" pitchFamily="2" charset="-78"/>
              </a:rPr>
              <a:t> </a:t>
            </a:r>
            <a:r>
              <a:rPr lang="fa-IR" b="1" u="sng" dirty="0">
                <a:latin typeface="IRANSans"/>
                <a:cs typeface="B Nazanin" panose="00000400000000000000" pitchFamily="2" charset="-78"/>
              </a:rPr>
              <a:t>و</a:t>
            </a:r>
            <a:r>
              <a:rPr lang="fa-IR" b="1" u="sng" dirty="0">
                <a:solidFill>
                  <a:srgbClr val="C00000"/>
                </a:solidFill>
                <a:latin typeface="IRANSans"/>
                <a:cs typeface="B Nazanin" panose="00000400000000000000" pitchFamily="2" charset="-78"/>
              </a:rPr>
              <a:t> </a:t>
            </a:r>
            <a:r>
              <a:rPr lang="fa-IR" b="1" u="sng" dirty="0">
                <a:solidFill>
                  <a:schemeClr val="accent6">
                    <a:lumMod val="50000"/>
                  </a:schemeClr>
                </a:solidFill>
                <a:latin typeface="IRANSans"/>
                <a:cs typeface="B Nazanin" panose="00000400000000000000" pitchFamily="2" charset="-78"/>
              </a:rPr>
              <a:t>مسئولیت‌ها</a:t>
            </a:r>
            <a:r>
              <a:rPr lang="fa-IR" dirty="0">
                <a:solidFill>
                  <a:srgbClr val="000000"/>
                </a:solidFill>
                <a:latin typeface="IRANSans"/>
                <a:cs typeface="B Nazanin" panose="00000400000000000000" pitchFamily="2" charset="-78"/>
              </a:rPr>
              <a:t> </a:t>
            </a:r>
            <a:r>
              <a:rPr lang="fa-IR" dirty="0" smtClean="0">
                <a:solidFill>
                  <a:srgbClr val="000000"/>
                </a:solidFill>
                <a:latin typeface="IRANSans"/>
                <a:cs typeface="B Nazanin" panose="00000400000000000000" pitchFamily="2" charset="-78"/>
              </a:rPr>
              <a:t>است . </a:t>
            </a:r>
            <a:endParaRPr lang="fa-IR" dirty="0">
              <a:solidFill>
                <a:srgbClr val="000000"/>
              </a:solidFill>
              <a:latin typeface="IRANSans"/>
              <a:cs typeface="B Nazanin" panose="00000400000000000000" pitchFamily="2" charset="-78"/>
            </a:endParaRPr>
          </a:p>
        </p:txBody>
      </p:sp>
      <p:sp>
        <p:nvSpPr>
          <p:cNvPr id="4" name="Rectangle 3"/>
          <p:cNvSpPr/>
          <p:nvPr/>
        </p:nvSpPr>
        <p:spPr>
          <a:xfrm>
            <a:off x="764178" y="2881823"/>
            <a:ext cx="10502537" cy="1200329"/>
          </a:xfrm>
          <a:prstGeom prst="rect">
            <a:avLst/>
          </a:prstGeom>
          <a:solidFill>
            <a:schemeClr val="accent5">
              <a:lumMod val="20000"/>
              <a:lumOff val="80000"/>
            </a:schemeClr>
          </a:solidFill>
        </p:spPr>
        <p:txBody>
          <a:bodyPr wrap="square">
            <a:spAutoFit/>
          </a:bodyPr>
          <a:lstStyle/>
          <a:p>
            <a:pPr algn="just" rtl="1"/>
            <a:r>
              <a:rPr lang="fa-IR" dirty="0">
                <a:solidFill>
                  <a:srgbClr val="000000"/>
                </a:solidFill>
                <a:latin typeface="IRANSans"/>
                <a:cs typeface="B Nazanin" panose="00000400000000000000" pitchFamily="2" charset="-78"/>
              </a:rPr>
              <a:t>مدت‌ها هدف از </a:t>
            </a:r>
            <a:r>
              <a:rPr lang="fa-IR" b="1" dirty="0">
                <a:solidFill>
                  <a:srgbClr val="FF0000"/>
                </a:solidFill>
                <a:latin typeface="IRANSans"/>
                <a:cs typeface="B Nazanin" panose="00000400000000000000" pitchFamily="2" charset="-78"/>
              </a:rPr>
              <a:t>طراحی شغل</a:t>
            </a:r>
            <a:r>
              <a:rPr lang="fa-IR" dirty="0">
                <a:solidFill>
                  <a:srgbClr val="000000"/>
                </a:solidFill>
                <a:latin typeface="IRANSans"/>
                <a:cs typeface="B Nazanin" panose="00000400000000000000" pitchFamily="2" charset="-78"/>
              </a:rPr>
              <a:t> این بود که کارها، </a:t>
            </a:r>
            <a:r>
              <a:rPr lang="fa-IR" b="1" dirty="0">
                <a:solidFill>
                  <a:srgbClr val="000000"/>
                </a:solidFill>
                <a:latin typeface="IRANSans"/>
                <a:cs typeface="B Nazanin" panose="00000400000000000000" pitchFamily="2" charset="-78"/>
              </a:rPr>
              <a:t>بیشتر و سریع‌تر و ارزان‌تر</a:t>
            </a:r>
            <a:r>
              <a:rPr lang="fa-IR" dirty="0">
                <a:solidFill>
                  <a:srgbClr val="000000"/>
                </a:solidFill>
                <a:latin typeface="IRANSans"/>
                <a:cs typeface="B Nazanin" panose="00000400000000000000" pitchFamily="2" charset="-78"/>
              </a:rPr>
              <a:t> انجام شوند؛ اما طی دهه‌های اخیر، طراحی شغل </a:t>
            </a:r>
            <a:r>
              <a:rPr lang="fa-IR" b="1" dirty="0">
                <a:solidFill>
                  <a:schemeClr val="accent6">
                    <a:lumMod val="75000"/>
                  </a:schemeClr>
                </a:solidFill>
                <a:latin typeface="IRANSans"/>
                <a:cs typeface="B Nazanin" panose="00000400000000000000" pitchFamily="2" charset="-78"/>
              </a:rPr>
              <a:t>جهت‌گیری</a:t>
            </a:r>
            <a:r>
              <a:rPr lang="fa-IR" dirty="0">
                <a:solidFill>
                  <a:srgbClr val="000000"/>
                </a:solidFill>
                <a:latin typeface="IRANSans"/>
                <a:cs typeface="B Nazanin" panose="00000400000000000000" pitchFamily="2" charset="-78"/>
              </a:rPr>
              <a:t> خود را از</a:t>
            </a:r>
            <a:r>
              <a:rPr lang="fa-IR" b="1" dirty="0">
                <a:solidFill>
                  <a:schemeClr val="accent6">
                    <a:lumMod val="75000"/>
                  </a:schemeClr>
                </a:solidFill>
                <a:latin typeface="IRANSans"/>
                <a:cs typeface="B Nazanin" panose="00000400000000000000" pitchFamily="2" charset="-78"/>
              </a:rPr>
              <a:t> کار به کارمند</a:t>
            </a:r>
            <a:r>
              <a:rPr lang="fa-IR" dirty="0">
                <a:solidFill>
                  <a:srgbClr val="000000"/>
                </a:solidFill>
                <a:latin typeface="IRANSans"/>
                <a:cs typeface="B Nazanin" panose="00000400000000000000" pitchFamily="2" charset="-78"/>
              </a:rPr>
              <a:t> و از </a:t>
            </a:r>
            <a:r>
              <a:rPr lang="fa-IR" b="1" dirty="0">
                <a:solidFill>
                  <a:schemeClr val="accent6">
                    <a:lumMod val="75000"/>
                  </a:schemeClr>
                </a:solidFill>
                <a:latin typeface="IRANSans"/>
                <a:cs typeface="B Nazanin" panose="00000400000000000000" pitchFamily="2" charset="-78"/>
              </a:rPr>
              <a:t>شغل به شاغل</a:t>
            </a:r>
            <a:r>
              <a:rPr lang="fa-IR" dirty="0">
                <a:solidFill>
                  <a:srgbClr val="000000"/>
                </a:solidFill>
                <a:latin typeface="IRANSans"/>
                <a:cs typeface="B Nazanin" panose="00000400000000000000" pitchFamily="2" charset="-78"/>
              </a:rPr>
              <a:t> تغییر داد: چه کنیم که شغل برای شاغل مطلوب‌تر باشد؟</a:t>
            </a:r>
          </a:p>
          <a:p>
            <a:pPr algn="just" rtl="1"/>
            <a:r>
              <a:rPr lang="fa-IR" dirty="0">
                <a:solidFill>
                  <a:srgbClr val="000000"/>
                </a:solidFill>
                <a:latin typeface="IRANSans"/>
                <a:cs typeface="B Nazanin" panose="00000400000000000000" pitchFamily="2" charset="-78"/>
              </a:rPr>
              <a:t>بخشی از این تغییر جهت، به خاطر رشد نگاه انسانی در حوزه‌ی مدیریت بود. البته ایده‌ی دیگری هم در کار بوده است:  </a:t>
            </a:r>
            <a:r>
              <a:rPr lang="fa-IR" b="1" dirty="0">
                <a:solidFill>
                  <a:srgbClr val="7030A0"/>
                </a:solidFill>
                <a:latin typeface="IRANSans"/>
                <a:cs typeface="B Nazanin" panose="00000400000000000000" pitchFamily="2" charset="-78"/>
              </a:rPr>
              <a:t>به نظر می‌رسد که رضایت شغلی، در بلندمدت می‌تواند سودآوری کسب و کارها را افزایش دهد</a:t>
            </a:r>
            <a:r>
              <a:rPr lang="fa-IR" dirty="0">
                <a:solidFill>
                  <a:srgbClr val="000000"/>
                </a:solidFill>
                <a:latin typeface="IRANSans"/>
                <a:cs typeface="B Nazanin" panose="00000400000000000000" pitchFamily="2" charset="-78"/>
              </a:rPr>
              <a:t>. </a:t>
            </a:r>
          </a:p>
        </p:txBody>
      </p:sp>
      <p:sp>
        <p:nvSpPr>
          <p:cNvPr id="5" name="Rectangle 4"/>
          <p:cNvSpPr/>
          <p:nvPr/>
        </p:nvSpPr>
        <p:spPr>
          <a:xfrm>
            <a:off x="9774746" y="2310838"/>
            <a:ext cx="1269899" cy="369332"/>
          </a:xfrm>
          <a:prstGeom prst="rect">
            <a:avLst/>
          </a:prstGeom>
        </p:spPr>
        <p:txBody>
          <a:bodyPr wrap="none">
            <a:spAutoFit/>
          </a:bodyPr>
          <a:lstStyle/>
          <a:p>
            <a:r>
              <a:rPr lang="en-US" b="1" dirty="0"/>
              <a:t>Job Design</a:t>
            </a:r>
            <a:endParaRPr lang="en-US" dirty="0"/>
          </a:p>
        </p:txBody>
      </p:sp>
      <p:sp>
        <p:nvSpPr>
          <p:cNvPr id="6" name="Arc 5"/>
          <p:cNvSpPr/>
          <p:nvPr/>
        </p:nvSpPr>
        <p:spPr>
          <a:xfrm rot="14857545">
            <a:off x="9326881" y="2444683"/>
            <a:ext cx="613954" cy="636300"/>
          </a:xfrm>
          <a:prstGeom prst="arc">
            <a:avLst>
              <a:gd name="adj1" fmla="val 16200000"/>
              <a:gd name="adj2" fmla="val 2335820"/>
            </a:avLst>
          </a:prstGeom>
          <a:ln w="38100">
            <a:headEnd type="none" w="med" len="med"/>
            <a:tailEnd type="triangl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7" name="Arc 6"/>
          <p:cNvSpPr/>
          <p:nvPr/>
        </p:nvSpPr>
        <p:spPr>
          <a:xfrm>
            <a:off x="6015446" y="2529279"/>
            <a:ext cx="653143" cy="636300"/>
          </a:xfrm>
          <a:prstGeom prst="arc">
            <a:avLst>
              <a:gd name="adj1" fmla="val 16200000"/>
              <a:gd name="adj2" fmla="val 445878"/>
            </a:avLst>
          </a:prstGeom>
          <a:ln w="38100">
            <a:solidFill>
              <a:srgbClr val="C00000"/>
            </a:solidFill>
            <a:headEnd type="triangle" w="med" len="med"/>
            <a:tailEnd type="none" w="med" len="med"/>
          </a:ln>
        </p:spPr>
        <p:style>
          <a:lnRef idx="1">
            <a:schemeClr val="accent1"/>
          </a:lnRef>
          <a:fillRef idx="0">
            <a:schemeClr val="accent1"/>
          </a:fillRef>
          <a:effectRef idx="0">
            <a:schemeClr val="accent1"/>
          </a:effectRef>
          <a:fontRef idx="minor">
            <a:schemeClr val="tx1"/>
          </a:fontRef>
        </p:style>
        <p:txBody>
          <a:bodyPr rtlCol="0" anchor="ctr"/>
          <a:lstStyle/>
          <a:p>
            <a:pPr algn="ctr"/>
            <a:endParaRPr lang="en-US"/>
          </a:p>
        </p:txBody>
      </p:sp>
      <p:sp>
        <p:nvSpPr>
          <p:cNvPr id="10" name="Rectangle 9"/>
          <p:cNvSpPr/>
          <p:nvPr/>
        </p:nvSpPr>
        <p:spPr>
          <a:xfrm>
            <a:off x="5433769" y="2310838"/>
            <a:ext cx="941283" cy="369332"/>
          </a:xfrm>
          <a:prstGeom prst="rect">
            <a:avLst/>
          </a:prstGeom>
        </p:spPr>
        <p:txBody>
          <a:bodyPr wrap="none">
            <a:spAutoFit/>
          </a:bodyPr>
          <a:lstStyle/>
          <a:p>
            <a:r>
              <a:rPr lang="fa-IR" b="1" dirty="0" smtClean="0">
                <a:solidFill>
                  <a:srgbClr val="C00000"/>
                </a:solidFill>
                <a:cs typeface="B Nazanin" panose="00000400000000000000" pitchFamily="2" charset="-78"/>
              </a:rPr>
              <a:t>تیلوریسم</a:t>
            </a:r>
            <a:endParaRPr lang="en-US" dirty="0">
              <a:solidFill>
                <a:srgbClr val="C00000"/>
              </a:solidFill>
              <a:cs typeface="B Nazanin" panose="00000400000000000000" pitchFamily="2" charset="-78"/>
            </a:endParaRPr>
          </a:p>
        </p:txBody>
      </p:sp>
      <p:sp>
        <p:nvSpPr>
          <p:cNvPr id="11" name="Rectangle 10"/>
          <p:cNvSpPr/>
          <p:nvPr/>
        </p:nvSpPr>
        <p:spPr>
          <a:xfrm>
            <a:off x="764178" y="4155486"/>
            <a:ext cx="10531927" cy="369332"/>
          </a:xfrm>
          <a:prstGeom prst="rect">
            <a:avLst/>
          </a:prstGeom>
        </p:spPr>
        <p:txBody>
          <a:bodyPr wrap="square">
            <a:spAutoFit/>
          </a:bodyPr>
          <a:lstStyle/>
          <a:p>
            <a:pPr algn="just" rtl="1"/>
            <a:r>
              <a:rPr lang="fa-IR" b="1" dirty="0">
                <a:solidFill>
                  <a:schemeClr val="accent6">
                    <a:lumMod val="50000"/>
                  </a:schemeClr>
                </a:solidFill>
                <a:latin typeface="IRANSans"/>
                <a:cs typeface="B Nazanin" panose="00000400000000000000" pitchFamily="2" charset="-78"/>
              </a:rPr>
              <a:t>طراحی شغل در پی یافتن ترکیبی </a:t>
            </a:r>
            <a:r>
              <a:rPr lang="fa-IR" b="1" dirty="0">
                <a:solidFill>
                  <a:srgbClr val="C00000"/>
                </a:solidFill>
                <a:latin typeface="IRANSans"/>
                <a:cs typeface="B Nazanin" panose="00000400000000000000" pitchFamily="2" charset="-78"/>
              </a:rPr>
              <a:t>مناسب</a:t>
            </a:r>
            <a:r>
              <a:rPr lang="fa-IR" b="1" dirty="0">
                <a:solidFill>
                  <a:schemeClr val="accent6">
                    <a:lumMod val="50000"/>
                  </a:schemeClr>
                </a:solidFill>
                <a:latin typeface="IRANSans"/>
                <a:cs typeface="B Nazanin" panose="00000400000000000000" pitchFamily="2" charset="-78"/>
              </a:rPr>
              <a:t> از </a:t>
            </a:r>
            <a:r>
              <a:rPr lang="fa-IR" b="1" u="sng" dirty="0">
                <a:solidFill>
                  <a:schemeClr val="accent6">
                    <a:lumMod val="50000"/>
                  </a:schemeClr>
                </a:solidFill>
                <a:latin typeface="IRANSans"/>
                <a:cs typeface="B Nazanin" panose="00000400000000000000" pitchFamily="2" charset="-78"/>
              </a:rPr>
              <a:t>وظایف و فعالیت‌ها و مسئولیت‌ها </a:t>
            </a:r>
            <a:r>
              <a:rPr lang="fa-IR" b="1" dirty="0">
                <a:solidFill>
                  <a:schemeClr val="accent6">
                    <a:lumMod val="50000"/>
                  </a:schemeClr>
                </a:solidFill>
                <a:latin typeface="IRANSans"/>
                <a:cs typeface="B Nazanin" panose="00000400000000000000" pitchFamily="2" charset="-78"/>
              </a:rPr>
              <a:t>برای هر موقعیت شغلی </a:t>
            </a:r>
            <a:r>
              <a:rPr lang="fa-IR" b="1" dirty="0" smtClean="0">
                <a:solidFill>
                  <a:schemeClr val="accent6">
                    <a:lumMod val="50000"/>
                  </a:schemeClr>
                </a:solidFill>
                <a:latin typeface="IRANSans"/>
                <a:cs typeface="B Nazanin" panose="00000400000000000000" pitchFamily="2" charset="-78"/>
              </a:rPr>
              <a:t>است .</a:t>
            </a:r>
            <a:endParaRPr lang="en-US" b="1" dirty="0">
              <a:solidFill>
                <a:schemeClr val="accent6">
                  <a:lumMod val="50000"/>
                </a:schemeClr>
              </a:solidFill>
              <a:latin typeface="IRANSans"/>
              <a:cs typeface="B Nazanin" panose="00000400000000000000" pitchFamily="2" charset="-78"/>
            </a:endParaRPr>
          </a:p>
        </p:txBody>
      </p:sp>
      <p:sp>
        <p:nvSpPr>
          <p:cNvPr id="12" name="Rectangle 11"/>
          <p:cNvSpPr/>
          <p:nvPr/>
        </p:nvSpPr>
        <p:spPr>
          <a:xfrm>
            <a:off x="784377" y="4146724"/>
            <a:ext cx="1965602" cy="1077218"/>
          </a:xfrm>
          <a:prstGeom prst="rect">
            <a:avLst/>
          </a:prstGeom>
        </p:spPr>
        <p:txBody>
          <a:bodyPr wrap="none">
            <a:spAutoFit/>
          </a:bodyPr>
          <a:lstStyle/>
          <a:p>
            <a:pPr marL="342900" indent="-342900" algn="r" rtl="1">
              <a:buFont typeface="Wingdings" panose="05000000000000000000" pitchFamily="2" charset="2"/>
              <a:buChar char="ü"/>
            </a:pPr>
            <a:r>
              <a:rPr lang="fa-IR" sz="1600" b="1" dirty="0">
                <a:latin typeface="IRANSans"/>
                <a:cs typeface="B Nazanin" panose="00000400000000000000" pitchFamily="2" charset="-78"/>
              </a:rPr>
              <a:t>انگیزش</a:t>
            </a:r>
            <a:r>
              <a:rPr lang="en-US" sz="1600" b="1" dirty="0">
                <a:latin typeface="IRANSans"/>
                <a:cs typeface="B Nazanin" panose="00000400000000000000" pitchFamily="2" charset="-78"/>
              </a:rPr>
              <a:t> </a:t>
            </a:r>
            <a:endParaRPr lang="en-US" sz="1600" b="1" dirty="0" smtClean="0">
              <a:latin typeface="IRANSans"/>
              <a:cs typeface="B Nazanin" panose="00000400000000000000" pitchFamily="2" charset="-78"/>
            </a:endParaRPr>
          </a:p>
          <a:p>
            <a:pPr marL="342900" indent="-342900" algn="r" rtl="1">
              <a:buFont typeface="Wingdings" panose="05000000000000000000" pitchFamily="2" charset="2"/>
              <a:buChar char="ü"/>
            </a:pPr>
            <a:r>
              <a:rPr lang="fa-IR" sz="1600" b="1" dirty="0" smtClean="0">
                <a:latin typeface="IRANSans"/>
                <a:cs typeface="B Nazanin" panose="00000400000000000000" pitchFamily="2" charset="-78"/>
              </a:rPr>
              <a:t>رضایت شغلی</a:t>
            </a:r>
            <a:endParaRPr lang="en-US" sz="1600" b="1" dirty="0" smtClean="0">
              <a:latin typeface="IRANSans"/>
              <a:cs typeface="B Nazanin" panose="00000400000000000000" pitchFamily="2" charset="-78"/>
            </a:endParaRPr>
          </a:p>
          <a:p>
            <a:pPr marL="342900" indent="-342900" algn="r" rtl="1">
              <a:buFont typeface="Wingdings" panose="05000000000000000000" pitchFamily="2" charset="2"/>
              <a:buChar char="ü"/>
            </a:pPr>
            <a:r>
              <a:rPr lang="en-US" sz="1600" b="1" dirty="0" smtClean="0">
                <a:latin typeface="IRANSans"/>
                <a:cs typeface="B Nazanin" panose="00000400000000000000" pitchFamily="2" charset="-78"/>
              </a:rPr>
              <a:t> </a:t>
            </a:r>
            <a:r>
              <a:rPr lang="fa-IR" sz="1600" b="1" dirty="0" smtClean="0">
                <a:latin typeface="IRANSans"/>
                <a:cs typeface="B Nazanin" panose="00000400000000000000" pitchFamily="2" charset="-78"/>
              </a:rPr>
              <a:t>عملکرد</a:t>
            </a:r>
            <a:endParaRPr lang="en-US" sz="1600" b="1" dirty="0" smtClean="0">
              <a:latin typeface="IRANSans"/>
              <a:cs typeface="B Nazanin" panose="00000400000000000000" pitchFamily="2" charset="-78"/>
            </a:endParaRPr>
          </a:p>
          <a:p>
            <a:pPr marL="342900" indent="-342900" algn="r" rtl="1">
              <a:buFont typeface="Wingdings" panose="05000000000000000000" pitchFamily="2" charset="2"/>
              <a:buChar char="ü"/>
            </a:pPr>
            <a:r>
              <a:rPr lang="en-US" sz="1600" b="1" dirty="0" smtClean="0">
                <a:latin typeface="IRANSans"/>
                <a:cs typeface="B Nazanin" panose="00000400000000000000" pitchFamily="2" charset="-78"/>
              </a:rPr>
              <a:t> </a:t>
            </a:r>
            <a:r>
              <a:rPr lang="fa-IR" sz="1600" b="1" dirty="0">
                <a:latin typeface="IRANSans"/>
                <a:cs typeface="B Nazanin" panose="00000400000000000000" pitchFamily="2" charset="-78"/>
              </a:rPr>
              <a:t>فاصله گرفتن از </a:t>
            </a:r>
            <a:r>
              <a:rPr lang="fa-IR" sz="1600" b="1" dirty="0" smtClean="0">
                <a:latin typeface="IRANSans"/>
                <a:cs typeface="B Nazanin" panose="00000400000000000000" pitchFamily="2" charset="-78"/>
              </a:rPr>
              <a:t>کار</a:t>
            </a:r>
            <a:r>
              <a:rPr lang="en-US" sz="1600" b="1" dirty="0" smtClean="0">
                <a:latin typeface="IRANSans"/>
                <a:cs typeface="B Nazanin" panose="00000400000000000000" pitchFamily="2" charset="-78"/>
              </a:rPr>
              <a:t> </a:t>
            </a:r>
            <a:endParaRPr lang="en-US" sz="1600" b="1" dirty="0">
              <a:latin typeface="IRANSans"/>
              <a:cs typeface="B Nazanin" panose="00000400000000000000" pitchFamily="2" charset="-78"/>
            </a:endParaRPr>
          </a:p>
        </p:txBody>
      </p:sp>
      <p:grpSp>
        <p:nvGrpSpPr>
          <p:cNvPr id="18" name="Group 17"/>
          <p:cNvGrpSpPr/>
          <p:nvPr/>
        </p:nvGrpSpPr>
        <p:grpSpPr>
          <a:xfrm>
            <a:off x="2749979" y="4524817"/>
            <a:ext cx="5505747" cy="282310"/>
            <a:chOff x="2749979" y="4890581"/>
            <a:chExt cx="5505747" cy="282310"/>
          </a:xfrm>
        </p:grpSpPr>
        <p:cxnSp>
          <p:nvCxnSpPr>
            <p:cNvPr id="14" name="Straight Connector 13"/>
            <p:cNvCxnSpPr/>
            <p:nvPr/>
          </p:nvCxnSpPr>
          <p:spPr>
            <a:xfrm>
              <a:off x="8242663" y="4890581"/>
              <a:ext cx="0" cy="282310"/>
            </a:xfrm>
            <a:prstGeom prst="line">
              <a:avLst/>
            </a:prstGeom>
            <a:ln w="38100"/>
          </p:spPr>
          <p:style>
            <a:lnRef idx="1">
              <a:schemeClr val="accent1"/>
            </a:lnRef>
            <a:fillRef idx="0">
              <a:schemeClr val="accent1"/>
            </a:fillRef>
            <a:effectRef idx="0">
              <a:schemeClr val="accent1"/>
            </a:effectRef>
            <a:fontRef idx="minor">
              <a:schemeClr val="tx1"/>
            </a:fontRef>
          </p:style>
        </p:cxnSp>
        <p:cxnSp>
          <p:nvCxnSpPr>
            <p:cNvPr id="15" name="Straight Connector 14"/>
            <p:cNvCxnSpPr/>
            <p:nvPr/>
          </p:nvCxnSpPr>
          <p:spPr>
            <a:xfrm flipH="1">
              <a:off x="2749979" y="5159862"/>
              <a:ext cx="5505747" cy="6482"/>
            </a:xfrm>
            <a:prstGeom prst="line">
              <a:avLst/>
            </a:prstGeom>
            <a:ln w="57150">
              <a:headEnd type="none" w="med" len="med"/>
              <a:tailEnd type="triangle" w="med" len="med"/>
            </a:ln>
          </p:spPr>
          <p:style>
            <a:lnRef idx="1">
              <a:schemeClr val="accent1"/>
            </a:lnRef>
            <a:fillRef idx="0">
              <a:schemeClr val="accent1"/>
            </a:fillRef>
            <a:effectRef idx="0">
              <a:schemeClr val="accent1"/>
            </a:effectRef>
            <a:fontRef idx="minor">
              <a:schemeClr val="tx1"/>
            </a:fontRef>
          </p:style>
        </p:cxnSp>
      </p:grpSp>
      <p:sp>
        <p:nvSpPr>
          <p:cNvPr id="22" name="Rectangle 21"/>
          <p:cNvSpPr/>
          <p:nvPr/>
        </p:nvSpPr>
        <p:spPr>
          <a:xfrm>
            <a:off x="1260566" y="4141382"/>
            <a:ext cx="428322" cy="307777"/>
          </a:xfrm>
          <a:prstGeom prst="rect">
            <a:avLst/>
          </a:prstGeom>
        </p:spPr>
        <p:txBody>
          <a:bodyPr wrap="square">
            <a:spAutoFit/>
          </a:bodyPr>
          <a:lstStyle/>
          <a:p>
            <a:r>
              <a:rPr lang="fa-IR" sz="1400" b="1" dirty="0" smtClean="0">
                <a:solidFill>
                  <a:srgbClr val="C00000"/>
                </a:solidFill>
                <a:latin typeface="IRANSans"/>
                <a:cs typeface="B Nazanin" panose="00000400000000000000" pitchFamily="2" charset="-78"/>
              </a:rPr>
              <a:t>بالا</a:t>
            </a:r>
            <a:endParaRPr lang="en-US" sz="1400" dirty="0">
              <a:solidFill>
                <a:srgbClr val="C00000"/>
              </a:solidFill>
            </a:endParaRPr>
          </a:p>
        </p:txBody>
      </p:sp>
      <p:sp>
        <p:nvSpPr>
          <p:cNvPr id="23" name="Rectangle 22"/>
          <p:cNvSpPr/>
          <p:nvPr/>
        </p:nvSpPr>
        <p:spPr>
          <a:xfrm>
            <a:off x="927463" y="4428401"/>
            <a:ext cx="428322" cy="307777"/>
          </a:xfrm>
          <a:prstGeom prst="rect">
            <a:avLst/>
          </a:prstGeom>
        </p:spPr>
        <p:txBody>
          <a:bodyPr wrap="square">
            <a:spAutoFit/>
          </a:bodyPr>
          <a:lstStyle/>
          <a:p>
            <a:r>
              <a:rPr lang="fa-IR" sz="1400" b="1" dirty="0" smtClean="0">
                <a:solidFill>
                  <a:srgbClr val="C00000"/>
                </a:solidFill>
                <a:latin typeface="IRANSans"/>
                <a:cs typeface="B Nazanin" panose="00000400000000000000" pitchFamily="2" charset="-78"/>
              </a:rPr>
              <a:t>بالا</a:t>
            </a:r>
            <a:endParaRPr lang="en-US" sz="1400" dirty="0">
              <a:solidFill>
                <a:srgbClr val="C00000"/>
              </a:solidFill>
            </a:endParaRPr>
          </a:p>
        </p:txBody>
      </p:sp>
      <p:sp>
        <p:nvSpPr>
          <p:cNvPr id="24" name="Rectangle 23"/>
          <p:cNvSpPr/>
          <p:nvPr/>
        </p:nvSpPr>
        <p:spPr>
          <a:xfrm>
            <a:off x="1256965" y="4637803"/>
            <a:ext cx="428322" cy="338554"/>
          </a:xfrm>
          <a:prstGeom prst="rect">
            <a:avLst/>
          </a:prstGeom>
        </p:spPr>
        <p:txBody>
          <a:bodyPr wrap="square">
            <a:spAutoFit/>
          </a:bodyPr>
          <a:lstStyle/>
          <a:p>
            <a:r>
              <a:rPr lang="fa-IR" sz="1600" b="1" dirty="0" smtClean="0">
                <a:solidFill>
                  <a:srgbClr val="C00000"/>
                </a:solidFill>
                <a:latin typeface="IRANSans"/>
                <a:cs typeface="B Nazanin" panose="00000400000000000000" pitchFamily="2" charset="-78"/>
              </a:rPr>
              <a:t>بالا</a:t>
            </a:r>
            <a:endParaRPr lang="en-US" sz="1600" dirty="0">
              <a:solidFill>
                <a:srgbClr val="C00000"/>
              </a:solidFill>
            </a:endParaRPr>
          </a:p>
        </p:txBody>
      </p:sp>
      <p:sp>
        <p:nvSpPr>
          <p:cNvPr id="25" name="Rectangle 24"/>
          <p:cNvSpPr/>
          <p:nvPr/>
        </p:nvSpPr>
        <p:spPr>
          <a:xfrm>
            <a:off x="186072" y="4913333"/>
            <a:ext cx="721799" cy="307777"/>
          </a:xfrm>
          <a:prstGeom prst="rect">
            <a:avLst/>
          </a:prstGeom>
        </p:spPr>
        <p:txBody>
          <a:bodyPr wrap="square">
            <a:spAutoFit/>
          </a:bodyPr>
          <a:lstStyle/>
          <a:p>
            <a:pPr algn="r" rtl="1"/>
            <a:r>
              <a:rPr lang="fa-IR" sz="1400" b="1" dirty="0" smtClean="0">
                <a:solidFill>
                  <a:srgbClr val="C00000"/>
                </a:solidFill>
                <a:latin typeface="IRANSans"/>
                <a:cs typeface="B Nazanin" panose="00000400000000000000" pitchFamily="2" charset="-78"/>
              </a:rPr>
              <a:t>کمتر</a:t>
            </a:r>
            <a:endParaRPr lang="en-US" sz="1400" dirty="0">
              <a:solidFill>
                <a:srgbClr val="C00000"/>
              </a:solidFill>
            </a:endParaRPr>
          </a:p>
        </p:txBody>
      </p:sp>
      <p:sp>
        <p:nvSpPr>
          <p:cNvPr id="26" name="Rectangle 25"/>
          <p:cNvSpPr/>
          <p:nvPr/>
        </p:nvSpPr>
        <p:spPr>
          <a:xfrm>
            <a:off x="7217657" y="5262068"/>
            <a:ext cx="4010298" cy="1200329"/>
          </a:xfrm>
          <a:prstGeom prst="rect">
            <a:avLst/>
          </a:prstGeom>
          <a:solidFill>
            <a:srgbClr val="FFFFCC"/>
          </a:solidFill>
        </p:spPr>
        <p:style>
          <a:lnRef idx="2">
            <a:schemeClr val="accent2"/>
          </a:lnRef>
          <a:fillRef idx="1">
            <a:schemeClr val="lt1"/>
          </a:fillRef>
          <a:effectRef idx="0">
            <a:schemeClr val="accent2"/>
          </a:effectRef>
          <a:fontRef idx="minor">
            <a:schemeClr val="dk1"/>
          </a:fontRef>
        </p:style>
        <p:txBody>
          <a:bodyPr wrap="square">
            <a:spAutoFit/>
          </a:bodyPr>
          <a:lstStyle/>
          <a:p>
            <a:pPr algn="just" rtl="1"/>
            <a:r>
              <a:rPr lang="fa-IR" dirty="0">
                <a:solidFill>
                  <a:srgbClr val="000000"/>
                </a:solidFill>
                <a:latin typeface="IRANSans"/>
                <a:cs typeface="B Nazanin" panose="00000400000000000000" pitchFamily="2" charset="-78"/>
              </a:rPr>
              <a:t>طراحی شغل، توجه شما را به </a:t>
            </a:r>
            <a:r>
              <a:rPr lang="fa-IR" b="1" dirty="0">
                <a:solidFill>
                  <a:srgbClr val="000000"/>
                </a:solidFill>
                <a:latin typeface="IRANSans"/>
                <a:cs typeface="B Nazanin" panose="00000400000000000000" pitchFamily="2" charset="-78"/>
              </a:rPr>
              <a:t>بخشِ کمتر دیده شده‌ی کار</a:t>
            </a:r>
            <a:r>
              <a:rPr lang="fa-IR" dirty="0">
                <a:solidFill>
                  <a:srgbClr val="000000"/>
                </a:solidFill>
                <a:latin typeface="IRANSans"/>
                <a:cs typeface="B Nazanin" panose="00000400000000000000" pitchFamily="2" charset="-78"/>
              </a:rPr>
              <a:t> جلب می‌کند. همان عاملی که ممکن است باعث شود بعضی از اعضای تیم، به تدریج دلبستگی خود را به کار از دست بدهند و از شما جدا شوند.</a:t>
            </a:r>
            <a:endParaRPr lang="en-US" dirty="0">
              <a:solidFill>
                <a:srgbClr val="000000"/>
              </a:solidFill>
              <a:latin typeface="IRANSans"/>
              <a:cs typeface="B Nazanin" panose="00000400000000000000" pitchFamily="2" charset="-78"/>
            </a:endParaRPr>
          </a:p>
        </p:txBody>
      </p:sp>
      <p:sp>
        <p:nvSpPr>
          <p:cNvPr id="28" name="Rectangle 27"/>
          <p:cNvSpPr/>
          <p:nvPr/>
        </p:nvSpPr>
        <p:spPr>
          <a:xfrm>
            <a:off x="6213023" y="5426035"/>
            <a:ext cx="893513" cy="923330"/>
          </a:xfrm>
          <a:prstGeom prst="rect">
            <a:avLst/>
          </a:prstGeom>
        </p:spPr>
        <p:txBody>
          <a:bodyPr wrap="square">
            <a:spAutoFit/>
          </a:bodyPr>
          <a:lstStyle/>
          <a:p>
            <a:pPr algn="ctr"/>
            <a:r>
              <a:rPr lang="fa-IR" b="1" dirty="0">
                <a:solidFill>
                  <a:srgbClr val="FF0000"/>
                </a:solidFill>
                <a:latin typeface="IRANSans"/>
                <a:cs typeface="B Nazanin" panose="00000400000000000000" pitchFamily="2" charset="-78"/>
              </a:rPr>
              <a:t>مدل های</a:t>
            </a:r>
            <a:endParaRPr lang="en-US" b="1" dirty="0">
              <a:solidFill>
                <a:srgbClr val="FF0000"/>
              </a:solidFill>
              <a:latin typeface="IRANSans"/>
              <a:cs typeface="B Nazanin" panose="00000400000000000000" pitchFamily="2" charset="-78"/>
            </a:endParaRPr>
          </a:p>
          <a:p>
            <a:pPr algn="ctr"/>
            <a:r>
              <a:rPr lang="fa-IR" b="1" dirty="0">
                <a:solidFill>
                  <a:srgbClr val="FF0000"/>
                </a:solidFill>
                <a:latin typeface="IRANSans"/>
                <a:cs typeface="B Nazanin" panose="00000400000000000000" pitchFamily="2" charset="-78"/>
              </a:rPr>
              <a:t> طراحی شغل</a:t>
            </a:r>
          </a:p>
        </p:txBody>
      </p:sp>
      <p:sp>
        <p:nvSpPr>
          <p:cNvPr id="29" name="Rectangle 28"/>
          <p:cNvSpPr/>
          <p:nvPr/>
        </p:nvSpPr>
        <p:spPr>
          <a:xfrm>
            <a:off x="2354638" y="5247553"/>
            <a:ext cx="3539752" cy="338554"/>
          </a:xfrm>
          <a:prstGeom prst="rect">
            <a:avLst/>
          </a:prstGeom>
        </p:spPr>
        <p:txBody>
          <a:bodyPr wrap="none">
            <a:spAutoFit/>
          </a:bodyPr>
          <a:lstStyle/>
          <a:p>
            <a:pPr marL="285750" indent="-285750" algn="r" rtl="1">
              <a:buFont typeface="Wingdings" panose="05000000000000000000" pitchFamily="2" charset="2"/>
              <a:buChar char="ü"/>
            </a:pPr>
            <a:r>
              <a:rPr lang="fa-IR" sz="1600" b="1" dirty="0">
                <a:solidFill>
                  <a:srgbClr val="000000"/>
                </a:solidFill>
                <a:latin typeface="IRANSans"/>
                <a:cs typeface="B Nazanin" panose="00000400000000000000" pitchFamily="2" charset="-78"/>
              </a:rPr>
              <a:t>شیوه‌ی تقسیم تخصصی (روش تیلور و فورد)</a:t>
            </a:r>
            <a:endParaRPr lang="en-US" sz="1600" dirty="0">
              <a:cs typeface="B Nazanin" panose="00000400000000000000" pitchFamily="2" charset="-78"/>
            </a:endParaRPr>
          </a:p>
        </p:txBody>
      </p:sp>
      <p:sp>
        <p:nvSpPr>
          <p:cNvPr id="30" name="Rectangle 29"/>
          <p:cNvSpPr/>
          <p:nvPr/>
        </p:nvSpPr>
        <p:spPr>
          <a:xfrm>
            <a:off x="3211089" y="5636726"/>
            <a:ext cx="2682146" cy="338554"/>
          </a:xfrm>
          <a:prstGeom prst="rect">
            <a:avLst/>
          </a:prstGeom>
        </p:spPr>
        <p:txBody>
          <a:bodyPr wrap="none">
            <a:spAutoFit/>
          </a:bodyPr>
          <a:lstStyle/>
          <a:p>
            <a:pPr marL="285750" indent="-285750" algn="r" rtl="1">
              <a:buFont typeface="Wingdings" panose="05000000000000000000" pitchFamily="2" charset="2"/>
              <a:buChar char="ü"/>
            </a:pPr>
            <a:r>
              <a:rPr lang="fa-IR" sz="1600" b="1" dirty="0" smtClean="0">
                <a:solidFill>
                  <a:srgbClr val="000000"/>
                </a:solidFill>
                <a:latin typeface="IRANSans"/>
                <a:cs typeface="B Nazanin" panose="00000400000000000000" pitchFamily="2" charset="-78"/>
              </a:rPr>
              <a:t>روش</a:t>
            </a:r>
            <a:r>
              <a:rPr lang="fa-IR" sz="1600" b="1" dirty="0">
                <a:solidFill>
                  <a:srgbClr val="000000"/>
                </a:solidFill>
                <a:latin typeface="IRANSans"/>
                <a:cs typeface="B Nazanin" panose="00000400000000000000" pitchFamily="2" charset="-78"/>
              </a:rPr>
              <a:t> پردازش اطلاعات اجتماعی</a:t>
            </a:r>
            <a:endParaRPr lang="en-US" sz="1600" b="1" dirty="0">
              <a:solidFill>
                <a:srgbClr val="000000"/>
              </a:solidFill>
              <a:latin typeface="IRANSans"/>
              <a:cs typeface="B Nazanin" panose="00000400000000000000" pitchFamily="2" charset="-78"/>
            </a:endParaRPr>
          </a:p>
        </p:txBody>
      </p:sp>
      <p:sp>
        <p:nvSpPr>
          <p:cNvPr id="31" name="Rectangle 30"/>
          <p:cNvSpPr/>
          <p:nvPr/>
        </p:nvSpPr>
        <p:spPr>
          <a:xfrm>
            <a:off x="3842673" y="6052025"/>
            <a:ext cx="2050562" cy="338554"/>
          </a:xfrm>
          <a:prstGeom prst="rect">
            <a:avLst/>
          </a:prstGeom>
        </p:spPr>
        <p:txBody>
          <a:bodyPr wrap="none">
            <a:spAutoFit/>
          </a:bodyPr>
          <a:lstStyle/>
          <a:p>
            <a:pPr marL="285750" indent="-285750" algn="r" rtl="1">
              <a:buFont typeface="Wingdings" panose="05000000000000000000" pitchFamily="2" charset="2"/>
              <a:buChar char="ü"/>
            </a:pPr>
            <a:r>
              <a:rPr lang="fa-IR" sz="1600" b="1" dirty="0">
                <a:solidFill>
                  <a:srgbClr val="000000"/>
                </a:solidFill>
                <a:latin typeface="IRANSans"/>
                <a:cs typeface="B Nazanin" panose="00000400000000000000" pitchFamily="2" charset="-78"/>
              </a:rPr>
              <a:t>مدل ویژگی های شغلی</a:t>
            </a:r>
            <a:endParaRPr lang="en-US" sz="1600" b="1" dirty="0">
              <a:solidFill>
                <a:srgbClr val="000000"/>
              </a:solidFill>
              <a:latin typeface="IRANSans"/>
              <a:cs typeface="B Nazanin" panose="00000400000000000000" pitchFamily="2" charset="-78"/>
            </a:endParaRPr>
          </a:p>
        </p:txBody>
      </p:sp>
      <p:sp>
        <p:nvSpPr>
          <p:cNvPr id="32" name="Rectangle 31"/>
          <p:cNvSpPr/>
          <p:nvPr/>
        </p:nvSpPr>
        <p:spPr>
          <a:xfrm>
            <a:off x="473087" y="6074391"/>
            <a:ext cx="2161169" cy="276999"/>
          </a:xfrm>
          <a:prstGeom prst="rect">
            <a:avLst/>
          </a:prstGeom>
        </p:spPr>
        <p:txBody>
          <a:bodyPr wrap="none">
            <a:spAutoFit/>
          </a:bodyPr>
          <a:lstStyle/>
          <a:p>
            <a:r>
              <a:rPr lang="en-US" sz="1200" b="1" dirty="0">
                <a:solidFill>
                  <a:srgbClr val="FF0000"/>
                </a:solidFill>
                <a:latin typeface="Tahoma" panose="020B0604030504040204" pitchFamily="34" charset="0"/>
                <a:ea typeface="Tahoma" panose="020B0604030504040204" pitchFamily="34" charset="0"/>
                <a:cs typeface="Tahoma" panose="020B0604030504040204" pitchFamily="34" charset="0"/>
              </a:rPr>
              <a:t>J</a:t>
            </a:r>
            <a:r>
              <a:rPr lang="en-US" sz="1200" b="1" dirty="0">
                <a:solidFill>
                  <a:srgbClr val="000000"/>
                </a:solidFill>
                <a:latin typeface="Tahoma" panose="020B0604030504040204" pitchFamily="34" charset="0"/>
                <a:ea typeface="Tahoma" panose="020B0604030504040204" pitchFamily="34" charset="0"/>
                <a:cs typeface="Tahoma" panose="020B0604030504040204" pitchFamily="34" charset="0"/>
              </a:rPr>
              <a:t>ob </a:t>
            </a:r>
            <a:r>
              <a:rPr lang="en-US" sz="1200" b="1" dirty="0">
                <a:solidFill>
                  <a:srgbClr val="FF0000"/>
                </a:solidFill>
                <a:latin typeface="Tahoma" panose="020B0604030504040204" pitchFamily="34" charset="0"/>
                <a:ea typeface="Tahoma" panose="020B0604030504040204" pitchFamily="34" charset="0"/>
                <a:cs typeface="Tahoma" panose="020B0604030504040204" pitchFamily="34" charset="0"/>
              </a:rPr>
              <a:t>C</a:t>
            </a:r>
            <a:r>
              <a:rPr lang="en-US" sz="1200" b="1" dirty="0">
                <a:solidFill>
                  <a:srgbClr val="000000"/>
                </a:solidFill>
                <a:latin typeface="Tahoma" panose="020B0604030504040204" pitchFamily="34" charset="0"/>
                <a:ea typeface="Tahoma" panose="020B0604030504040204" pitchFamily="34" charset="0"/>
                <a:cs typeface="Tahoma" panose="020B0604030504040204" pitchFamily="34" charset="0"/>
              </a:rPr>
              <a:t>haracteristics </a:t>
            </a:r>
            <a:r>
              <a:rPr lang="en-US" sz="1200" b="1" dirty="0">
                <a:solidFill>
                  <a:srgbClr val="FF0000"/>
                </a:solidFill>
                <a:latin typeface="Tahoma" panose="020B0604030504040204" pitchFamily="34" charset="0"/>
                <a:ea typeface="Tahoma" panose="020B0604030504040204" pitchFamily="34" charset="0"/>
                <a:cs typeface="Tahoma" panose="020B0604030504040204" pitchFamily="34" charset="0"/>
              </a:rPr>
              <a:t>M</a:t>
            </a:r>
            <a:r>
              <a:rPr lang="en-US" sz="1200" b="1" dirty="0">
                <a:solidFill>
                  <a:srgbClr val="000000"/>
                </a:solidFill>
                <a:latin typeface="Tahoma" panose="020B0604030504040204" pitchFamily="34" charset="0"/>
                <a:ea typeface="Tahoma" panose="020B0604030504040204" pitchFamily="34" charset="0"/>
                <a:cs typeface="Tahoma" panose="020B0604030504040204" pitchFamily="34" charset="0"/>
              </a:rPr>
              <a:t>odel</a:t>
            </a:r>
            <a:endParaRPr lang="en-US" sz="1200" dirty="0">
              <a:latin typeface="Tahoma" panose="020B0604030504040204" pitchFamily="34" charset="0"/>
              <a:ea typeface="Tahoma" panose="020B0604030504040204" pitchFamily="34" charset="0"/>
              <a:cs typeface="Tahoma" panose="020B0604030504040204" pitchFamily="34" charset="0"/>
            </a:endParaRPr>
          </a:p>
        </p:txBody>
      </p:sp>
      <p:sp>
        <p:nvSpPr>
          <p:cNvPr id="33" name="Rectangle 32"/>
          <p:cNvSpPr/>
          <p:nvPr/>
        </p:nvSpPr>
        <p:spPr>
          <a:xfrm>
            <a:off x="491809" y="5636726"/>
            <a:ext cx="2501006" cy="276999"/>
          </a:xfrm>
          <a:prstGeom prst="rect">
            <a:avLst/>
          </a:prstGeom>
        </p:spPr>
        <p:txBody>
          <a:bodyPr wrap="none">
            <a:spAutoFit/>
          </a:bodyPr>
          <a:lstStyle/>
          <a:p>
            <a:r>
              <a:rPr lang="en-US" sz="1200" b="1" dirty="0">
                <a:solidFill>
                  <a:srgbClr val="000000"/>
                </a:solidFill>
                <a:latin typeface="Tahoma" panose="020B0604030504040204" pitchFamily="34" charset="0"/>
                <a:ea typeface="Tahoma" panose="020B0604030504040204" pitchFamily="34" charset="0"/>
                <a:cs typeface="Tahoma" panose="020B0604030504040204" pitchFamily="34" charset="0"/>
              </a:rPr>
              <a:t>Social Information Processing</a:t>
            </a:r>
          </a:p>
        </p:txBody>
      </p:sp>
      <p:sp>
        <p:nvSpPr>
          <p:cNvPr id="34" name="Rectangle 33"/>
          <p:cNvSpPr/>
          <p:nvPr/>
        </p:nvSpPr>
        <p:spPr>
          <a:xfrm>
            <a:off x="5503384" y="6246886"/>
            <a:ext cx="389851" cy="338554"/>
          </a:xfrm>
          <a:prstGeom prst="rect">
            <a:avLst/>
          </a:prstGeom>
        </p:spPr>
        <p:txBody>
          <a:bodyPr wrap="none">
            <a:spAutoFit/>
          </a:bodyPr>
          <a:lstStyle/>
          <a:p>
            <a:pPr algn="r" rtl="1"/>
            <a:r>
              <a:rPr lang="en-US" sz="1600" b="1" dirty="0" smtClean="0">
                <a:solidFill>
                  <a:srgbClr val="000000"/>
                </a:solidFill>
                <a:latin typeface="IRANSans"/>
                <a:cs typeface="B Nazanin" panose="00000400000000000000" pitchFamily="2" charset="-78"/>
              </a:rPr>
              <a:t>…</a:t>
            </a:r>
            <a:endParaRPr lang="en-US" sz="1600" b="1" dirty="0">
              <a:solidFill>
                <a:srgbClr val="000000"/>
              </a:solidFill>
              <a:latin typeface="IRANSans"/>
              <a:cs typeface="B Nazanin" panose="00000400000000000000" pitchFamily="2" charset="-78"/>
            </a:endParaRPr>
          </a:p>
        </p:txBody>
      </p:sp>
      <p:sp>
        <p:nvSpPr>
          <p:cNvPr id="35" name="Right Brace 34"/>
          <p:cNvSpPr/>
          <p:nvPr/>
        </p:nvSpPr>
        <p:spPr>
          <a:xfrm>
            <a:off x="5904409" y="5181921"/>
            <a:ext cx="274321" cy="1416582"/>
          </a:xfrm>
          <a:prstGeom prst="rightBrace">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lang="en-US"/>
          </a:p>
        </p:txBody>
      </p:sp>
    </p:spTree>
    <p:extLst>
      <p:ext uri="{BB962C8B-B14F-4D97-AF65-F5344CB8AC3E}">
        <p14:creationId xmlns:p14="http://schemas.microsoft.com/office/powerpoint/2010/main" val="1761528381"/>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470263" y="425299"/>
            <a:ext cx="10574382" cy="709749"/>
          </a:xfrm>
        </p:spPr>
        <p:txBody>
          <a:bodyPr>
            <a:noAutofit/>
          </a:bodyPr>
          <a:lstStyle/>
          <a:p>
            <a:pPr algn="r" rtl="1"/>
            <a:r>
              <a:rPr lang="fa-IR" sz="3200" dirty="0" smtClean="0">
                <a:cs typeface="B Nazanin" panose="00000400000000000000" pitchFamily="2" charset="-78"/>
              </a:rPr>
              <a:t>طراحی شغل بر </a:t>
            </a:r>
            <a:r>
              <a:rPr lang="fa-IR" sz="3200" dirty="0">
                <a:cs typeface="B Nazanin" panose="00000400000000000000" pitchFamily="2" charset="-78"/>
              </a:rPr>
              <a:t>اساس </a:t>
            </a:r>
            <a:r>
              <a:rPr lang="fa-IR" sz="3200" dirty="0" smtClean="0">
                <a:cs typeface="B Nazanin" panose="00000400000000000000" pitchFamily="2" charset="-78"/>
              </a:rPr>
              <a:t>مدل</a:t>
            </a:r>
            <a:r>
              <a:rPr lang="en-US" sz="3200" dirty="0" smtClean="0">
                <a:cs typeface="B Nazanin" panose="00000400000000000000" pitchFamily="2" charset="-78"/>
              </a:rPr>
              <a:t>   </a:t>
            </a:r>
            <a:r>
              <a:rPr lang="en-US" sz="3200" b="1" dirty="0" smtClean="0">
                <a:solidFill>
                  <a:srgbClr val="FF0000"/>
                </a:solidFill>
                <a:cs typeface="B Nazanin" panose="00000400000000000000" pitchFamily="2" charset="-78"/>
              </a:rPr>
              <a:t>JCM</a:t>
            </a:r>
            <a:r>
              <a:rPr lang="en-US" sz="3200" dirty="0" smtClean="0">
                <a:cs typeface="B Nazanin" panose="00000400000000000000" pitchFamily="2" charset="-78"/>
              </a:rPr>
              <a:t> </a:t>
            </a:r>
            <a:r>
              <a:rPr lang="fa-IR" sz="3200" dirty="0" smtClean="0">
                <a:cs typeface="B Nazanin" panose="00000400000000000000" pitchFamily="2" charset="-78"/>
              </a:rPr>
              <a:t>هاکمن </a:t>
            </a:r>
            <a:r>
              <a:rPr lang="fa-IR" sz="3200" dirty="0">
                <a:cs typeface="B Nazanin" panose="00000400000000000000" pitchFamily="2" charset="-78"/>
              </a:rPr>
              <a:t>و اولدهام</a:t>
            </a:r>
            <a:endParaRPr lang="en-US" sz="32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grpSp>
        <p:nvGrpSpPr>
          <p:cNvPr id="21" name="Group 20"/>
          <p:cNvGrpSpPr/>
          <p:nvPr/>
        </p:nvGrpSpPr>
        <p:grpSpPr>
          <a:xfrm>
            <a:off x="290651" y="2258378"/>
            <a:ext cx="11629215" cy="4352925"/>
            <a:chOff x="290651" y="2258378"/>
            <a:chExt cx="11629215" cy="4352925"/>
          </a:xfrm>
        </p:grpSpPr>
        <p:grpSp>
          <p:nvGrpSpPr>
            <p:cNvPr id="5" name="Group 4"/>
            <p:cNvGrpSpPr/>
            <p:nvPr/>
          </p:nvGrpSpPr>
          <p:grpSpPr>
            <a:xfrm>
              <a:off x="5138066" y="2258378"/>
              <a:ext cx="6781800" cy="4352925"/>
              <a:chOff x="3658689" y="2062434"/>
              <a:chExt cx="6781800" cy="4352925"/>
            </a:xfrm>
          </p:grpSpPr>
          <p:pic>
            <p:nvPicPr>
              <p:cNvPr id="3" name="Picture 2"/>
              <p:cNvPicPr>
                <a:picLocks noChangeAspect="1"/>
              </p:cNvPicPr>
              <p:nvPr/>
            </p:nvPicPr>
            <p:blipFill>
              <a:blip r:embed="rId2"/>
              <a:stretch>
                <a:fillRect/>
              </a:stretch>
            </p:blipFill>
            <p:spPr>
              <a:xfrm>
                <a:off x="3658689" y="2062434"/>
                <a:ext cx="6781800" cy="4352925"/>
              </a:xfrm>
              <a:prstGeom prst="rect">
                <a:avLst/>
              </a:prstGeom>
            </p:spPr>
          </p:pic>
          <p:sp>
            <p:nvSpPr>
              <p:cNvPr id="4" name="Rectangle 3"/>
              <p:cNvSpPr/>
              <p:nvPr/>
            </p:nvSpPr>
            <p:spPr>
              <a:xfrm>
                <a:off x="9862457" y="4741818"/>
                <a:ext cx="578032" cy="274320"/>
              </a:xfrm>
              <a:prstGeom prst="rect">
                <a:avLst/>
              </a:prstGeom>
              <a:ln>
                <a:solidFill>
                  <a:schemeClr val="bg1"/>
                </a:solidFill>
              </a:ln>
            </p:spPr>
            <p:style>
              <a:lnRef idx="2">
                <a:schemeClr val="accent6"/>
              </a:lnRef>
              <a:fillRef idx="1">
                <a:schemeClr val="lt1"/>
              </a:fillRef>
              <a:effectRef idx="0">
                <a:schemeClr val="accent6"/>
              </a:effectRef>
              <a:fontRef idx="minor">
                <a:schemeClr val="dk1"/>
              </a:fontRef>
            </p:style>
            <p:txBody>
              <a:bodyPr rtlCol="0" anchor="ctr"/>
              <a:lstStyle/>
              <a:p>
                <a:pPr algn="ctr"/>
                <a:endParaRPr lang="en-US"/>
              </a:p>
            </p:txBody>
          </p:sp>
        </p:grpSp>
        <p:sp>
          <p:nvSpPr>
            <p:cNvPr id="7" name="Rectangle 6"/>
            <p:cNvSpPr/>
            <p:nvPr/>
          </p:nvSpPr>
          <p:spPr>
            <a:xfrm>
              <a:off x="365759" y="4237395"/>
              <a:ext cx="5068388" cy="830997"/>
            </a:xfrm>
            <a:prstGeom prst="rect">
              <a:avLst/>
            </a:prstGeom>
          </p:spPr>
          <p:txBody>
            <a:bodyPr wrap="square">
              <a:spAutoFit/>
            </a:bodyPr>
            <a:lstStyle/>
            <a:p>
              <a:pPr algn="just" rtl="1"/>
              <a:r>
                <a:rPr lang="fa-IR" sz="1600" dirty="0">
                  <a:solidFill>
                    <a:srgbClr val="000000"/>
                  </a:solidFill>
                  <a:latin typeface="IRANSans"/>
                  <a:cs typeface="B Nazanin" panose="00000400000000000000" pitchFamily="2" charset="-78"/>
                </a:rPr>
                <a:t>وقتی می‌گوییم فرد باید بتواند در کار خود </a:t>
              </a:r>
              <a:r>
                <a:rPr lang="fa-IR" sz="1600" dirty="0">
                  <a:solidFill>
                    <a:srgbClr val="FF0000"/>
                  </a:solidFill>
                  <a:latin typeface="IRANSans"/>
                  <a:cs typeface="B Nazanin" panose="00000400000000000000" pitchFamily="2" charset="-78"/>
                </a:rPr>
                <a:t>احساس مسئولیت </a:t>
              </a:r>
              <a:r>
                <a:rPr lang="fa-IR" sz="1600" dirty="0">
                  <a:solidFill>
                    <a:srgbClr val="000000"/>
                  </a:solidFill>
                  <a:latin typeface="IRANSans"/>
                  <a:cs typeface="B Nazanin" panose="00000400000000000000" pitchFamily="2" charset="-78"/>
                </a:rPr>
                <a:t>کند، طبیعتاً انتظار می‌رود که</a:t>
              </a:r>
              <a:r>
                <a:rPr lang="fa-IR" sz="1600" b="1" dirty="0">
                  <a:solidFill>
                    <a:srgbClr val="FF0000"/>
                  </a:solidFill>
                  <a:latin typeface="IRANSans"/>
                  <a:cs typeface="B Nazanin" panose="00000400000000000000" pitchFamily="2" charset="-78"/>
                </a:rPr>
                <a:t> اختیار و استقلال </a:t>
              </a:r>
              <a:r>
                <a:rPr lang="fa-IR" sz="1600" dirty="0">
                  <a:solidFill>
                    <a:srgbClr val="000000"/>
                  </a:solidFill>
                  <a:latin typeface="IRANSans"/>
                  <a:cs typeface="B Nazanin" panose="00000400000000000000" pitchFamily="2" charset="-78"/>
                </a:rPr>
                <a:t>و </a:t>
              </a:r>
              <a:r>
                <a:rPr lang="fa-IR" sz="1600" b="1" dirty="0">
                  <a:solidFill>
                    <a:srgbClr val="000000"/>
                  </a:solidFill>
                  <a:latin typeface="IRANSans"/>
                  <a:cs typeface="B Nazanin" panose="00000400000000000000" pitchFamily="2" charset="-78"/>
                </a:rPr>
                <a:t>حق تصمیم‌گیری</a:t>
              </a:r>
              <a:r>
                <a:rPr lang="fa-IR" sz="1600" dirty="0">
                  <a:solidFill>
                    <a:srgbClr val="000000"/>
                  </a:solidFill>
                  <a:latin typeface="IRANSans"/>
                  <a:cs typeface="B Nazanin" panose="00000400000000000000" pitchFamily="2" charset="-78"/>
                </a:rPr>
                <a:t> هم در بعضی حوزه‌ها برایش در نظر گرفته شود</a:t>
              </a:r>
              <a:r>
                <a:rPr lang="fa-IR" sz="1600" dirty="0" smtClean="0">
                  <a:solidFill>
                    <a:srgbClr val="000000"/>
                  </a:solidFill>
                  <a:latin typeface="IRANSans"/>
                  <a:cs typeface="B Nazanin" panose="00000400000000000000" pitchFamily="2" charset="-78"/>
                </a:rPr>
                <a:t>.</a:t>
              </a:r>
              <a:endParaRPr lang="en-US" sz="1600" dirty="0">
                <a:solidFill>
                  <a:srgbClr val="000000"/>
                </a:solidFill>
                <a:latin typeface="IRANSans"/>
                <a:cs typeface="B Nazanin" panose="00000400000000000000" pitchFamily="2" charset="-78"/>
              </a:endParaRPr>
            </a:p>
          </p:txBody>
        </p:sp>
        <p:sp>
          <p:nvSpPr>
            <p:cNvPr id="9" name="Rectangle 8"/>
            <p:cNvSpPr/>
            <p:nvPr/>
          </p:nvSpPr>
          <p:spPr>
            <a:xfrm>
              <a:off x="799010" y="5187710"/>
              <a:ext cx="8373292" cy="338554"/>
            </a:xfrm>
            <a:prstGeom prst="rect">
              <a:avLst/>
            </a:prstGeom>
            <a:solidFill>
              <a:srgbClr val="FFFFCC"/>
            </a:solidFill>
          </p:spPr>
          <p:style>
            <a:lnRef idx="2">
              <a:schemeClr val="accent3"/>
            </a:lnRef>
            <a:fillRef idx="1">
              <a:schemeClr val="lt1"/>
            </a:fillRef>
            <a:effectRef idx="0">
              <a:schemeClr val="accent3"/>
            </a:effectRef>
            <a:fontRef idx="minor">
              <a:schemeClr val="dk1"/>
            </a:fontRef>
          </p:style>
          <p:txBody>
            <a:bodyPr wrap="square">
              <a:spAutoFit/>
            </a:bodyPr>
            <a:lstStyle/>
            <a:p>
              <a:pPr algn="just" rtl="1"/>
              <a:r>
                <a:rPr lang="fa-IR" sz="1600" dirty="0">
                  <a:solidFill>
                    <a:srgbClr val="000000"/>
                  </a:solidFill>
                  <a:latin typeface="IRANSans"/>
                  <a:cs typeface="B Nazanin" panose="00000400000000000000" pitchFamily="2" charset="-78"/>
                </a:rPr>
                <a:t> اگر شما در اجرای یک کار، هیچ اختیار و انتخابی نداشته باشید، طبیعی است که خود را مسئول نتایج به دست آمده نخواهید دانست. </a:t>
              </a:r>
              <a:endParaRPr lang="en-US" sz="1600" dirty="0">
                <a:solidFill>
                  <a:srgbClr val="000000"/>
                </a:solidFill>
                <a:latin typeface="IRANSans"/>
                <a:cs typeface="B Nazanin" panose="00000400000000000000" pitchFamily="2" charset="-78"/>
              </a:endParaRPr>
            </a:p>
          </p:txBody>
        </p:sp>
        <p:sp>
          <p:nvSpPr>
            <p:cNvPr id="10" name="Rectangle 9"/>
            <p:cNvSpPr/>
            <p:nvPr/>
          </p:nvSpPr>
          <p:spPr>
            <a:xfrm>
              <a:off x="316776" y="2454051"/>
              <a:ext cx="5042263" cy="338554"/>
            </a:xfrm>
            <a:prstGeom prst="rect">
              <a:avLst/>
            </a:prstGeom>
          </p:spPr>
          <p:txBody>
            <a:bodyPr wrap="square">
              <a:spAutoFit/>
            </a:bodyPr>
            <a:lstStyle/>
            <a:p>
              <a:pPr algn="just" rtl="1"/>
              <a:r>
                <a:rPr lang="fa-IR" sz="1600" dirty="0">
                  <a:solidFill>
                    <a:srgbClr val="000000"/>
                  </a:solidFill>
                  <a:latin typeface="IRANSans"/>
                  <a:cs typeface="B Nazanin" panose="00000400000000000000" pitchFamily="2" charset="-78"/>
                </a:rPr>
                <a:t>اگر فردا سر کار نروید، اتفاق خاصی می‌افتد یا همه‌ چیز مثل قبل پیش می‌رود؟</a:t>
              </a:r>
              <a:endParaRPr lang="en-US" sz="1600" dirty="0">
                <a:solidFill>
                  <a:srgbClr val="000000"/>
                </a:solidFill>
                <a:latin typeface="IRANSans"/>
                <a:cs typeface="B Nazanin" panose="00000400000000000000" pitchFamily="2" charset="-78"/>
              </a:endParaRPr>
            </a:p>
          </p:txBody>
        </p:sp>
        <p:sp>
          <p:nvSpPr>
            <p:cNvPr id="11" name="Rectangle 10"/>
            <p:cNvSpPr/>
            <p:nvPr/>
          </p:nvSpPr>
          <p:spPr>
            <a:xfrm>
              <a:off x="290651" y="2928639"/>
              <a:ext cx="5068388" cy="584775"/>
            </a:xfrm>
            <a:prstGeom prst="rect">
              <a:avLst/>
            </a:prstGeom>
          </p:spPr>
          <p:txBody>
            <a:bodyPr wrap="square">
              <a:spAutoFit/>
            </a:bodyPr>
            <a:lstStyle/>
            <a:p>
              <a:pPr algn="just" rtl="1"/>
              <a:r>
                <a:rPr lang="fa-IR" sz="1600" dirty="0">
                  <a:solidFill>
                    <a:srgbClr val="000000"/>
                  </a:solidFill>
                  <a:latin typeface="IRANSans"/>
                  <a:cs typeface="B Nazanin" panose="00000400000000000000" pitchFamily="2" charset="-78"/>
                </a:rPr>
                <a:t>ک</a:t>
              </a:r>
              <a:r>
                <a:rPr lang="fa-IR" sz="1600" dirty="0" smtClean="0">
                  <a:solidFill>
                    <a:srgbClr val="000000"/>
                  </a:solidFill>
                  <a:latin typeface="IRANSans"/>
                  <a:cs typeface="B Nazanin" panose="00000400000000000000" pitchFamily="2" charset="-78"/>
                </a:rPr>
                <a:t>ارها </a:t>
              </a:r>
              <a:r>
                <a:rPr lang="fa-IR" sz="1600" dirty="0">
                  <a:solidFill>
                    <a:srgbClr val="000000"/>
                  </a:solidFill>
                  <a:latin typeface="IRANSans"/>
                  <a:cs typeface="B Nazanin" panose="00000400000000000000" pitchFamily="2" charset="-78"/>
                </a:rPr>
                <a:t>را به شکلی خُرد نکنیم یا خُرده‌کاری‌ها را به شکلی بر روی شانه‌های یک فرد انباشته نکنیم که نتواند توصیف دقیقی از کار خود ارائه </a:t>
              </a:r>
              <a:r>
                <a:rPr lang="fa-IR" sz="1600" dirty="0" smtClean="0">
                  <a:solidFill>
                    <a:srgbClr val="000000"/>
                  </a:solidFill>
                  <a:latin typeface="IRANSans"/>
                  <a:cs typeface="B Nazanin" panose="00000400000000000000" pitchFamily="2" charset="-78"/>
                </a:rPr>
                <a:t>دهد .</a:t>
              </a:r>
              <a:endParaRPr lang="en-US" sz="1600" dirty="0">
                <a:solidFill>
                  <a:srgbClr val="000000"/>
                </a:solidFill>
                <a:latin typeface="IRANSans"/>
                <a:cs typeface="B Nazanin" panose="00000400000000000000" pitchFamily="2" charset="-78"/>
              </a:endParaRPr>
            </a:p>
          </p:txBody>
        </p:sp>
        <p:sp>
          <p:nvSpPr>
            <p:cNvPr id="12" name="Rectangle 11"/>
            <p:cNvSpPr/>
            <p:nvPr/>
          </p:nvSpPr>
          <p:spPr>
            <a:xfrm>
              <a:off x="316776" y="3593401"/>
              <a:ext cx="4393480" cy="338554"/>
            </a:xfrm>
            <a:prstGeom prst="rect">
              <a:avLst/>
            </a:prstGeom>
          </p:spPr>
          <p:txBody>
            <a:bodyPr wrap="square">
              <a:spAutoFit/>
            </a:bodyPr>
            <a:lstStyle/>
            <a:p>
              <a:pPr algn="just" rtl="1"/>
              <a:r>
                <a:rPr lang="fa-IR" sz="1600" dirty="0" smtClean="0">
                  <a:solidFill>
                    <a:srgbClr val="000000"/>
                  </a:solidFill>
                  <a:latin typeface="IRANSans"/>
                  <a:cs typeface="B Nazanin" panose="00000400000000000000" pitchFamily="2" charset="-78"/>
                </a:rPr>
                <a:t>فرد </a:t>
              </a:r>
              <a:r>
                <a:rPr lang="fa-IR" sz="1600" dirty="0">
                  <a:solidFill>
                    <a:srgbClr val="000000"/>
                  </a:solidFill>
                  <a:latin typeface="IRANSans"/>
                  <a:cs typeface="B Nazanin" panose="00000400000000000000" pitchFamily="2" charset="-78"/>
                </a:rPr>
                <a:t>بتواند توانمندی‌ها و استعدادهای متنوع‌تری را به خدمت </a:t>
              </a:r>
              <a:r>
                <a:rPr lang="fa-IR" sz="1600" dirty="0" smtClean="0">
                  <a:solidFill>
                    <a:srgbClr val="000000"/>
                  </a:solidFill>
                  <a:latin typeface="IRANSans"/>
                  <a:cs typeface="B Nazanin" panose="00000400000000000000" pitchFamily="2" charset="-78"/>
                </a:rPr>
                <a:t>بگیرد .</a:t>
              </a:r>
              <a:endParaRPr lang="en-US" sz="1600" dirty="0">
                <a:solidFill>
                  <a:srgbClr val="000000"/>
                </a:solidFill>
                <a:latin typeface="IRANSans"/>
                <a:cs typeface="B Nazanin" panose="00000400000000000000" pitchFamily="2" charset="-78"/>
              </a:endParaRPr>
            </a:p>
          </p:txBody>
        </p:sp>
        <p:sp>
          <p:nvSpPr>
            <p:cNvPr id="13" name="Rectangle 12"/>
            <p:cNvSpPr/>
            <p:nvPr/>
          </p:nvSpPr>
          <p:spPr>
            <a:xfrm>
              <a:off x="365759" y="5805718"/>
              <a:ext cx="4990010" cy="584775"/>
            </a:xfrm>
            <a:prstGeom prst="rect">
              <a:avLst/>
            </a:prstGeom>
          </p:spPr>
          <p:txBody>
            <a:bodyPr wrap="square">
              <a:spAutoFit/>
            </a:bodyPr>
            <a:lstStyle/>
            <a:p>
              <a:pPr algn="just" rtl="1"/>
              <a:r>
                <a:rPr lang="fa-IR" sz="1600" dirty="0" smtClean="0">
                  <a:solidFill>
                    <a:srgbClr val="000000"/>
                  </a:solidFill>
                  <a:latin typeface="IRANSans"/>
                  <a:cs typeface="B Nazanin" panose="00000400000000000000" pitchFamily="2" charset="-78"/>
                </a:rPr>
                <a:t>اینکه فرد بهتر است با کارفرما ( حتی غیر مستقیم ) ارتباط داشته باشد به دلیل اطلاع از نتیجه کار خود و دریافت بازخورد می باشد . </a:t>
              </a:r>
              <a:endParaRPr lang="en-US" sz="1600" dirty="0">
                <a:solidFill>
                  <a:srgbClr val="000000"/>
                </a:solidFill>
                <a:latin typeface="IRANSans"/>
                <a:cs typeface="B Nazanin" panose="00000400000000000000" pitchFamily="2" charset="-78"/>
              </a:endParaRPr>
            </a:p>
          </p:txBody>
        </p:sp>
        <p:cxnSp>
          <p:nvCxnSpPr>
            <p:cNvPr id="15" name="Straight Arrow Connector 14"/>
            <p:cNvCxnSpPr/>
            <p:nvPr/>
          </p:nvCxnSpPr>
          <p:spPr>
            <a:xfrm flipH="1">
              <a:off x="5391694" y="2610265"/>
              <a:ext cx="37882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6" name="Straight Arrow Connector 15"/>
            <p:cNvCxnSpPr/>
            <p:nvPr/>
          </p:nvCxnSpPr>
          <p:spPr>
            <a:xfrm flipH="1">
              <a:off x="4796244" y="3736552"/>
              <a:ext cx="37882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7" name="Straight Arrow Connector 16"/>
            <p:cNvCxnSpPr/>
            <p:nvPr/>
          </p:nvCxnSpPr>
          <p:spPr>
            <a:xfrm flipH="1">
              <a:off x="5417820" y="3168774"/>
              <a:ext cx="378823"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18" name="Straight Arrow Connector 17"/>
            <p:cNvCxnSpPr/>
            <p:nvPr/>
          </p:nvCxnSpPr>
          <p:spPr>
            <a:xfrm flipH="1">
              <a:off x="5457010" y="4652893"/>
              <a:ext cx="352696"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p:cNvCxnSpPr/>
            <p:nvPr/>
          </p:nvCxnSpPr>
          <p:spPr>
            <a:xfrm flipH="1">
              <a:off x="5443947" y="6113684"/>
              <a:ext cx="352696" cy="0"/>
            </a:xfrm>
            <a:prstGeom prst="straightConnector1">
              <a:avLst/>
            </a:prstGeom>
            <a:ln w="38100">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p:sp>
        <p:nvSpPr>
          <p:cNvPr id="6" name="Rectangle 5"/>
          <p:cNvSpPr/>
          <p:nvPr/>
        </p:nvSpPr>
        <p:spPr>
          <a:xfrm>
            <a:off x="470264" y="1356002"/>
            <a:ext cx="11025050" cy="1015663"/>
          </a:xfrm>
          <a:prstGeom prst="rect">
            <a:avLst/>
          </a:prstGeom>
        </p:spPr>
        <p:txBody>
          <a:bodyPr wrap="square">
            <a:spAutoFit/>
          </a:bodyPr>
          <a:lstStyle/>
          <a:p>
            <a:pPr algn="r" rtl="1"/>
            <a:r>
              <a:rPr lang="fa-IR" sz="2000" dirty="0">
                <a:solidFill>
                  <a:srgbClr val="000000"/>
                </a:solidFill>
                <a:latin typeface="IRANSans"/>
                <a:cs typeface="B Nazanin" panose="00000400000000000000" pitchFamily="2" charset="-78"/>
              </a:rPr>
              <a:t>اگر دنبال آن </a:t>
            </a:r>
            <a:r>
              <a:rPr lang="fa-IR" sz="2000" dirty="0">
                <a:solidFill>
                  <a:srgbClr val="C4161C"/>
                </a:solidFill>
                <a:latin typeface="IRANSans"/>
                <a:cs typeface="B Nazanin" panose="00000400000000000000" pitchFamily="2" charset="-78"/>
              </a:rPr>
              <a:t>چهار هدف اصلی</a:t>
            </a:r>
            <a:r>
              <a:rPr lang="fa-IR" sz="2000" dirty="0">
                <a:solidFill>
                  <a:srgbClr val="000000"/>
                </a:solidFill>
                <a:latin typeface="IRANSans"/>
                <a:cs typeface="B Nazanin" panose="00000400000000000000" pitchFamily="2" charset="-78"/>
              </a:rPr>
              <a:t> (انگیزه، رضایت، عملکرد، کاهش فاصله‌ی شغل و شاغل) هستید، باید</a:t>
            </a:r>
            <a:r>
              <a:rPr lang="en-US" sz="2000" dirty="0">
                <a:solidFill>
                  <a:srgbClr val="000000"/>
                </a:solidFill>
                <a:latin typeface="IRANSans"/>
                <a:cs typeface="B Nazanin" panose="00000400000000000000" pitchFamily="2" charset="-78"/>
              </a:rPr>
              <a:t>  </a:t>
            </a:r>
            <a:r>
              <a:rPr lang="fa-IR" sz="2000" dirty="0">
                <a:solidFill>
                  <a:srgbClr val="000000"/>
                </a:solidFill>
                <a:latin typeface="IRANSans"/>
                <a:cs typeface="B Nazanin" panose="00000400000000000000" pitchFamily="2" charset="-78"/>
              </a:rPr>
              <a:t>در طراحی شغل بکوشید  </a:t>
            </a:r>
            <a:r>
              <a:rPr lang="fa-IR" sz="2000" dirty="0" smtClean="0">
                <a:solidFill>
                  <a:srgbClr val="000000"/>
                </a:solidFill>
                <a:latin typeface="IRANSans"/>
                <a:cs typeface="B Nazanin" panose="00000400000000000000" pitchFamily="2" charset="-78"/>
              </a:rPr>
              <a:t>3 اصل </a:t>
            </a:r>
            <a:r>
              <a:rPr lang="fa-IR" sz="2000" dirty="0">
                <a:solidFill>
                  <a:srgbClr val="000000"/>
                </a:solidFill>
                <a:latin typeface="IRANSans"/>
                <a:cs typeface="B Nazanin" panose="00000400000000000000" pitchFamily="2" charset="-78"/>
              </a:rPr>
              <a:t>را در نظر بگیرید :  </a:t>
            </a:r>
            <a:r>
              <a:rPr lang="fa-IR" sz="2000" b="1" dirty="0" smtClean="0">
                <a:solidFill>
                  <a:srgbClr val="000000"/>
                </a:solidFill>
                <a:latin typeface="IRANSans"/>
                <a:cs typeface="B Nazanin" panose="00000400000000000000" pitchFamily="2" charset="-78"/>
              </a:rPr>
              <a:t>شغل</a:t>
            </a:r>
            <a:r>
              <a:rPr lang="fa-IR" sz="2000" b="1" dirty="0">
                <a:solidFill>
                  <a:srgbClr val="000000"/>
                </a:solidFill>
                <a:latin typeface="IRANSans"/>
                <a:cs typeface="B Nazanin" panose="00000400000000000000" pitchFamily="2" charset="-78"/>
              </a:rPr>
              <a:t> در ذهن فرد شاغل، تا حد امکان معنا و مفهوم داشته باشد.</a:t>
            </a:r>
            <a:r>
              <a:rPr lang="en-US" sz="2000" b="1" dirty="0">
                <a:solidFill>
                  <a:srgbClr val="000000"/>
                </a:solidFill>
                <a:latin typeface="IRANSans"/>
                <a:cs typeface="B Nazanin" panose="00000400000000000000" pitchFamily="2" charset="-78"/>
              </a:rPr>
              <a:t> </a:t>
            </a:r>
            <a:r>
              <a:rPr lang="fa-IR" sz="2000" b="1" dirty="0">
                <a:solidFill>
                  <a:srgbClr val="000000"/>
                </a:solidFill>
                <a:latin typeface="IRANSans"/>
                <a:cs typeface="B Nazanin" panose="00000400000000000000" pitchFamily="2" charset="-78"/>
              </a:rPr>
              <a:t>فرد از نتیجه‌ی فعالیت‌هایش مطلع شده و بتواند مسئولیت کارش را نیز بپذیرد</a:t>
            </a:r>
            <a:r>
              <a:rPr lang="fa-IR" sz="2000" dirty="0">
                <a:solidFill>
                  <a:srgbClr val="000000"/>
                </a:solidFill>
                <a:latin typeface="IRANSans"/>
                <a:cs typeface="B Nazanin" panose="00000400000000000000" pitchFamily="2" charset="-78"/>
              </a:rPr>
              <a:t>.</a:t>
            </a:r>
            <a:endParaRPr lang="en-US" sz="2000" dirty="0">
              <a:solidFill>
                <a:srgbClr val="000000"/>
              </a:solidFill>
              <a:latin typeface="IRANSans"/>
              <a:cs typeface="B Nazanin" panose="00000400000000000000" pitchFamily="2" charset="-78"/>
            </a:endParaRPr>
          </a:p>
        </p:txBody>
      </p:sp>
    </p:spTree>
    <p:extLst>
      <p:ext uri="{BB962C8B-B14F-4D97-AF65-F5344CB8AC3E}">
        <p14:creationId xmlns:p14="http://schemas.microsoft.com/office/powerpoint/2010/main" val="777983255"/>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a:cs typeface="B Nazanin" panose="00000400000000000000" pitchFamily="2" charset="-78"/>
              </a:rPr>
              <a:t>وظایف واحد مدیریت منابع </a:t>
            </a:r>
            <a:r>
              <a:rPr lang="fa-IR" sz="4800" dirty="0" smtClean="0">
                <a:cs typeface="B Nazanin" panose="00000400000000000000" pitchFamily="2" charset="-78"/>
              </a:rPr>
              <a:t>انسانی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80236618"/>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a:cs typeface="B Nazanin" panose="00000400000000000000" pitchFamily="2" charset="-78"/>
              </a:rPr>
              <a:t>وظایف واحد مدیریت منابع </a:t>
            </a:r>
            <a:r>
              <a:rPr lang="fa-IR" sz="4800" dirty="0" smtClean="0">
                <a:cs typeface="B Nazanin" panose="00000400000000000000" pitchFamily="2" charset="-78"/>
              </a:rPr>
              <a:t>انسانی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72957640"/>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B4B6193-F9F1-4C54-838F-77350B9FC5DC}"/>
              </a:ext>
            </a:extLst>
          </p:cNvPr>
          <p:cNvSpPr>
            <a:spLocks noGrp="1"/>
          </p:cNvSpPr>
          <p:nvPr>
            <p:ph type="title"/>
          </p:nvPr>
        </p:nvSpPr>
        <p:spPr>
          <a:xfrm>
            <a:off x="1169125" y="425299"/>
            <a:ext cx="9875520" cy="709749"/>
          </a:xfrm>
        </p:spPr>
        <p:txBody>
          <a:bodyPr>
            <a:normAutofit fontScale="90000"/>
          </a:bodyPr>
          <a:lstStyle/>
          <a:p>
            <a:pPr algn="r"/>
            <a:r>
              <a:rPr lang="fa-IR" sz="4800" dirty="0">
                <a:cs typeface="B Nazanin" panose="00000400000000000000" pitchFamily="2" charset="-78"/>
              </a:rPr>
              <a:t>وظایف واحد مدیریت منابع </a:t>
            </a:r>
            <a:r>
              <a:rPr lang="fa-IR" sz="4800" dirty="0" smtClean="0">
                <a:cs typeface="B Nazanin" panose="00000400000000000000" pitchFamily="2" charset="-78"/>
              </a:rPr>
              <a:t>انسانی</a:t>
            </a:r>
            <a:endParaRPr lang="en-US" sz="4800" dirty="0">
              <a:cs typeface="B Nazanin" panose="00000400000000000000" pitchFamily="2" charset="-78"/>
            </a:endParaRPr>
          </a:p>
        </p:txBody>
      </p:sp>
      <p:cxnSp>
        <p:nvCxnSpPr>
          <p:cNvPr id="8" name="Straight Connector 7"/>
          <p:cNvCxnSpPr/>
          <p:nvPr/>
        </p:nvCxnSpPr>
        <p:spPr>
          <a:xfrm>
            <a:off x="888274" y="1240973"/>
            <a:ext cx="10437223" cy="13063"/>
          </a:xfrm>
          <a:prstGeom prst="line">
            <a:avLst/>
          </a:prstGeom>
        </p:spPr>
        <p:style>
          <a:lnRef idx="3">
            <a:schemeClr val="accent1"/>
          </a:lnRef>
          <a:fillRef idx="0">
            <a:schemeClr val="accent1"/>
          </a:fillRef>
          <a:effectRef idx="2">
            <a:schemeClr val="accent1"/>
          </a:effectRef>
          <a:fontRef idx="minor">
            <a:schemeClr val="tx1"/>
          </a:fontRef>
        </p:style>
      </p:cxnSp>
    </p:spTree>
    <p:extLst>
      <p:ext uri="{BB962C8B-B14F-4D97-AF65-F5344CB8AC3E}">
        <p14:creationId xmlns:p14="http://schemas.microsoft.com/office/powerpoint/2010/main" val="2625946346"/>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bg>
      <p:bgPr>
        <a:solidFill>
          <a:schemeClr val="accent1"/>
        </a:solidFill>
        <a:effectLst/>
      </p:bgPr>
    </p:bg>
    <p:spTree>
      <p:nvGrpSpPr>
        <p:cNvPr id="1" name=""/>
        <p:cNvGrpSpPr/>
        <p:nvPr/>
      </p:nvGrpSpPr>
      <p:grpSpPr>
        <a:xfrm>
          <a:off x="0" y="0"/>
          <a:ext cx="0" cy="0"/>
          <a:chOff x="0" y="0"/>
          <a:chExt cx="0" cy="0"/>
        </a:xfrm>
      </p:grpSpPr>
      <p:sp>
        <p:nvSpPr>
          <p:cNvPr id="24" name="Rectangle 23">
            <a:extLst>
              <a:ext uri="{FF2B5EF4-FFF2-40B4-BE49-F238E27FC236}">
                <a16:creationId xmlns:a16="http://schemas.microsoft.com/office/drawing/2014/main" id="{E3DC42C2-6B58-404C-B339-2C72808A5BE1}"/>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31140" y="243840"/>
            <a:ext cx="11724640" cy="6377939"/>
          </a:xfrm>
          <a:prstGeom prst="rect">
            <a:avLst/>
          </a:prstGeom>
          <a:solidFill>
            <a:schemeClr val="accent1"/>
          </a:solidFill>
          <a:ln w="12700">
            <a:solidFill>
              <a:srgbClr val="FFFFFF"/>
            </a:solidFill>
          </a:ln>
        </p:spPr>
        <p:style>
          <a:lnRef idx="2">
            <a:schemeClr val="accent1">
              <a:shade val="50000"/>
            </a:schemeClr>
          </a:lnRef>
          <a:fillRef idx="1">
            <a:schemeClr val="accent1"/>
          </a:fillRef>
          <a:effectRef idx="0">
            <a:schemeClr val="accent1"/>
          </a:effectRef>
          <a:fontRef idx="minor">
            <a:schemeClr val="lt1"/>
          </a:fontRef>
        </p:style>
      </p:sp>
      <p:sp>
        <p:nvSpPr>
          <p:cNvPr id="2" name="Title 1">
            <a:extLst>
              <a:ext uri="{FF2B5EF4-FFF2-40B4-BE49-F238E27FC236}">
                <a16:creationId xmlns:a16="http://schemas.microsoft.com/office/drawing/2014/main" id="{A0D81407-D1A6-42DD-AE7A-4FA34ACD1317}"/>
              </a:ext>
            </a:extLst>
          </p:cNvPr>
          <p:cNvSpPr>
            <a:spLocks noGrp="1"/>
          </p:cNvSpPr>
          <p:nvPr>
            <p:ph type="title"/>
          </p:nvPr>
        </p:nvSpPr>
        <p:spPr>
          <a:xfrm>
            <a:off x="6096000" y="609600"/>
            <a:ext cx="5038844" cy="1356360"/>
          </a:xfrm>
        </p:spPr>
        <p:txBody>
          <a:bodyPr>
            <a:normAutofit/>
          </a:bodyPr>
          <a:lstStyle/>
          <a:p>
            <a:pPr algn="ctr"/>
            <a:r>
              <a:rPr lang="fa-IR" sz="8000" dirty="0" smtClean="0">
                <a:solidFill>
                  <a:srgbClr val="FFFFFF"/>
                </a:solidFill>
                <a:cs typeface="B Nazanin" panose="00000400000000000000" pitchFamily="2" charset="-78"/>
              </a:rPr>
              <a:t>پایان</a:t>
            </a:r>
            <a:endParaRPr lang="en-US" dirty="0">
              <a:solidFill>
                <a:srgbClr val="FFFFFF"/>
              </a:solidFill>
              <a:cs typeface="B Nazanin" panose="00000400000000000000" pitchFamily="2" charset="-78"/>
            </a:endParaRPr>
          </a:p>
        </p:txBody>
      </p:sp>
      <p:pic>
        <p:nvPicPr>
          <p:cNvPr id="4" name="Picture 3" descr="Two people climbing a mountain">
            <a:extLst>
              <a:ext uri="{FF2B5EF4-FFF2-40B4-BE49-F238E27FC236}">
                <a16:creationId xmlns:a16="http://schemas.microsoft.com/office/drawing/2014/main" id="{629F2A20-8FE1-4EA2-AE83-45314542A65B}"/>
              </a:ext>
            </a:extLst>
          </p:cNvPr>
          <p:cNvPicPr>
            <a:picLocks noChangeAspect="1"/>
          </p:cNvPicPr>
          <p:nvPr/>
        </p:nvPicPr>
        <p:blipFill rotWithShape="1">
          <a:blip r:embed="rId2" cstate="print">
            <a:extLst>
              <a:ext uri="{28A0092B-C50C-407E-A947-70E740481C1C}">
                <a14:useLocalDpi xmlns:a14="http://schemas.microsoft.com/office/drawing/2010/main"/>
              </a:ext>
            </a:extLst>
          </a:blip>
          <a:srcRect t="2278" b="2278"/>
          <a:stretch/>
        </p:blipFill>
        <p:spPr>
          <a:xfrm>
            <a:off x="232860" y="243840"/>
            <a:ext cx="5432443" cy="6377939"/>
          </a:xfrm>
          <a:prstGeom prst="rect">
            <a:avLst/>
          </a:prstGeom>
        </p:spPr>
      </p:pic>
      <p:sp>
        <p:nvSpPr>
          <p:cNvPr id="8" name="Content Placeholder 7">
            <a:extLst>
              <a:ext uri="{FF2B5EF4-FFF2-40B4-BE49-F238E27FC236}">
                <a16:creationId xmlns:a16="http://schemas.microsoft.com/office/drawing/2014/main" id="{41FF5D4E-7134-4EA4-BA11-FE50F4576B73}"/>
              </a:ext>
            </a:extLst>
          </p:cNvPr>
          <p:cNvSpPr>
            <a:spLocks noGrp="1"/>
          </p:cNvSpPr>
          <p:nvPr>
            <p:ph idx="1"/>
          </p:nvPr>
        </p:nvSpPr>
        <p:spPr>
          <a:xfrm>
            <a:off x="6096000" y="2057400"/>
            <a:ext cx="5038844" cy="4038600"/>
          </a:xfrm>
        </p:spPr>
        <p:txBody>
          <a:bodyPr>
            <a:normAutofit/>
          </a:bodyPr>
          <a:lstStyle/>
          <a:p>
            <a:pPr marL="45720" indent="0" algn="ctr">
              <a:buNone/>
            </a:pPr>
            <a:r>
              <a:rPr lang="en-US" dirty="0" smtClean="0">
                <a:solidFill>
                  <a:srgbClr val="FFFFFF"/>
                </a:solidFill>
              </a:rPr>
              <a:t>Afshin.Abbaspour@gmail.com</a:t>
            </a:r>
            <a:endParaRPr lang="en-US" dirty="0">
              <a:solidFill>
                <a:srgbClr val="FFFFFF"/>
              </a:solidFill>
            </a:endParaRPr>
          </a:p>
          <a:p>
            <a:pPr algn="ctr"/>
            <a:endParaRPr lang="en-US" dirty="0">
              <a:solidFill>
                <a:srgbClr val="FFFFFF"/>
              </a:solidFill>
            </a:endParaRPr>
          </a:p>
        </p:txBody>
      </p:sp>
      <p:sp>
        <p:nvSpPr>
          <p:cNvPr id="26" name="Rectangle 25">
            <a:extLst>
              <a:ext uri="{FF2B5EF4-FFF2-40B4-BE49-F238E27FC236}">
                <a16:creationId xmlns:a16="http://schemas.microsoft.com/office/drawing/2014/main" id="{FCF82941-5589-49BF-B6B1-76122B2D0EA6}"/>
              </a:ext>
              <a:ext uri="{C183D7F6-B498-43B3-948B-1728B52AA6E4}">
                <adec:decorative xmlns:adec="http://schemas.microsoft.com/office/drawing/2017/decorative" xmlns="" val="1"/>
              </a:ext>
            </a:extLst>
          </p:cNvPr>
          <p:cNvSpPr>
            <a:spLocks noGrp="1" noRot="1" noChangeAspect="1" noMove="1" noResize="1" noEditPoints="1" noAdjustHandles="1" noChangeArrowheads="1" noChangeShapeType="1" noTextEdit="1"/>
          </p:cNvSpPr>
          <p:nvPr>
            <p:extLst>
              <p:ext uri="{386F3935-93C4-4BCD-93E2-E3B085C9AB24}">
                <p16:designElem xmlns:p16="http://schemas.microsoft.com/office/powerpoint/2015/main" val="1"/>
              </p:ext>
            </p:extLst>
          </p:nvPr>
        </p:nvSpPr>
        <p:spPr>
          <a:xfrm>
            <a:off x="228600" y="243840"/>
            <a:ext cx="11724640" cy="6377939"/>
          </a:xfrm>
          <a:prstGeom prst="rect">
            <a:avLst/>
          </a:prstGeom>
          <a:noFill/>
          <a:ln w="12700">
            <a:solidFill>
              <a:schemeClr val="bg1"/>
            </a:solidFill>
          </a:ln>
        </p:spPr>
        <p:style>
          <a:lnRef idx="2">
            <a:schemeClr val="accent1">
              <a:shade val="50000"/>
            </a:schemeClr>
          </a:lnRef>
          <a:fillRef idx="1">
            <a:schemeClr val="accent1"/>
          </a:fillRef>
          <a:effectRef idx="0">
            <a:schemeClr val="accent1"/>
          </a:effectRef>
          <a:fontRef idx="minor">
            <a:schemeClr val="lt1"/>
          </a:fontRef>
        </p:style>
      </p:sp>
    </p:spTree>
    <p:extLst>
      <p:ext uri="{BB962C8B-B14F-4D97-AF65-F5344CB8AC3E}">
        <p14:creationId xmlns:p14="http://schemas.microsoft.com/office/powerpoint/2010/main" val="1646983618"/>
      </p:ext>
    </p:extLst>
  </p:cSld>
  <p:clrMapOvr>
    <a:masterClrMapping/>
  </p:clrMapOvr>
  <p:timing>
    <p:tnLst>
      <p:par>
        <p:cTn id="1" dur="indefinite" restart="never" nodeType="tmRoot"/>
      </p:par>
    </p:tnLst>
  </p:timing>
</p:sld>
</file>

<file path=ppt/theme/theme1.xml><?xml version="1.0" encoding="utf-8"?>
<a:theme xmlns:a="http://schemas.openxmlformats.org/drawingml/2006/main" name="Basis">
  <a:themeElements>
    <a:clrScheme name="Blue Green">
      <a:dk1>
        <a:sysClr val="windowText" lastClr="000000"/>
      </a:dk1>
      <a:lt1>
        <a:sysClr val="window" lastClr="FFFFFF"/>
      </a:lt1>
      <a:dk2>
        <a:srgbClr val="373545"/>
      </a:dk2>
      <a:lt2>
        <a:srgbClr val="CEDBE6"/>
      </a:lt2>
      <a:accent1>
        <a:srgbClr val="3494BA"/>
      </a:accent1>
      <a:accent2>
        <a:srgbClr val="58B6C0"/>
      </a:accent2>
      <a:accent3>
        <a:srgbClr val="75BDA7"/>
      </a:accent3>
      <a:accent4>
        <a:srgbClr val="7A8C8E"/>
      </a:accent4>
      <a:accent5>
        <a:srgbClr val="84ACB6"/>
      </a:accent5>
      <a:accent6>
        <a:srgbClr val="2683C6"/>
      </a:accent6>
      <a:hlink>
        <a:srgbClr val="6B9F25"/>
      </a:hlink>
      <a:folHlink>
        <a:srgbClr val="9F6715"/>
      </a:folHlink>
    </a:clrScheme>
    <a:fontScheme name="Basis">
      <a:maj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orbel" panose="020B0503020204020204"/>
        <a:ea typeface=""/>
        <a:cs typeface=""/>
        <a:font script="Jpan" typeface="ＭＳ ゴシック"/>
        <a:font script="Hang" typeface="맑은 고딕"/>
        <a:font script="Hans" typeface="宋体"/>
        <a:font script="Hant" typeface="新細明體"/>
        <a:font script="Arab" typeface="Tahoma"/>
        <a:font script="Hebr" typeface="Gisha"/>
        <a:font script="Thai" typeface="DilleniaUPC"/>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Verdana"/>
        <a:font script="Uigh" typeface="Microsoft Uighur"/>
        <a:font script="Geor" typeface="Sylfaen"/>
      </a:minorFont>
    </a:fontScheme>
    <a:fmtScheme name="Basis">
      <a:fillStyleLst>
        <a:solidFill>
          <a:schemeClr val="phClr"/>
        </a:solidFill>
        <a:solidFill>
          <a:schemeClr val="phClr">
            <a:tint val="55000"/>
            <a:satMod val="130000"/>
          </a:schemeClr>
        </a:solidFill>
        <a:gradFill rotWithShape="1">
          <a:gsLst>
            <a:gs pos="0">
              <a:schemeClr val="phClr"/>
            </a:gs>
            <a:gs pos="90000">
              <a:schemeClr val="phClr">
                <a:shade val="100000"/>
                <a:satMod val="105000"/>
              </a:schemeClr>
            </a:gs>
            <a:gs pos="100000">
              <a:schemeClr val="phClr">
                <a:shade val="80000"/>
                <a:satMod val="120000"/>
              </a:schemeClr>
            </a:gs>
          </a:gsLst>
          <a:path path="circle">
            <a:fillToRect l="100000" t="100000" r="100000" b="100000"/>
          </a:path>
        </a:gradFill>
      </a:fillStyleLst>
      <a:lnStyleLst>
        <a:ln w="10000" cap="flat" cmpd="sng" algn="ctr">
          <a:solidFill>
            <a:schemeClr val="phClr"/>
          </a:solidFill>
          <a:prstDash val="solid"/>
        </a:ln>
        <a:ln w="19050" cap="flat" cmpd="sng" algn="ctr">
          <a:solidFill>
            <a:schemeClr val="phClr"/>
          </a:solidFill>
          <a:prstDash val="solid"/>
        </a:ln>
        <a:ln w="53975" cap="flat" cmpd="dbl" algn="ctr">
          <a:solidFill>
            <a:schemeClr val="phClr"/>
          </a:solidFill>
          <a:prstDash val="solid"/>
        </a:ln>
      </a:lnStyleLst>
      <a:effectStyleLst>
        <a:effectStyle>
          <a:effectLst/>
        </a:effectStyle>
        <a:effectStyle>
          <a:effectLst>
            <a:outerShdw blurRad="38100" dist="25400" dir="5400000" rotWithShape="0">
              <a:srgbClr val="000000">
                <a:alpha val="45000"/>
              </a:srgbClr>
            </a:outerShdw>
          </a:effectLst>
        </a:effectStyle>
        <a:effectStyle>
          <a:effectLst>
            <a:outerShdw blurRad="38100" dist="25400" dir="5400000" rotWithShape="0">
              <a:srgbClr val="000000">
                <a:alpha val="45000"/>
              </a:srgbClr>
            </a:outerShdw>
          </a:effectLst>
          <a:scene3d>
            <a:camera prst="orthographicFront">
              <a:rot lat="0" lon="0" rev="0"/>
            </a:camera>
            <a:lightRig rig="brightRoom" dir="t"/>
          </a:scene3d>
          <a:sp3d extrusionH="12700" contourW="25400" prstMaterial="flat">
            <a:bevelT w="63500" h="152400" prst="angle"/>
            <a:contourClr>
              <a:schemeClr val="phClr">
                <a:shade val="27000"/>
                <a:satMod val="120000"/>
              </a:schemeClr>
            </a:contourClr>
          </a:sp3d>
        </a:effectStyle>
      </a:effectStyleLst>
      <a:bgFillStyleLst>
        <a:solidFill>
          <a:schemeClr val="phClr"/>
        </a:solidFill>
        <a:solidFill>
          <a:schemeClr val="phClr">
            <a:tint val="95000"/>
            <a:shade val="95000"/>
            <a:satMod val="140000"/>
          </a:schemeClr>
        </a:solidFill>
        <a:solidFill>
          <a:schemeClr val="phClr">
            <a:tint val="90000"/>
            <a:shade val="85000"/>
            <a:satMod val="160000"/>
            <a:lumMod val="110000"/>
          </a:schemeClr>
        </a:solidFill>
      </a:bgFillStyleLst>
    </a:fmtScheme>
  </a:themeElements>
  <a:objectDefaults/>
  <a:extraClrSchemeLst/>
  <a:extLst>
    <a:ext uri="{05A4C25C-085E-4340-85A3-A5531E510DB2}">
      <thm15:themeFamily xmlns:thm15="http://schemas.microsoft.com/office/thememl/2012/main" name="Basis" id="{5665723A-49BA-4B57-8411-A56F8F207965}" vid="{90E45F77-AEFC-46EF-A7C1-5B338C297B02}"/>
    </a:ext>
  </a:extLst>
</a:theme>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ct:contentTypeSchema xmlns:ct="http://schemas.microsoft.com/office/2006/metadata/contentType" xmlns:ma="http://schemas.microsoft.com/office/2006/metadata/properties/metaAttributes" ct:_="" ma:_="" ma:contentTypeName="Document" ma:contentTypeID="0x01010079F111ED35F8CC479449609E8A0923A6" ma:contentTypeVersion="11" ma:contentTypeDescription="Create a new document." ma:contentTypeScope="" ma:versionID="1c2eb7a32e66fb6e4260f3771546a5e2">
  <xsd:schema xmlns:xsd="http://www.w3.org/2001/XMLSchema" xmlns:xs="http://www.w3.org/2001/XMLSchema" xmlns:p="http://schemas.microsoft.com/office/2006/metadata/properties" xmlns:ns2="71af3243-3dd4-4a8d-8c0d-dd76da1f02a5" xmlns:ns3="16c05727-aa75-4e4a-9b5f-8a80a1165891" targetNamespace="http://schemas.microsoft.com/office/2006/metadata/properties" ma:root="true" ma:fieldsID="04e1f6479c48b08974ba73b5ca973489" ns2:_="" ns3:_="">
    <xsd:import namespace="71af3243-3dd4-4a8d-8c0d-dd76da1f02a5"/>
    <xsd:import namespace="16c05727-aa75-4e4a-9b5f-8a80a1165891"/>
    <xsd:element name="properties">
      <xsd:complexType>
        <xsd:sequence>
          <xsd:element name="documentManagement">
            <xsd:complexType>
              <xsd:all>
                <xsd:element ref="ns2:MediaServiceMetadata" minOccurs="0"/>
                <xsd:element ref="ns2:MediaServiceFastMetadata" minOccurs="0"/>
                <xsd:element ref="ns2:MediaServiceOCR" minOccurs="0"/>
                <xsd:element ref="ns2:MediaServiceAutoTags" minOccurs="0"/>
                <xsd:element ref="ns2:MediaServiceEventHashCode" minOccurs="0"/>
                <xsd:element ref="ns2:MediaServiceGenerationTime" minOccurs="0"/>
                <xsd:element ref="ns3:SharedWithUsers" minOccurs="0"/>
                <xsd:element ref="ns3:SharedWithDetails" minOccurs="0"/>
                <xsd:element ref="ns2:MediaServiceAutoKeyPoints" minOccurs="0"/>
                <xsd:element ref="ns2:MediaServiceKeyPoints" minOccurs="0"/>
                <xsd:element ref="ns2:MediaServiceDateTaken"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71af3243-3dd4-4a8d-8c0d-dd76da1f02a5"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OCR" ma:index="10" nillable="true" ma:displayName="MediaServiceOCR" ma:internalName="MediaServiceOCR" ma:readOnly="true">
      <xsd:simpleType>
        <xsd:restriction base="dms:Note">
          <xsd:maxLength value="255"/>
        </xsd:restriction>
      </xsd:simpleType>
    </xsd:element>
    <xsd:element name="MediaServiceAutoTags" ma:index="11" nillable="true" ma:displayName="MediaServiceAutoTags" ma:internalName="MediaServiceAutoTags" ma:readOnly="true">
      <xsd:simpleType>
        <xsd:restriction base="dms:Text"/>
      </xsd:simpleType>
    </xsd:element>
    <xsd:element name="MediaServiceEventHashCode" ma:index="12" nillable="true" ma:displayName="MediaServiceEventHashCode" ma:hidden="true" ma:internalName="MediaServiceEventHashCode" ma:readOnly="true">
      <xsd:simpleType>
        <xsd:restriction base="dms:Text"/>
      </xsd:simpleType>
    </xsd:element>
    <xsd:element name="MediaServiceGenerationTime" ma:index="13" nillable="true" ma:displayName="MediaServiceGenerationTime" ma:hidden="true" ma:internalName="MediaServiceGenerationTime" ma:readOnly="true">
      <xsd:simpleType>
        <xsd:restriction base="dms:Text"/>
      </xsd:simpleType>
    </xsd:element>
    <xsd:element name="MediaServiceAutoKeyPoints" ma:index="16" nillable="true" ma:displayName="MediaServiceAutoKeyPoints" ma:hidden="true" ma:internalName="MediaServiceAutoKeyPoints" ma:readOnly="true">
      <xsd:simpleType>
        <xsd:restriction base="dms:Note"/>
      </xsd:simpleType>
    </xsd:element>
    <xsd:element name="MediaServiceKeyPoints" ma:index="17" nillable="true" ma:displayName="KeyPoints" ma:internalName="MediaServiceKeyPoints" ma:readOnly="false">
      <xsd:simpleType>
        <xsd:restriction base="dms:Note">
          <xsd:maxLength value="255"/>
        </xsd:restriction>
      </xsd:simpleType>
    </xsd:element>
    <xsd:element name="MediaServiceDateTaken" ma:index="18" nillable="true" ma:displayName="MediaServiceDateTaken" ma:hidden="true" ma:internalName="MediaServiceDateTaken" ma:readOnly="true">
      <xsd:simpleType>
        <xsd:restriction base="dms:Text"/>
      </xsd:simpleType>
    </xsd:element>
  </xsd:schema>
  <xsd:schema xmlns:xsd="http://www.w3.org/2001/XMLSchema" xmlns:xs="http://www.w3.org/2001/XMLSchema" xmlns:dms="http://schemas.microsoft.com/office/2006/documentManagement/types" xmlns:pc="http://schemas.microsoft.com/office/infopath/2007/PartnerControls" targetNamespace="16c05727-aa75-4e4a-9b5f-8a80a1165891" elementFormDefault="qualified">
    <xsd:import namespace="http://schemas.microsoft.com/office/2006/documentManagement/types"/>
    <xsd:import namespace="http://schemas.microsoft.com/office/infopath/2007/PartnerControls"/>
    <xsd:element name="SharedWithUsers" ma:index="14"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5" nillable="true" ma:displayName="Shared With Details" ma:internalName="SharedWithDetails" ma:readOnly="true">
      <xsd:simpleType>
        <xsd:restriction base="dms:Note">
          <xsd:maxLength value="255"/>
        </xsd:restriction>
      </xsd:simple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2.xml><?xml version="1.0" encoding="utf-8"?>
<p:properties xmlns:p="http://schemas.microsoft.com/office/2006/metadata/properties" xmlns:xsi="http://www.w3.org/2001/XMLSchema-instance" xmlns:pc="http://schemas.microsoft.com/office/infopath/2007/PartnerControls">
  <documentManagement>
    <MediaServiceKeyPoints xmlns="71af3243-3dd4-4a8d-8c0d-dd76da1f02a5" xsi:nil="true"/>
  </documentManagement>
</p:properties>
</file>

<file path=customXml/item3.xml><?xml version="1.0" encoding="utf-8"?>
<?mso-contentType ?>
<FormTemplates xmlns="http://schemas.microsoft.com/sharepoint/v3/contenttype/forms">
  <Display>DocumentLibraryForm</Display>
  <Edit>DocumentLibraryForm</Edit>
  <New>DocumentLibraryForm</New>
</FormTemplates>
</file>

<file path=customXml/itemProps1.xml><?xml version="1.0" encoding="utf-8"?>
<ds:datastoreItem xmlns:ds="http://schemas.openxmlformats.org/officeDocument/2006/customXml" ds:itemID="{55813238-AF3D-40EB-A3A4-550AB85131D4}">
  <ds:schemaRefs>
    <ds:schemaRef ds:uri="http://schemas.microsoft.com/office/2006/metadata/contentType"/>
    <ds:schemaRef ds:uri="http://schemas.microsoft.com/office/2006/metadata/properties/metaAttributes"/>
    <ds:schemaRef ds:uri="http://www.w3.org/2001/XMLSchema"/>
    <ds:schemaRef ds:uri="http://schemas.microsoft.com/office/2006/metadata/properties"/>
    <ds:schemaRef ds:uri="71af3243-3dd4-4a8d-8c0d-dd76da1f02a5"/>
    <ds:schemaRef ds:uri="16c05727-aa75-4e4a-9b5f-8a80a1165891"/>
    <ds:schemaRef ds:uri="http://schemas.microsoft.com/office/2006/documentManagement/types"/>
    <ds:schemaRef ds:uri="http://schemas.microsoft.com/office/infopath/2007/PartnerControls"/>
    <ds:schemaRef ds:uri="http://schemas.openxmlformats.org/package/2006/metadata/core-properties"/>
    <ds:schemaRef ds:uri="http://purl.org/dc/elements/1.1/"/>
    <ds:schemaRef ds:uri="http://purl.org/dc/terms/"/>
    <ds:schemaRef ds:uri="http://schemas.microsoft.com/internal/obd"/>
  </ds:schemaRefs>
</ds:datastoreItem>
</file>

<file path=customXml/itemProps2.xml><?xml version="1.0" encoding="utf-8"?>
<ds:datastoreItem xmlns:ds="http://schemas.openxmlformats.org/officeDocument/2006/customXml" ds:itemID="{4965EBD3-98B5-4FD2-8FAF-5D4022A9F7F4}">
  <ds:schemaRefs>
    <ds:schemaRef ds:uri="http://purl.org/dc/elements/1.1/"/>
    <ds:schemaRef ds:uri="http://schemas.microsoft.com/office/2006/metadata/properties"/>
    <ds:schemaRef ds:uri="http://schemas.microsoft.com/office/2006/documentManagement/types"/>
    <ds:schemaRef ds:uri="http://schemas.microsoft.com/office/infopath/2007/PartnerControls"/>
    <ds:schemaRef ds:uri="http://purl.org/dc/terms/"/>
    <ds:schemaRef ds:uri="71af3243-3dd4-4a8d-8c0d-dd76da1f02a5"/>
    <ds:schemaRef ds:uri="http://schemas.openxmlformats.org/package/2006/metadata/core-properties"/>
    <ds:schemaRef ds:uri="16c05727-aa75-4e4a-9b5f-8a80a1165891"/>
    <ds:schemaRef ds:uri="http://www.w3.org/XML/1998/namespace"/>
    <ds:schemaRef ds:uri="http://purl.org/dc/dcmitype/"/>
  </ds:schemaRefs>
</ds:datastoreItem>
</file>

<file path=customXml/itemProps3.xml><?xml version="1.0" encoding="utf-8"?>
<ds:datastoreItem xmlns:ds="http://schemas.openxmlformats.org/officeDocument/2006/customXml" ds:itemID="{204E1485-0760-4ABF-A612-28A97B86DF09}">
  <ds:schemaRefs>
    <ds:schemaRef ds:uri="http://schemas.microsoft.com/sharepoint/v3/contenttype/forms"/>
  </ds:schemaRefs>
</ds:datastoreItem>
</file>

<file path=docProps/app.xml><?xml version="1.0" encoding="utf-8"?>
<Properties xmlns="http://schemas.openxmlformats.org/officeDocument/2006/extended-properties" xmlns:vt="http://schemas.openxmlformats.org/officeDocument/2006/docPropsVTypes">
  <Template>Tourism Facet design</Template>
  <TotalTime>0</TotalTime>
  <Words>1064</Words>
  <Application>Microsoft Office PowerPoint</Application>
  <PresentationFormat>Widescreen</PresentationFormat>
  <Paragraphs>98</Paragraphs>
  <Slides>12</Slides>
  <Notes>0</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12</vt:i4>
      </vt:variant>
    </vt:vector>
  </HeadingPairs>
  <TitlesOfParts>
    <vt:vector size="19" baseType="lpstr">
      <vt:lpstr>Arial</vt:lpstr>
      <vt:lpstr>B Nazanin</vt:lpstr>
      <vt:lpstr>Corbel</vt:lpstr>
      <vt:lpstr>IRANSans</vt:lpstr>
      <vt:lpstr>Tahoma</vt:lpstr>
      <vt:lpstr>Wingdings</vt:lpstr>
      <vt:lpstr>Basis</vt:lpstr>
      <vt:lpstr>مدیریت منابع انسانی</vt:lpstr>
      <vt:lpstr>تیلوریسم</vt:lpstr>
      <vt:lpstr>مدیریت منابع انسانی چیست ؟</vt:lpstr>
      <vt:lpstr>وظایف واحد مدیریت منابع انسانی</vt:lpstr>
      <vt:lpstr>وظایف واحد مدیریت منابع انسانی</vt:lpstr>
      <vt:lpstr>وظایف واحد مدیریت منابع انسانی</vt:lpstr>
      <vt:lpstr>شغل و طراحی شغل </vt:lpstr>
      <vt:lpstr>طراحی شغل بر اساس مدل   JCM هاکمن و اولدهام</vt:lpstr>
      <vt:lpstr>وظایف واحد مدیریت منابع انسانی</vt:lpstr>
      <vt:lpstr>وظایف واحد مدیریت منابع انسانی</vt:lpstr>
      <vt:lpstr>وظایف واحد مدیریت منابع انسانی</vt:lpstr>
      <vt:lpstr>پایان</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
  <cp:lastModifiedBy/>
  <cp:revision>1</cp:revision>
  <dcterms:created xsi:type="dcterms:W3CDTF">2019-02-05T10:32:05Z</dcterms:created>
  <dcterms:modified xsi:type="dcterms:W3CDTF">2019-06-19T13:37:07Z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0x01010079F111ED35F8CC479449609E8A0923A6</vt:lpwstr>
  </property>
</Properties>
</file>