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876" r:id="rId4"/>
  </p:sldMasterIdLst>
  <p:notesMasterIdLst>
    <p:notesMasterId r:id="rId22"/>
  </p:notesMasterIdLst>
  <p:sldIdLst>
    <p:sldId id="256" r:id="rId5"/>
    <p:sldId id="265" r:id="rId6"/>
    <p:sldId id="257" r:id="rId7"/>
    <p:sldId id="266" r:id="rId8"/>
    <p:sldId id="267" r:id="rId9"/>
    <p:sldId id="264" r:id="rId10"/>
    <p:sldId id="268" r:id="rId11"/>
    <p:sldId id="270" r:id="rId12"/>
    <p:sldId id="269" r:id="rId13"/>
    <p:sldId id="271" r:id="rId14"/>
    <p:sldId id="272" r:id="rId15"/>
    <p:sldId id="273" r:id="rId16"/>
    <p:sldId id="274" r:id="rId17"/>
    <p:sldId id="275" r:id="rId18"/>
    <p:sldId id="277" r:id="rId19"/>
    <p:sldId id="276" r:id="rId20"/>
    <p:sldId id="26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1D2D3"/>
    <a:srgbClr val="CC6600"/>
    <a:srgbClr val="9933FF"/>
    <a:srgbClr val="006600"/>
    <a:srgbClr val="800000"/>
    <a:srgbClr val="F9C3A1"/>
    <a:srgbClr val="F7ABE1"/>
    <a:srgbClr val="BCFCBE"/>
    <a:srgbClr val="3494BA"/>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42" autoAdjust="0"/>
    <p:restoredTop sz="94660"/>
  </p:normalViewPr>
  <p:slideViewPr>
    <p:cSldViewPr snapToGrid="0">
      <p:cViewPr varScale="1">
        <p:scale>
          <a:sx n="73" d="100"/>
          <a:sy n="73" d="100"/>
        </p:scale>
        <p:origin x="4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9-06-26T11:33:13.694" idx="1">
    <p:pos x="10" y="10"/>
    <p:text>http://dl.motamem.org/Competency-List-Motamem-Org.pdf</p:text>
    <p:extLst>
      <p:ext uri="{C676402C-5697-4E1C-873F-D02D1690AC5C}">
        <p15:threadingInfo xmlns:p15="http://schemas.microsoft.com/office/powerpoint/2012/main" timeZoneBias="-27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A43D18-E659-4DF6-B522-01D355E35B0B}" type="datetimeFigureOut">
              <a:rPr lang="en-US" smtClean="0"/>
              <a:t>7/7/2019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7D4EE-6606-4A28-814B-A4967E65308B}" type="slidenum">
              <a:rPr lang="en-US" smtClean="0"/>
              <a:t>‹#›</a:t>
            </a:fld>
            <a:endParaRPr lang="en-US"/>
          </a:p>
        </p:txBody>
      </p:sp>
    </p:spTree>
    <p:extLst>
      <p:ext uri="{BB962C8B-B14F-4D97-AF65-F5344CB8AC3E}">
        <p14:creationId xmlns:p14="http://schemas.microsoft.com/office/powerpoint/2010/main" val="2648098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dl.motamem.org/Competency-List-Motamem-Org.pdf"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http://dl.motamem.org/Competency-List-Motamem-Org.pdf</a:t>
            </a:r>
            <a:endParaRPr lang="en-US" dirty="0"/>
          </a:p>
        </p:txBody>
      </p:sp>
      <p:sp>
        <p:nvSpPr>
          <p:cNvPr id="4" name="Slide Number Placeholder 3"/>
          <p:cNvSpPr>
            <a:spLocks noGrp="1"/>
          </p:cNvSpPr>
          <p:nvPr>
            <p:ph type="sldNum" sz="quarter" idx="10"/>
          </p:nvPr>
        </p:nvSpPr>
        <p:spPr/>
        <p:txBody>
          <a:bodyPr/>
          <a:lstStyle/>
          <a:p>
            <a:fld id="{5E47D4EE-6606-4A28-814B-A4967E65308B}" type="slidenum">
              <a:rPr lang="en-US" smtClean="0"/>
              <a:t>11</a:t>
            </a:fld>
            <a:endParaRPr lang="en-US"/>
          </a:p>
        </p:txBody>
      </p:sp>
    </p:spTree>
    <p:extLst>
      <p:ext uri="{BB962C8B-B14F-4D97-AF65-F5344CB8AC3E}">
        <p14:creationId xmlns:p14="http://schemas.microsoft.com/office/powerpoint/2010/main" val="1964202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4" name="Date Placeholder 3"/>
          <p:cNvSpPr>
            <a:spLocks noGrp="1"/>
          </p:cNvSpPr>
          <p:nvPr>
            <p:ph type="dt" sz="half" idx="10"/>
          </p:nvPr>
        </p:nvSpPr>
        <p:spPr/>
        <p:txBody>
          <a:bodyPr/>
          <a:lstStyle>
            <a:lvl1pPr>
              <a:defRPr>
                <a:solidFill>
                  <a:srgbClr val="FFFFFF"/>
                </a:solidFill>
              </a:defRPr>
            </a:lvl1pPr>
          </a:lstStyle>
          <a:p>
            <a:fld id="{9AB3A824-1A51-4B26-AD58-A6D8E14F6C04}" type="datetimeFigureOut">
              <a:rPr lang="en-US" noProof="0" smtClean="0"/>
              <a:t>7/7/2019</a:t>
            </a:fld>
            <a:endParaRPr lang="en-US" noProof="0" dirty="0"/>
          </a:p>
        </p:txBody>
      </p:sp>
      <p:sp>
        <p:nvSpPr>
          <p:cNvPr id="5" name="Footer Placeholder 4"/>
          <p:cNvSpPr>
            <a:spLocks noGrp="1"/>
          </p:cNvSpPr>
          <p:nvPr>
            <p:ph type="ftr" sz="quarter" idx="11"/>
          </p:nvPr>
        </p:nvSpPr>
        <p:spPr/>
        <p:txBody>
          <a:bodyPr/>
          <a:lstStyle>
            <a:lvl1pPr>
              <a:defRPr>
                <a:solidFill>
                  <a:srgbClr val="FFFFFF"/>
                </a:solidFill>
              </a:defRPr>
            </a:lvl1pPr>
          </a:lstStyle>
          <a:p>
            <a:r>
              <a:rPr lang="en-US" noProof="0" dirty="0"/>
              <a:t>
              </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6D22F896-40B5-4ADD-8801-0D06FADFA095}" type="slidenum">
              <a:rPr lang="en-US" noProof="0" smtClean="0"/>
              <a:t>‹#›</a:t>
            </a:fld>
            <a:endParaRPr lang="en-US" noProof="0"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78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Content Placeholder 2"/>
          <p:cNvSpPr>
            <a:spLocks noGrp="1"/>
          </p:cNvSpPr>
          <p:nvPr>
            <p:ph idx="1"/>
          </p:nvPr>
        </p:nvSpPr>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97D162C4-EDD9-4389-A98B-B87ECEA2A816}" type="datetimeFigureOut">
              <a:rPr lang="en-US" noProof="0" smtClean="0"/>
              <a:t>7/7/2019</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472039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7/7/2019</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3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noProof="0" smtClean="0"/>
              <a:t>Click to edit Master title style</a:t>
            </a:r>
            <a:endParaRPr lang="en-US" noProof="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CA954B2F-12DE-47F5-8894-472B206D2E1E}" type="datetimeFigureOut">
              <a:rPr lang="en-US" noProof="0" smtClean="0"/>
              <a:t>7/7/2019</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181670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3CBC1C18-307B-4F68-A007-B5B542270E8D}" type="datetimeFigureOut">
              <a:rPr lang="en-US" noProof="0" smtClean="0"/>
              <a:t>7/7/2019</a:t>
            </a:fld>
            <a:endParaRPr lang="en-US" noProof="0" dirty="0"/>
          </a:p>
        </p:txBody>
      </p:sp>
      <p:sp>
        <p:nvSpPr>
          <p:cNvPr id="8" name="Footer Placeholder 7"/>
          <p:cNvSpPr>
            <a:spLocks noGrp="1"/>
          </p:cNvSpPr>
          <p:nvPr>
            <p:ph type="ftr" sz="quarter" idx="11"/>
          </p:nvPr>
        </p:nvSpPr>
        <p:spPr/>
        <p:txBody>
          <a:bodyPr/>
          <a:lstStyle/>
          <a:p>
            <a:r>
              <a:rPr lang="en-US" noProof="0" dirty="0"/>
              <a:t>
              </a:t>
            </a:r>
          </a:p>
        </p:txBody>
      </p:sp>
      <p:sp>
        <p:nvSpPr>
          <p:cNvPr id="9" name="Slide Number Placeholder 8"/>
          <p:cNvSpPr>
            <a:spLocks noGrp="1"/>
          </p:cNvSpPr>
          <p:nvPr>
            <p:ph type="sldNum" sz="quarter" idx="12"/>
          </p:nvPr>
        </p:nvSpPr>
        <p:spPr/>
        <p:txBody>
          <a:bodyPr/>
          <a:lstStyle/>
          <a:p>
            <a:fld id="{6D22F896-40B5-4ADD-8801-0D06FADFA095}" type="slidenum">
              <a:rPr lang="en-US" noProof="0" smtClean="0"/>
              <a:pPr/>
              <a:t>‹#›</a:t>
            </a:fld>
            <a:endParaRPr lang="en-US" noProof="0" dirty="0"/>
          </a:p>
        </p:txBody>
      </p:sp>
    </p:spTree>
    <p:extLst>
      <p:ext uri="{BB962C8B-B14F-4D97-AF65-F5344CB8AC3E}">
        <p14:creationId xmlns:p14="http://schemas.microsoft.com/office/powerpoint/2010/main" val="19633525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Date Placeholder 2"/>
          <p:cNvSpPr>
            <a:spLocks noGrp="1"/>
          </p:cNvSpPr>
          <p:nvPr>
            <p:ph type="dt" sz="half" idx="10"/>
          </p:nvPr>
        </p:nvSpPr>
        <p:spPr/>
        <p:txBody>
          <a:bodyPr/>
          <a:lstStyle/>
          <a:p>
            <a:fld id="{1FAF3416-4057-4DAA-829D-4CA07428D088}" type="datetimeFigureOut">
              <a:rPr lang="en-US" noProof="0" smtClean="0"/>
              <a:t>7/7/2019</a:t>
            </a:fld>
            <a:endParaRPr lang="en-US" noProof="0" dirty="0"/>
          </a:p>
        </p:txBody>
      </p:sp>
      <p:sp>
        <p:nvSpPr>
          <p:cNvPr id="4" name="Footer Placeholder 3"/>
          <p:cNvSpPr>
            <a:spLocks noGrp="1"/>
          </p:cNvSpPr>
          <p:nvPr>
            <p:ph type="ftr" sz="quarter" idx="11"/>
          </p:nvPr>
        </p:nvSpPr>
        <p:spPr/>
        <p:txBody>
          <a:bodyPr/>
          <a:lstStyle/>
          <a:p>
            <a:r>
              <a:rPr lang="en-US" noProof="0" dirty="0"/>
              <a:t>
              </a:t>
            </a:r>
          </a:p>
        </p:txBody>
      </p:sp>
      <p:sp>
        <p:nvSpPr>
          <p:cNvPr id="5" name="Slide Number Placeholder 4"/>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005428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noProof="0" smtClean="0"/>
              <a:t>7/7/2019</a:t>
            </a:fld>
            <a:endParaRPr lang="en-US" noProof="0" dirty="0"/>
          </a:p>
        </p:txBody>
      </p:sp>
      <p:sp>
        <p:nvSpPr>
          <p:cNvPr id="3" name="Footer Placeholder 2"/>
          <p:cNvSpPr>
            <a:spLocks noGrp="1"/>
          </p:cNvSpPr>
          <p:nvPr>
            <p:ph type="ftr" sz="quarter" idx="11"/>
          </p:nvPr>
        </p:nvSpPr>
        <p:spPr/>
        <p:txBody>
          <a:bodyPr/>
          <a:lstStyle/>
          <a:p>
            <a:r>
              <a:rPr lang="en-US" noProof="0" dirty="0"/>
              <a:t>
              </a:t>
            </a:r>
          </a:p>
        </p:txBody>
      </p:sp>
      <p:sp>
        <p:nvSpPr>
          <p:cNvPr id="4" name="Slide Number Placeholder 3"/>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98825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noProof="0" smtClean="0"/>
              <a:t>Click to edit Master title style</a:t>
            </a:r>
            <a:endParaRPr lang="en-US" noProof="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noProof="0" smtClean="0"/>
              <a:t>7/7/2019</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158383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noProof="0" smtClean="0"/>
              <a:t>Click to edit Master title style</a:t>
            </a:r>
            <a:endParaRPr lang="en-US" noProof="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noProof="0" smtClean="0"/>
              <a:t>7/7/2019</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74084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Vertical Text Placeholder 2"/>
          <p:cNvSpPr>
            <a:spLocks noGrp="1"/>
          </p:cNvSpPr>
          <p:nvPr>
            <p:ph type="body" orient="vert" idx="1"/>
          </p:nvPr>
        </p:nvSpPr>
        <p:spPr/>
        <p:txBody>
          <a:bodyPr vert="eaVert"/>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D857E33E-8B18-4087-B112-809917729534}" type="datetimeFigureOut">
              <a:rPr lang="en-US" noProof="0" smtClean="0"/>
              <a:t>7/7/2019</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4355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noProof="0" smtClean="0"/>
              <a:t>Click to edit Master title style</a:t>
            </a:r>
            <a:endParaRPr lang="en-US" noProof="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D3FFE419-2371-464F-8239-3959401C3561}" type="datetimeFigureOut">
              <a:rPr lang="en-US" noProof="0" smtClean="0"/>
              <a:t>7/7/2019</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1994763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3CBC1C18-307B-4F68-A007-B5B542270E8D}" type="datetimeFigureOut">
              <a:rPr lang="en-US" noProof="0" smtClean="0"/>
              <a:t>7/7/2019</a:t>
            </a:fld>
            <a:endParaRPr lang="en-US" noProof="0"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r>
              <a:rPr lang="en-US" noProof="0" dirty="0"/>
              <a:t>
              </a:t>
            </a: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6D22F896-40B5-4ADD-8801-0D06FADFA095}" type="slidenum">
              <a:rPr lang="en-US" noProof="0" smtClean="0"/>
              <a:pPr/>
              <a:t>‹#›</a:t>
            </a:fld>
            <a:endParaRPr lang="en-US" noProof="0" dirty="0"/>
          </a:p>
        </p:txBody>
      </p:sp>
    </p:spTree>
    <p:extLst>
      <p:ext uri="{BB962C8B-B14F-4D97-AF65-F5344CB8AC3E}">
        <p14:creationId xmlns:p14="http://schemas.microsoft.com/office/powerpoint/2010/main" val="1702258854"/>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sldNum="0"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demo.idealms.ir/onet/"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cxnSp>
        <p:nvCxnSpPr>
          <p:cNvPr id="50" name="Straight Connector 41">
            <a:extLst>
              <a:ext uri="{FF2B5EF4-FFF2-40B4-BE49-F238E27FC236}">
                <a16:creationId xmlns:a16="http://schemas.microsoft.com/office/drawing/2014/main" id="{63FED537-3AF1-4C36-9904-77B6A54D27B5}"/>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5462458"/>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50E78D6-F072-48E7-8270-20EFBDD26F36}"/>
              </a:ext>
            </a:extLst>
          </p:cNvPr>
          <p:cNvSpPr>
            <a:spLocks noGrp="1"/>
          </p:cNvSpPr>
          <p:nvPr>
            <p:ph type="ctrTitle"/>
          </p:nvPr>
        </p:nvSpPr>
        <p:spPr>
          <a:xfrm>
            <a:off x="872840" y="3853615"/>
            <a:ext cx="9966960" cy="1325880"/>
          </a:xfrm>
        </p:spPr>
        <p:txBody>
          <a:bodyPr>
            <a:noAutofit/>
          </a:bodyPr>
          <a:lstStyle/>
          <a:p>
            <a:r>
              <a:rPr lang="fa-IR" sz="6500" dirty="0" smtClean="0">
                <a:cs typeface="B Nazanin" panose="00000400000000000000" pitchFamily="2" charset="-78"/>
              </a:rPr>
              <a:t>مدیریت منابع انسانی</a:t>
            </a:r>
            <a:endParaRPr lang="fa-IR" sz="6500" dirty="0">
              <a:cs typeface="B Nazanin" panose="00000400000000000000" pitchFamily="2" charset="-78"/>
            </a:endParaRPr>
          </a:p>
        </p:txBody>
      </p:sp>
      <p:sp>
        <p:nvSpPr>
          <p:cNvPr id="3" name="Subtitle 2">
            <a:extLst>
              <a:ext uri="{FF2B5EF4-FFF2-40B4-BE49-F238E27FC236}">
                <a16:creationId xmlns:a16="http://schemas.microsoft.com/office/drawing/2014/main" id="{3FC7BD98-5486-489C-BAA0-A69CEFF691B3}"/>
              </a:ext>
            </a:extLst>
          </p:cNvPr>
          <p:cNvSpPr>
            <a:spLocks noGrp="1"/>
          </p:cNvSpPr>
          <p:nvPr>
            <p:ph type="subTitle" idx="1"/>
          </p:nvPr>
        </p:nvSpPr>
        <p:spPr>
          <a:xfrm>
            <a:off x="1709530" y="5624419"/>
            <a:ext cx="8767860" cy="553690"/>
          </a:xfrm>
        </p:spPr>
        <p:txBody>
          <a:bodyPr>
            <a:normAutofit/>
          </a:bodyPr>
          <a:lstStyle/>
          <a:p>
            <a:r>
              <a:rPr lang="en-US" b="1" i="1" dirty="0"/>
              <a:t>Human Resource Management</a:t>
            </a:r>
            <a:endParaRPr lang="en-US" sz="2000" i="1" dirty="0"/>
          </a:p>
        </p:txBody>
      </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artisticCrisscrossEtching/>
                    </a14:imgEffect>
                  </a14:imgLayer>
                </a14:imgProps>
              </a:ext>
            </a:extLst>
          </a:blip>
          <a:stretch>
            <a:fillRect/>
          </a:stretch>
        </p:blipFill>
        <p:spPr>
          <a:xfrm>
            <a:off x="2595154" y="263493"/>
            <a:ext cx="6940732" cy="3470366"/>
          </a:xfrm>
          <a:prstGeom prst="rect">
            <a:avLst/>
          </a:prstGeom>
          <a:ln>
            <a:noFill/>
          </a:ln>
          <a:effectLst>
            <a:softEdge rad="127000"/>
          </a:effectLst>
        </p:spPr>
      </p:pic>
    </p:spTree>
    <p:extLst>
      <p:ext uri="{BB962C8B-B14F-4D97-AF65-F5344CB8AC3E}">
        <p14:creationId xmlns:p14="http://schemas.microsoft.com/office/powerpoint/2010/main" val="8340504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تیلوریسم</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pic>
        <p:nvPicPr>
          <p:cNvPr id="5" name="Picture 4"/>
          <p:cNvPicPr>
            <a:picLocks noChangeAspect="1"/>
          </p:cNvPicPr>
          <p:nvPr/>
        </p:nvPicPr>
        <p:blipFill rotWithShape="1">
          <a:blip r:embed="rId2"/>
          <a:srcRect b="17335"/>
          <a:stretch/>
        </p:blipFill>
        <p:spPr>
          <a:xfrm>
            <a:off x="9895929" y="1492294"/>
            <a:ext cx="1148716" cy="1426973"/>
          </a:xfrm>
          <a:prstGeom prst="rect">
            <a:avLst/>
          </a:prstGeom>
        </p:spPr>
      </p:pic>
      <p:sp>
        <p:nvSpPr>
          <p:cNvPr id="6" name="Rectangle 5"/>
          <p:cNvSpPr/>
          <p:nvPr/>
        </p:nvSpPr>
        <p:spPr>
          <a:xfrm>
            <a:off x="365760" y="1390190"/>
            <a:ext cx="9283858" cy="830997"/>
          </a:xfrm>
          <a:prstGeom prst="rect">
            <a:avLst/>
          </a:prstGeom>
        </p:spPr>
        <p:txBody>
          <a:bodyPr wrap="square">
            <a:spAutoFit/>
          </a:bodyPr>
          <a:lstStyle/>
          <a:p>
            <a:pPr marL="285750" indent="-285750" algn="r" rtl="1">
              <a:buFont typeface="Arial" panose="020B0604020202020204" pitchFamily="34" charset="0"/>
              <a:buChar char="•"/>
            </a:pPr>
            <a:r>
              <a:rPr lang="fa-IR" sz="1600" dirty="0">
                <a:solidFill>
                  <a:srgbClr val="000000"/>
                </a:solidFill>
                <a:latin typeface="IRANSans"/>
                <a:cs typeface="B Nazanin" panose="00000400000000000000" pitchFamily="2" charset="-78"/>
              </a:rPr>
              <a:t>فردیک تیلور (۱۹۱۵-۱۸۵۶) ، مهندس مکانیک بود</a:t>
            </a:r>
            <a:r>
              <a:rPr lang="fa-IR" sz="1600" dirty="0" smtClean="0">
                <a:solidFill>
                  <a:srgbClr val="000000"/>
                </a:solidFill>
                <a:latin typeface="IRANSans"/>
                <a:cs typeface="B Nazanin" panose="00000400000000000000" pitchFamily="2" charset="-78"/>
              </a:rPr>
              <a:t>. وی </a:t>
            </a:r>
            <a:r>
              <a:rPr lang="fa-IR" sz="1600" dirty="0">
                <a:solidFill>
                  <a:srgbClr val="000000"/>
                </a:solidFill>
                <a:latin typeface="IRANSans"/>
                <a:cs typeface="B Nazanin" panose="00000400000000000000" pitchFamily="2" charset="-78"/>
              </a:rPr>
              <a:t>ابتدا مدتی در یک کارگاه هیدرولیک کار کرد و سپس، به کارخانجات فولاد میدوِیل</a:t>
            </a:r>
            <a:r>
              <a:rPr lang="en-US" sz="1600" dirty="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رفت</a:t>
            </a:r>
            <a:r>
              <a:rPr lang="fa-IR" sz="1600" dirty="0" smtClean="0">
                <a:solidFill>
                  <a:srgbClr val="000000"/>
                </a:solidFill>
                <a:latin typeface="IRANSans"/>
                <a:cs typeface="B Nazanin" panose="00000400000000000000" pitchFamily="2" charset="-78"/>
              </a:rPr>
              <a:t>. او </a:t>
            </a:r>
            <a:r>
              <a:rPr lang="fa-IR" sz="1600" dirty="0">
                <a:solidFill>
                  <a:srgbClr val="000000"/>
                </a:solidFill>
                <a:latin typeface="IRANSans"/>
                <a:cs typeface="B Nazanin" panose="00000400000000000000" pitchFamily="2" charset="-78"/>
              </a:rPr>
              <a:t>در آنجا به سمت سرپرست کارگاه تراشکاری منصوب شد</a:t>
            </a:r>
            <a:r>
              <a:rPr lang="en-US" sz="1600" dirty="0">
                <a:solidFill>
                  <a:srgbClr val="000000"/>
                </a:solidFill>
                <a:latin typeface="IRANSans"/>
                <a:cs typeface="B Nazanin" panose="00000400000000000000" pitchFamily="2" charset="-78"/>
              </a:rPr>
              <a:t>.</a:t>
            </a:r>
            <a:endParaRPr lang="fa-IR" sz="1600" dirty="0">
              <a:solidFill>
                <a:srgbClr val="000000"/>
              </a:solidFill>
              <a:latin typeface="IRANSans"/>
              <a:cs typeface="B Nazanin" panose="00000400000000000000" pitchFamily="2" charset="-78"/>
            </a:endParaRPr>
          </a:p>
          <a:p>
            <a:pPr marL="285750" indent="-285750" algn="r" rtl="1">
              <a:buFont typeface="Arial" panose="020B0604020202020204" pitchFamily="34" charset="0"/>
              <a:buChar char="•"/>
            </a:pPr>
            <a:endParaRPr lang="en-US" sz="1600" dirty="0">
              <a:cs typeface="B Nazanin" panose="00000400000000000000" pitchFamily="2" charset="-78"/>
            </a:endParaRPr>
          </a:p>
        </p:txBody>
      </p:sp>
      <p:sp>
        <p:nvSpPr>
          <p:cNvPr id="10" name="Rectangle 9"/>
          <p:cNvSpPr/>
          <p:nvPr/>
        </p:nvSpPr>
        <p:spPr>
          <a:xfrm>
            <a:off x="365760" y="2110930"/>
            <a:ext cx="9283857" cy="584775"/>
          </a:xfrm>
          <a:prstGeom prst="rect">
            <a:avLst/>
          </a:prstGeom>
        </p:spPr>
        <p:txBody>
          <a:bodyPr wrap="square">
            <a:spAutoFit/>
          </a:bodyPr>
          <a:lstStyle/>
          <a:p>
            <a:pPr marL="285750" indent="-285750" algn="r" rtl="1">
              <a:buFont typeface="Arial" panose="020B0604020202020204" pitchFamily="34" charset="0"/>
              <a:buChar char="•"/>
            </a:pPr>
            <a:r>
              <a:rPr lang="fa-IR" sz="1600" dirty="0" smtClean="0">
                <a:solidFill>
                  <a:srgbClr val="000000"/>
                </a:solidFill>
                <a:latin typeface="IRANSans"/>
                <a:cs typeface="B Nazanin" panose="00000400000000000000" pitchFamily="2" charset="-78"/>
              </a:rPr>
              <a:t>تیلور</a:t>
            </a:r>
            <a:r>
              <a:rPr lang="fa-IR" sz="1600" dirty="0">
                <a:solidFill>
                  <a:srgbClr val="000000"/>
                </a:solidFill>
                <a:latin typeface="IRANSans"/>
                <a:cs typeface="B Nazanin" panose="00000400000000000000" pitchFamily="2" charset="-78"/>
              </a:rPr>
              <a:t> </a:t>
            </a:r>
            <a:r>
              <a:rPr lang="fa-IR" sz="1600" dirty="0" smtClean="0">
                <a:solidFill>
                  <a:srgbClr val="000000"/>
                </a:solidFill>
                <a:latin typeface="IRANSans"/>
                <a:cs typeface="B Nazanin" panose="00000400000000000000" pitchFamily="2" charset="-78"/>
              </a:rPr>
              <a:t>معتقد بود کارگران میتوانند خروجی بهتری داشته باشند اما همه آنها در یک توافق نا نوشته کند کار میکنند تا میزان خروجی استاندارد و انتظار مدیران بالا نرود .  </a:t>
            </a:r>
            <a:endParaRPr lang="fa-IR" sz="1600" dirty="0">
              <a:solidFill>
                <a:srgbClr val="000000"/>
              </a:solidFill>
              <a:latin typeface="IRANSans"/>
              <a:cs typeface="B Nazanin" panose="00000400000000000000" pitchFamily="2" charset="-78"/>
            </a:endParaRPr>
          </a:p>
        </p:txBody>
      </p:sp>
      <p:sp>
        <p:nvSpPr>
          <p:cNvPr id="9" name="Rectangle 8"/>
          <p:cNvSpPr/>
          <p:nvPr/>
        </p:nvSpPr>
        <p:spPr>
          <a:xfrm>
            <a:off x="675434" y="3271282"/>
            <a:ext cx="10369211" cy="338554"/>
          </a:xfrm>
          <a:prstGeom prst="rect">
            <a:avLst/>
          </a:prstGeom>
        </p:spPr>
        <p:txBody>
          <a:bodyPr wrap="square">
            <a:spAutoFit/>
          </a:bodyPr>
          <a:lstStyle/>
          <a:p>
            <a:pPr marL="285750" indent="-285750" algn="r" rtl="1">
              <a:buFont typeface="Arial" panose="020B0604020202020204" pitchFamily="34" charset="0"/>
              <a:buChar char="•"/>
            </a:pPr>
            <a:r>
              <a:rPr lang="fa-IR" sz="1600" dirty="0">
                <a:solidFill>
                  <a:srgbClr val="000000"/>
                </a:solidFill>
                <a:latin typeface="IRANSans"/>
                <a:cs typeface="B Nazanin" panose="00000400000000000000" pitchFamily="2" charset="-78"/>
              </a:rPr>
              <a:t>تیلور به نتیجه رسید که اگر سرعت متوسط کارگران در گذشته را معیار خروجی تعریف کنیم، تمام تاریخ آینده‌ی بشر، قربانی تنبلی امروز انسان خواهد شد.</a:t>
            </a:r>
            <a:endParaRPr lang="en-US" sz="1600" dirty="0">
              <a:solidFill>
                <a:srgbClr val="000000"/>
              </a:solidFill>
              <a:latin typeface="IRANSans"/>
              <a:cs typeface="B Nazanin" panose="00000400000000000000" pitchFamily="2" charset="-78"/>
            </a:endParaRPr>
          </a:p>
        </p:txBody>
      </p:sp>
      <p:sp>
        <p:nvSpPr>
          <p:cNvPr id="11" name="Rectangle 10"/>
          <p:cNvSpPr/>
          <p:nvPr/>
        </p:nvSpPr>
        <p:spPr>
          <a:xfrm>
            <a:off x="-376125" y="2799524"/>
            <a:ext cx="10025742" cy="338554"/>
          </a:xfrm>
          <a:prstGeom prst="rect">
            <a:avLst/>
          </a:prstGeom>
        </p:spPr>
        <p:txBody>
          <a:bodyPr wrap="square">
            <a:spAutoFit/>
          </a:bodyPr>
          <a:lstStyle/>
          <a:p>
            <a:pPr marL="285750" indent="-285750" algn="r" rtl="1">
              <a:buFont typeface="Arial" panose="020B0604020202020204" pitchFamily="34" charset="0"/>
              <a:buChar char="•"/>
            </a:pPr>
            <a:r>
              <a:rPr lang="fa-IR" sz="1600" dirty="0" smtClean="0">
                <a:solidFill>
                  <a:srgbClr val="000000"/>
                </a:solidFill>
                <a:latin typeface="IRANSans"/>
                <a:cs typeface="B Nazanin" panose="00000400000000000000" pitchFamily="2" charset="-78"/>
              </a:rPr>
              <a:t>تیلور  </a:t>
            </a:r>
            <a:r>
              <a:rPr lang="fa-IR" sz="1600" dirty="0">
                <a:solidFill>
                  <a:srgbClr val="000000"/>
                </a:solidFill>
                <a:latin typeface="IRANSans"/>
                <a:cs typeface="B Nazanin" panose="00000400000000000000" pitchFamily="2" charset="-78"/>
              </a:rPr>
              <a:t>بر این باور بود که اصل دارایی کارخانه، ماشین آلات آن هستند</a:t>
            </a:r>
            <a:r>
              <a:rPr lang="fa-IR" sz="1600" dirty="0" smtClean="0">
                <a:solidFill>
                  <a:srgbClr val="000000"/>
                </a:solidFill>
                <a:latin typeface="IRANSans"/>
                <a:cs typeface="B Nazanin" panose="00000400000000000000" pitchFamily="2" charset="-78"/>
              </a:rPr>
              <a:t>. و باید تلاش کرد تا خروجی ماشین ها به ظرفیت اسمی آن نزدیک شود . </a:t>
            </a:r>
            <a:endParaRPr lang="en-US" sz="1600" dirty="0">
              <a:solidFill>
                <a:srgbClr val="000000"/>
              </a:solidFill>
              <a:latin typeface="IRANSans"/>
              <a:cs typeface="B Nazanin" panose="00000400000000000000" pitchFamily="2" charset="-78"/>
            </a:endParaRPr>
          </a:p>
        </p:txBody>
      </p:sp>
      <p:sp>
        <p:nvSpPr>
          <p:cNvPr id="12" name="Rectangle 11"/>
          <p:cNvSpPr/>
          <p:nvPr/>
        </p:nvSpPr>
        <p:spPr>
          <a:xfrm>
            <a:off x="675434" y="3755216"/>
            <a:ext cx="10369211" cy="584775"/>
          </a:xfrm>
          <a:prstGeom prst="rect">
            <a:avLst/>
          </a:prstGeom>
        </p:spPr>
        <p:txBody>
          <a:bodyPr wrap="square">
            <a:spAutoFit/>
          </a:bodyPr>
          <a:lstStyle/>
          <a:p>
            <a:pPr marL="285750" indent="-285750" algn="r" rtl="1">
              <a:buFont typeface="Arial" panose="020B0604020202020204" pitchFamily="34" charset="0"/>
              <a:buChar char="•"/>
            </a:pPr>
            <a:r>
              <a:rPr lang="fa-IR" sz="1600" dirty="0" smtClean="0">
                <a:solidFill>
                  <a:srgbClr val="000000"/>
                </a:solidFill>
                <a:latin typeface="IRANSans"/>
                <a:cs typeface="B Nazanin" panose="00000400000000000000" pitchFamily="2" charset="-78"/>
              </a:rPr>
              <a:t>به تدریج به مکررا ماشین ها و  دستگاه ها از کار می افتاد و کارگران </a:t>
            </a:r>
            <a:r>
              <a:rPr lang="fa-IR" sz="1600" dirty="0">
                <a:solidFill>
                  <a:srgbClr val="000000"/>
                </a:solidFill>
                <a:latin typeface="IRANSans"/>
                <a:cs typeface="B Nazanin" panose="00000400000000000000" pitchFamily="2" charset="-78"/>
              </a:rPr>
              <a:t>اصرار داشتند که دستگاه‌ها، از فشار کار زیاد خراب شده‌اند و تیلور مدام تکرار می‌کرد که این خرابی‌ها عمدی هستند. </a:t>
            </a:r>
            <a:r>
              <a:rPr lang="fa-IR" sz="1600" b="1" dirty="0">
                <a:solidFill>
                  <a:srgbClr val="050B17"/>
                </a:solidFill>
                <a:latin typeface="IRANSans"/>
                <a:cs typeface="B Nazanin" panose="00000400000000000000" pitchFamily="2" charset="-78"/>
              </a:rPr>
              <a:t>(نگرش مکانیکی به کارکنان)</a:t>
            </a:r>
            <a:endParaRPr lang="en-US" sz="1600" b="1" dirty="0">
              <a:solidFill>
                <a:srgbClr val="050B17"/>
              </a:solidFill>
              <a:latin typeface="IRANSans"/>
              <a:cs typeface="B Nazanin" panose="00000400000000000000" pitchFamily="2" charset="-78"/>
            </a:endParaRPr>
          </a:p>
        </p:txBody>
      </p:sp>
      <p:sp>
        <p:nvSpPr>
          <p:cNvPr id="13" name="Rectangle 12"/>
          <p:cNvSpPr/>
          <p:nvPr/>
        </p:nvSpPr>
        <p:spPr>
          <a:xfrm>
            <a:off x="2011681" y="4478359"/>
            <a:ext cx="9032964" cy="338554"/>
          </a:xfrm>
          <a:prstGeom prst="rect">
            <a:avLst/>
          </a:prstGeom>
          <a:solidFill>
            <a:schemeClr val="accent1">
              <a:lumMod val="40000"/>
              <a:lumOff val="60000"/>
            </a:schemeClr>
          </a:solidFill>
        </p:spPr>
        <p:txBody>
          <a:bodyPr wrap="square">
            <a:spAutoFit/>
          </a:bodyPr>
          <a:lstStyle/>
          <a:p>
            <a:pPr marL="285750" indent="-285750" algn="r" rtl="1">
              <a:buFont typeface="Arial" panose="020B0604020202020204" pitchFamily="34" charset="0"/>
              <a:buChar char="•"/>
            </a:pPr>
            <a:r>
              <a:rPr lang="fa-IR" sz="1600" dirty="0">
                <a:solidFill>
                  <a:srgbClr val="000000"/>
                </a:solidFill>
                <a:latin typeface="IRANSans"/>
                <a:cs typeface="B Nazanin" panose="00000400000000000000" pitchFamily="2" charset="-78"/>
              </a:rPr>
              <a:t>تیلور، حاصل تجربیات خود را در کتاب </a:t>
            </a:r>
            <a:r>
              <a:rPr lang="fa-IR" sz="1600" b="1" dirty="0">
                <a:solidFill>
                  <a:schemeClr val="accent6">
                    <a:lumMod val="50000"/>
                  </a:schemeClr>
                </a:solidFill>
                <a:latin typeface="IRANSans"/>
                <a:cs typeface="B Nazanin" panose="00000400000000000000" pitchFamily="2" charset="-78"/>
              </a:rPr>
              <a:t>مدیریت علمی</a:t>
            </a:r>
            <a:r>
              <a:rPr lang="fa-IR" sz="1600" dirty="0">
                <a:solidFill>
                  <a:srgbClr val="000000"/>
                </a:solidFill>
                <a:latin typeface="IRANSans"/>
                <a:cs typeface="B Nazanin" panose="00000400000000000000" pitchFamily="2" charset="-78"/>
              </a:rPr>
              <a:t> تالیف و منتشر کرد.</a:t>
            </a:r>
            <a:endParaRPr lang="en-US" sz="1600" dirty="0">
              <a:solidFill>
                <a:srgbClr val="000000"/>
              </a:solidFill>
              <a:latin typeface="IRANSans"/>
              <a:cs typeface="B Nazanin" panose="00000400000000000000" pitchFamily="2" charset="-78"/>
            </a:endParaRPr>
          </a:p>
        </p:txBody>
      </p:sp>
      <p:sp>
        <p:nvSpPr>
          <p:cNvPr id="14" name="Rectangle 13"/>
          <p:cNvSpPr/>
          <p:nvPr/>
        </p:nvSpPr>
        <p:spPr>
          <a:xfrm>
            <a:off x="3422469" y="5082449"/>
            <a:ext cx="7622176" cy="338554"/>
          </a:xfrm>
          <a:prstGeom prst="rect">
            <a:avLst/>
          </a:prstGeom>
        </p:spPr>
        <p:txBody>
          <a:bodyPr wrap="square">
            <a:spAutoFit/>
          </a:bodyPr>
          <a:lstStyle/>
          <a:p>
            <a:pPr marL="285750" indent="-285750" algn="r" rtl="1">
              <a:buFont typeface="Arial" panose="020B0604020202020204" pitchFamily="34" charset="0"/>
              <a:buChar char="•"/>
            </a:pPr>
            <a:r>
              <a:rPr lang="fa-IR" sz="1600" b="1" dirty="0">
                <a:solidFill>
                  <a:srgbClr val="C00000"/>
                </a:solidFill>
                <a:latin typeface="IRANSans"/>
                <a:cs typeface="B Nazanin" panose="00000400000000000000" pitchFamily="2" charset="-78"/>
              </a:rPr>
              <a:t>تیلوریسم</a:t>
            </a:r>
            <a:r>
              <a:rPr lang="fa-IR" sz="1600" dirty="0">
                <a:solidFill>
                  <a:srgbClr val="000000"/>
                </a:solidFill>
                <a:latin typeface="IRANSans"/>
                <a:cs typeface="B Nazanin" panose="00000400000000000000" pitchFamily="2" charset="-78"/>
              </a:rPr>
              <a:t> و</a:t>
            </a:r>
            <a:r>
              <a:rPr lang="fa-IR" sz="1600" b="1" dirty="0">
                <a:solidFill>
                  <a:srgbClr val="000000"/>
                </a:solidFill>
                <a:latin typeface="IRANSans"/>
                <a:cs typeface="B Nazanin" panose="00000400000000000000" pitchFamily="2" charset="-78"/>
              </a:rPr>
              <a:t> مدیریت علمی</a:t>
            </a:r>
            <a:r>
              <a:rPr lang="fa-IR" sz="1600" dirty="0">
                <a:solidFill>
                  <a:srgbClr val="000000"/>
                </a:solidFill>
                <a:latin typeface="IRANSans"/>
                <a:cs typeface="B Nazanin" panose="00000400000000000000" pitchFamily="2" charset="-78"/>
              </a:rPr>
              <a:t>، به عنوان مکتبی که انسان را نمی‌بیند و جدی نمی‌گیرد مشهور شد.</a:t>
            </a:r>
            <a:endParaRPr lang="en-US" sz="1600" dirty="0">
              <a:solidFill>
                <a:srgbClr val="000000"/>
              </a:solidFill>
              <a:latin typeface="IRANSans"/>
              <a:cs typeface="B Nazanin" panose="00000400000000000000" pitchFamily="2" charset="-78"/>
            </a:endParaRPr>
          </a:p>
        </p:txBody>
      </p:sp>
      <p:pic>
        <p:nvPicPr>
          <p:cNvPr id="15" name="Picture 14"/>
          <p:cNvPicPr>
            <a:picLocks noChangeAspect="1"/>
          </p:cNvPicPr>
          <p:nvPr/>
        </p:nvPicPr>
        <p:blipFill>
          <a:blip r:embed="rId3"/>
          <a:stretch>
            <a:fillRect/>
          </a:stretch>
        </p:blipFill>
        <p:spPr>
          <a:xfrm>
            <a:off x="623182" y="4470621"/>
            <a:ext cx="1336247" cy="2065297"/>
          </a:xfrm>
          <a:prstGeom prst="rect">
            <a:avLst/>
          </a:prstGeom>
        </p:spPr>
      </p:pic>
      <p:sp>
        <p:nvSpPr>
          <p:cNvPr id="16" name="Rectangle 15"/>
          <p:cNvSpPr/>
          <p:nvPr/>
        </p:nvSpPr>
        <p:spPr>
          <a:xfrm>
            <a:off x="2011681" y="5686539"/>
            <a:ext cx="9032964" cy="830997"/>
          </a:xfrm>
          <a:prstGeom prst="rect">
            <a:avLst/>
          </a:prstGeom>
          <a:solidFill>
            <a:schemeClr val="accent1">
              <a:lumMod val="40000"/>
              <a:lumOff val="60000"/>
            </a:schemeClr>
          </a:solidFill>
        </p:spPr>
        <p:txBody>
          <a:bodyPr wrap="square">
            <a:spAutoFit/>
          </a:bodyPr>
          <a:lstStyle/>
          <a:p>
            <a:pPr marL="285750" indent="-285750" algn="r" rtl="1">
              <a:buFont typeface="Arial" panose="020B0604020202020204" pitchFamily="34" charset="0"/>
              <a:buChar char="•"/>
            </a:pPr>
            <a:r>
              <a:rPr lang="fa-IR" sz="1600" dirty="0">
                <a:solidFill>
                  <a:srgbClr val="000000"/>
                </a:solidFill>
                <a:latin typeface="IRANSans"/>
                <a:cs typeface="B Nazanin" panose="00000400000000000000" pitchFamily="2" charset="-78"/>
              </a:rPr>
              <a:t>با این حال، نباید فراموش کنیم که هنوز هم هر جا از </a:t>
            </a:r>
            <a:r>
              <a:rPr lang="fa-IR" sz="1600" b="1" dirty="0">
                <a:solidFill>
                  <a:srgbClr val="C00000"/>
                </a:solidFill>
                <a:latin typeface="IRANSans"/>
                <a:cs typeface="B Nazanin" panose="00000400000000000000" pitchFamily="2" charset="-78"/>
              </a:rPr>
              <a:t>کارایی و اثربخشی</a:t>
            </a:r>
            <a:r>
              <a:rPr lang="fa-IR" sz="1600" dirty="0">
                <a:solidFill>
                  <a:srgbClr val="000000"/>
                </a:solidFill>
                <a:latin typeface="IRANSans"/>
                <a:cs typeface="B Nazanin" panose="00000400000000000000" pitchFamily="2" charset="-78"/>
              </a:rPr>
              <a:t> و بهره وری حرف می‌زنیم، در حال استفاده از دستاوردهای تیلور و تیلوریسم </a:t>
            </a:r>
            <a:r>
              <a:rPr lang="fa-IR" sz="1600" dirty="0" smtClean="0">
                <a:solidFill>
                  <a:srgbClr val="000000"/>
                </a:solidFill>
                <a:latin typeface="IRANSans"/>
                <a:cs typeface="B Nazanin" panose="00000400000000000000" pitchFamily="2" charset="-78"/>
              </a:rPr>
              <a:t>هستیم.</a:t>
            </a:r>
            <a:r>
              <a:rPr lang="en-US" sz="1600" dirty="0" smtClean="0">
                <a:solidFill>
                  <a:srgbClr val="000000"/>
                </a:solidFill>
                <a:latin typeface="IRANSans"/>
                <a:cs typeface="B Nazanin" panose="00000400000000000000" pitchFamily="2" charset="-78"/>
              </a:rPr>
              <a:t> </a:t>
            </a:r>
            <a:r>
              <a:rPr lang="fa-IR" sz="1600" dirty="0" smtClean="0">
                <a:solidFill>
                  <a:srgbClr val="000000"/>
                </a:solidFill>
                <a:latin typeface="IRANSans"/>
                <a:cs typeface="B Nazanin" panose="00000400000000000000" pitchFamily="2" charset="-78"/>
              </a:rPr>
              <a:t>تیلور </a:t>
            </a:r>
            <a:r>
              <a:rPr lang="fa-IR" sz="1600" dirty="0">
                <a:solidFill>
                  <a:srgbClr val="000000"/>
                </a:solidFill>
                <a:latin typeface="IRANSans"/>
                <a:cs typeface="B Nazanin" panose="00000400000000000000" pitchFamily="2" charset="-78"/>
              </a:rPr>
              <a:t>و مکتب مدیریت علمی، هرگز کنار گذاشته نشدند. بلکه مکاتب دیگری آمدند و آن را تکمیل کردند تا جنبه‌های انسانی مدیریت نیز در تولید و خلق ثروت، به فراموشی سپرده نشوند.</a:t>
            </a:r>
          </a:p>
        </p:txBody>
      </p:sp>
    </p:spTree>
    <p:extLst>
      <p:ext uri="{BB962C8B-B14F-4D97-AF65-F5344CB8AC3E}">
        <p14:creationId xmlns:p14="http://schemas.microsoft.com/office/powerpoint/2010/main" val="4084700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مدیریت منابع انسانی چیست ؟</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28" name="Rectangle 27"/>
          <p:cNvSpPr/>
          <p:nvPr/>
        </p:nvSpPr>
        <p:spPr>
          <a:xfrm>
            <a:off x="574766" y="1512448"/>
            <a:ext cx="10750731" cy="646331"/>
          </a:xfrm>
          <a:prstGeom prst="rect">
            <a:avLst/>
          </a:prstGeom>
        </p:spPr>
        <p:txBody>
          <a:bodyPr wrap="square">
            <a:spAutoFit/>
          </a:bodyPr>
          <a:lstStyle/>
          <a:p>
            <a:pPr marL="285750" indent="-285750" algn="r" rtl="1">
              <a:buFont typeface="Wingdings" panose="05000000000000000000" pitchFamily="2" charset="2"/>
              <a:buChar char="ü"/>
            </a:pPr>
            <a:r>
              <a:rPr lang="fa-IR" b="1" dirty="0">
                <a:solidFill>
                  <a:schemeClr val="bg2">
                    <a:lumMod val="25000"/>
                  </a:schemeClr>
                </a:solidFill>
                <a:cs typeface="B Nazanin" panose="00000400000000000000" pitchFamily="2" charset="-78"/>
              </a:rPr>
              <a:t>مدیریت منابع انسانی</a:t>
            </a:r>
            <a:r>
              <a:rPr lang="fa-IR" dirty="0">
                <a:cs typeface="B Nazanin" panose="00000400000000000000" pitchFamily="2" charset="-78"/>
              </a:rPr>
              <a:t> نقشی است که در هر سازمانی که </a:t>
            </a:r>
            <a:r>
              <a:rPr lang="fa-IR" b="1" dirty="0">
                <a:cs typeface="B Nazanin" panose="00000400000000000000" pitchFamily="2" charset="-78"/>
              </a:rPr>
              <a:t>بیش از یک نفر عضو </a:t>
            </a:r>
            <a:r>
              <a:rPr lang="fa-IR" dirty="0">
                <a:cs typeface="B Nazanin" panose="00000400000000000000" pitchFamily="2" charset="-78"/>
              </a:rPr>
              <a:t>داشته باشد معنا دارد. به عبارتی، حتی در یک سوپرمارکت بسیار کوچک هم همچنان بخش عمده‌ای از وظایف مدیر منابع انسانی، قابل پیگیری و اجراست.</a:t>
            </a:r>
            <a:endParaRPr lang="en-US" dirty="0">
              <a:cs typeface="B Nazanin" panose="00000400000000000000" pitchFamily="2" charset="-78"/>
            </a:endParaRPr>
          </a:p>
        </p:txBody>
      </p:sp>
      <p:sp>
        <p:nvSpPr>
          <p:cNvPr id="3" name="Rectangle 2"/>
          <p:cNvSpPr/>
          <p:nvPr/>
        </p:nvSpPr>
        <p:spPr>
          <a:xfrm>
            <a:off x="1169125" y="2946517"/>
            <a:ext cx="9588137" cy="888705"/>
          </a:xfrm>
          <a:prstGeom prst="rect">
            <a:avLst/>
          </a:prstGeom>
          <a:solidFill>
            <a:schemeClr val="accent1">
              <a:lumMod val="40000"/>
              <a:lumOff val="60000"/>
            </a:schemeClr>
          </a:solidFill>
          <a:ln>
            <a:solidFill>
              <a:schemeClr val="accent6">
                <a:lumMod val="75000"/>
              </a:schemeClr>
            </a:solidFill>
          </a:ln>
        </p:spPr>
        <p:txBody>
          <a:bodyPr wrap="square">
            <a:spAutoFit/>
          </a:bodyPr>
          <a:lstStyle/>
          <a:p>
            <a:pPr algn="r" rtl="1">
              <a:lnSpc>
                <a:spcPct val="150000"/>
              </a:lnSpc>
            </a:pPr>
            <a:r>
              <a:rPr lang="fa-IR" b="1" dirty="0">
                <a:solidFill>
                  <a:schemeClr val="bg2">
                    <a:lumMod val="25000"/>
                  </a:schemeClr>
                </a:solidFill>
                <a:cs typeface="B Nazanin" panose="00000400000000000000" pitchFamily="2" charset="-78"/>
              </a:rPr>
              <a:t>واحد مدیریت منابع انسانی قرار است </a:t>
            </a:r>
            <a:r>
              <a:rPr lang="fa-IR" b="1" dirty="0">
                <a:solidFill>
                  <a:srgbClr val="0070C0"/>
                </a:solidFill>
                <a:cs typeface="B Nazanin" panose="00000400000000000000" pitchFamily="2" charset="-78"/>
              </a:rPr>
              <a:t>کمک</a:t>
            </a:r>
            <a:r>
              <a:rPr lang="fa-IR" b="1" dirty="0">
                <a:solidFill>
                  <a:schemeClr val="bg2">
                    <a:lumMod val="25000"/>
                  </a:schemeClr>
                </a:solidFill>
                <a:cs typeface="B Nazanin" panose="00000400000000000000" pitchFamily="2" charset="-78"/>
              </a:rPr>
              <a:t> کند تا سازمان، در </a:t>
            </a:r>
            <a:r>
              <a:rPr lang="fa-IR" b="1" dirty="0">
                <a:solidFill>
                  <a:srgbClr val="FF0000"/>
                </a:solidFill>
                <a:cs typeface="B Nazanin" panose="00000400000000000000" pitchFamily="2" charset="-78"/>
              </a:rPr>
              <a:t>افق زمانی بلند مدت</a:t>
            </a:r>
            <a:r>
              <a:rPr lang="fa-IR" b="1" dirty="0">
                <a:solidFill>
                  <a:schemeClr val="bg2">
                    <a:lumMod val="25000"/>
                  </a:schemeClr>
                </a:solidFill>
                <a:cs typeface="B Nazanin" panose="00000400000000000000" pitchFamily="2" charset="-78"/>
              </a:rPr>
              <a:t>، با </a:t>
            </a:r>
            <a:r>
              <a:rPr lang="fa-IR" b="1" dirty="0">
                <a:solidFill>
                  <a:srgbClr val="C00000"/>
                </a:solidFill>
                <a:cs typeface="B Nazanin" panose="00000400000000000000" pitchFamily="2" charset="-78"/>
              </a:rPr>
              <a:t>کمترین هزینه</a:t>
            </a:r>
            <a:r>
              <a:rPr lang="fa-IR" b="1" dirty="0">
                <a:solidFill>
                  <a:schemeClr val="bg2">
                    <a:lumMod val="25000"/>
                  </a:schemeClr>
                </a:solidFill>
                <a:cs typeface="B Nazanin" panose="00000400000000000000" pitchFamily="2" charset="-78"/>
              </a:rPr>
              <a:t>، </a:t>
            </a:r>
            <a:r>
              <a:rPr lang="fa-IR" b="1" dirty="0">
                <a:solidFill>
                  <a:srgbClr val="7030A0"/>
                </a:solidFill>
                <a:cs typeface="B Nazanin" panose="00000400000000000000" pitchFamily="2" charset="-78"/>
              </a:rPr>
              <a:t>حداکثر کارایی </a:t>
            </a:r>
            <a:r>
              <a:rPr lang="fa-IR" b="1" dirty="0">
                <a:solidFill>
                  <a:schemeClr val="bg2">
                    <a:lumMod val="25000"/>
                  </a:schemeClr>
                </a:solidFill>
                <a:cs typeface="B Nazanin" panose="00000400000000000000" pitchFamily="2" charset="-78"/>
              </a:rPr>
              <a:t>را از کارکنان برای حرکت در راستای اهداف استراتژیک سازمان، کسب نماید.</a:t>
            </a:r>
            <a:endParaRPr lang="en-US" b="1" dirty="0">
              <a:solidFill>
                <a:schemeClr val="bg2">
                  <a:lumMod val="25000"/>
                </a:schemeClr>
              </a:solidFill>
              <a:cs typeface="B Nazanin" panose="00000400000000000000" pitchFamily="2" charset="-78"/>
            </a:endParaRPr>
          </a:p>
        </p:txBody>
      </p:sp>
      <p:sp>
        <p:nvSpPr>
          <p:cNvPr id="4" name="Rectangle 3"/>
          <p:cNvSpPr/>
          <p:nvPr/>
        </p:nvSpPr>
        <p:spPr>
          <a:xfrm>
            <a:off x="396239" y="2195442"/>
            <a:ext cx="4855029" cy="584775"/>
          </a:xfrm>
          <a:prstGeom prst="rect">
            <a:avLst/>
          </a:prstGeom>
        </p:spPr>
        <p:txBody>
          <a:bodyPr wrap="square">
            <a:spAutoFit/>
          </a:bodyPr>
          <a:lstStyle/>
          <a:p>
            <a:r>
              <a:rPr lang="en-US" sz="1600" dirty="0" smtClean="0">
                <a:solidFill>
                  <a:srgbClr val="000000"/>
                </a:solidFill>
                <a:latin typeface="IRANSans"/>
                <a:cs typeface="B Nazanin" panose="00000400000000000000" pitchFamily="2" charset="-78"/>
              </a:rPr>
              <a:t> </a:t>
            </a:r>
            <a:r>
              <a:rPr lang="fa-IR" sz="1600" dirty="0" smtClean="0">
                <a:solidFill>
                  <a:srgbClr val="000000"/>
                </a:solidFill>
                <a:latin typeface="IRANSans"/>
                <a:cs typeface="B Nazanin" panose="00000400000000000000" pitchFamily="2" charset="-78"/>
              </a:rPr>
              <a:t>اگر</a:t>
            </a:r>
            <a:r>
              <a:rPr lang="fa-IR" sz="1600" dirty="0">
                <a:solidFill>
                  <a:srgbClr val="000000"/>
                </a:solidFill>
                <a:latin typeface="IRANSans"/>
                <a:cs typeface="B Nazanin" panose="00000400000000000000" pitchFamily="2" charset="-78"/>
              </a:rPr>
              <a:t> </a:t>
            </a:r>
            <a:r>
              <a:rPr lang="fa-IR" sz="1600" b="1" dirty="0">
                <a:solidFill>
                  <a:srgbClr val="FF0000"/>
                </a:solidFill>
                <a:latin typeface="IRANSans"/>
                <a:cs typeface="B Nazanin" panose="00000400000000000000" pitchFamily="2" charset="-78"/>
              </a:rPr>
              <a:t>افق زمانی بلندمدت</a:t>
            </a:r>
            <a:r>
              <a:rPr lang="fa-IR" sz="1600" dirty="0">
                <a:solidFill>
                  <a:srgbClr val="000000"/>
                </a:solidFill>
                <a:latin typeface="IRANSans"/>
                <a:cs typeface="B Nazanin" panose="00000400000000000000" pitchFamily="2" charset="-78"/>
              </a:rPr>
              <a:t> را از تعریف </a:t>
            </a:r>
            <a:r>
              <a:rPr lang="fa-IR" sz="1600" dirty="0" smtClean="0">
                <a:solidFill>
                  <a:srgbClr val="000000"/>
                </a:solidFill>
                <a:latin typeface="IRANSans"/>
                <a:cs typeface="B Nazanin" panose="00000400000000000000" pitchFamily="2" charset="-78"/>
              </a:rPr>
              <a:t>زیر </a:t>
            </a:r>
            <a:r>
              <a:rPr lang="fa-IR" sz="1600" dirty="0">
                <a:solidFill>
                  <a:srgbClr val="000000"/>
                </a:solidFill>
                <a:latin typeface="IRANSans"/>
                <a:cs typeface="B Nazanin" panose="00000400000000000000" pitchFamily="2" charset="-78"/>
              </a:rPr>
              <a:t>حذف کنیم، عملاً نقش واحد منابع انسانی را در حد سرکارگرهای معادن </a:t>
            </a:r>
            <a:r>
              <a:rPr lang="fa-IR" sz="1600" b="1" dirty="0">
                <a:solidFill>
                  <a:srgbClr val="0070C0"/>
                </a:solidFill>
                <a:latin typeface="IRANSans"/>
                <a:cs typeface="B Nazanin" panose="00000400000000000000" pitchFamily="2" charset="-78"/>
              </a:rPr>
              <a:t>فردریک تیلور</a:t>
            </a:r>
            <a:r>
              <a:rPr lang="fa-IR" sz="1600" dirty="0">
                <a:solidFill>
                  <a:srgbClr val="000000"/>
                </a:solidFill>
                <a:latin typeface="IRANSans"/>
                <a:cs typeface="B Nazanin" panose="00000400000000000000" pitchFamily="2" charset="-78"/>
              </a:rPr>
              <a:t>، پایین آورده‌ایم.</a:t>
            </a:r>
            <a:endParaRPr lang="en-US" sz="1600" dirty="0">
              <a:cs typeface="B Nazanin" panose="00000400000000000000" pitchFamily="2" charset="-78"/>
            </a:endParaRPr>
          </a:p>
        </p:txBody>
      </p:sp>
      <p:sp>
        <p:nvSpPr>
          <p:cNvPr id="5" name="Arc 4"/>
          <p:cNvSpPr/>
          <p:nvPr/>
        </p:nvSpPr>
        <p:spPr>
          <a:xfrm rot="21118628">
            <a:off x="4311476" y="2410248"/>
            <a:ext cx="1283254" cy="895452"/>
          </a:xfrm>
          <a:prstGeom prst="arc">
            <a:avLst>
              <a:gd name="adj1" fmla="val 17993901"/>
              <a:gd name="adj2" fmla="val 2043973"/>
            </a:avLst>
          </a:prstGeom>
          <a:ln w="38100" cap="flat" cmpd="sng" algn="ctr">
            <a:solidFill>
              <a:srgbClr val="002060"/>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6" name="Rectangle 5"/>
          <p:cNvSpPr/>
          <p:nvPr/>
        </p:nvSpPr>
        <p:spPr>
          <a:xfrm>
            <a:off x="505096" y="4111372"/>
            <a:ext cx="1120357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rtl="1"/>
            <a:r>
              <a:rPr lang="fa-IR" dirty="0">
                <a:solidFill>
                  <a:srgbClr val="000000"/>
                </a:solidFill>
                <a:latin typeface="IRANSans"/>
                <a:cs typeface="B Nazanin" panose="00000400000000000000" pitchFamily="2" charset="-78"/>
              </a:rPr>
              <a:t>امروز فضای کسب و کار </a:t>
            </a:r>
            <a:r>
              <a:rPr lang="fa-IR" b="1" dirty="0">
                <a:solidFill>
                  <a:srgbClr val="000000"/>
                </a:solidFill>
                <a:latin typeface="IRANSans"/>
                <a:cs typeface="B Nazanin" panose="00000400000000000000" pitchFamily="2" charset="-78"/>
              </a:rPr>
              <a:t>رقابتی‌تر</a:t>
            </a:r>
            <a:r>
              <a:rPr lang="fa-IR" dirty="0">
                <a:solidFill>
                  <a:srgbClr val="000000"/>
                </a:solidFill>
                <a:latin typeface="IRANSans"/>
                <a:cs typeface="B Nazanin" panose="00000400000000000000" pitchFamily="2" charset="-78"/>
              </a:rPr>
              <a:t> </a:t>
            </a:r>
            <a:r>
              <a:rPr lang="fa-IR" dirty="0" smtClean="0">
                <a:solidFill>
                  <a:srgbClr val="000000"/>
                </a:solidFill>
                <a:latin typeface="IRANSans"/>
                <a:cs typeface="B Nazanin" panose="00000400000000000000" pitchFamily="2" charset="-78"/>
              </a:rPr>
              <a:t>است.</a:t>
            </a:r>
            <a:r>
              <a:rPr lang="en-US" dirty="0" smtClean="0">
                <a:solidFill>
                  <a:srgbClr val="000000"/>
                </a:solidFill>
                <a:latin typeface="IRANSans"/>
                <a:cs typeface="B Nazanin" panose="00000400000000000000" pitchFamily="2" charset="-78"/>
              </a:rPr>
              <a:t> </a:t>
            </a:r>
            <a:r>
              <a:rPr lang="fa-IR" dirty="0" smtClean="0">
                <a:solidFill>
                  <a:srgbClr val="000000"/>
                </a:solidFill>
                <a:latin typeface="IRANSans"/>
                <a:cs typeface="B Nazanin" panose="00000400000000000000" pitchFamily="2" charset="-78"/>
              </a:rPr>
              <a:t>یکی </a:t>
            </a:r>
            <a:r>
              <a:rPr lang="fa-IR" dirty="0">
                <a:solidFill>
                  <a:srgbClr val="000000"/>
                </a:solidFill>
                <a:latin typeface="IRANSans"/>
                <a:cs typeface="B Nazanin" panose="00000400000000000000" pitchFamily="2" charset="-78"/>
              </a:rPr>
              <a:t>از سنگین‌ترین هزینه‌های یک کسب و کار، کارکنان با تجربه‌ای هستند که به هر دلیل محیط کار را ترک می‌کنند و آموخته‌ها و تجربیات خود را به محیطی دیگر می‌برند</a:t>
            </a:r>
            <a:r>
              <a:rPr lang="fa-IR" dirty="0" smtClean="0">
                <a:solidFill>
                  <a:srgbClr val="000000"/>
                </a:solidFill>
                <a:latin typeface="IRANSans"/>
                <a:cs typeface="B Nazanin" panose="00000400000000000000" pitchFamily="2" charset="-78"/>
              </a:rPr>
              <a:t>.</a:t>
            </a:r>
            <a:r>
              <a:rPr lang="en-US" dirty="0" smtClean="0">
                <a:solidFill>
                  <a:srgbClr val="000000"/>
                </a:solidFill>
                <a:latin typeface="IRANSans"/>
                <a:cs typeface="B Nazanin" panose="00000400000000000000" pitchFamily="2" charset="-78"/>
              </a:rPr>
              <a:t> </a:t>
            </a:r>
            <a:r>
              <a:rPr lang="fa-IR" dirty="0" smtClean="0">
                <a:solidFill>
                  <a:srgbClr val="000000"/>
                </a:solidFill>
                <a:latin typeface="IRANSans"/>
                <a:cs typeface="B Nazanin" panose="00000400000000000000" pitchFamily="2" charset="-78"/>
              </a:rPr>
              <a:t>امروز </a:t>
            </a:r>
            <a:r>
              <a:rPr lang="fa-IR" dirty="0">
                <a:solidFill>
                  <a:srgbClr val="000000"/>
                </a:solidFill>
                <a:latin typeface="IRANSans"/>
                <a:cs typeface="B Nazanin" panose="00000400000000000000" pitchFamily="2" charset="-78"/>
              </a:rPr>
              <a:t>صرف اینکه بتوانیم از یکی از کارکنان خود در طول یک سال، بیشترین خروجی را بگیریم، چندان ارزشمند نیست</a:t>
            </a:r>
            <a:r>
              <a:rPr lang="fa-IR" b="1" dirty="0" smtClean="0">
                <a:solidFill>
                  <a:srgbClr val="FF0000"/>
                </a:solidFill>
                <a:latin typeface="IRANSans"/>
                <a:cs typeface="B Nazanin" panose="00000400000000000000" pitchFamily="2" charset="-78"/>
              </a:rPr>
              <a:t>.</a:t>
            </a:r>
            <a:r>
              <a:rPr lang="en-US" b="1" dirty="0" smtClean="0">
                <a:solidFill>
                  <a:srgbClr val="FF0000"/>
                </a:solidFill>
                <a:latin typeface="IRANSans"/>
                <a:cs typeface="B Nazanin" panose="00000400000000000000" pitchFamily="2" charset="-78"/>
              </a:rPr>
              <a:t> </a:t>
            </a:r>
            <a:r>
              <a:rPr lang="fa-IR" b="1" dirty="0" smtClean="0">
                <a:solidFill>
                  <a:srgbClr val="FF0000"/>
                </a:solidFill>
                <a:latin typeface="IRANSans"/>
                <a:cs typeface="B Nazanin" panose="00000400000000000000" pitchFamily="2" charset="-78"/>
              </a:rPr>
              <a:t>هنر </a:t>
            </a:r>
            <a:r>
              <a:rPr lang="fa-IR" b="1" dirty="0">
                <a:solidFill>
                  <a:srgbClr val="FF0000"/>
                </a:solidFill>
                <a:latin typeface="IRANSans"/>
                <a:cs typeface="B Nazanin" panose="00000400000000000000" pitchFamily="2" charset="-78"/>
              </a:rPr>
              <a:t>این است که بتوانیم در طول عمر مفید کاری او، بیشترین خروجی را کسب کنیم </a:t>
            </a:r>
            <a:r>
              <a:rPr lang="fa-IR" dirty="0">
                <a:solidFill>
                  <a:srgbClr val="000000"/>
                </a:solidFill>
                <a:latin typeface="IRANSans"/>
                <a:cs typeface="B Nazanin" panose="00000400000000000000" pitchFamily="2" charset="-78"/>
              </a:rPr>
              <a:t>و از همه ابزارهای ممکن استفاده کنیم که </a:t>
            </a:r>
            <a:r>
              <a:rPr lang="fa-IR" b="1" dirty="0">
                <a:solidFill>
                  <a:srgbClr val="0070C0"/>
                </a:solidFill>
                <a:latin typeface="IRANSans"/>
                <a:cs typeface="B Nazanin" panose="00000400000000000000" pitchFamily="2" charset="-78"/>
              </a:rPr>
              <a:t>ماندگاری</a:t>
            </a:r>
            <a:r>
              <a:rPr lang="fa-IR" dirty="0">
                <a:solidFill>
                  <a:srgbClr val="000000"/>
                </a:solidFill>
                <a:latin typeface="IRANSans"/>
                <a:cs typeface="B Nazanin" panose="00000400000000000000" pitchFamily="2" charset="-78"/>
              </a:rPr>
              <a:t> و </a:t>
            </a:r>
            <a:r>
              <a:rPr lang="fa-IR" b="1" dirty="0">
                <a:solidFill>
                  <a:srgbClr val="0070C0"/>
                </a:solidFill>
                <a:latin typeface="IRANSans"/>
                <a:cs typeface="B Nazanin" panose="00000400000000000000" pitchFamily="2" charset="-78"/>
              </a:rPr>
              <a:t>رضایت کارکنان مفید </a:t>
            </a:r>
            <a:r>
              <a:rPr lang="fa-IR" dirty="0">
                <a:solidFill>
                  <a:srgbClr val="000000"/>
                </a:solidFill>
                <a:latin typeface="IRANSans"/>
                <a:cs typeface="B Nazanin" panose="00000400000000000000" pitchFamily="2" charset="-78"/>
              </a:rPr>
              <a:t>در یک سازمان افزایش یافته و باقی ماندن کارکنان بی خاصیت و کم خاصیت در یک سازمان، به سادگی امکان پذیر نباشد.</a:t>
            </a:r>
            <a:endParaRPr lang="fa-IR" b="0" i="0" dirty="0">
              <a:solidFill>
                <a:srgbClr val="000000"/>
              </a:solidFill>
              <a:effectLst/>
              <a:latin typeface="IRANSans"/>
              <a:cs typeface="B Nazanin" panose="00000400000000000000" pitchFamily="2" charset="-78"/>
            </a:endParaRPr>
          </a:p>
        </p:txBody>
      </p:sp>
      <p:sp>
        <p:nvSpPr>
          <p:cNvPr id="7" name="Rectangle 6"/>
          <p:cNvSpPr/>
          <p:nvPr/>
        </p:nvSpPr>
        <p:spPr>
          <a:xfrm>
            <a:off x="2234836" y="5548864"/>
            <a:ext cx="7456714" cy="923330"/>
          </a:xfrm>
          <a:prstGeom prst="rect">
            <a:avLst/>
          </a:prstGeom>
          <a:solidFill>
            <a:schemeClr val="accent3">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algn="just" rtl="1"/>
            <a:r>
              <a:rPr lang="fa-IR" dirty="0">
                <a:solidFill>
                  <a:srgbClr val="000000"/>
                </a:solidFill>
                <a:latin typeface="IRANSans"/>
                <a:cs typeface="B Nazanin" panose="00000400000000000000" pitchFamily="2" charset="-78"/>
              </a:rPr>
              <a:t>وقتی می‌گوییم </a:t>
            </a:r>
            <a:r>
              <a:rPr lang="fa-IR" b="1" dirty="0">
                <a:solidFill>
                  <a:srgbClr val="C00000"/>
                </a:solidFill>
                <a:latin typeface="IRANSans"/>
                <a:cs typeface="B Nazanin" panose="00000400000000000000" pitchFamily="2" charset="-78"/>
              </a:rPr>
              <a:t>کسب حداکثر خروجی</a:t>
            </a:r>
            <a:r>
              <a:rPr lang="fa-IR" dirty="0">
                <a:solidFill>
                  <a:srgbClr val="000000"/>
                </a:solidFill>
                <a:latin typeface="IRANSans"/>
                <a:cs typeface="B Nazanin" panose="00000400000000000000" pitchFamily="2" charset="-78"/>
              </a:rPr>
              <a:t> از کارکنان، </a:t>
            </a:r>
            <a:r>
              <a:rPr lang="fa-IR" b="1" dirty="0">
                <a:solidFill>
                  <a:srgbClr val="C00000"/>
                </a:solidFill>
                <a:latin typeface="IRANSans"/>
                <a:cs typeface="B Nazanin" panose="00000400000000000000" pitchFamily="2" charset="-78"/>
              </a:rPr>
              <a:t>نگاهی فیزیکی</a:t>
            </a:r>
            <a:r>
              <a:rPr lang="fa-IR" dirty="0">
                <a:solidFill>
                  <a:srgbClr val="000000"/>
                </a:solidFill>
                <a:latin typeface="IRANSans"/>
                <a:cs typeface="B Nazanin" panose="00000400000000000000" pitchFamily="2" charset="-78"/>
              </a:rPr>
              <a:t> و</a:t>
            </a:r>
            <a:r>
              <a:rPr lang="fa-IR" b="1" dirty="0">
                <a:solidFill>
                  <a:srgbClr val="000000"/>
                </a:solidFill>
                <a:latin typeface="IRANSans"/>
                <a:cs typeface="B Nazanin" panose="00000400000000000000" pitchFamily="2" charset="-78"/>
              </a:rPr>
              <a:t> </a:t>
            </a:r>
            <a:r>
              <a:rPr lang="fa-IR" b="1" dirty="0">
                <a:solidFill>
                  <a:srgbClr val="C00000"/>
                </a:solidFill>
                <a:latin typeface="IRANSans"/>
                <a:cs typeface="B Nazanin" panose="00000400000000000000" pitchFamily="2" charset="-78"/>
              </a:rPr>
              <a:t>غیر انسانی</a:t>
            </a:r>
            <a:r>
              <a:rPr lang="fa-IR" dirty="0">
                <a:solidFill>
                  <a:srgbClr val="000000"/>
                </a:solidFill>
                <a:latin typeface="IRANSans"/>
                <a:cs typeface="B Nazanin" panose="00000400000000000000" pitchFamily="2" charset="-78"/>
              </a:rPr>
              <a:t> به کارکنان داریم.</a:t>
            </a:r>
          </a:p>
          <a:p>
            <a:pPr algn="just" rtl="1"/>
            <a:r>
              <a:rPr lang="fa-IR" dirty="0">
                <a:solidFill>
                  <a:srgbClr val="000000"/>
                </a:solidFill>
                <a:latin typeface="IRANSans"/>
                <a:cs typeface="B Nazanin" panose="00000400000000000000" pitchFamily="2" charset="-78"/>
              </a:rPr>
              <a:t>اما وقتی می‌گوییم </a:t>
            </a:r>
            <a:r>
              <a:rPr lang="fa-IR" b="1" dirty="0">
                <a:solidFill>
                  <a:schemeClr val="accent6">
                    <a:lumMod val="75000"/>
                  </a:schemeClr>
                </a:solidFill>
                <a:latin typeface="IRANSans"/>
                <a:cs typeface="B Nazanin" panose="00000400000000000000" pitchFamily="2" charset="-78"/>
              </a:rPr>
              <a:t>ایجاد حداکثر خروجی در </a:t>
            </a:r>
            <a:r>
              <a:rPr lang="fa-IR" b="1" dirty="0">
                <a:solidFill>
                  <a:srgbClr val="00B050"/>
                </a:solidFill>
                <a:latin typeface="IRANSans"/>
                <a:cs typeface="B Nazanin" panose="00000400000000000000" pitchFamily="2" charset="-78"/>
              </a:rPr>
              <a:t>بلندمدت</a:t>
            </a:r>
            <a:r>
              <a:rPr lang="fa-IR" dirty="0">
                <a:solidFill>
                  <a:srgbClr val="000000"/>
                </a:solidFill>
                <a:latin typeface="IRANSans"/>
                <a:cs typeface="B Nazanin" panose="00000400000000000000" pitchFamily="2" charset="-78"/>
              </a:rPr>
              <a:t>، به ناچار باید جنبه‌های انسانی لحاظ شوند.</a:t>
            </a:r>
          </a:p>
          <a:p>
            <a:pPr algn="just" rtl="1"/>
            <a:r>
              <a:rPr lang="fa-IR" dirty="0">
                <a:solidFill>
                  <a:srgbClr val="000000"/>
                </a:solidFill>
                <a:latin typeface="IRANSans"/>
                <a:cs typeface="B Nazanin" panose="00000400000000000000" pitchFamily="2" charset="-78"/>
              </a:rPr>
              <a:t>بنابراین افزودن واژه‌ی </a:t>
            </a:r>
            <a:r>
              <a:rPr lang="fa-IR" b="1" dirty="0">
                <a:solidFill>
                  <a:srgbClr val="00B050"/>
                </a:solidFill>
                <a:latin typeface="IRANSans"/>
                <a:cs typeface="B Nazanin" panose="00000400000000000000" pitchFamily="2" charset="-78"/>
              </a:rPr>
              <a:t>بلندمدت</a:t>
            </a:r>
            <a:r>
              <a:rPr lang="fa-IR" dirty="0">
                <a:solidFill>
                  <a:srgbClr val="000000"/>
                </a:solidFill>
                <a:latin typeface="IRANSans"/>
                <a:cs typeface="B Nazanin" panose="00000400000000000000" pitchFamily="2" charset="-78"/>
              </a:rPr>
              <a:t>، به معنای تغییر نگرش از</a:t>
            </a:r>
            <a:r>
              <a:rPr lang="fa-IR" b="1" dirty="0">
                <a:solidFill>
                  <a:srgbClr val="000000"/>
                </a:solidFill>
                <a:latin typeface="IRANSans"/>
                <a:cs typeface="B Nazanin" panose="00000400000000000000" pitchFamily="2" charset="-78"/>
              </a:rPr>
              <a:t> </a:t>
            </a:r>
            <a:r>
              <a:rPr lang="fa-IR" dirty="0">
                <a:solidFill>
                  <a:srgbClr val="000000"/>
                </a:solidFill>
                <a:latin typeface="IRANSans"/>
                <a:cs typeface="B Nazanin" panose="00000400000000000000" pitchFamily="2" charset="-78"/>
              </a:rPr>
              <a:t>فضای مکانیکی به </a:t>
            </a:r>
            <a:r>
              <a:rPr lang="fa-IR" b="1" dirty="0">
                <a:solidFill>
                  <a:srgbClr val="00B050"/>
                </a:solidFill>
                <a:latin typeface="IRANSans"/>
                <a:cs typeface="B Nazanin" panose="00000400000000000000" pitchFamily="2" charset="-78"/>
              </a:rPr>
              <a:t>فضای انسانی</a:t>
            </a:r>
            <a:r>
              <a:rPr lang="fa-IR" dirty="0">
                <a:solidFill>
                  <a:srgbClr val="000000"/>
                </a:solidFill>
                <a:latin typeface="IRANSans"/>
                <a:cs typeface="B Nazanin" panose="00000400000000000000" pitchFamily="2" charset="-78"/>
              </a:rPr>
              <a:t> است.</a:t>
            </a:r>
            <a:endParaRPr lang="fa-IR" b="0" i="0" dirty="0">
              <a:solidFill>
                <a:srgbClr val="000000"/>
              </a:solidFill>
              <a:effectLst/>
              <a:latin typeface="IRANSans"/>
              <a:cs typeface="B Nazanin" panose="00000400000000000000" pitchFamily="2" charset="-78"/>
            </a:endParaRPr>
          </a:p>
        </p:txBody>
      </p:sp>
    </p:spTree>
    <p:extLst>
      <p:ext uri="{BB962C8B-B14F-4D97-AF65-F5344CB8AC3E}">
        <p14:creationId xmlns:p14="http://schemas.microsoft.com/office/powerpoint/2010/main" val="9284743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a:cs typeface="B Nazanin" panose="00000400000000000000" pitchFamily="2" charset="-78"/>
              </a:rPr>
              <a:t>وظایف واحد مدیریت منابع </a:t>
            </a:r>
            <a:r>
              <a:rPr lang="fa-IR" sz="4800" dirty="0" smtClean="0">
                <a:cs typeface="B Nazanin" panose="00000400000000000000" pitchFamily="2" charset="-78"/>
              </a:rPr>
              <a:t>انسانی</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8117568" y="1977543"/>
            <a:ext cx="3207929"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مدیریت فرایند جذب نیروی انسانی</a:t>
            </a:r>
            <a:endParaRPr lang="en-US" dirty="0">
              <a:cs typeface="B Nazanin" panose="00000400000000000000" pitchFamily="2" charset="-78"/>
            </a:endParaRPr>
          </a:p>
        </p:txBody>
      </p:sp>
      <p:sp>
        <p:nvSpPr>
          <p:cNvPr id="4" name="Rectangle 3"/>
          <p:cNvSpPr/>
          <p:nvPr/>
        </p:nvSpPr>
        <p:spPr>
          <a:xfrm>
            <a:off x="362584" y="1475490"/>
            <a:ext cx="7598229" cy="1477328"/>
          </a:xfrm>
          <a:prstGeom prst="rect">
            <a:avLst/>
          </a:prstGeom>
        </p:spPr>
        <p:txBody>
          <a:bodyPr wrap="square">
            <a:spAutoFit/>
          </a:bodyPr>
          <a:lstStyle/>
          <a:p>
            <a:pPr marL="285750" indent="-285750" algn="just" rtl="1">
              <a:buFont typeface="Arial" panose="020B0604020202020204" pitchFamily="34" charset="0"/>
              <a:buChar char="•"/>
            </a:pPr>
            <a:r>
              <a:rPr lang="fa-IR" dirty="0">
                <a:solidFill>
                  <a:srgbClr val="000000"/>
                </a:solidFill>
                <a:latin typeface="IRANSans"/>
                <a:cs typeface="B Nazanin" panose="00000400000000000000" pitchFamily="2" charset="-78"/>
              </a:rPr>
              <a:t>اطلاع داشتن از </a:t>
            </a:r>
            <a:r>
              <a:rPr lang="fa-IR" b="1" dirty="0">
                <a:solidFill>
                  <a:srgbClr val="0070C0"/>
                </a:solidFill>
                <a:latin typeface="IRANSans"/>
                <a:cs typeface="B Nazanin" panose="00000400000000000000" pitchFamily="2" charset="-78"/>
              </a:rPr>
              <a:t>وضعیت بازار کار</a:t>
            </a:r>
          </a:p>
          <a:p>
            <a:pPr marL="285750" indent="-285750" algn="just" rtl="1">
              <a:buFont typeface="Arial" panose="020B0604020202020204" pitchFamily="34" charset="0"/>
              <a:buChar char="•"/>
            </a:pPr>
            <a:r>
              <a:rPr lang="fa-IR" dirty="0" smtClean="0">
                <a:solidFill>
                  <a:srgbClr val="000000"/>
                </a:solidFill>
                <a:latin typeface="IRANSans"/>
                <a:cs typeface="B Nazanin" panose="00000400000000000000" pitchFamily="2" charset="-78"/>
              </a:rPr>
              <a:t>شناخت </a:t>
            </a:r>
            <a:r>
              <a:rPr lang="fa-IR" dirty="0">
                <a:solidFill>
                  <a:srgbClr val="C00000"/>
                </a:solidFill>
                <a:latin typeface="IRANSans"/>
                <a:cs typeface="B Nazanin" panose="00000400000000000000" pitchFamily="2" charset="-78"/>
              </a:rPr>
              <a:t>موقعیت‌های شغلی </a:t>
            </a:r>
            <a:r>
              <a:rPr lang="fa-IR" dirty="0">
                <a:solidFill>
                  <a:srgbClr val="000000"/>
                </a:solidFill>
                <a:latin typeface="IRANSans"/>
                <a:cs typeface="B Nazanin" panose="00000400000000000000" pitchFamily="2" charset="-78"/>
              </a:rPr>
              <a:t>خالی در سازمان و موقعیت‌ها و فرصت‌هایی که در آینده ایجاد خواهند شد</a:t>
            </a:r>
          </a:p>
          <a:p>
            <a:pPr marL="285750" indent="-285750" algn="just" rtl="1">
              <a:buFont typeface="Arial" panose="020B0604020202020204" pitchFamily="34" charset="0"/>
              <a:buChar char="•"/>
            </a:pPr>
            <a:r>
              <a:rPr lang="fa-IR" b="1" dirty="0" smtClean="0">
                <a:solidFill>
                  <a:schemeClr val="accent3">
                    <a:lumMod val="50000"/>
                  </a:schemeClr>
                </a:solidFill>
                <a:latin typeface="IRANSans"/>
                <a:cs typeface="B Nazanin" panose="00000400000000000000" pitchFamily="2" charset="-78"/>
              </a:rPr>
              <a:t>شناخت</a:t>
            </a:r>
            <a:r>
              <a:rPr lang="fa-IR" dirty="0" smtClean="0">
                <a:solidFill>
                  <a:srgbClr val="000000"/>
                </a:solidFill>
                <a:latin typeface="IRANSans"/>
                <a:cs typeface="B Nazanin" panose="00000400000000000000" pitchFamily="2" charset="-78"/>
              </a:rPr>
              <a:t> </a:t>
            </a:r>
            <a:r>
              <a:rPr lang="fa-IR" dirty="0">
                <a:solidFill>
                  <a:srgbClr val="000000"/>
                </a:solidFill>
                <a:latin typeface="IRANSans"/>
                <a:cs typeface="B Nazanin" panose="00000400000000000000" pitchFamily="2" charset="-78"/>
              </a:rPr>
              <a:t>سایر </a:t>
            </a:r>
            <a:r>
              <a:rPr lang="fa-IR" b="1" dirty="0">
                <a:solidFill>
                  <a:schemeClr val="accent3">
                    <a:lumMod val="50000"/>
                  </a:schemeClr>
                </a:solidFill>
                <a:latin typeface="IRANSans"/>
                <a:cs typeface="B Nazanin" panose="00000400000000000000" pitchFamily="2" charset="-78"/>
              </a:rPr>
              <a:t>فرصت‌ها</a:t>
            </a:r>
            <a:r>
              <a:rPr lang="fa-IR" dirty="0">
                <a:solidFill>
                  <a:srgbClr val="000000"/>
                </a:solidFill>
                <a:latin typeface="IRANSans"/>
                <a:cs typeface="B Nazanin" panose="00000400000000000000" pitchFamily="2" charset="-78"/>
              </a:rPr>
              <a:t>یی که در جامعه برای نیروی کار وجود </a:t>
            </a:r>
            <a:r>
              <a:rPr lang="fa-IR" dirty="0" smtClean="0">
                <a:solidFill>
                  <a:srgbClr val="000000"/>
                </a:solidFill>
                <a:latin typeface="IRANSans"/>
                <a:cs typeface="B Nazanin" panose="00000400000000000000" pitchFamily="2" charset="-78"/>
              </a:rPr>
              <a:t>دارد</a:t>
            </a:r>
            <a:endParaRPr lang="en-US" dirty="0" smtClean="0">
              <a:solidFill>
                <a:srgbClr val="000000"/>
              </a:solidFill>
              <a:latin typeface="IRANSans"/>
              <a:cs typeface="B Nazanin" panose="00000400000000000000" pitchFamily="2" charset="-78"/>
            </a:endParaRPr>
          </a:p>
          <a:p>
            <a:pPr marL="285750" indent="-285750" algn="just" rtl="1">
              <a:buFont typeface="Arial" panose="020B0604020202020204" pitchFamily="34" charset="0"/>
              <a:buChar char="•"/>
            </a:pPr>
            <a:r>
              <a:rPr lang="fa-IR" b="1" dirty="0" smtClean="0">
                <a:solidFill>
                  <a:srgbClr val="000000"/>
                </a:solidFill>
                <a:latin typeface="IRANSans"/>
                <a:cs typeface="B Nazanin" panose="00000400000000000000" pitchFamily="2" charset="-78"/>
              </a:rPr>
              <a:t>ابزارهای</a:t>
            </a:r>
            <a:r>
              <a:rPr lang="fa-IR" dirty="0" smtClean="0">
                <a:solidFill>
                  <a:srgbClr val="000000"/>
                </a:solidFill>
                <a:latin typeface="IRANSans"/>
                <a:cs typeface="B Nazanin" panose="00000400000000000000" pitchFamily="2" charset="-78"/>
              </a:rPr>
              <a:t> </a:t>
            </a:r>
            <a:r>
              <a:rPr lang="fa-IR" dirty="0">
                <a:solidFill>
                  <a:srgbClr val="000000"/>
                </a:solidFill>
                <a:latin typeface="IRANSans"/>
                <a:cs typeface="B Nazanin" panose="00000400000000000000" pitchFamily="2" charset="-78"/>
              </a:rPr>
              <a:t>موجود برای </a:t>
            </a:r>
            <a:r>
              <a:rPr lang="fa-IR" b="1" dirty="0">
                <a:solidFill>
                  <a:srgbClr val="000000"/>
                </a:solidFill>
                <a:latin typeface="IRANSans"/>
                <a:cs typeface="B Nazanin" panose="00000400000000000000" pitchFamily="2" charset="-78"/>
              </a:rPr>
              <a:t>جستجوی نیروی کار</a:t>
            </a:r>
          </a:p>
          <a:p>
            <a:pPr marL="285750" indent="-285750" algn="just" rtl="1">
              <a:buFont typeface="Arial" panose="020B0604020202020204" pitchFamily="34" charset="0"/>
              <a:buChar char="•"/>
            </a:pPr>
            <a:r>
              <a:rPr lang="fa-IR" dirty="0" smtClean="0">
                <a:solidFill>
                  <a:srgbClr val="000000"/>
                </a:solidFill>
                <a:latin typeface="IRANSans"/>
                <a:cs typeface="B Nazanin" panose="00000400000000000000" pitchFamily="2" charset="-78"/>
              </a:rPr>
              <a:t>برگزاری </a:t>
            </a:r>
            <a:r>
              <a:rPr lang="fa-IR" b="1" dirty="0">
                <a:solidFill>
                  <a:schemeClr val="accent6">
                    <a:lumMod val="75000"/>
                  </a:schemeClr>
                </a:solidFill>
                <a:latin typeface="IRANSans"/>
                <a:cs typeface="B Nazanin" panose="00000400000000000000" pitchFamily="2" charset="-78"/>
              </a:rPr>
              <a:t>مصاحبه</a:t>
            </a:r>
            <a:r>
              <a:rPr lang="fa-IR" dirty="0">
                <a:solidFill>
                  <a:srgbClr val="000000"/>
                </a:solidFill>
                <a:latin typeface="IRANSans"/>
                <a:cs typeface="B Nazanin" panose="00000400000000000000" pitchFamily="2" charset="-78"/>
              </a:rPr>
              <a:t>‌های شغلی</a:t>
            </a:r>
            <a:endParaRPr lang="fa-IR" b="0" i="0" dirty="0">
              <a:solidFill>
                <a:srgbClr val="000000"/>
              </a:solidFill>
              <a:effectLst/>
              <a:latin typeface="IRANSans"/>
              <a:cs typeface="B Nazanin" panose="00000400000000000000" pitchFamily="2" charset="-78"/>
            </a:endParaRPr>
          </a:p>
        </p:txBody>
      </p:sp>
      <p:sp>
        <p:nvSpPr>
          <p:cNvPr id="5" name="Right Brace 4"/>
          <p:cNvSpPr/>
          <p:nvPr/>
        </p:nvSpPr>
        <p:spPr>
          <a:xfrm>
            <a:off x="7960813" y="1371600"/>
            <a:ext cx="156755" cy="1581218"/>
          </a:xfrm>
          <a:prstGeom prst="rightBrace">
            <a:avLst/>
          </a:prstGeom>
          <a:ln w="28575">
            <a:solidFill>
              <a:srgbClr val="C1382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Rectangle 5"/>
          <p:cNvSpPr/>
          <p:nvPr/>
        </p:nvSpPr>
        <p:spPr>
          <a:xfrm>
            <a:off x="8580835" y="3232186"/>
            <a:ext cx="2744662" cy="646331"/>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طراحی نظام حقوق و </a:t>
            </a:r>
            <a:r>
              <a:rPr lang="fa-IR" b="1" dirty="0" smtClean="0">
                <a:latin typeface="IRANSans"/>
                <a:cs typeface="B Nazanin" panose="00000400000000000000" pitchFamily="2" charset="-78"/>
              </a:rPr>
              <a:t>دستمزد</a:t>
            </a:r>
          </a:p>
          <a:p>
            <a:pPr algn="ctr" rtl="1"/>
            <a:r>
              <a:rPr lang="fa-IR" b="1" dirty="0" smtClean="0">
                <a:latin typeface="IRANSans"/>
                <a:cs typeface="B Nazanin" panose="00000400000000000000" pitchFamily="2" charset="-78"/>
              </a:rPr>
              <a:t> </a:t>
            </a:r>
            <a:r>
              <a:rPr lang="fa-IR" b="1" dirty="0">
                <a:latin typeface="IRANSans"/>
                <a:cs typeface="B Nazanin" panose="00000400000000000000" pitchFamily="2" charset="-78"/>
              </a:rPr>
              <a:t>و </a:t>
            </a:r>
            <a:r>
              <a:rPr lang="fa-IR" b="1" dirty="0" smtClean="0">
                <a:latin typeface="IRANSans"/>
                <a:cs typeface="B Nazanin" panose="00000400000000000000" pitchFamily="2" charset="-78"/>
              </a:rPr>
              <a:t>جبران </a:t>
            </a:r>
            <a:r>
              <a:rPr lang="fa-IR" b="1" dirty="0">
                <a:latin typeface="IRANSans"/>
                <a:cs typeface="B Nazanin" panose="00000400000000000000" pitchFamily="2" charset="-78"/>
              </a:rPr>
              <a:t>خدمت کارکنان</a:t>
            </a:r>
            <a:endParaRPr lang="en-US" b="1" dirty="0">
              <a:latin typeface="IRANSans"/>
              <a:cs typeface="B Nazanin" panose="00000400000000000000" pitchFamily="2" charset="-78"/>
            </a:endParaRPr>
          </a:p>
        </p:txBody>
      </p:sp>
      <p:sp>
        <p:nvSpPr>
          <p:cNvPr id="7" name="Rectangle 6"/>
          <p:cNvSpPr/>
          <p:nvPr/>
        </p:nvSpPr>
        <p:spPr>
          <a:xfrm>
            <a:off x="362584" y="3139853"/>
            <a:ext cx="8218251"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smtClean="0">
                <a:solidFill>
                  <a:srgbClr val="000000"/>
                </a:solidFill>
                <a:latin typeface="IRANSans"/>
                <a:cs typeface="B Nazanin" panose="00000400000000000000" pitchFamily="2" charset="-78"/>
              </a:rPr>
              <a:t>این مورد فقط به تعیین حقوق و کارانه و پاداش های مادی منتهی نمیشود بلکه باید مواردی مانند حق استفاده از پارکینک ، تنظیم نامه توبیخ یا تشویق ، تقدیر شدن در یک جلسه رسمی و .... میتواند به عنوان جبران خدمت کارکنان در نظر گرفته شود .   </a:t>
            </a:r>
            <a:endParaRPr lang="en-US" dirty="0"/>
          </a:p>
        </p:txBody>
      </p:sp>
      <p:sp>
        <p:nvSpPr>
          <p:cNvPr id="9" name="Rectangle 8"/>
          <p:cNvSpPr/>
          <p:nvPr/>
        </p:nvSpPr>
        <p:spPr>
          <a:xfrm>
            <a:off x="8776402" y="4594405"/>
            <a:ext cx="2549095"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تدوین شاخص‌های عملکرد</a:t>
            </a:r>
            <a:endParaRPr lang="en-US" b="1" dirty="0">
              <a:latin typeface="IRANSans"/>
              <a:cs typeface="B Nazanin" panose="00000400000000000000" pitchFamily="2" charset="-78"/>
            </a:endParaRPr>
          </a:p>
        </p:txBody>
      </p:sp>
      <p:sp>
        <p:nvSpPr>
          <p:cNvPr id="10" name="Rectangle 9"/>
          <p:cNvSpPr/>
          <p:nvPr/>
        </p:nvSpPr>
        <p:spPr>
          <a:xfrm>
            <a:off x="362583" y="4337072"/>
            <a:ext cx="8218251"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en-US" dirty="0" smtClean="0">
                <a:solidFill>
                  <a:srgbClr val="000000"/>
                </a:solidFill>
                <a:latin typeface="IRANSans"/>
                <a:cs typeface="B Nazanin" panose="00000400000000000000" pitchFamily="2" charset="-78"/>
              </a:rPr>
              <a:t>شاخص‌هایی </a:t>
            </a:r>
            <a:r>
              <a:rPr lang="en-US" dirty="0" err="1" smtClean="0">
                <a:solidFill>
                  <a:srgbClr val="000000"/>
                </a:solidFill>
                <a:latin typeface="IRANSans"/>
                <a:cs typeface="B Nazanin" panose="00000400000000000000" pitchFamily="2" charset="-78"/>
              </a:rPr>
              <a:t>نظیر</a:t>
            </a:r>
            <a:r>
              <a:rPr lang="en-US" dirty="0" smtClean="0">
                <a:solidFill>
                  <a:srgbClr val="000000"/>
                </a:solidFill>
                <a:latin typeface="IRANSans"/>
                <a:cs typeface="B Nazanin" panose="00000400000000000000" pitchFamily="2" charset="-78"/>
              </a:rPr>
              <a:t> </a:t>
            </a:r>
            <a:r>
              <a:rPr lang="en-US" b="1" dirty="0" err="1" smtClean="0">
                <a:solidFill>
                  <a:srgbClr val="002060"/>
                </a:solidFill>
                <a:latin typeface="IRANSans"/>
                <a:cs typeface="B Nazanin" panose="00000400000000000000" pitchFamily="2" charset="-78"/>
              </a:rPr>
              <a:t>رضایت</a:t>
            </a:r>
            <a:r>
              <a:rPr lang="en-US" b="1" dirty="0" smtClean="0">
                <a:solidFill>
                  <a:srgbClr val="002060"/>
                </a:solidFill>
                <a:latin typeface="IRANSans"/>
                <a:cs typeface="B Nazanin" panose="00000400000000000000" pitchFamily="2" charset="-78"/>
              </a:rPr>
              <a:t> همکاران</a:t>
            </a:r>
            <a:r>
              <a:rPr lang="en-US" dirty="0" smtClean="0">
                <a:solidFill>
                  <a:srgbClr val="000000"/>
                </a:solidFill>
                <a:latin typeface="IRANSans"/>
                <a:cs typeface="B Nazanin" panose="00000400000000000000" pitchFamily="2" charset="-78"/>
              </a:rPr>
              <a:t>، </a:t>
            </a:r>
            <a:r>
              <a:rPr lang="en-US" b="1" dirty="0" err="1" smtClean="0">
                <a:solidFill>
                  <a:srgbClr val="FF0000"/>
                </a:solidFill>
                <a:latin typeface="IRANSans"/>
                <a:cs typeface="B Nazanin" panose="00000400000000000000" pitchFamily="2" charset="-78"/>
              </a:rPr>
              <a:t>شادی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آنها</a:t>
            </a:r>
            <a:r>
              <a:rPr lang="en-US" dirty="0" smtClean="0">
                <a:solidFill>
                  <a:srgbClr val="000000"/>
                </a:solidFill>
                <a:latin typeface="IRANSans"/>
                <a:cs typeface="B Nazanin" panose="00000400000000000000" pitchFamily="2" charset="-78"/>
              </a:rPr>
              <a:t>، </a:t>
            </a:r>
            <a:r>
              <a:rPr lang="en-US" b="1" dirty="0" err="1" smtClean="0">
                <a:solidFill>
                  <a:srgbClr val="000000"/>
                </a:solidFill>
                <a:latin typeface="IRANSans"/>
                <a:cs typeface="B Nazanin" panose="00000400000000000000" pitchFamily="2" charset="-78"/>
              </a:rPr>
              <a:t>ایمنی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آنها</a:t>
            </a:r>
            <a:r>
              <a:rPr lang="en-US" dirty="0" smtClean="0">
                <a:solidFill>
                  <a:srgbClr val="000000"/>
                </a:solidFill>
                <a:latin typeface="IRANSans"/>
                <a:cs typeface="B Nazanin" panose="00000400000000000000" pitchFamily="2" charset="-78"/>
              </a:rPr>
              <a:t> </a:t>
            </a:r>
            <a:r>
              <a:rPr lang="en-US" b="1" dirty="0" err="1" smtClean="0">
                <a:solidFill>
                  <a:srgbClr val="000000"/>
                </a:solidFill>
                <a:latin typeface="IRANSans"/>
                <a:cs typeface="B Nazanin" panose="00000400000000000000" pitchFamily="2" charset="-78"/>
              </a:rPr>
              <a:t>در</a:t>
            </a:r>
            <a:r>
              <a:rPr lang="en-US" b="1" dirty="0" smtClean="0">
                <a:solidFill>
                  <a:srgbClr val="000000"/>
                </a:solidFill>
                <a:latin typeface="IRANSans"/>
                <a:cs typeface="B Nazanin" panose="00000400000000000000" pitchFamily="2" charset="-78"/>
              </a:rPr>
              <a:t> </a:t>
            </a:r>
            <a:r>
              <a:rPr lang="en-US" b="1" dirty="0" err="1" smtClean="0">
                <a:solidFill>
                  <a:srgbClr val="000000"/>
                </a:solidFill>
                <a:latin typeface="IRANSans"/>
                <a:cs typeface="B Nazanin" panose="00000400000000000000" pitchFamily="2" charset="-78"/>
              </a:rPr>
              <a:t>محیط</a:t>
            </a:r>
            <a:r>
              <a:rPr lang="en-US" b="1" dirty="0" smtClean="0">
                <a:solidFill>
                  <a:srgbClr val="000000"/>
                </a:solidFill>
                <a:latin typeface="IRANSans"/>
                <a:cs typeface="B Nazanin" panose="00000400000000000000" pitchFamily="2" charset="-78"/>
              </a:rPr>
              <a:t> </a:t>
            </a:r>
            <a:r>
              <a:rPr lang="en-US" b="1" dirty="0" err="1" smtClean="0">
                <a:solidFill>
                  <a:srgbClr val="000000"/>
                </a:solidFill>
                <a:latin typeface="IRANSans"/>
                <a:cs typeface="B Nazanin" panose="00000400000000000000" pitchFamily="2" charset="-78"/>
              </a:rPr>
              <a:t>کار</a:t>
            </a:r>
            <a:r>
              <a:rPr lang="en-US" dirty="0" smtClean="0">
                <a:solidFill>
                  <a:srgbClr val="000000"/>
                </a:solidFill>
                <a:latin typeface="IRANSans"/>
                <a:cs typeface="B Nazanin" panose="00000400000000000000" pitchFamily="2" charset="-78"/>
              </a:rPr>
              <a:t>، </a:t>
            </a:r>
            <a:r>
              <a:rPr lang="en-US" b="1" dirty="0" err="1" smtClean="0">
                <a:solidFill>
                  <a:srgbClr val="00B050"/>
                </a:solidFill>
                <a:latin typeface="IRANSans"/>
                <a:cs typeface="B Nazanin" panose="00000400000000000000" pitchFamily="2" charset="-78"/>
              </a:rPr>
              <a:t>میزان</a:t>
            </a:r>
            <a:r>
              <a:rPr lang="en-US" b="1" dirty="0" smtClean="0">
                <a:solidFill>
                  <a:srgbClr val="00B050"/>
                </a:solidFill>
                <a:latin typeface="IRANSans"/>
                <a:cs typeface="B Nazanin" panose="00000400000000000000" pitchFamily="2" charset="-78"/>
              </a:rPr>
              <a:t> </a:t>
            </a:r>
            <a:r>
              <a:rPr lang="en-US" b="1" dirty="0" err="1" smtClean="0">
                <a:solidFill>
                  <a:srgbClr val="00B050"/>
                </a:solidFill>
                <a:latin typeface="IRANSans"/>
                <a:cs typeface="B Nazanin" panose="00000400000000000000" pitchFamily="2" charset="-78"/>
              </a:rPr>
              <a:t>رفاه</a:t>
            </a:r>
            <a:r>
              <a:rPr lang="en-US" b="1" dirty="0" smtClean="0">
                <a:solidFill>
                  <a:srgbClr val="00B05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آنها</a:t>
            </a:r>
            <a:r>
              <a:rPr lang="en-US" dirty="0" smtClean="0">
                <a:solidFill>
                  <a:srgbClr val="000000"/>
                </a:solidFill>
                <a:latin typeface="IRANSans"/>
                <a:cs typeface="B Nazanin" panose="00000400000000000000" pitchFamily="2" charset="-78"/>
              </a:rPr>
              <a:t>، </a:t>
            </a:r>
            <a:r>
              <a:rPr lang="en-US" b="1" dirty="0" err="1" smtClean="0">
                <a:solidFill>
                  <a:srgbClr val="C00000"/>
                </a:solidFill>
                <a:latin typeface="IRANSans"/>
                <a:cs typeface="B Nazanin" panose="00000400000000000000" pitchFamily="2" charset="-78"/>
              </a:rPr>
              <a:t>انگیزه</a:t>
            </a:r>
            <a:r>
              <a:rPr lang="en-US" dirty="0" smtClean="0">
                <a:solidFill>
                  <a:srgbClr val="000000"/>
                </a:solidFill>
                <a:latin typeface="IRANSans"/>
                <a:cs typeface="B Nazanin" panose="00000400000000000000" pitchFamily="2" charset="-78"/>
              </a:rPr>
              <a:t>، </a:t>
            </a:r>
            <a:r>
              <a:rPr lang="en-US" b="1" dirty="0" err="1" smtClean="0">
                <a:solidFill>
                  <a:srgbClr val="000000"/>
                </a:solidFill>
                <a:latin typeface="IRANSans"/>
                <a:cs typeface="B Nazanin" panose="00000400000000000000" pitchFamily="2" charset="-78"/>
              </a:rPr>
              <a:t>خروجی</a:t>
            </a:r>
            <a:r>
              <a:rPr lang="en-US" b="1" dirty="0" smtClean="0">
                <a:solidFill>
                  <a:srgbClr val="000000"/>
                </a:solidFill>
                <a:latin typeface="IRANSans"/>
                <a:cs typeface="B Nazanin" panose="00000400000000000000" pitchFamily="2" charset="-78"/>
              </a:rPr>
              <a:t> </a:t>
            </a:r>
            <a:r>
              <a:rPr lang="en-US" b="1" dirty="0" err="1" smtClean="0">
                <a:solidFill>
                  <a:srgbClr val="000000"/>
                </a:solidFill>
                <a:latin typeface="IRANSans"/>
                <a:cs typeface="B Nazanin" panose="00000400000000000000" pitchFamily="2" charset="-78"/>
              </a:rPr>
              <a:t>مالی</a:t>
            </a:r>
            <a:r>
              <a:rPr lang="en-US" b="1" dirty="0" smtClean="0">
                <a:solidFill>
                  <a:srgbClr val="000000"/>
                </a:solidFill>
                <a:latin typeface="IRANSans"/>
                <a:cs typeface="B Nazanin" panose="00000400000000000000" pitchFamily="2" charset="-78"/>
              </a:rPr>
              <a:t> و </a:t>
            </a:r>
            <a:r>
              <a:rPr lang="en-US" b="1" dirty="0" err="1" smtClean="0">
                <a:solidFill>
                  <a:srgbClr val="000000"/>
                </a:solidFill>
                <a:latin typeface="IRANSans"/>
                <a:cs typeface="B Nazanin" panose="00000400000000000000" pitchFamily="2" charset="-78"/>
              </a:rPr>
              <a:t>کارایی</a:t>
            </a:r>
            <a:r>
              <a:rPr lang="en-US" b="1" dirty="0" smtClean="0">
                <a:solidFill>
                  <a:srgbClr val="000000"/>
                </a:solidFill>
                <a:latin typeface="IRANSans"/>
                <a:cs typeface="B Nazanin" panose="00000400000000000000" pitchFamily="2" charset="-78"/>
              </a:rPr>
              <a:t> </a:t>
            </a:r>
            <a:r>
              <a:rPr lang="en-US" dirty="0" smtClean="0">
                <a:solidFill>
                  <a:srgbClr val="000000"/>
                </a:solidFill>
                <a:latin typeface="IRANSans"/>
                <a:cs typeface="B Nazanin" panose="00000400000000000000" pitchFamily="2" charset="-78"/>
              </a:rPr>
              <a:t>و </a:t>
            </a:r>
            <a:r>
              <a:rPr lang="en-US" b="1" dirty="0" err="1" smtClean="0">
                <a:solidFill>
                  <a:srgbClr val="7030A0"/>
                </a:solidFill>
                <a:latin typeface="IRANSans"/>
                <a:cs typeface="B Nazanin" panose="00000400000000000000" pitchFamily="2" charset="-78"/>
              </a:rPr>
              <a:t>راندمان</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نمونه‌هایی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از</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این</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شاخص‌ها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هستند</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که</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باید</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واحد</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مدیریت</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منابع</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انسانی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آنها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را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تعریف</a:t>
            </a:r>
            <a:r>
              <a:rPr lang="en-US" dirty="0" smtClean="0">
                <a:solidFill>
                  <a:srgbClr val="000000"/>
                </a:solidFill>
                <a:latin typeface="IRANSans"/>
                <a:cs typeface="B Nazanin" panose="00000400000000000000" pitchFamily="2" charset="-78"/>
              </a:rPr>
              <a:t> و </a:t>
            </a:r>
            <a:r>
              <a:rPr lang="en-US" dirty="0" err="1" smtClean="0">
                <a:solidFill>
                  <a:srgbClr val="000000"/>
                </a:solidFill>
                <a:latin typeface="IRANSans"/>
                <a:cs typeface="B Nazanin" panose="00000400000000000000" pitchFamily="2" charset="-78"/>
              </a:rPr>
              <a:t>طبقه</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بندی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نموده</a:t>
            </a:r>
            <a:r>
              <a:rPr lang="en-US" dirty="0" smtClean="0">
                <a:solidFill>
                  <a:srgbClr val="000000"/>
                </a:solidFill>
                <a:latin typeface="IRANSans"/>
                <a:cs typeface="B Nazanin" panose="00000400000000000000" pitchFamily="2" charset="-78"/>
              </a:rPr>
              <a:t> و </a:t>
            </a:r>
            <a:r>
              <a:rPr lang="en-US" dirty="0" err="1" smtClean="0">
                <a:solidFill>
                  <a:srgbClr val="000000"/>
                </a:solidFill>
                <a:latin typeface="IRANSans"/>
                <a:cs typeface="B Nazanin" panose="00000400000000000000" pitchFamily="2" charset="-78"/>
              </a:rPr>
              <a:t>شیوه‌های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اندازه</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گیری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آنها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را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نیز</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مشخص</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نماید.همچنین</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واحد</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منابع</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انسانی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باید</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به</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صورت</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منظم</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این</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شاخص‌ها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را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اندازه</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گیری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کرده</a:t>
            </a:r>
            <a:r>
              <a:rPr lang="en-US" dirty="0" smtClean="0">
                <a:solidFill>
                  <a:srgbClr val="000000"/>
                </a:solidFill>
                <a:latin typeface="IRANSans"/>
                <a:cs typeface="B Nazanin" panose="00000400000000000000" pitchFamily="2" charset="-78"/>
              </a:rPr>
              <a:t> و </a:t>
            </a:r>
            <a:r>
              <a:rPr lang="en-US" dirty="0" err="1" smtClean="0">
                <a:solidFill>
                  <a:srgbClr val="000000"/>
                </a:solidFill>
                <a:latin typeface="IRANSans"/>
                <a:cs typeface="B Nazanin" panose="00000400000000000000" pitchFamily="2" charset="-78"/>
              </a:rPr>
              <a:t>در</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حرکت</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آنها</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به</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سمت</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مطلوب</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همکاری</a:t>
            </a:r>
            <a:r>
              <a:rPr lang="en-US" dirty="0" smtClean="0">
                <a:solidFill>
                  <a:srgbClr val="000000"/>
                </a:solidFill>
                <a:latin typeface="IRANSans"/>
                <a:cs typeface="B Nazanin" panose="00000400000000000000" pitchFamily="2" charset="-78"/>
              </a:rPr>
              <a:t> </a:t>
            </a:r>
            <a:r>
              <a:rPr lang="en-US" dirty="0" err="1" smtClean="0">
                <a:solidFill>
                  <a:srgbClr val="000000"/>
                </a:solidFill>
                <a:latin typeface="IRANSans"/>
                <a:cs typeface="B Nazanin" panose="00000400000000000000" pitchFamily="2" charset="-78"/>
              </a:rPr>
              <a:t>کند</a:t>
            </a:r>
            <a:r>
              <a:rPr lang="en-US" dirty="0" smtClean="0">
                <a:solidFill>
                  <a:srgbClr val="000000"/>
                </a:solidFill>
                <a:latin typeface="IRANSans"/>
                <a:cs typeface="B Nazanin" panose="00000400000000000000" pitchFamily="2" charset="-78"/>
              </a:rPr>
              <a:t>.</a:t>
            </a:r>
            <a:endParaRPr lang="en-US" dirty="0">
              <a:solidFill>
                <a:srgbClr val="000000"/>
              </a:solidFill>
              <a:latin typeface="IRANSans"/>
              <a:cs typeface="B Nazanin" panose="00000400000000000000" pitchFamily="2" charset="-78"/>
            </a:endParaRPr>
          </a:p>
        </p:txBody>
      </p:sp>
      <p:sp>
        <p:nvSpPr>
          <p:cNvPr id="11" name="Rectangle 10"/>
          <p:cNvSpPr/>
          <p:nvPr/>
        </p:nvSpPr>
        <p:spPr>
          <a:xfrm>
            <a:off x="9653244" y="5920968"/>
            <a:ext cx="1672253"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ارزیابی عملکرد</a:t>
            </a:r>
            <a:endParaRPr lang="en-US" b="1" dirty="0">
              <a:latin typeface="IRANSans"/>
              <a:cs typeface="B Nazanin" panose="00000400000000000000" pitchFamily="2" charset="-78"/>
            </a:endParaRPr>
          </a:p>
        </p:txBody>
      </p:sp>
      <p:sp>
        <p:nvSpPr>
          <p:cNvPr id="12" name="Rectangle 11"/>
          <p:cNvSpPr/>
          <p:nvPr/>
        </p:nvSpPr>
        <p:spPr>
          <a:xfrm>
            <a:off x="362585" y="5811291"/>
            <a:ext cx="821825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کسانی که در یک سازمان کار می‌کنند باید مطمئن باشند که </a:t>
            </a:r>
            <a:r>
              <a:rPr lang="fa-IR" b="1" dirty="0">
                <a:solidFill>
                  <a:srgbClr val="000000"/>
                </a:solidFill>
                <a:latin typeface="IRANSans"/>
                <a:cs typeface="B Nazanin" panose="00000400000000000000" pitchFamily="2" charset="-78"/>
              </a:rPr>
              <a:t>چشمی</a:t>
            </a:r>
            <a:r>
              <a:rPr lang="fa-IR" dirty="0">
                <a:solidFill>
                  <a:srgbClr val="000000"/>
                </a:solidFill>
                <a:latin typeface="IRANSans"/>
                <a:cs typeface="B Nazanin" panose="00000400000000000000" pitchFamily="2" charset="-78"/>
              </a:rPr>
              <a:t> </a:t>
            </a:r>
            <a:r>
              <a:rPr lang="fa-IR" b="1" dirty="0">
                <a:solidFill>
                  <a:srgbClr val="000000"/>
                </a:solidFill>
                <a:latin typeface="IRANSans"/>
                <a:cs typeface="B Nazanin" panose="00000400000000000000" pitchFamily="2" charset="-78"/>
              </a:rPr>
              <a:t>هست</a:t>
            </a:r>
            <a:r>
              <a:rPr lang="fa-IR" dirty="0">
                <a:solidFill>
                  <a:srgbClr val="000000"/>
                </a:solidFill>
                <a:latin typeface="IRANSans"/>
                <a:cs typeface="B Nazanin" panose="00000400000000000000" pitchFamily="2" charset="-78"/>
              </a:rPr>
              <a:t> که آنها را می‌بیند و زحمات آنها را درک </a:t>
            </a:r>
            <a:r>
              <a:rPr lang="fa-IR" dirty="0" smtClean="0">
                <a:solidFill>
                  <a:srgbClr val="000000"/>
                </a:solidFill>
                <a:latin typeface="IRANSans"/>
                <a:cs typeface="B Nazanin" panose="00000400000000000000" pitchFamily="2" charset="-78"/>
              </a:rPr>
              <a:t>می‌کند. همچنین </a:t>
            </a:r>
            <a:r>
              <a:rPr lang="fa-IR" b="1" dirty="0">
                <a:solidFill>
                  <a:srgbClr val="FF0000"/>
                </a:solidFill>
                <a:latin typeface="IRANSans"/>
                <a:cs typeface="B Nazanin" panose="00000400000000000000" pitchFamily="2" charset="-78"/>
              </a:rPr>
              <a:t>تفاوت</a:t>
            </a:r>
            <a:r>
              <a:rPr lang="fa-IR" dirty="0">
                <a:solidFill>
                  <a:srgbClr val="000000"/>
                </a:solidFill>
                <a:latin typeface="IRANSans"/>
                <a:cs typeface="B Nazanin" panose="00000400000000000000" pitchFamily="2" charset="-78"/>
              </a:rPr>
              <a:t> کسی که بهتر کار می‌کند با کسی که خوب کار نمی‌کند دیده و ثبت می‌شود.</a:t>
            </a:r>
          </a:p>
        </p:txBody>
      </p:sp>
    </p:spTree>
    <p:extLst>
      <p:ext uri="{BB962C8B-B14F-4D97-AF65-F5344CB8AC3E}">
        <p14:creationId xmlns:p14="http://schemas.microsoft.com/office/powerpoint/2010/main" val="8440886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a:cs typeface="B Nazanin" panose="00000400000000000000" pitchFamily="2" charset="-78"/>
              </a:rPr>
              <a:t>وظایف واحد مدیریت منابع </a:t>
            </a:r>
            <a:r>
              <a:rPr lang="fa-IR" sz="4800" dirty="0" smtClean="0">
                <a:cs typeface="B Nazanin" panose="00000400000000000000" pitchFamily="2" charset="-78"/>
              </a:rPr>
              <a:t>انسانی</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8437492" y="1703221"/>
            <a:ext cx="3201517"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استفاده استراتژیک از منابع انسانی</a:t>
            </a:r>
            <a:endParaRPr lang="en-US" b="1" dirty="0">
              <a:latin typeface="IRANSans"/>
              <a:cs typeface="B Nazanin" panose="00000400000000000000" pitchFamily="2" charset="-78"/>
            </a:endParaRPr>
          </a:p>
        </p:txBody>
      </p:sp>
      <p:sp>
        <p:nvSpPr>
          <p:cNvPr id="13" name="Rectangle 12"/>
          <p:cNvSpPr/>
          <p:nvPr/>
        </p:nvSpPr>
        <p:spPr>
          <a:xfrm>
            <a:off x="431074" y="1426222"/>
            <a:ext cx="805978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وقتی از انسان‌ها به عنوان </a:t>
            </a:r>
            <a:r>
              <a:rPr lang="fa-IR" b="1" dirty="0">
                <a:solidFill>
                  <a:srgbClr val="FF0000"/>
                </a:solidFill>
                <a:latin typeface="IRANSans"/>
                <a:cs typeface="B Nazanin" panose="00000400000000000000" pitchFamily="2" charset="-78"/>
              </a:rPr>
              <a:t>منابع</a:t>
            </a:r>
            <a:r>
              <a:rPr lang="fa-IR" dirty="0">
                <a:solidFill>
                  <a:srgbClr val="000000"/>
                </a:solidFill>
                <a:latin typeface="IRANSans"/>
                <a:cs typeface="B Nazanin" panose="00000400000000000000" pitchFamily="2" charset="-78"/>
              </a:rPr>
              <a:t> </a:t>
            </a:r>
            <a:r>
              <a:rPr lang="fa-IR" b="1" dirty="0">
                <a:solidFill>
                  <a:srgbClr val="000000"/>
                </a:solidFill>
                <a:latin typeface="IRANSans"/>
                <a:cs typeface="B Nazanin" panose="00000400000000000000" pitchFamily="2" charset="-78"/>
              </a:rPr>
              <a:t>انسانی</a:t>
            </a:r>
            <a:r>
              <a:rPr lang="fa-IR" dirty="0">
                <a:solidFill>
                  <a:srgbClr val="000000"/>
                </a:solidFill>
                <a:latin typeface="IRANSans"/>
                <a:cs typeface="B Nazanin" panose="00000400000000000000" pitchFamily="2" charset="-78"/>
              </a:rPr>
              <a:t> یاد می‌کنیم، یعنی اینکه مانند هر </a:t>
            </a:r>
            <a:r>
              <a:rPr lang="fa-IR" b="1" dirty="0">
                <a:solidFill>
                  <a:srgbClr val="FF0000"/>
                </a:solidFill>
                <a:latin typeface="IRANSans"/>
                <a:cs typeface="B Nazanin" panose="00000400000000000000" pitchFamily="2" charset="-78"/>
              </a:rPr>
              <a:t>منبع</a:t>
            </a:r>
            <a:r>
              <a:rPr lang="fa-IR" dirty="0">
                <a:solidFill>
                  <a:srgbClr val="000000"/>
                </a:solidFill>
                <a:latin typeface="IRANSans"/>
                <a:cs typeface="B Nazanin" panose="00000400000000000000" pitchFamily="2" charset="-78"/>
              </a:rPr>
              <a:t> دیگری، باید برای تولید و رشد و نگهداری آن تلاش </a:t>
            </a:r>
            <a:r>
              <a:rPr lang="fa-IR" dirty="0" smtClean="0">
                <a:solidFill>
                  <a:srgbClr val="000000"/>
                </a:solidFill>
                <a:latin typeface="IRANSans"/>
                <a:cs typeface="B Nazanin" panose="00000400000000000000" pitchFamily="2" charset="-78"/>
              </a:rPr>
              <a:t>کنیم. همچنین</a:t>
            </a:r>
            <a:r>
              <a:rPr lang="fa-IR" dirty="0">
                <a:solidFill>
                  <a:srgbClr val="000000"/>
                </a:solidFill>
                <a:latin typeface="IRANSans"/>
                <a:cs typeface="B Nazanin" panose="00000400000000000000" pitchFamily="2" charset="-78"/>
              </a:rPr>
              <a:t>، باید یادمان باشد که این منبع، چندان هم تجدیدپذیر نیست. استفاده‌ی استراتژیک هم، بحث دیگری است که همیشه وقتی از یک منبع حرف می‌زنیم، اهمیت پیدا می‌کند.</a:t>
            </a:r>
          </a:p>
        </p:txBody>
      </p:sp>
      <p:sp>
        <p:nvSpPr>
          <p:cNvPr id="4" name="Rectangle 3"/>
          <p:cNvSpPr/>
          <p:nvPr/>
        </p:nvSpPr>
        <p:spPr>
          <a:xfrm>
            <a:off x="8865493" y="3396224"/>
            <a:ext cx="2773516" cy="646331"/>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ایجاد حس امنیت شغلی برای </a:t>
            </a:r>
            <a:endParaRPr lang="fa-IR" b="1" dirty="0" smtClean="0">
              <a:latin typeface="IRANSans"/>
              <a:cs typeface="B Nazanin" panose="00000400000000000000" pitchFamily="2" charset="-78"/>
            </a:endParaRPr>
          </a:p>
          <a:p>
            <a:pPr algn="ctr" rtl="1"/>
            <a:r>
              <a:rPr lang="fa-IR" b="1" dirty="0" smtClean="0">
                <a:latin typeface="IRANSans"/>
                <a:cs typeface="B Nazanin" panose="00000400000000000000" pitchFamily="2" charset="-78"/>
              </a:rPr>
              <a:t>همکاران </a:t>
            </a:r>
            <a:r>
              <a:rPr lang="fa-IR" b="1" dirty="0">
                <a:latin typeface="IRANSans"/>
                <a:cs typeface="B Nazanin" panose="00000400000000000000" pitchFamily="2" charset="-78"/>
              </a:rPr>
              <a:t>مفید و توانمند</a:t>
            </a:r>
            <a:endParaRPr lang="en-US" b="1" dirty="0">
              <a:latin typeface="IRANSans"/>
              <a:cs typeface="B Nazanin" panose="00000400000000000000" pitchFamily="2" charset="-78"/>
            </a:endParaRPr>
          </a:p>
        </p:txBody>
      </p:sp>
      <p:sp>
        <p:nvSpPr>
          <p:cNvPr id="5" name="Rectangle 4"/>
          <p:cNvSpPr/>
          <p:nvPr/>
        </p:nvSpPr>
        <p:spPr>
          <a:xfrm>
            <a:off x="431073" y="2510906"/>
            <a:ext cx="8059783"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امنیت شغلی باید برای کسانی </a:t>
            </a:r>
            <a:r>
              <a:rPr lang="fa-IR" dirty="0" smtClean="0">
                <a:solidFill>
                  <a:srgbClr val="000000"/>
                </a:solidFill>
                <a:latin typeface="IRANSans"/>
                <a:cs typeface="B Nazanin" panose="00000400000000000000" pitchFamily="2" charset="-78"/>
              </a:rPr>
              <a:t>باشد عنصری </a:t>
            </a:r>
            <a:r>
              <a:rPr lang="fa-IR" dirty="0">
                <a:solidFill>
                  <a:srgbClr val="000000"/>
                </a:solidFill>
                <a:latin typeface="IRANSans"/>
                <a:cs typeface="B Nazanin" panose="00000400000000000000" pitchFamily="2" charset="-78"/>
              </a:rPr>
              <a:t>مفید در سازمان تلقی می‌شوند.</a:t>
            </a:r>
          </a:p>
          <a:p>
            <a:pPr algn="justLow" rtl="1"/>
            <a:r>
              <a:rPr lang="fa-IR" b="1" dirty="0">
                <a:solidFill>
                  <a:srgbClr val="000000"/>
                </a:solidFill>
                <a:latin typeface="IRANSans"/>
                <a:cs typeface="B Nazanin" panose="00000400000000000000" pitchFamily="2" charset="-78"/>
              </a:rPr>
              <a:t>امنیت شغلی اگر برای همه‌ی افراد سازمان به یک اندازه وجود داشته باشد، فرقی با ناامنی شغلی ندارد</a:t>
            </a:r>
            <a:r>
              <a:rPr lang="fa-IR" b="1" dirty="0" smtClean="0">
                <a:solidFill>
                  <a:srgbClr val="000000"/>
                </a:solidFill>
                <a:latin typeface="IRANSans"/>
                <a:cs typeface="B Nazanin" panose="00000400000000000000" pitchFamily="2" charset="-78"/>
              </a:rPr>
              <a:t>.</a:t>
            </a:r>
          </a:p>
          <a:p>
            <a:pPr algn="justLow" rtl="1"/>
            <a:r>
              <a:rPr lang="fa-IR" b="1" dirty="0">
                <a:solidFill>
                  <a:srgbClr val="FF0000"/>
                </a:solidFill>
                <a:latin typeface="IRANSans"/>
                <a:cs typeface="B Nazanin" panose="00000400000000000000" pitchFamily="2" charset="-78"/>
              </a:rPr>
              <a:t> امنیت شغلی بر پایه قرارداد حقوقی</a:t>
            </a:r>
            <a:r>
              <a:rPr lang="fa-IR" dirty="0">
                <a:solidFill>
                  <a:srgbClr val="000000"/>
                </a:solidFill>
                <a:latin typeface="IRANSans"/>
                <a:cs typeface="B Nazanin" panose="00000400000000000000" pitchFamily="2" charset="-78"/>
              </a:rPr>
              <a:t>، ساده‌ترین و سطحی‌ترین شکل امنیت است.</a:t>
            </a:r>
          </a:p>
          <a:p>
            <a:pPr algn="justLow" rtl="1"/>
            <a:r>
              <a:rPr lang="fa-IR" dirty="0">
                <a:solidFill>
                  <a:srgbClr val="000000"/>
                </a:solidFill>
                <a:latin typeface="IRANSans"/>
                <a:cs typeface="B Nazanin" panose="00000400000000000000" pitchFamily="2" charset="-78"/>
              </a:rPr>
              <a:t>عمیق‌ترین شکل امنیت به کمک ابزارهای زیر به دست می‌آیند:</a:t>
            </a:r>
          </a:p>
          <a:p>
            <a:pPr marL="285750" indent="-285750" algn="justLow" rtl="1">
              <a:buFont typeface="Wingdings" panose="05000000000000000000" pitchFamily="2" charset="2"/>
              <a:buChar char="ü"/>
            </a:pPr>
            <a:r>
              <a:rPr lang="fa-IR" b="1" dirty="0">
                <a:solidFill>
                  <a:srgbClr val="002060"/>
                </a:solidFill>
                <a:latin typeface="IRANSans"/>
                <a:cs typeface="B Nazanin" panose="00000400000000000000" pitchFamily="2" charset="-78"/>
              </a:rPr>
              <a:t>  اعطای اختیارات و واگذاری مسئولیت‌ها به همکاران (غنی سازی شغلی)</a:t>
            </a:r>
          </a:p>
          <a:p>
            <a:pPr marL="285750" indent="-285750" algn="justLow" rtl="1">
              <a:buFont typeface="Wingdings" panose="05000000000000000000" pitchFamily="2" charset="2"/>
              <a:buChar char="ü"/>
            </a:pPr>
            <a:r>
              <a:rPr lang="fa-IR" b="1" dirty="0">
                <a:solidFill>
                  <a:srgbClr val="002060"/>
                </a:solidFill>
                <a:latin typeface="IRANSans"/>
                <a:cs typeface="B Nazanin" panose="00000400000000000000" pitchFamily="2" charset="-78"/>
              </a:rPr>
              <a:t>   مشارکت دادن همکاران در منافع</a:t>
            </a:r>
          </a:p>
          <a:p>
            <a:pPr marL="285750" indent="-285750" algn="justLow" rtl="1">
              <a:buFont typeface="Wingdings" panose="05000000000000000000" pitchFamily="2" charset="2"/>
              <a:buChar char="ü"/>
            </a:pPr>
            <a:r>
              <a:rPr lang="fa-IR" b="1" dirty="0">
                <a:solidFill>
                  <a:srgbClr val="002060"/>
                </a:solidFill>
                <a:latin typeface="IRANSans"/>
                <a:cs typeface="B Nazanin" panose="00000400000000000000" pitchFamily="2" charset="-78"/>
              </a:rPr>
              <a:t>  توانمندسازی </a:t>
            </a:r>
            <a:r>
              <a:rPr lang="fa-IR" b="1" dirty="0" smtClean="0">
                <a:solidFill>
                  <a:srgbClr val="002060"/>
                </a:solidFill>
                <a:latin typeface="IRANSans"/>
                <a:cs typeface="B Nazanin" panose="00000400000000000000" pitchFamily="2" charset="-78"/>
              </a:rPr>
              <a:t>همکاران</a:t>
            </a:r>
            <a:endParaRPr lang="fa-IR" b="1" dirty="0">
              <a:solidFill>
                <a:srgbClr val="002060"/>
              </a:solidFill>
              <a:latin typeface="IRANSans"/>
              <a:cs typeface="B Nazanin" panose="00000400000000000000" pitchFamily="2" charset="-78"/>
            </a:endParaRPr>
          </a:p>
        </p:txBody>
      </p:sp>
      <p:sp>
        <p:nvSpPr>
          <p:cNvPr id="7" name="Rectangle 6"/>
          <p:cNvSpPr/>
          <p:nvPr/>
        </p:nvSpPr>
        <p:spPr>
          <a:xfrm>
            <a:off x="8865493" y="4858394"/>
            <a:ext cx="2755883" cy="646331"/>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همسوسازی کارکنان جدید با </a:t>
            </a:r>
            <a:endParaRPr lang="fa-IR" b="1" dirty="0" smtClean="0">
              <a:latin typeface="IRANSans"/>
              <a:cs typeface="B Nazanin" panose="00000400000000000000" pitchFamily="2" charset="-78"/>
            </a:endParaRPr>
          </a:p>
          <a:p>
            <a:pPr algn="ctr" rtl="1"/>
            <a:r>
              <a:rPr lang="fa-IR" b="1" dirty="0" smtClean="0">
                <a:latin typeface="IRANSans"/>
                <a:cs typeface="B Nazanin" panose="00000400000000000000" pitchFamily="2" charset="-78"/>
              </a:rPr>
              <a:t>سازمان </a:t>
            </a:r>
            <a:r>
              <a:rPr lang="fa-IR" b="1" dirty="0">
                <a:latin typeface="IRANSans"/>
                <a:cs typeface="B Nazanin" panose="00000400000000000000" pitchFamily="2" charset="-78"/>
              </a:rPr>
              <a:t>و فرهنگ </a:t>
            </a:r>
            <a:r>
              <a:rPr lang="fa-IR" b="1" dirty="0" smtClean="0">
                <a:latin typeface="IRANSans"/>
                <a:cs typeface="B Nazanin" panose="00000400000000000000" pitchFamily="2" charset="-78"/>
              </a:rPr>
              <a:t>سازمانی</a:t>
            </a:r>
            <a:endParaRPr lang="fa-IR" b="1" dirty="0">
              <a:latin typeface="IRANSans"/>
              <a:cs typeface="B Nazanin" panose="00000400000000000000" pitchFamily="2" charset="-78"/>
            </a:endParaRPr>
          </a:p>
        </p:txBody>
      </p:sp>
      <p:sp>
        <p:nvSpPr>
          <p:cNvPr id="9" name="Rectangle 8"/>
          <p:cNvSpPr/>
          <p:nvPr/>
        </p:nvSpPr>
        <p:spPr>
          <a:xfrm>
            <a:off x="431074" y="4719895"/>
            <a:ext cx="805978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هر عضو جدیدی در سازمان، به هر حال با گذشت زمان، فرهنگ و قوانین و بایدها و نبایدها و الگوهای ارزشی سازمان را فرا خواهد گرفت. اما هنر واحد مدیریت منابع انسانی در آن است که </a:t>
            </a:r>
            <a:r>
              <a:rPr lang="fa-IR" b="1" dirty="0">
                <a:solidFill>
                  <a:srgbClr val="000000"/>
                </a:solidFill>
                <a:latin typeface="IRANSans"/>
                <a:cs typeface="B Nazanin" panose="00000400000000000000" pitchFamily="2" charset="-78"/>
              </a:rPr>
              <a:t>زمان</a:t>
            </a:r>
            <a:r>
              <a:rPr lang="fa-IR" dirty="0">
                <a:solidFill>
                  <a:srgbClr val="000000"/>
                </a:solidFill>
                <a:latin typeface="IRANSans"/>
                <a:cs typeface="B Nazanin" panose="00000400000000000000" pitchFamily="2" charset="-78"/>
              </a:rPr>
              <a:t> این فراگیری، به حداقل ممکن </a:t>
            </a:r>
            <a:r>
              <a:rPr lang="fa-IR" b="1" dirty="0">
                <a:solidFill>
                  <a:srgbClr val="C00000"/>
                </a:solidFill>
                <a:latin typeface="IRANSans"/>
                <a:cs typeface="B Nazanin" panose="00000400000000000000" pitchFamily="2" charset="-78"/>
              </a:rPr>
              <a:t>کاهش</a:t>
            </a:r>
            <a:r>
              <a:rPr lang="fa-IR" dirty="0">
                <a:solidFill>
                  <a:srgbClr val="000000"/>
                </a:solidFill>
                <a:latin typeface="IRANSans"/>
                <a:cs typeface="B Nazanin" panose="00000400000000000000" pitchFamily="2" charset="-78"/>
              </a:rPr>
              <a:t> یابد.</a:t>
            </a:r>
            <a:endParaRPr lang="en-US" dirty="0">
              <a:solidFill>
                <a:srgbClr val="000000"/>
              </a:solidFill>
              <a:latin typeface="IRANSans"/>
              <a:cs typeface="B Nazanin" panose="00000400000000000000" pitchFamily="2" charset="-78"/>
            </a:endParaRPr>
          </a:p>
        </p:txBody>
      </p:sp>
      <p:sp>
        <p:nvSpPr>
          <p:cNvPr id="10" name="Rectangle 9"/>
          <p:cNvSpPr/>
          <p:nvPr/>
        </p:nvSpPr>
        <p:spPr>
          <a:xfrm>
            <a:off x="8408637" y="5926212"/>
            <a:ext cx="3212739"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شناخت و مدیریت فرهنگ </a:t>
            </a:r>
            <a:r>
              <a:rPr lang="fa-IR" b="1" dirty="0" smtClean="0">
                <a:latin typeface="IRANSans"/>
                <a:cs typeface="B Nazanin" panose="00000400000000000000" pitchFamily="2" charset="-78"/>
              </a:rPr>
              <a:t>سازمانی</a:t>
            </a:r>
            <a:endParaRPr lang="en-US" b="1" dirty="0">
              <a:latin typeface="IRANSans"/>
              <a:cs typeface="B Nazanin" panose="00000400000000000000" pitchFamily="2" charset="-78"/>
            </a:endParaRPr>
          </a:p>
        </p:txBody>
      </p:sp>
      <p:sp>
        <p:nvSpPr>
          <p:cNvPr id="11" name="Rectangle 10"/>
          <p:cNvSpPr/>
          <p:nvPr/>
        </p:nvSpPr>
        <p:spPr>
          <a:xfrm>
            <a:off x="1902995" y="5926212"/>
            <a:ext cx="4801314"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آموزش کارکنان و تلاش برای ارتقای دانش و مهارت </a:t>
            </a:r>
            <a:r>
              <a:rPr lang="fa-IR" b="1" dirty="0" smtClean="0">
                <a:latin typeface="IRANSans"/>
                <a:cs typeface="B Nazanin" panose="00000400000000000000" pitchFamily="2" charset="-78"/>
              </a:rPr>
              <a:t>آنان</a:t>
            </a:r>
            <a:endParaRPr lang="fa-IR" b="1" dirty="0">
              <a:latin typeface="IRANSans"/>
              <a:cs typeface="B Nazanin" panose="00000400000000000000" pitchFamily="2" charset="-78"/>
            </a:endParaRPr>
          </a:p>
        </p:txBody>
      </p:sp>
    </p:spTree>
    <p:extLst>
      <p:ext uri="{BB962C8B-B14F-4D97-AF65-F5344CB8AC3E}">
        <p14:creationId xmlns:p14="http://schemas.microsoft.com/office/powerpoint/2010/main" val="1834091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a:cs typeface="B Nazanin" panose="00000400000000000000" pitchFamily="2" charset="-78"/>
              </a:rPr>
              <a:t>وظایف واحد مدیریت منابع </a:t>
            </a:r>
            <a:r>
              <a:rPr lang="fa-IR" sz="4800" dirty="0" smtClean="0">
                <a:cs typeface="B Nazanin" panose="00000400000000000000" pitchFamily="2" charset="-78"/>
              </a:rPr>
              <a:t>انسانی</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8138407" y="1961497"/>
            <a:ext cx="3187090" cy="646331"/>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ایفای نقش رابط بین مدیریت ارشد </a:t>
            </a:r>
            <a:endParaRPr lang="fa-IR" b="1" dirty="0" smtClean="0">
              <a:latin typeface="IRANSans"/>
              <a:cs typeface="B Nazanin" panose="00000400000000000000" pitchFamily="2" charset="-78"/>
            </a:endParaRPr>
          </a:p>
          <a:p>
            <a:pPr algn="ctr" rtl="1"/>
            <a:r>
              <a:rPr lang="fa-IR" b="1" dirty="0" smtClean="0">
                <a:latin typeface="IRANSans"/>
                <a:cs typeface="B Nazanin" panose="00000400000000000000" pitchFamily="2" charset="-78"/>
              </a:rPr>
              <a:t>و </a:t>
            </a:r>
            <a:r>
              <a:rPr lang="fa-IR" b="1" dirty="0">
                <a:latin typeface="IRANSans"/>
                <a:cs typeface="B Nazanin" panose="00000400000000000000" pitchFamily="2" charset="-78"/>
              </a:rPr>
              <a:t>کارکنان </a:t>
            </a:r>
            <a:r>
              <a:rPr lang="fa-IR" b="1" dirty="0" smtClean="0">
                <a:latin typeface="IRANSans"/>
                <a:cs typeface="B Nazanin" panose="00000400000000000000" pitchFamily="2" charset="-78"/>
              </a:rPr>
              <a:t>سازمان</a:t>
            </a:r>
            <a:endParaRPr lang="fa-IR" b="1" dirty="0">
              <a:latin typeface="IRANSans"/>
              <a:cs typeface="B Nazanin" panose="00000400000000000000" pitchFamily="2" charset="-78"/>
            </a:endParaRPr>
          </a:p>
        </p:txBody>
      </p:sp>
      <p:sp>
        <p:nvSpPr>
          <p:cNvPr id="5" name="Rectangle 4"/>
          <p:cNvSpPr/>
          <p:nvPr/>
        </p:nvSpPr>
        <p:spPr>
          <a:xfrm>
            <a:off x="509451" y="1684497"/>
            <a:ext cx="7628956"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واحد منابع انسانی باید </a:t>
            </a:r>
            <a:r>
              <a:rPr lang="fa-IR" b="1" dirty="0">
                <a:solidFill>
                  <a:srgbClr val="7030A0"/>
                </a:solidFill>
                <a:latin typeface="IRANSans"/>
                <a:cs typeface="B Nazanin" panose="00000400000000000000" pitchFamily="2" charset="-78"/>
              </a:rPr>
              <a:t>تنشهای محیط کار </a:t>
            </a:r>
            <a:r>
              <a:rPr lang="fa-IR" dirty="0">
                <a:solidFill>
                  <a:srgbClr val="000000"/>
                </a:solidFill>
                <a:latin typeface="IRANSans"/>
                <a:cs typeface="B Nazanin" panose="00000400000000000000" pitchFamily="2" charset="-78"/>
              </a:rPr>
              <a:t>را درک کرده و از سوی دیگر </a:t>
            </a:r>
            <a:r>
              <a:rPr lang="fa-IR" b="1" dirty="0">
                <a:solidFill>
                  <a:srgbClr val="7030A0"/>
                </a:solidFill>
                <a:latin typeface="IRANSans"/>
                <a:cs typeface="B Nazanin" panose="00000400000000000000" pitchFamily="2" charset="-78"/>
              </a:rPr>
              <a:t>دغدغه و تنشهای مدیریت </a:t>
            </a:r>
            <a:r>
              <a:rPr lang="fa-IR" dirty="0">
                <a:solidFill>
                  <a:srgbClr val="000000"/>
                </a:solidFill>
                <a:latin typeface="IRANSans"/>
                <a:cs typeface="B Nazanin" panose="00000400000000000000" pitchFamily="2" charset="-78"/>
              </a:rPr>
              <a:t>را نیز بفهمد و تلاش کند که تعارض و تضاد ها را </a:t>
            </a:r>
            <a:r>
              <a:rPr lang="fa-IR" dirty="0" smtClean="0">
                <a:solidFill>
                  <a:srgbClr val="000000"/>
                </a:solidFill>
                <a:latin typeface="IRANSans"/>
                <a:cs typeface="B Nazanin" panose="00000400000000000000" pitchFamily="2" charset="-78"/>
              </a:rPr>
              <a:t>جذب </a:t>
            </a:r>
            <a:r>
              <a:rPr lang="fa-IR" dirty="0">
                <a:solidFill>
                  <a:srgbClr val="000000"/>
                </a:solidFill>
                <a:latin typeface="IRANSans"/>
                <a:cs typeface="B Nazanin" panose="00000400000000000000" pitchFamily="2" charset="-78"/>
              </a:rPr>
              <a:t>کند و به حداقل برساند </a:t>
            </a:r>
            <a:r>
              <a:rPr lang="fa-IR" dirty="0" smtClean="0">
                <a:solidFill>
                  <a:srgbClr val="000000"/>
                </a:solidFill>
                <a:latin typeface="IRANSans"/>
                <a:cs typeface="B Nazanin" panose="00000400000000000000" pitchFamily="2" charset="-78"/>
              </a:rPr>
              <a:t>. البته مدیریت ارشد باید زمینه را برای نقش آفرینی مدیریت منابع انسانی فراهم کند . مدیریتی که برای کنترل امور کارکنان تمایل دارد برای اعطای وام و ... همواره مستقیما مداخله کند رسما این زمین بازی را از واحد منابع انسانی گرفته است . </a:t>
            </a:r>
            <a:endParaRPr lang="fa-IR" dirty="0">
              <a:solidFill>
                <a:srgbClr val="000000"/>
              </a:solidFill>
              <a:latin typeface="IRANSans"/>
              <a:cs typeface="B Nazanin" panose="00000400000000000000" pitchFamily="2" charset="-78"/>
            </a:endParaRPr>
          </a:p>
        </p:txBody>
      </p:sp>
      <p:sp>
        <p:nvSpPr>
          <p:cNvPr id="4" name="Rectangle 3"/>
          <p:cNvSpPr/>
          <p:nvPr/>
        </p:nvSpPr>
        <p:spPr>
          <a:xfrm>
            <a:off x="509451" y="3161826"/>
            <a:ext cx="7628956"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اهمیت بحث انگیزه در حدی است که برخی منابع علمی، ترجیح می‌دهند حفظ انگیزه را نه به عنوان یکی از وظایف،‌‌ بلکه به عنوان </a:t>
            </a:r>
            <a:r>
              <a:rPr lang="fa-IR" b="1" dirty="0">
                <a:solidFill>
                  <a:srgbClr val="FF0000"/>
                </a:solidFill>
                <a:latin typeface="IRANSans"/>
                <a:cs typeface="B Nazanin" panose="00000400000000000000" pitchFamily="2" charset="-78"/>
              </a:rPr>
              <a:t>مهم‌ترین وظیفه </a:t>
            </a:r>
            <a:r>
              <a:rPr lang="fa-IR" dirty="0">
                <a:solidFill>
                  <a:srgbClr val="000000"/>
                </a:solidFill>
                <a:latin typeface="IRANSans"/>
                <a:cs typeface="B Nazanin" panose="00000400000000000000" pitchFamily="2" charset="-78"/>
              </a:rPr>
              <a:t>و گاه </a:t>
            </a:r>
            <a:r>
              <a:rPr lang="fa-IR" b="1" dirty="0">
                <a:solidFill>
                  <a:schemeClr val="accent6">
                    <a:lumMod val="75000"/>
                  </a:schemeClr>
                </a:solidFill>
                <a:latin typeface="IRANSans"/>
                <a:cs typeface="B Nazanin" panose="00000400000000000000" pitchFamily="2" charset="-78"/>
              </a:rPr>
              <a:t>ماموریت واحد منابع انسانی</a:t>
            </a:r>
            <a:r>
              <a:rPr lang="fa-IR" dirty="0">
                <a:solidFill>
                  <a:srgbClr val="000000"/>
                </a:solidFill>
                <a:latin typeface="IRANSans"/>
                <a:cs typeface="B Nazanin" panose="00000400000000000000" pitchFamily="2" charset="-78"/>
              </a:rPr>
              <a:t> مطرح کنند.</a:t>
            </a:r>
            <a:endParaRPr lang="en-US" dirty="0">
              <a:solidFill>
                <a:srgbClr val="000000"/>
              </a:solidFill>
              <a:latin typeface="IRANSans"/>
              <a:cs typeface="B Nazanin" panose="00000400000000000000" pitchFamily="2" charset="-78"/>
            </a:endParaRPr>
          </a:p>
        </p:txBody>
      </p:sp>
      <p:sp>
        <p:nvSpPr>
          <p:cNvPr id="7" name="Rectangle 6"/>
          <p:cNvSpPr/>
          <p:nvPr/>
        </p:nvSpPr>
        <p:spPr>
          <a:xfrm>
            <a:off x="9188373" y="3300325"/>
            <a:ext cx="2137124" cy="369332"/>
          </a:xfrm>
          <a:prstGeom prst="rect">
            <a:avLst/>
          </a:prstGeom>
        </p:spPr>
        <p:txBody>
          <a:bodyPr wrap="none">
            <a:spAutoFit/>
          </a:bodyPr>
          <a:lstStyle/>
          <a:p>
            <a:pPr marL="285750" indent="-285750" algn="r" rtl="1">
              <a:buFont typeface="Wingdings" panose="05000000000000000000" pitchFamily="2" charset="2"/>
              <a:buChar char="v"/>
            </a:pPr>
            <a:r>
              <a:rPr lang="fa-IR" b="1" dirty="0" smtClean="0">
                <a:latin typeface="IRANSans"/>
                <a:cs typeface="B Nazanin" panose="00000400000000000000" pitchFamily="2" charset="-78"/>
              </a:rPr>
              <a:t>حفظ انگیزه همکاران </a:t>
            </a:r>
          </a:p>
        </p:txBody>
      </p:sp>
      <p:sp>
        <p:nvSpPr>
          <p:cNvPr id="6" name="Rectangle 5"/>
          <p:cNvSpPr/>
          <p:nvPr/>
        </p:nvSpPr>
        <p:spPr>
          <a:xfrm>
            <a:off x="8649765" y="4545034"/>
            <a:ext cx="2675732" cy="369332"/>
          </a:xfrm>
          <a:prstGeom prst="rect">
            <a:avLst/>
          </a:prstGeom>
        </p:spPr>
        <p:txBody>
          <a:bodyPr wrap="none">
            <a:spAutoFit/>
          </a:bodyPr>
          <a:lstStyle/>
          <a:p>
            <a:pPr marL="285750" indent="-285750" algn="r" rtl="1">
              <a:buFont typeface="Wingdings" panose="05000000000000000000" pitchFamily="2" charset="2"/>
              <a:buChar char="v"/>
            </a:pPr>
            <a:r>
              <a:rPr lang="fa-IR" b="1" dirty="0">
                <a:latin typeface="IRANSans"/>
                <a:cs typeface="B Nazanin" panose="00000400000000000000" pitchFamily="2" charset="-78"/>
              </a:rPr>
              <a:t>مدیریت فرایند ترک </a:t>
            </a:r>
            <a:r>
              <a:rPr lang="fa-IR" b="1" dirty="0" smtClean="0">
                <a:latin typeface="IRANSans"/>
                <a:cs typeface="B Nazanin" panose="00000400000000000000" pitchFamily="2" charset="-78"/>
              </a:rPr>
              <a:t>سازمان</a:t>
            </a:r>
            <a:endParaRPr lang="fa-IR" b="1" dirty="0">
              <a:latin typeface="IRANSans"/>
              <a:cs typeface="B Nazanin" panose="00000400000000000000" pitchFamily="2" charset="-78"/>
            </a:endParaRPr>
          </a:p>
        </p:txBody>
      </p:sp>
      <p:sp>
        <p:nvSpPr>
          <p:cNvPr id="9" name="Rectangle 8"/>
          <p:cNvSpPr/>
          <p:nvPr/>
        </p:nvSpPr>
        <p:spPr>
          <a:xfrm>
            <a:off x="509451" y="4141438"/>
            <a:ext cx="7628955"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Low" rtl="1"/>
            <a:r>
              <a:rPr lang="fa-IR" dirty="0">
                <a:solidFill>
                  <a:srgbClr val="000000"/>
                </a:solidFill>
                <a:latin typeface="IRANSans"/>
                <a:cs typeface="B Nazanin" panose="00000400000000000000" pitchFamily="2" charset="-78"/>
              </a:rPr>
              <a:t>همکار من که امروز می‌بیند من در حال تسویه مالی و جمع کردن وسایل از روی میزم هستم، احتمالاً همان لحظه خودش را در همان شرایط تصور می‌کند</a:t>
            </a:r>
            <a:r>
              <a:rPr lang="fa-IR" dirty="0" smtClean="0">
                <a:solidFill>
                  <a:srgbClr val="000000"/>
                </a:solidFill>
                <a:latin typeface="IRANSans"/>
                <a:cs typeface="B Nazanin" panose="00000400000000000000" pitchFamily="2" charset="-78"/>
              </a:rPr>
              <a:t>. او </a:t>
            </a:r>
            <a:r>
              <a:rPr lang="fa-IR" dirty="0">
                <a:solidFill>
                  <a:srgbClr val="000000"/>
                </a:solidFill>
                <a:latin typeface="IRANSans"/>
                <a:cs typeface="B Nazanin" panose="00000400000000000000" pitchFamily="2" charset="-78"/>
              </a:rPr>
              <a:t>در آینه‌ی </a:t>
            </a:r>
            <a:r>
              <a:rPr lang="fa-IR" b="1" dirty="0">
                <a:solidFill>
                  <a:srgbClr val="C00000"/>
                </a:solidFill>
                <a:latin typeface="IRANSans"/>
                <a:cs typeface="B Nazanin" panose="00000400000000000000" pitchFamily="2" charset="-78"/>
              </a:rPr>
              <a:t>برخوردی که با من می‌شود</a:t>
            </a:r>
            <a:r>
              <a:rPr lang="fa-IR" dirty="0">
                <a:solidFill>
                  <a:srgbClr val="000000"/>
                </a:solidFill>
                <a:latin typeface="IRANSans"/>
                <a:cs typeface="B Nazanin" panose="00000400000000000000" pitchFamily="2" charset="-78"/>
              </a:rPr>
              <a:t>، </a:t>
            </a:r>
            <a:r>
              <a:rPr lang="fa-IR" b="1" dirty="0">
                <a:solidFill>
                  <a:srgbClr val="000000"/>
                </a:solidFill>
                <a:latin typeface="IRANSans"/>
                <a:cs typeface="B Nazanin" panose="00000400000000000000" pitchFamily="2" charset="-78"/>
              </a:rPr>
              <a:t>آینده خودش </a:t>
            </a:r>
            <a:r>
              <a:rPr lang="fa-IR" dirty="0">
                <a:solidFill>
                  <a:srgbClr val="000000"/>
                </a:solidFill>
                <a:latin typeface="IRANSans"/>
                <a:cs typeface="B Nazanin" panose="00000400000000000000" pitchFamily="2" charset="-78"/>
              </a:rPr>
              <a:t>را می‌بیند و خوشحال یا ناراحت می‌شود.</a:t>
            </a:r>
          </a:p>
        </p:txBody>
      </p:sp>
      <p:sp>
        <p:nvSpPr>
          <p:cNvPr id="10" name="Rectangle 9"/>
          <p:cNvSpPr/>
          <p:nvPr/>
        </p:nvSpPr>
        <p:spPr>
          <a:xfrm>
            <a:off x="509451" y="5156205"/>
            <a:ext cx="10816046" cy="369332"/>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Low" rtl="1">
              <a:buFont typeface="Wingdings" panose="05000000000000000000" pitchFamily="2" charset="2"/>
              <a:buChar char="ü"/>
            </a:pPr>
            <a:r>
              <a:rPr lang="fa-IR" dirty="0">
                <a:solidFill>
                  <a:srgbClr val="000000"/>
                </a:solidFill>
                <a:latin typeface="IRANSans"/>
                <a:cs typeface="B Nazanin" panose="00000400000000000000" pitchFamily="2" charset="-78"/>
              </a:rPr>
              <a:t> </a:t>
            </a:r>
            <a:r>
              <a:rPr lang="fa-IR" b="1" dirty="0">
                <a:solidFill>
                  <a:srgbClr val="C00000"/>
                </a:solidFill>
                <a:latin typeface="IRANSans"/>
                <a:cs typeface="B Nazanin" panose="00000400000000000000" pitchFamily="2" charset="-78"/>
              </a:rPr>
              <a:t>مبلغان واقعی </a:t>
            </a:r>
            <a:r>
              <a:rPr lang="fa-IR" dirty="0">
                <a:solidFill>
                  <a:srgbClr val="000000"/>
                </a:solidFill>
                <a:latin typeface="IRANSans"/>
                <a:cs typeface="B Nazanin" panose="00000400000000000000" pitchFamily="2" charset="-78"/>
              </a:rPr>
              <a:t>برند یک مجموعه، کسانی نیستند که به تازگی به آن مجموعه ملحق شده‌اند؛ بلکه کسانی هستند که آن مجموعه را ترک کرده‌اند.</a:t>
            </a:r>
            <a:endParaRPr lang="en-US" dirty="0">
              <a:solidFill>
                <a:srgbClr val="000000"/>
              </a:solidFill>
              <a:latin typeface="IRANSans"/>
              <a:cs typeface="B Nazanin" panose="00000400000000000000" pitchFamily="2" charset="-78"/>
            </a:endParaRPr>
          </a:p>
        </p:txBody>
      </p:sp>
      <p:sp>
        <p:nvSpPr>
          <p:cNvPr id="11" name="Rectangle 10"/>
          <p:cNvSpPr/>
          <p:nvPr/>
        </p:nvSpPr>
        <p:spPr>
          <a:xfrm>
            <a:off x="509451" y="5601670"/>
            <a:ext cx="10816046" cy="369332"/>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Low" rtl="1">
              <a:buFont typeface="Wingdings" panose="05000000000000000000" pitchFamily="2" charset="2"/>
              <a:buChar char="ü"/>
            </a:pPr>
            <a:r>
              <a:rPr lang="fa-IR" dirty="0">
                <a:solidFill>
                  <a:srgbClr val="000000"/>
                </a:solidFill>
                <a:latin typeface="IRANSans"/>
                <a:cs typeface="B Nazanin" panose="00000400000000000000" pitchFamily="2" charset="-78"/>
              </a:rPr>
              <a:t>هم اطلاعات بیشتر و دقیق‌تری دارند و هم احتمالاً برای بحث در مورد گذشته </a:t>
            </a:r>
            <a:r>
              <a:rPr lang="fa-IR" b="1" dirty="0">
                <a:solidFill>
                  <a:srgbClr val="C00000"/>
                </a:solidFill>
                <a:latin typeface="IRANSans"/>
                <a:cs typeface="B Nazanin" panose="00000400000000000000" pitchFamily="2" charset="-78"/>
              </a:rPr>
              <a:t>انگیزه</a:t>
            </a:r>
            <a:r>
              <a:rPr lang="fa-IR" b="1" dirty="0">
                <a:solidFill>
                  <a:srgbClr val="000000"/>
                </a:solidFill>
                <a:latin typeface="IRANSans"/>
                <a:cs typeface="B Nazanin" panose="00000400000000000000" pitchFamily="2" charset="-78"/>
              </a:rPr>
              <a:t>‌ی</a:t>
            </a:r>
            <a:r>
              <a:rPr lang="fa-IR" dirty="0">
                <a:solidFill>
                  <a:srgbClr val="000000"/>
                </a:solidFill>
                <a:latin typeface="IRANSans"/>
                <a:cs typeface="B Nazanin" panose="00000400000000000000" pitchFamily="2" charset="-78"/>
              </a:rPr>
              <a:t> بیشتری خواهند داشت.</a:t>
            </a:r>
            <a:endParaRPr lang="en-US" dirty="0">
              <a:solidFill>
                <a:srgbClr val="000000"/>
              </a:solidFill>
              <a:latin typeface="IRANSans"/>
              <a:cs typeface="B Nazanin" panose="00000400000000000000" pitchFamily="2" charset="-78"/>
            </a:endParaRPr>
          </a:p>
        </p:txBody>
      </p:sp>
      <p:sp>
        <p:nvSpPr>
          <p:cNvPr id="12" name="Rectangle 11"/>
          <p:cNvSpPr/>
          <p:nvPr/>
        </p:nvSpPr>
        <p:spPr>
          <a:xfrm>
            <a:off x="509451" y="6047135"/>
            <a:ext cx="10816046" cy="369332"/>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Low" rtl="1">
              <a:buFont typeface="Wingdings" panose="05000000000000000000" pitchFamily="2" charset="2"/>
              <a:buChar char="ü"/>
            </a:pPr>
            <a:r>
              <a:rPr lang="fa-IR" dirty="0" smtClean="0">
                <a:solidFill>
                  <a:srgbClr val="000000"/>
                </a:solidFill>
                <a:latin typeface="IRANSans"/>
                <a:cs typeface="B Nazanin" panose="00000400000000000000" pitchFamily="2" charset="-78"/>
              </a:rPr>
              <a:t>مصاحبه خروج ، راضی نگه داشتن کارمند قبلی ، طراحی فرآیند تسویه حساب و ... از موارد </a:t>
            </a:r>
            <a:r>
              <a:rPr lang="fa-IR" b="1" dirty="0" smtClean="0">
                <a:solidFill>
                  <a:srgbClr val="002060"/>
                </a:solidFill>
                <a:latin typeface="IRANSans"/>
                <a:cs typeface="B Nazanin" panose="00000400000000000000" pitchFamily="2" charset="-78"/>
              </a:rPr>
              <a:t>مدیریت فرآیند ترک سازمان </a:t>
            </a:r>
            <a:r>
              <a:rPr lang="fa-IR" dirty="0" smtClean="0">
                <a:solidFill>
                  <a:srgbClr val="000000"/>
                </a:solidFill>
                <a:latin typeface="IRANSans"/>
                <a:cs typeface="B Nazanin" panose="00000400000000000000" pitchFamily="2" charset="-78"/>
              </a:rPr>
              <a:t>محسوب می شود . </a:t>
            </a:r>
            <a:endParaRPr lang="en-US" dirty="0">
              <a:solidFill>
                <a:srgbClr val="000000"/>
              </a:solidFill>
              <a:latin typeface="IRANSans"/>
              <a:cs typeface="B Nazanin" panose="00000400000000000000" pitchFamily="2" charset="-78"/>
            </a:endParaRPr>
          </a:p>
        </p:txBody>
      </p:sp>
    </p:spTree>
    <p:extLst>
      <p:ext uri="{BB962C8B-B14F-4D97-AF65-F5344CB8AC3E}">
        <p14:creationId xmlns:p14="http://schemas.microsoft.com/office/powerpoint/2010/main" val="26399549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شغل و طراحی شغل </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764178" y="1359961"/>
            <a:ext cx="10502537" cy="954107"/>
          </a:xfrm>
          <a:prstGeom prst="rect">
            <a:avLst/>
          </a:prstGeom>
        </p:spPr>
        <p:txBody>
          <a:bodyPr wrap="square">
            <a:spAutoFit/>
          </a:bodyPr>
          <a:lstStyle/>
          <a:p>
            <a:pPr algn="just" rtl="1"/>
            <a:r>
              <a:rPr lang="fa-IR" dirty="0">
                <a:solidFill>
                  <a:srgbClr val="000000"/>
                </a:solidFill>
                <a:latin typeface="IRANSans"/>
                <a:cs typeface="B Nazanin" panose="00000400000000000000" pitchFamily="2" charset="-78"/>
              </a:rPr>
              <a:t> </a:t>
            </a:r>
            <a:r>
              <a:rPr lang="fa-IR" b="1" dirty="0">
                <a:solidFill>
                  <a:srgbClr val="C00000"/>
                </a:solidFill>
                <a:latin typeface="IRANSans"/>
                <a:cs typeface="B Nazanin" panose="00000400000000000000" pitchFamily="2" charset="-78"/>
              </a:rPr>
              <a:t>پست</a:t>
            </a:r>
            <a:r>
              <a:rPr lang="fa-IR" b="1" dirty="0">
                <a:solidFill>
                  <a:srgbClr val="000000"/>
                </a:solidFill>
                <a:latin typeface="IRANSans"/>
                <a:cs typeface="B Nazanin" panose="00000400000000000000" pitchFamily="2" charset="-78"/>
              </a:rPr>
              <a:t> از یک جایگاه حرف می‌زند و </a:t>
            </a:r>
            <a:r>
              <a:rPr lang="fa-IR" b="1" dirty="0">
                <a:solidFill>
                  <a:srgbClr val="C00000"/>
                </a:solidFill>
                <a:latin typeface="IRANSans"/>
                <a:cs typeface="B Nazanin" panose="00000400000000000000" pitchFamily="2" charset="-78"/>
              </a:rPr>
              <a:t>شغل</a:t>
            </a:r>
            <a:r>
              <a:rPr lang="fa-IR" b="1" dirty="0">
                <a:solidFill>
                  <a:srgbClr val="000000"/>
                </a:solidFill>
                <a:latin typeface="IRANSans"/>
                <a:cs typeface="B Nazanin" panose="00000400000000000000" pitchFamily="2" charset="-78"/>
              </a:rPr>
              <a:t> از یک فعالیت معنادار و مفید</a:t>
            </a:r>
            <a:r>
              <a:rPr lang="fa-IR" dirty="0">
                <a:solidFill>
                  <a:srgbClr val="000000"/>
                </a:solidFill>
                <a:latin typeface="IRANSans"/>
                <a:cs typeface="B Nazanin" panose="00000400000000000000" pitchFamily="2" charset="-78"/>
              </a:rPr>
              <a:t> </a:t>
            </a:r>
            <a:r>
              <a:rPr lang="fa-IR" b="1" dirty="0">
                <a:solidFill>
                  <a:srgbClr val="000000"/>
                </a:solidFill>
                <a:latin typeface="IRANSans"/>
                <a:cs typeface="B Nazanin" panose="00000400000000000000" pitchFamily="2" charset="-78"/>
              </a:rPr>
              <a:t>اقتصادی</a:t>
            </a:r>
            <a:r>
              <a:rPr lang="fa-IR" dirty="0">
                <a:solidFill>
                  <a:srgbClr val="000000"/>
                </a:solidFill>
                <a:latin typeface="IRANSans"/>
                <a:cs typeface="B Nazanin" panose="00000400000000000000" pitchFamily="2" charset="-78"/>
              </a:rPr>
              <a:t> و این دو الزاماً یکی نیستند</a:t>
            </a:r>
            <a:r>
              <a:rPr lang="fa-IR" b="1" dirty="0">
                <a:solidFill>
                  <a:srgbClr val="000000"/>
                </a:solidFill>
                <a:latin typeface="IRANSans"/>
                <a:cs typeface="B Nazanin" panose="00000400000000000000" pitchFamily="2" charset="-78"/>
              </a:rPr>
              <a:t>.</a:t>
            </a:r>
            <a:r>
              <a:rPr lang="fa-IR" dirty="0">
                <a:solidFill>
                  <a:srgbClr val="000000"/>
                </a:solidFill>
                <a:latin typeface="IRANSans"/>
                <a:cs typeface="B Nazanin" panose="00000400000000000000" pitchFamily="2" charset="-78"/>
              </a:rPr>
              <a:t> مثلاً ممکن است برای به‌کارگیری یک فرد که با مدیر ارشد یک سازمان نزدیک است، جایگاهی در چارت در نظر گرفته شود (پست). اما او هیچ کار ویژه یا مفیدی نداشته باشد و صرفاً به فهرست حقوق‌بگیران آن مجموعه اضافه شود.</a:t>
            </a:r>
            <a:r>
              <a:rPr lang="en-US" dirty="0">
                <a:solidFill>
                  <a:srgbClr val="000000"/>
                </a:solidFill>
                <a:latin typeface="IRANSans"/>
                <a:cs typeface="B Nazanin" panose="00000400000000000000" pitchFamily="2" charset="-78"/>
              </a:rPr>
              <a:t> </a:t>
            </a:r>
            <a:r>
              <a:rPr lang="fa-IR" dirty="0">
                <a:solidFill>
                  <a:srgbClr val="000000"/>
                </a:solidFill>
                <a:latin typeface="IRANSans"/>
                <a:cs typeface="B Nazanin" panose="00000400000000000000" pitchFamily="2" charset="-78"/>
              </a:rPr>
              <a:t>در نتیجه </a:t>
            </a:r>
            <a:r>
              <a:rPr lang="fa-IR" b="1" dirty="0">
                <a:solidFill>
                  <a:schemeClr val="accent6">
                    <a:lumMod val="50000"/>
                  </a:schemeClr>
                </a:solidFill>
                <a:latin typeface="IRANSans"/>
                <a:cs typeface="B Nazanin" panose="00000400000000000000" pitchFamily="2" charset="-78"/>
              </a:rPr>
              <a:t>شغل</a:t>
            </a:r>
            <a:r>
              <a:rPr lang="fa-IR" dirty="0">
                <a:solidFill>
                  <a:srgbClr val="000000"/>
                </a:solidFill>
                <a:latin typeface="IRANSans"/>
                <a:cs typeface="B Nazanin" panose="00000400000000000000" pitchFamily="2" charset="-78"/>
              </a:rPr>
              <a:t> مجموعه‌ای از </a:t>
            </a:r>
            <a:r>
              <a:rPr lang="fa-IR" b="1" u="sng" dirty="0">
                <a:solidFill>
                  <a:schemeClr val="accent6">
                    <a:lumMod val="50000"/>
                  </a:schemeClr>
                </a:solidFill>
                <a:latin typeface="IRANSans"/>
                <a:cs typeface="B Nazanin" panose="00000400000000000000" pitchFamily="2" charset="-78"/>
              </a:rPr>
              <a:t>وظایف</a:t>
            </a:r>
            <a:r>
              <a:rPr lang="fa-IR" b="1" u="sng" dirty="0">
                <a:latin typeface="IRANSans"/>
                <a:cs typeface="B Nazanin" panose="00000400000000000000" pitchFamily="2" charset="-78"/>
              </a:rPr>
              <a:t>،</a:t>
            </a:r>
            <a:r>
              <a:rPr lang="fa-IR" b="1" u="sng" dirty="0">
                <a:solidFill>
                  <a:srgbClr val="C00000"/>
                </a:solidFill>
                <a:latin typeface="IRANSans"/>
                <a:cs typeface="B Nazanin" panose="00000400000000000000" pitchFamily="2" charset="-78"/>
              </a:rPr>
              <a:t> </a:t>
            </a:r>
            <a:r>
              <a:rPr lang="fa-IR" b="1" u="sng" dirty="0">
                <a:solidFill>
                  <a:schemeClr val="accent6">
                    <a:lumMod val="50000"/>
                  </a:schemeClr>
                </a:solidFill>
                <a:latin typeface="IRANSans"/>
                <a:cs typeface="B Nazanin" panose="00000400000000000000" pitchFamily="2" charset="-78"/>
              </a:rPr>
              <a:t>فعالیت‌ها</a:t>
            </a:r>
            <a:r>
              <a:rPr lang="fa-IR" b="1" u="sng" dirty="0">
                <a:solidFill>
                  <a:srgbClr val="C00000"/>
                </a:solidFill>
                <a:latin typeface="IRANSans"/>
                <a:cs typeface="B Nazanin" panose="00000400000000000000" pitchFamily="2" charset="-78"/>
              </a:rPr>
              <a:t> </a:t>
            </a:r>
            <a:r>
              <a:rPr lang="fa-IR" b="1" u="sng" dirty="0">
                <a:latin typeface="IRANSans"/>
                <a:cs typeface="B Nazanin" panose="00000400000000000000" pitchFamily="2" charset="-78"/>
              </a:rPr>
              <a:t>و</a:t>
            </a:r>
            <a:r>
              <a:rPr lang="fa-IR" b="1" u="sng" dirty="0">
                <a:solidFill>
                  <a:srgbClr val="C00000"/>
                </a:solidFill>
                <a:latin typeface="IRANSans"/>
                <a:cs typeface="B Nazanin" panose="00000400000000000000" pitchFamily="2" charset="-78"/>
              </a:rPr>
              <a:t> </a:t>
            </a:r>
            <a:r>
              <a:rPr lang="fa-IR" b="1" u="sng" dirty="0">
                <a:solidFill>
                  <a:schemeClr val="accent6">
                    <a:lumMod val="50000"/>
                  </a:schemeClr>
                </a:solidFill>
                <a:latin typeface="IRANSans"/>
                <a:cs typeface="B Nazanin" panose="00000400000000000000" pitchFamily="2" charset="-78"/>
              </a:rPr>
              <a:t>مسئولیت‌ها</a:t>
            </a:r>
            <a:r>
              <a:rPr lang="fa-IR" dirty="0">
                <a:solidFill>
                  <a:srgbClr val="000000"/>
                </a:solidFill>
                <a:latin typeface="IRANSans"/>
                <a:cs typeface="B Nazanin" panose="00000400000000000000" pitchFamily="2" charset="-78"/>
              </a:rPr>
              <a:t> </a:t>
            </a:r>
            <a:r>
              <a:rPr lang="fa-IR" dirty="0" smtClean="0">
                <a:solidFill>
                  <a:srgbClr val="000000"/>
                </a:solidFill>
                <a:latin typeface="IRANSans"/>
                <a:cs typeface="B Nazanin" panose="00000400000000000000" pitchFamily="2" charset="-78"/>
              </a:rPr>
              <a:t>است . </a:t>
            </a:r>
            <a:endParaRPr lang="fa-IR" dirty="0">
              <a:solidFill>
                <a:srgbClr val="000000"/>
              </a:solidFill>
              <a:latin typeface="IRANSans"/>
              <a:cs typeface="B Nazanin" panose="00000400000000000000" pitchFamily="2" charset="-78"/>
            </a:endParaRPr>
          </a:p>
        </p:txBody>
      </p:sp>
      <p:sp>
        <p:nvSpPr>
          <p:cNvPr id="4" name="Rectangle 3"/>
          <p:cNvSpPr/>
          <p:nvPr/>
        </p:nvSpPr>
        <p:spPr>
          <a:xfrm>
            <a:off x="764178" y="2881823"/>
            <a:ext cx="10502537" cy="1200329"/>
          </a:xfrm>
          <a:prstGeom prst="rect">
            <a:avLst/>
          </a:prstGeom>
          <a:solidFill>
            <a:schemeClr val="accent5">
              <a:lumMod val="20000"/>
              <a:lumOff val="80000"/>
            </a:schemeClr>
          </a:solidFill>
        </p:spPr>
        <p:txBody>
          <a:bodyPr wrap="square">
            <a:spAutoFit/>
          </a:bodyPr>
          <a:lstStyle/>
          <a:p>
            <a:pPr algn="just" rtl="1"/>
            <a:r>
              <a:rPr lang="fa-IR" dirty="0">
                <a:solidFill>
                  <a:srgbClr val="000000"/>
                </a:solidFill>
                <a:latin typeface="IRANSans"/>
                <a:cs typeface="B Nazanin" panose="00000400000000000000" pitchFamily="2" charset="-78"/>
              </a:rPr>
              <a:t>مدت‌ها هدف از </a:t>
            </a:r>
            <a:r>
              <a:rPr lang="fa-IR" b="1" dirty="0">
                <a:solidFill>
                  <a:srgbClr val="FF0000"/>
                </a:solidFill>
                <a:latin typeface="IRANSans"/>
                <a:cs typeface="B Nazanin" panose="00000400000000000000" pitchFamily="2" charset="-78"/>
              </a:rPr>
              <a:t>طراحی شغل</a:t>
            </a:r>
            <a:r>
              <a:rPr lang="fa-IR" dirty="0">
                <a:solidFill>
                  <a:srgbClr val="000000"/>
                </a:solidFill>
                <a:latin typeface="IRANSans"/>
                <a:cs typeface="B Nazanin" panose="00000400000000000000" pitchFamily="2" charset="-78"/>
              </a:rPr>
              <a:t> این بود که کارها، </a:t>
            </a:r>
            <a:r>
              <a:rPr lang="fa-IR" b="1" dirty="0">
                <a:solidFill>
                  <a:srgbClr val="000000"/>
                </a:solidFill>
                <a:latin typeface="IRANSans"/>
                <a:cs typeface="B Nazanin" panose="00000400000000000000" pitchFamily="2" charset="-78"/>
              </a:rPr>
              <a:t>بیشتر و سریع‌تر و ارزان‌تر</a:t>
            </a:r>
            <a:r>
              <a:rPr lang="fa-IR" dirty="0">
                <a:solidFill>
                  <a:srgbClr val="000000"/>
                </a:solidFill>
                <a:latin typeface="IRANSans"/>
                <a:cs typeface="B Nazanin" panose="00000400000000000000" pitchFamily="2" charset="-78"/>
              </a:rPr>
              <a:t> انجام شوند؛ اما طی دهه‌های اخیر، طراحی شغل </a:t>
            </a:r>
            <a:r>
              <a:rPr lang="fa-IR" b="1" dirty="0">
                <a:solidFill>
                  <a:schemeClr val="accent6">
                    <a:lumMod val="75000"/>
                  </a:schemeClr>
                </a:solidFill>
                <a:latin typeface="IRANSans"/>
                <a:cs typeface="B Nazanin" panose="00000400000000000000" pitchFamily="2" charset="-78"/>
              </a:rPr>
              <a:t>جهت‌گیری</a:t>
            </a:r>
            <a:r>
              <a:rPr lang="fa-IR" dirty="0">
                <a:solidFill>
                  <a:srgbClr val="000000"/>
                </a:solidFill>
                <a:latin typeface="IRANSans"/>
                <a:cs typeface="B Nazanin" panose="00000400000000000000" pitchFamily="2" charset="-78"/>
              </a:rPr>
              <a:t> خود را از</a:t>
            </a:r>
            <a:r>
              <a:rPr lang="fa-IR" b="1" dirty="0">
                <a:solidFill>
                  <a:schemeClr val="accent6">
                    <a:lumMod val="75000"/>
                  </a:schemeClr>
                </a:solidFill>
                <a:latin typeface="IRANSans"/>
                <a:cs typeface="B Nazanin" panose="00000400000000000000" pitchFamily="2" charset="-78"/>
              </a:rPr>
              <a:t> کار به کارمند</a:t>
            </a:r>
            <a:r>
              <a:rPr lang="fa-IR" dirty="0">
                <a:solidFill>
                  <a:srgbClr val="000000"/>
                </a:solidFill>
                <a:latin typeface="IRANSans"/>
                <a:cs typeface="B Nazanin" panose="00000400000000000000" pitchFamily="2" charset="-78"/>
              </a:rPr>
              <a:t> و از </a:t>
            </a:r>
            <a:r>
              <a:rPr lang="fa-IR" b="1" dirty="0">
                <a:solidFill>
                  <a:schemeClr val="accent6">
                    <a:lumMod val="75000"/>
                  </a:schemeClr>
                </a:solidFill>
                <a:latin typeface="IRANSans"/>
                <a:cs typeface="B Nazanin" panose="00000400000000000000" pitchFamily="2" charset="-78"/>
              </a:rPr>
              <a:t>شغل به شاغل</a:t>
            </a:r>
            <a:r>
              <a:rPr lang="fa-IR" dirty="0">
                <a:solidFill>
                  <a:srgbClr val="000000"/>
                </a:solidFill>
                <a:latin typeface="IRANSans"/>
                <a:cs typeface="B Nazanin" panose="00000400000000000000" pitchFamily="2" charset="-78"/>
              </a:rPr>
              <a:t> تغییر داد: چه کنیم که شغل برای شاغل مطلوب‌تر باشد؟</a:t>
            </a:r>
          </a:p>
          <a:p>
            <a:pPr algn="just" rtl="1"/>
            <a:r>
              <a:rPr lang="fa-IR" dirty="0">
                <a:solidFill>
                  <a:srgbClr val="000000"/>
                </a:solidFill>
                <a:latin typeface="IRANSans"/>
                <a:cs typeface="B Nazanin" panose="00000400000000000000" pitchFamily="2" charset="-78"/>
              </a:rPr>
              <a:t>بخشی از این تغییر جهت، به خاطر رشد نگاه انسانی در حوزه‌ی مدیریت بود. البته ایده‌ی دیگری هم در کار بوده است:  </a:t>
            </a:r>
            <a:r>
              <a:rPr lang="fa-IR" b="1" dirty="0">
                <a:solidFill>
                  <a:srgbClr val="7030A0"/>
                </a:solidFill>
                <a:latin typeface="IRANSans"/>
                <a:cs typeface="B Nazanin" panose="00000400000000000000" pitchFamily="2" charset="-78"/>
              </a:rPr>
              <a:t>به نظر می‌رسد که رضایت شغلی، در بلندمدت می‌تواند سودآوری کسب و کارها را افزایش دهد</a:t>
            </a:r>
            <a:r>
              <a:rPr lang="fa-IR" dirty="0">
                <a:solidFill>
                  <a:srgbClr val="000000"/>
                </a:solidFill>
                <a:latin typeface="IRANSans"/>
                <a:cs typeface="B Nazanin" panose="00000400000000000000" pitchFamily="2" charset="-78"/>
              </a:rPr>
              <a:t>. </a:t>
            </a:r>
          </a:p>
        </p:txBody>
      </p:sp>
      <p:sp>
        <p:nvSpPr>
          <p:cNvPr id="5" name="Rectangle 4"/>
          <p:cNvSpPr/>
          <p:nvPr/>
        </p:nvSpPr>
        <p:spPr>
          <a:xfrm>
            <a:off x="9774746" y="2310838"/>
            <a:ext cx="1269899" cy="369332"/>
          </a:xfrm>
          <a:prstGeom prst="rect">
            <a:avLst/>
          </a:prstGeom>
        </p:spPr>
        <p:txBody>
          <a:bodyPr wrap="none">
            <a:spAutoFit/>
          </a:bodyPr>
          <a:lstStyle/>
          <a:p>
            <a:r>
              <a:rPr lang="en-US" b="1" dirty="0"/>
              <a:t>Job Design</a:t>
            </a:r>
            <a:endParaRPr lang="en-US" dirty="0"/>
          </a:p>
        </p:txBody>
      </p:sp>
      <p:sp>
        <p:nvSpPr>
          <p:cNvPr id="6" name="Arc 5"/>
          <p:cNvSpPr/>
          <p:nvPr/>
        </p:nvSpPr>
        <p:spPr>
          <a:xfrm rot="14857545">
            <a:off x="9326881" y="2444683"/>
            <a:ext cx="613954" cy="636300"/>
          </a:xfrm>
          <a:prstGeom prst="arc">
            <a:avLst>
              <a:gd name="adj1" fmla="val 16200000"/>
              <a:gd name="adj2" fmla="val 2335820"/>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p:cNvSpPr/>
          <p:nvPr/>
        </p:nvSpPr>
        <p:spPr>
          <a:xfrm>
            <a:off x="6015446" y="2529279"/>
            <a:ext cx="653143" cy="636300"/>
          </a:xfrm>
          <a:prstGeom prst="arc">
            <a:avLst>
              <a:gd name="adj1" fmla="val 16200000"/>
              <a:gd name="adj2" fmla="val 445878"/>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p:cNvSpPr/>
          <p:nvPr/>
        </p:nvSpPr>
        <p:spPr>
          <a:xfrm>
            <a:off x="5433769" y="2310838"/>
            <a:ext cx="941283" cy="369332"/>
          </a:xfrm>
          <a:prstGeom prst="rect">
            <a:avLst/>
          </a:prstGeom>
        </p:spPr>
        <p:txBody>
          <a:bodyPr wrap="none">
            <a:spAutoFit/>
          </a:bodyPr>
          <a:lstStyle/>
          <a:p>
            <a:r>
              <a:rPr lang="fa-IR" b="1" dirty="0" smtClean="0">
                <a:solidFill>
                  <a:srgbClr val="C00000"/>
                </a:solidFill>
                <a:cs typeface="B Nazanin" panose="00000400000000000000" pitchFamily="2" charset="-78"/>
              </a:rPr>
              <a:t>تیلوریسم</a:t>
            </a:r>
            <a:endParaRPr lang="en-US" dirty="0">
              <a:solidFill>
                <a:srgbClr val="C00000"/>
              </a:solidFill>
              <a:cs typeface="B Nazanin" panose="00000400000000000000" pitchFamily="2" charset="-78"/>
            </a:endParaRPr>
          </a:p>
        </p:txBody>
      </p:sp>
      <p:sp>
        <p:nvSpPr>
          <p:cNvPr id="11" name="Rectangle 10"/>
          <p:cNvSpPr/>
          <p:nvPr/>
        </p:nvSpPr>
        <p:spPr>
          <a:xfrm>
            <a:off x="764178" y="4155486"/>
            <a:ext cx="10531927" cy="369332"/>
          </a:xfrm>
          <a:prstGeom prst="rect">
            <a:avLst/>
          </a:prstGeom>
        </p:spPr>
        <p:txBody>
          <a:bodyPr wrap="square">
            <a:spAutoFit/>
          </a:bodyPr>
          <a:lstStyle/>
          <a:p>
            <a:pPr algn="just" rtl="1"/>
            <a:r>
              <a:rPr lang="fa-IR" b="1" dirty="0">
                <a:solidFill>
                  <a:schemeClr val="accent6">
                    <a:lumMod val="50000"/>
                  </a:schemeClr>
                </a:solidFill>
                <a:latin typeface="IRANSans"/>
                <a:cs typeface="B Nazanin" panose="00000400000000000000" pitchFamily="2" charset="-78"/>
              </a:rPr>
              <a:t>طراحی شغل در پی یافتن ترکیبی </a:t>
            </a:r>
            <a:r>
              <a:rPr lang="fa-IR" b="1" dirty="0">
                <a:solidFill>
                  <a:srgbClr val="C00000"/>
                </a:solidFill>
                <a:latin typeface="IRANSans"/>
                <a:cs typeface="B Nazanin" panose="00000400000000000000" pitchFamily="2" charset="-78"/>
              </a:rPr>
              <a:t>مناسب</a:t>
            </a:r>
            <a:r>
              <a:rPr lang="fa-IR" b="1" dirty="0">
                <a:solidFill>
                  <a:schemeClr val="accent6">
                    <a:lumMod val="50000"/>
                  </a:schemeClr>
                </a:solidFill>
                <a:latin typeface="IRANSans"/>
                <a:cs typeface="B Nazanin" panose="00000400000000000000" pitchFamily="2" charset="-78"/>
              </a:rPr>
              <a:t> از </a:t>
            </a:r>
            <a:r>
              <a:rPr lang="fa-IR" b="1" u="sng" dirty="0">
                <a:solidFill>
                  <a:schemeClr val="accent6">
                    <a:lumMod val="50000"/>
                  </a:schemeClr>
                </a:solidFill>
                <a:latin typeface="IRANSans"/>
                <a:cs typeface="B Nazanin" panose="00000400000000000000" pitchFamily="2" charset="-78"/>
              </a:rPr>
              <a:t>وظایف و فعالیت‌ها و مسئولیت‌ها </a:t>
            </a:r>
            <a:r>
              <a:rPr lang="fa-IR" b="1" dirty="0">
                <a:solidFill>
                  <a:schemeClr val="accent6">
                    <a:lumMod val="50000"/>
                  </a:schemeClr>
                </a:solidFill>
                <a:latin typeface="IRANSans"/>
                <a:cs typeface="B Nazanin" panose="00000400000000000000" pitchFamily="2" charset="-78"/>
              </a:rPr>
              <a:t>برای هر موقعیت شغلی </a:t>
            </a:r>
            <a:r>
              <a:rPr lang="fa-IR" b="1" dirty="0" smtClean="0">
                <a:solidFill>
                  <a:schemeClr val="accent6">
                    <a:lumMod val="50000"/>
                  </a:schemeClr>
                </a:solidFill>
                <a:latin typeface="IRANSans"/>
                <a:cs typeface="B Nazanin" panose="00000400000000000000" pitchFamily="2" charset="-78"/>
              </a:rPr>
              <a:t>است .</a:t>
            </a:r>
            <a:endParaRPr lang="en-US" b="1" dirty="0">
              <a:solidFill>
                <a:schemeClr val="accent6">
                  <a:lumMod val="50000"/>
                </a:schemeClr>
              </a:solidFill>
              <a:latin typeface="IRANSans"/>
              <a:cs typeface="B Nazanin" panose="00000400000000000000" pitchFamily="2" charset="-78"/>
            </a:endParaRPr>
          </a:p>
        </p:txBody>
      </p:sp>
      <p:sp>
        <p:nvSpPr>
          <p:cNvPr id="12" name="Rectangle 11"/>
          <p:cNvSpPr/>
          <p:nvPr/>
        </p:nvSpPr>
        <p:spPr>
          <a:xfrm>
            <a:off x="784377" y="4146724"/>
            <a:ext cx="1965602" cy="1077218"/>
          </a:xfrm>
          <a:prstGeom prst="rect">
            <a:avLst/>
          </a:prstGeom>
        </p:spPr>
        <p:txBody>
          <a:bodyPr wrap="none">
            <a:spAutoFit/>
          </a:bodyPr>
          <a:lstStyle/>
          <a:p>
            <a:pPr marL="342900" indent="-342900" algn="r" rtl="1">
              <a:buFont typeface="Wingdings" panose="05000000000000000000" pitchFamily="2" charset="2"/>
              <a:buChar char="ü"/>
            </a:pPr>
            <a:r>
              <a:rPr lang="fa-IR" sz="1600" b="1" dirty="0">
                <a:latin typeface="IRANSans"/>
                <a:cs typeface="B Nazanin" panose="00000400000000000000" pitchFamily="2" charset="-78"/>
              </a:rPr>
              <a:t>انگیزش</a:t>
            </a:r>
            <a:r>
              <a:rPr lang="en-US" sz="1600" b="1" dirty="0">
                <a:latin typeface="IRANSans"/>
                <a:cs typeface="B Nazanin" panose="00000400000000000000" pitchFamily="2" charset="-78"/>
              </a:rPr>
              <a:t> </a:t>
            </a:r>
            <a:endParaRPr lang="en-US" sz="1600" b="1" dirty="0" smtClean="0">
              <a:latin typeface="IRANSans"/>
              <a:cs typeface="B Nazanin" panose="00000400000000000000" pitchFamily="2" charset="-78"/>
            </a:endParaRPr>
          </a:p>
          <a:p>
            <a:pPr marL="342900" indent="-342900" algn="r" rtl="1">
              <a:buFont typeface="Wingdings" panose="05000000000000000000" pitchFamily="2" charset="2"/>
              <a:buChar char="ü"/>
            </a:pPr>
            <a:r>
              <a:rPr lang="fa-IR" sz="1600" b="1" dirty="0" smtClean="0">
                <a:latin typeface="IRANSans"/>
                <a:cs typeface="B Nazanin" panose="00000400000000000000" pitchFamily="2" charset="-78"/>
              </a:rPr>
              <a:t>رضایت شغلی</a:t>
            </a:r>
            <a:endParaRPr lang="en-US" sz="1600" b="1" dirty="0" smtClean="0">
              <a:latin typeface="IRANSans"/>
              <a:cs typeface="B Nazanin" panose="00000400000000000000" pitchFamily="2" charset="-78"/>
            </a:endParaRPr>
          </a:p>
          <a:p>
            <a:pPr marL="342900" indent="-342900" algn="r" rtl="1">
              <a:buFont typeface="Wingdings" panose="05000000000000000000" pitchFamily="2" charset="2"/>
              <a:buChar char="ü"/>
            </a:pPr>
            <a:r>
              <a:rPr lang="en-US" sz="1600" b="1" dirty="0" smtClean="0">
                <a:latin typeface="IRANSans"/>
                <a:cs typeface="B Nazanin" panose="00000400000000000000" pitchFamily="2" charset="-78"/>
              </a:rPr>
              <a:t> </a:t>
            </a:r>
            <a:r>
              <a:rPr lang="fa-IR" sz="1600" b="1" dirty="0" smtClean="0">
                <a:latin typeface="IRANSans"/>
                <a:cs typeface="B Nazanin" panose="00000400000000000000" pitchFamily="2" charset="-78"/>
              </a:rPr>
              <a:t>عملکرد</a:t>
            </a:r>
            <a:endParaRPr lang="en-US" sz="1600" b="1" dirty="0" smtClean="0">
              <a:latin typeface="IRANSans"/>
              <a:cs typeface="B Nazanin" panose="00000400000000000000" pitchFamily="2" charset="-78"/>
            </a:endParaRPr>
          </a:p>
          <a:p>
            <a:pPr marL="342900" indent="-342900" algn="r" rtl="1">
              <a:buFont typeface="Wingdings" panose="05000000000000000000" pitchFamily="2" charset="2"/>
              <a:buChar char="ü"/>
            </a:pPr>
            <a:r>
              <a:rPr lang="en-US" sz="1600" b="1" dirty="0" smtClean="0">
                <a:latin typeface="IRANSans"/>
                <a:cs typeface="B Nazanin" panose="00000400000000000000" pitchFamily="2" charset="-78"/>
              </a:rPr>
              <a:t> </a:t>
            </a:r>
            <a:r>
              <a:rPr lang="fa-IR" sz="1600" b="1" dirty="0">
                <a:latin typeface="IRANSans"/>
                <a:cs typeface="B Nazanin" panose="00000400000000000000" pitchFamily="2" charset="-78"/>
              </a:rPr>
              <a:t>فاصله گرفتن از </a:t>
            </a:r>
            <a:r>
              <a:rPr lang="fa-IR" sz="1600" b="1" dirty="0" smtClean="0">
                <a:latin typeface="IRANSans"/>
                <a:cs typeface="B Nazanin" panose="00000400000000000000" pitchFamily="2" charset="-78"/>
              </a:rPr>
              <a:t>کار</a:t>
            </a:r>
            <a:r>
              <a:rPr lang="en-US" sz="1600" b="1" dirty="0" smtClean="0">
                <a:latin typeface="IRANSans"/>
                <a:cs typeface="B Nazanin" panose="00000400000000000000" pitchFamily="2" charset="-78"/>
              </a:rPr>
              <a:t> </a:t>
            </a:r>
            <a:endParaRPr lang="en-US" sz="1600" b="1" dirty="0">
              <a:latin typeface="IRANSans"/>
              <a:cs typeface="B Nazanin" panose="00000400000000000000" pitchFamily="2" charset="-78"/>
            </a:endParaRPr>
          </a:p>
        </p:txBody>
      </p:sp>
      <p:grpSp>
        <p:nvGrpSpPr>
          <p:cNvPr id="18" name="Group 17"/>
          <p:cNvGrpSpPr/>
          <p:nvPr/>
        </p:nvGrpSpPr>
        <p:grpSpPr>
          <a:xfrm>
            <a:off x="2749979" y="4524817"/>
            <a:ext cx="5505747" cy="282310"/>
            <a:chOff x="2749979" y="4890581"/>
            <a:chExt cx="5505747" cy="282310"/>
          </a:xfrm>
        </p:grpSpPr>
        <p:cxnSp>
          <p:nvCxnSpPr>
            <p:cNvPr id="14" name="Straight Connector 13"/>
            <p:cNvCxnSpPr/>
            <p:nvPr/>
          </p:nvCxnSpPr>
          <p:spPr>
            <a:xfrm>
              <a:off x="8242663" y="4890581"/>
              <a:ext cx="0" cy="2823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2749979" y="5159862"/>
              <a:ext cx="5505747" cy="6482"/>
            </a:xfrm>
            <a:prstGeom prst="line">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1260566" y="4141382"/>
            <a:ext cx="428322" cy="307777"/>
          </a:xfrm>
          <a:prstGeom prst="rect">
            <a:avLst/>
          </a:prstGeom>
        </p:spPr>
        <p:txBody>
          <a:bodyPr wrap="square">
            <a:spAutoFit/>
          </a:bodyPr>
          <a:lstStyle/>
          <a:p>
            <a:r>
              <a:rPr lang="fa-IR" sz="1400" b="1" dirty="0" smtClean="0">
                <a:solidFill>
                  <a:srgbClr val="C00000"/>
                </a:solidFill>
                <a:latin typeface="IRANSans"/>
                <a:cs typeface="B Nazanin" panose="00000400000000000000" pitchFamily="2" charset="-78"/>
              </a:rPr>
              <a:t>بالا</a:t>
            </a:r>
            <a:endParaRPr lang="en-US" sz="1400" dirty="0">
              <a:solidFill>
                <a:srgbClr val="C00000"/>
              </a:solidFill>
            </a:endParaRPr>
          </a:p>
        </p:txBody>
      </p:sp>
      <p:sp>
        <p:nvSpPr>
          <p:cNvPr id="23" name="Rectangle 22"/>
          <p:cNvSpPr/>
          <p:nvPr/>
        </p:nvSpPr>
        <p:spPr>
          <a:xfrm>
            <a:off x="927463" y="4428401"/>
            <a:ext cx="428322" cy="307777"/>
          </a:xfrm>
          <a:prstGeom prst="rect">
            <a:avLst/>
          </a:prstGeom>
        </p:spPr>
        <p:txBody>
          <a:bodyPr wrap="square">
            <a:spAutoFit/>
          </a:bodyPr>
          <a:lstStyle/>
          <a:p>
            <a:r>
              <a:rPr lang="fa-IR" sz="1400" b="1" dirty="0" smtClean="0">
                <a:solidFill>
                  <a:srgbClr val="C00000"/>
                </a:solidFill>
                <a:latin typeface="IRANSans"/>
                <a:cs typeface="B Nazanin" panose="00000400000000000000" pitchFamily="2" charset="-78"/>
              </a:rPr>
              <a:t>بالا</a:t>
            </a:r>
            <a:endParaRPr lang="en-US" sz="1400" dirty="0">
              <a:solidFill>
                <a:srgbClr val="C00000"/>
              </a:solidFill>
            </a:endParaRPr>
          </a:p>
        </p:txBody>
      </p:sp>
      <p:sp>
        <p:nvSpPr>
          <p:cNvPr id="24" name="Rectangle 23"/>
          <p:cNvSpPr/>
          <p:nvPr/>
        </p:nvSpPr>
        <p:spPr>
          <a:xfrm>
            <a:off x="1256965" y="4637803"/>
            <a:ext cx="428322" cy="338554"/>
          </a:xfrm>
          <a:prstGeom prst="rect">
            <a:avLst/>
          </a:prstGeom>
        </p:spPr>
        <p:txBody>
          <a:bodyPr wrap="square">
            <a:spAutoFit/>
          </a:bodyPr>
          <a:lstStyle/>
          <a:p>
            <a:r>
              <a:rPr lang="fa-IR" sz="1600" b="1" dirty="0" smtClean="0">
                <a:solidFill>
                  <a:srgbClr val="C00000"/>
                </a:solidFill>
                <a:latin typeface="IRANSans"/>
                <a:cs typeface="B Nazanin" panose="00000400000000000000" pitchFamily="2" charset="-78"/>
              </a:rPr>
              <a:t>بالا</a:t>
            </a:r>
            <a:endParaRPr lang="en-US" sz="1600" dirty="0">
              <a:solidFill>
                <a:srgbClr val="C00000"/>
              </a:solidFill>
            </a:endParaRPr>
          </a:p>
        </p:txBody>
      </p:sp>
      <p:sp>
        <p:nvSpPr>
          <p:cNvPr id="25" name="Rectangle 24"/>
          <p:cNvSpPr/>
          <p:nvPr/>
        </p:nvSpPr>
        <p:spPr>
          <a:xfrm>
            <a:off x="186072" y="4913333"/>
            <a:ext cx="721799" cy="307777"/>
          </a:xfrm>
          <a:prstGeom prst="rect">
            <a:avLst/>
          </a:prstGeom>
        </p:spPr>
        <p:txBody>
          <a:bodyPr wrap="square">
            <a:spAutoFit/>
          </a:bodyPr>
          <a:lstStyle/>
          <a:p>
            <a:pPr algn="r" rtl="1"/>
            <a:r>
              <a:rPr lang="fa-IR" sz="1400" b="1" dirty="0" smtClean="0">
                <a:solidFill>
                  <a:srgbClr val="C00000"/>
                </a:solidFill>
                <a:latin typeface="IRANSans"/>
                <a:cs typeface="B Nazanin" panose="00000400000000000000" pitchFamily="2" charset="-78"/>
              </a:rPr>
              <a:t>کمتر</a:t>
            </a:r>
            <a:endParaRPr lang="en-US" sz="1400" dirty="0">
              <a:solidFill>
                <a:srgbClr val="C00000"/>
              </a:solidFill>
            </a:endParaRPr>
          </a:p>
        </p:txBody>
      </p:sp>
      <p:sp>
        <p:nvSpPr>
          <p:cNvPr id="26" name="Rectangle 25"/>
          <p:cNvSpPr/>
          <p:nvPr/>
        </p:nvSpPr>
        <p:spPr>
          <a:xfrm>
            <a:off x="7217657" y="5262068"/>
            <a:ext cx="4010298" cy="1200329"/>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a:spAutoFit/>
          </a:bodyPr>
          <a:lstStyle/>
          <a:p>
            <a:pPr algn="just" rtl="1"/>
            <a:r>
              <a:rPr lang="fa-IR" dirty="0">
                <a:solidFill>
                  <a:srgbClr val="000000"/>
                </a:solidFill>
                <a:latin typeface="IRANSans"/>
                <a:cs typeface="B Nazanin" panose="00000400000000000000" pitchFamily="2" charset="-78"/>
              </a:rPr>
              <a:t>طراحی شغل، توجه شما را به </a:t>
            </a:r>
            <a:r>
              <a:rPr lang="fa-IR" b="1" dirty="0">
                <a:solidFill>
                  <a:srgbClr val="000000"/>
                </a:solidFill>
                <a:latin typeface="IRANSans"/>
                <a:cs typeface="B Nazanin" panose="00000400000000000000" pitchFamily="2" charset="-78"/>
              </a:rPr>
              <a:t>بخشِ کمتر دیده شده‌ی کار</a:t>
            </a:r>
            <a:r>
              <a:rPr lang="fa-IR" dirty="0">
                <a:solidFill>
                  <a:srgbClr val="000000"/>
                </a:solidFill>
                <a:latin typeface="IRANSans"/>
                <a:cs typeface="B Nazanin" panose="00000400000000000000" pitchFamily="2" charset="-78"/>
              </a:rPr>
              <a:t> جلب می‌کند. همان عاملی که ممکن است باعث شود بعضی از اعضای تیم، به تدریج دلبستگی خود را به کار از دست بدهند و از شما جدا شوند.</a:t>
            </a:r>
            <a:endParaRPr lang="en-US" dirty="0">
              <a:solidFill>
                <a:srgbClr val="000000"/>
              </a:solidFill>
              <a:latin typeface="IRANSans"/>
              <a:cs typeface="B Nazanin" panose="00000400000000000000" pitchFamily="2" charset="-78"/>
            </a:endParaRPr>
          </a:p>
        </p:txBody>
      </p:sp>
      <p:sp>
        <p:nvSpPr>
          <p:cNvPr id="28" name="Rectangle 27"/>
          <p:cNvSpPr/>
          <p:nvPr/>
        </p:nvSpPr>
        <p:spPr>
          <a:xfrm>
            <a:off x="6213023" y="5426035"/>
            <a:ext cx="893513" cy="923330"/>
          </a:xfrm>
          <a:prstGeom prst="rect">
            <a:avLst/>
          </a:prstGeom>
        </p:spPr>
        <p:txBody>
          <a:bodyPr wrap="square">
            <a:spAutoFit/>
          </a:bodyPr>
          <a:lstStyle/>
          <a:p>
            <a:pPr algn="ctr"/>
            <a:r>
              <a:rPr lang="fa-IR" b="1" dirty="0">
                <a:solidFill>
                  <a:srgbClr val="FF0000"/>
                </a:solidFill>
                <a:latin typeface="IRANSans"/>
                <a:cs typeface="B Nazanin" panose="00000400000000000000" pitchFamily="2" charset="-78"/>
              </a:rPr>
              <a:t>مدل های</a:t>
            </a:r>
            <a:endParaRPr lang="en-US" b="1" dirty="0">
              <a:solidFill>
                <a:srgbClr val="FF0000"/>
              </a:solidFill>
              <a:latin typeface="IRANSans"/>
              <a:cs typeface="B Nazanin" panose="00000400000000000000" pitchFamily="2" charset="-78"/>
            </a:endParaRPr>
          </a:p>
          <a:p>
            <a:pPr algn="ctr"/>
            <a:r>
              <a:rPr lang="fa-IR" b="1" dirty="0">
                <a:solidFill>
                  <a:srgbClr val="FF0000"/>
                </a:solidFill>
                <a:latin typeface="IRANSans"/>
                <a:cs typeface="B Nazanin" panose="00000400000000000000" pitchFamily="2" charset="-78"/>
              </a:rPr>
              <a:t> طراحی شغل</a:t>
            </a:r>
          </a:p>
        </p:txBody>
      </p:sp>
      <p:sp>
        <p:nvSpPr>
          <p:cNvPr id="29" name="Rectangle 28"/>
          <p:cNvSpPr/>
          <p:nvPr/>
        </p:nvSpPr>
        <p:spPr>
          <a:xfrm>
            <a:off x="2354638" y="5247553"/>
            <a:ext cx="3539752" cy="338554"/>
          </a:xfrm>
          <a:prstGeom prst="rect">
            <a:avLst/>
          </a:prstGeom>
        </p:spPr>
        <p:txBody>
          <a:bodyPr wrap="none">
            <a:spAutoFit/>
          </a:bodyPr>
          <a:lstStyle/>
          <a:p>
            <a:pPr marL="285750" indent="-285750" algn="r" rtl="1">
              <a:buFont typeface="Wingdings" panose="05000000000000000000" pitchFamily="2" charset="2"/>
              <a:buChar char="ü"/>
            </a:pPr>
            <a:r>
              <a:rPr lang="fa-IR" sz="1600" b="1" dirty="0">
                <a:solidFill>
                  <a:srgbClr val="000000"/>
                </a:solidFill>
                <a:latin typeface="IRANSans"/>
                <a:cs typeface="B Nazanin" panose="00000400000000000000" pitchFamily="2" charset="-78"/>
              </a:rPr>
              <a:t>شیوه‌ی تقسیم تخصصی (روش تیلور و فورد)</a:t>
            </a:r>
            <a:endParaRPr lang="en-US" sz="1600" dirty="0">
              <a:cs typeface="B Nazanin" panose="00000400000000000000" pitchFamily="2" charset="-78"/>
            </a:endParaRPr>
          </a:p>
        </p:txBody>
      </p:sp>
      <p:sp>
        <p:nvSpPr>
          <p:cNvPr id="30" name="Rectangle 29"/>
          <p:cNvSpPr/>
          <p:nvPr/>
        </p:nvSpPr>
        <p:spPr>
          <a:xfrm>
            <a:off x="3211089" y="5636726"/>
            <a:ext cx="2682146" cy="338554"/>
          </a:xfrm>
          <a:prstGeom prst="rect">
            <a:avLst/>
          </a:prstGeom>
        </p:spPr>
        <p:txBody>
          <a:bodyPr wrap="none">
            <a:spAutoFit/>
          </a:bodyPr>
          <a:lstStyle/>
          <a:p>
            <a:pPr marL="285750" indent="-285750" algn="r" rtl="1">
              <a:buFont typeface="Wingdings" panose="05000000000000000000" pitchFamily="2" charset="2"/>
              <a:buChar char="ü"/>
            </a:pPr>
            <a:r>
              <a:rPr lang="fa-IR" sz="1600" b="1" dirty="0" smtClean="0">
                <a:solidFill>
                  <a:srgbClr val="000000"/>
                </a:solidFill>
                <a:latin typeface="IRANSans"/>
                <a:cs typeface="B Nazanin" panose="00000400000000000000" pitchFamily="2" charset="-78"/>
              </a:rPr>
              <a:t>روش</a:t>
            </a:r>
            <a:r>
              <a:rPr lang="fa-IR" sz="1600" b="1" dirty="0">
                <a:solidFill>
                  <a:srgbClr val="000000"/>
                </a:solidFill>
                <a:latin typeface="IRANSans"/>
                <a:cs typeface="B Nazanin" panose="00000400000000000000" pitchFamily="2" charset="-78"/>
              </a:rPr>
              <a:t> پردازش اطلاعات اجتماعی</a:t>
            </a:r>
            <a:endParaRPr lang="en-US" sz="1600" b="1" dirty="0">
              <a:solidFill>
                <a:srgbClr val="000000"/>
              </a:solidFill>
              <a:latin typeface="IRANSans"/>
              <a:cs typeface="B Nazanin" panose="00000400000000000000" pitchFamily="2" charset="-78"/>
            </a:endParaRPr>
          </a:p>
        </p:txBody>
      </p:sp>
      <p:sp>
        <p:nvSpPr>
          <p:cNvPr id="31" name="Rectangle 30"/>
          <p:cNvSpPr/>
          <p:nvPr/>
        </p:nvSpPr>
        <p:spPr>
          <a:xfrm>
            <a:off x="3842673" y="6052025"/>
            <a:ext cx="2050562" cy="338554"/>
          </a:xfrm>
          <a:prstGeom prst="rect">
            <a:avLst/>
          </a:prstGeom>
        </p:spPr>
        <p:txBody>
          <a:bodyPr wrap="none">
            <a:spAutoFit/>
          </a:bodyPr>
          <a:lstStyle/>
          <a:p>
            <a:pPr marL="285750" indent="-285750" algn="r" rtl="1">
              <a:buFont typeface="Wingdings" panose="05000000000000000000" pitchFamily="2" charset="2"/>
              <a:buChar char="ü"/>
            </a:pPr>
            <a:r>
              <a:rPr lang="fa-IR" sz="1600" b="1" dirty="0">
                <a:solidFill>
                  <a:srgbClr val="000000"/>
                </a:solidFill>
                <a:latin typeface="IRANSans"/>
                <a:cs typeface="B Nazanin" panose="00000400000000000000" pitchFamily="2" charset="-78"/>
              </a:rPr>
              <a:t>مدل ویژگی های شغلی</a:t>
            </a:r>
            <a:endParaRPr lang="en-US" sz="1600" b="1" dirty="0">
              <a:solidFill>
                <a:srgbClr val="000000"/>
              </a:solidFill>
              <a:latin typeface="IRANSans"/>
              <a:cs typeface="B Nazanin" panose="00000400000000000000" pitchFamily="2" charset="-78"/>
            </a:endParaRPr>
          </a:p>
        </p:txBody>
      </p:sp>
      <p:sp>
        <p:nvSpPr>
          <p:cNvPr id="32" name="Rectangle 31"/>
          <p:cNvSpPr/>
          <p:nvPr/>
        </p:nvSpPr>
        <p:spPr>
          <a:xfrm>
            <a:off x="473087" y="6074391"/>
            <a:ext cx="2161169" cy="276999"/>
          </a:xfrm>
          <a:prstGeom prst="rect">
            <a:avLst/>
          </a:prstGeom>
        </p:spPr>
        <p:txBody>
          <a:bodyPr wrap="none">
            <a:spAutoFit/>
          </a:bodyPr>
          <a:lstStyle/>
          <a:p>
            <a:r>
              <a:rPr lang="en-US" sz="1200" b="1" dirty="0">
                <a:solidFill>
                  <a:srgbClr val="FF0000"/>
                </a:solidFill>
                <a:latin typeface="Tahoma" panose="020B0604030504040204" pitchFamily="34" charset="0"/>
                <a:ea typeface="Tahoma" panose="020B0604030504040204" pitchFamily="34" charset="0"/>
                <a:cs typeface="Tahoma" panose="020B0604030504040204" pitchFamily="34" charset="0"/>
              </a:rPr>
              <a:t>J</a:t>
            </a:r>
            <a:r>
              <a:rPr lang="en-US" sz="1200" b="1" dirty="0">
                <a:solidFill>
                  <a:srgbClr val="000000"/>
                </a:solidFill>
                <a:latin typeface="Tahoma" panose="020B0604030504040204" pitchFamily="34" charset="0"/>
                <a:ea typeface="Tahoma" panose="020B0604030504040204" pitchFamily="34" charset="0"/>
                <a:cs typeface="Tahoma" panose="020B0604030504040204" pitchFamily="34" charset="0"/>
              </a:rPr>
              <a:t>ob </a:t>
            </a:r>
            <a:r>
              <a:rPr lang="en-US" sz="1200" b="1" dirty="0">
                <a:solidFill>
                  <a:srgbClr val="FF0000"/>
                </a:solidFill>
                <a:latin typeface="Tahoma" panose="020B0604030504040204" pitchFamily="34" charset="0"/>
                <a:ea typeface="Tahoma" panose="020B0604030504040204" pitchFamily="34" charset="0"/>
                <a:cs typeface="Tahoma" panose="020B0604030504040204" pitchFamily="34" charset="0"/>
              </a:rPr>
              <a:t>C</a:t>
            </a:r>
            <a:r>
              <a:rPr lang="en-US" sz="1200" b="1" dirty="0">
                <a:solidFill>
                  <a:srgbClr val="000000"/>
                </a:solidFill>
                <a:latin typeface="Tahoma" panose="020B0604030504040204" pitchFamily="34" charset="0"/>
                <a:ea typeface="Tahoma" panose="020B0604030504040204" pitchFamily="34" charset="0"/>
                <a:cs typeface="Tahoma" panose="020B0604030504040204" pitchFamily="34" charset="0"/>
              </a:rPr>
              <a:t>haracteristics </a:t>
            </a:r>
            <a:r>
              <a:rPr lang="en-US" sz="1200" b="1" dirty="0">
                <a:solidFill>
                  <a:srgbClr val="FF0000"/>
                </a:solidFill>
                <a:latin typeface="Tahoma" panose="020B0604030504040204" pitchFamily="34" charset="0"/>
                <a:ea typeface="Tahoma" panose="020B0604030504040204" pitchFamily="34" charset="0"/>
                <a:cs typeface="Tahoma" panose="020B0604030504040204" pitchFamily="34" charset="0"/>
              </a:rPr>
              <a:t>M</a:t>
            </a:r>
            <a:r>
              <a:rPr lang="en-US" sz="1200" b="1" dirty="0">
                <a:solidFill>
                  <a:srgbClr val="000000"/>
                </a:solidFill>
                <a:latin typeface="Tahoma" panose="020B0604030504040204" pitchFamily="34" charset="0"/>
                <a:ea typeface="Tahoma" panose="020B0604030504040204" pitchFamily="34" charset="0"/>
                <a:cs typeface="Tahoma" panose="020B0604030504040204" pitchFamily="34" charset="0"/>
              </a:rPr>
              <a:t>odel</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p:nvSpPr>
        <p:spPr>
          <a:xfrm>
            <a:off x="491809" y="5636726"/>
            <a:ext cx="2501006" cy="276999"/>
          </a:xfrm>
          <a:prstGeom prst="rect">
            <a:avLst/>
          </a:prstGeom>
        </p:spPr>
        <p:txBody>
          <a:bodyPr wrap="none">
            <a:spAutoFit/>
          </a:bodyPr>
          <a:lstStyle/>
          <a:p>
            <a:r>
              <a:rPr lang="en-US" sz="1200" b="1" dirty="0">
                <a:solidFill>
                  <a:srgbClr val="000000"/>
                </a:solidFill>
                <a:latin typeface="Tahoma" panose="020B0604030504040204" pitchFamily="34" charset="0"/>
                <a:ea typeface="Tahoma" panose="020B0604030504040204" pitchFamily="34" charset="0"/>
                <a:cs typeface="Tahoma" panose="020B0604030504040204" pitchFamily="34" charset="0"/>
              </a:rPr>
              <a:t>Social Information Processing</a:t>
            </a:r>
          </a:p>
        </p:txBody>
      </p:sp>
      <p:sp>
        <p:nvSpPr>
          <p:cNvPr id="34" name="Rectangle 33"/>
          <p:cNvSpPr/>
          <p:nvPr/>
        </p:nvSpPr>
        <p:spPr>
          <a:xfrm>
            <a:off x="5503384" y="6246886"/>
            <a:ext cx="389851" cy="338554"/>
          </a:xfrm>
          <a:prstGeom prst="rect">
            <a:avLst/>
          </a:prstGeom>
        </p:spPr>
        <p:txBody>
          <a:bodyPr wrap="none">
            <a:spAutoFit/>
          </a:bodyPr>
          <a:lstStyle/>
          <a:p>
            <a:pPr algn="r" rtl="1"/>
            <a:r>
              <a:rPr lang="en-US" sz="1600" b="1" dirty="0" smtClean="0">
                <a:solidFill>
                  <a:srgbClr val="000000"/>
                </a:solidFill>
                <a:latin typeface="IRANSans"/>
                <a:cs typeface="B Nazanin" panose="00000400000000000000" pitchFamily="2" charset="-78"/>
              </a:rPr>
              <a:t>…</a:t>
            </a:r>
            <a:endParaRPr lang="en-US" sz="1600" b="1" dirty="0">
              <a:solidFill>
                <a:srgbClr val="000000"/>
              </a:solidFill>
              <a:latin typeface="IRANSans"/>
              <a:cs typeface="B Nazanin" panose="00000400000000000000" pitchFamily="2" charset="-78"/>
            </a:endParaRPr>
          </a:p>
        </p:txBody>
      </p:sp>
      <p:sp>
        <p:nvSpPr>
          <p:cNvPr id="35" name="Right Brace 34"/>
          <p:cNvSpPr/>
          <p:nvPr/>
        </p:nvSpPr>
        <p:spPr>
          <a:xfrm>
            <a:off x="5904409" y="5181921"/>
            <a:ext cx="274321" cy="141658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615283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470263" y="425299"/>
            <a:ext cx="10574382" cy="709749"/>
          </a:xfrm>
        </p:spPr>
        <p:txBody>
          <a:bodyPr>
            <a:noAutofit/>
          </a:bodyPr>
          <a:lstStyle/>
          <a:p>
            <a:pPr algn="r" rtl="1"/>
            <a:r>
              <a:rPr lang="fa-IR" sz="3200" dirty="0" smtClean="0">
                <a:cs typeface="B Nazanin" panose="00000400000000000000" pitchFamily="2" charset="-78"/>
              </a:rPr>
              <a:t>طراحی شغل بر </a:t>
            </a:r>
            <a:r>
              <a:rPr lang="fa-IR" sz="3200" dirty="0">
                <a:cs typeface="B Nazanin" panose="00000400000000000000" pitchFamily="2" charset="-78"/>
              </a:rPr>
              <a:t>اساس </a:t>
            </a:r>
            <a:r>
              <a:rPr lang="fa-IR" sz="3200" dirty="0" smtClean="0">
                <a:cs typeface="B Nazanin" panose="00000400000000000000" pitchFamily="2" charset="-78"/>
              </a:rPr>
              <a:t>مدل</a:t>
            </a:r>
            <a:r>
              <a:rPr lang="en-US" sz="3200" dirty="0" smtClean="0">
                <a:cs typeface="B Nazanin" panose="00000400000000000000" pitchFamily="2" charset="-78"/>
              </a:rPr>
              <a:t>   </a:t>
            </a:r>
            <a:r>
              <a:rPr lang="en-US" sz="3200" b="1" dirty="0" smtClean="0">
                <a:solidFill>
                  <a:srgbClr val="FF0000"/>
                </a:solidFill>
                <a:cs typeface="B Nazanin" panose="00000400000000000000" pitchFamily="2" charset="-78"/>
              </a:rPr>
              <a:t>JCM</a:t>
            </a:r>
            <a:r>
              <a:rPr lang="en-US" sz="3200" dirty="0" smtClean="0">
                <a:cs typeface="B Nazanin" panose="00000400000000000000" pitchFamily="2" charset="-78"/>
              </a:rPr>
              <a:t> </a:t>
            </a:r>
            <a:r>
              <a:rPr lang="fa-IR" sz="3200" dirty="0" smtClean="0">
                <a:cs typeface="B Nazanin" panose="00000400000000000000" pitchFamily="2" charset="-78"/>
              </a:rPr>
              <a:t>هاکمن </a:t>
            </a:r>
            <a:r>
              <a:rPr lang="fa-IR" sz="3200" dirty="0">
                <a:cs typeface="B Nazanin" panose="00000400000000000000" pitchFamily="2" charset="-78"/>
              </a:rPr>
              <a:t>و اولدهام</a:t>
            </a:r>
            <a:endParaRPr lang="en-US" sz="32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grpSp>
        <p:nvGrpSpPr>
          <p:cNvPr id="21" name="Group 20"/>
          <p:cNvGrpSpPr/>
          <p:nvPr/>
        </p:nvGrpSpPr>
        <p:grpSpPr>
          <a:xfrm>
            <a:off x="290651" y="2258378"/>
            <a:ext cx="11629215" cy="4352925"/>
            <a:chOff x="290651" y="2258378"/>
            <a:chExt cx="11629215" cy="4352925"/>
          </a:xfrm>
        </p:grpSpPr>
        <p:grpSp>
          <p:nvGrpSpPr>
            <p:cNvPr id="5" name="Group 4"/>
            <p:cNvGrpSpPr/>
            <p:nvPr/>
          </p:nvGrpSpPr>
          <p:grpSpPr>
            <a:xfrm>
              <a:off x="5138066" y="2258378"/>
              <a:ext cx="6781800" cy="4352925"/>
              <a:chOff x="3658689" y="2062434"/>
              <a:chExt cx="6781800" cy="4352925"/>
            </a:xfrm>
          </p:grpSpPr>
          <p:pic>
            <p:nvPicPr>
              <p:cNvPr id="3" name="Picture 2"/>
              <p:cNvPicPr>
                <a:picLocks noChangeAspect="1"/>
              </p:cNvPicPr>
              <p:nvPr/>
            </p:nvPicPr>
            <p:blipFill>
              <a:blip r:embed="rId2"/>
              <a:stretch>
                <a:fillRect/>
              </a:stretch>
            </p:blipFill>
            <p:spPr>
              <a:xfrm>
                <a:off x="3658689" y="2062434"/>
                <a:ext cx="6781800" cy="4352925"/>
              </a:xfrm>
              <a:prstGeom prst="rect">
                <a:avLst/>
              </a:prstGeom>
            </p:spPr>
          </p:pic>
          <p:sp>
            <p:nvSpPr>
              <p:cNvPr id="4" name="Rectangle 3"/>
              <p:cNvSpPr/>
              <p:nvPr/>
            </p:nvSpPr>
            <p:spPr>
              <a:xfrm>
                <a:off x="9862457" y="4741818"/>
                <a:ext cx="578032" cy="274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7" name="Rectangle 6"/>
            <p:cNvSpPr/>
            <p:nvPr/>
          </p:nvSpPr>
          <p:spPr>
            <a:xfrm>
              <a:off x="365759" y="4237395"/>
              <a:ext cx="5068388" cy="830997"/>
            </a:xfrm>
            <a:prstGeom prst="rect">
              <a:avLst/>
            </a:prstGeom>
          </p:spPr>
          <p:txBody>
            <a:bodyPr wrap="square">
              <a:spAutoFit/>
            </a:bodyPr>
            <a:lstStyle/>
            <a:p>
              <a:pPr algn="just" rtl="1"/>
              <a:r>
                <a:rPr lang="fa-IR" sz="1600" dirty="0">
                  <a:solidFill>
                    <a:srgbClr val="000000"/>
                  </a:solidFill>
                  <a:latin typeface="IRANSans"/>
                  <a:cs typeface="B Nazanin" panose="00000400000000000000" pitchFamily="2" charset="-78"/>
                </a:rPr>
                <a:t>وقتی می‌گوییم فرد باید بتواند در کار خود </a:t>
              </a:r>
              <a:r>
                <a:rPr lang="fa-IR" sz="1600" dirty="0">
                  <a:solidFill>
                    <a:srgbClr val="FF0000"/>
                  </a:solidFill>
                  <a:latin typeface="IRANSans"/>
                  <a:cs typeface="B Nazanin" panose="00000400000000000000" pitchFamily="2" charset="-78"/>
                </a:rPr>
                <a:t>احساس مسئولیت </a:t>
              </a:r>
              <a:r>
                <a:rPr lang="fa-IR" sz="1600" dirty="0">
                  <a:solidFill>
                    <a:srgbClr val="000000"/>
                  </a:solidFill>
                  <a:latin typeface="IRANSans"/>
                  <a:cs typeface="B Nazanin" panose="00000400000000000000" pitchFamily="2" charset="-78"/>
                </a:rPr>
                <a:t>کند، طبیعتاً انتظار می‌رود که</a:t>
              </a:r>
              <a:r>
                <a:rPr lang="fa-IR" sz="1600" b="1" dirty="0">
                  <a:solidFill>
                    <a:srgbClr val="FF0000"/>
                  </a:solidFill>
                  <a:latin typeface="IRANSans"/>
                  <a:cs typeface="B Nazanin" panose="00000400000000000000" pitchFamily="2" charset="-78"/>
                </a:rPr>
                <a:t> اختیار و استقلال </a:t>
              </a:r>
              <a:r>
                <a:rPr lang="fa-IR" sz="1600" dirty="0">
                  <a:solidFill>
                    <a:srgbClr val="000000"/>
                  </a:solidFill>
                  <a:latin typeface="IRANSans"/>
                  <a:cs typeface="B Nazanin" panose="00000400000000000000" pitchFamily="2" charset="-78"/>
                </a:rPr>
                <a:t>و </a:t>
              </a:r>
              <a:r>
                <a:rPr lang="fa-IR" sz="1600" b="1" dirty="0">
                  <a:solidFill>
                    <a:srgbClr val="000000"/>
                  </a:solidFill>
                  <a:latin typeface="IRANSans"/>
                  <a:cs typeface="B Nazanin" panose="00000400000000000000" pitchFamily="2" charset="-78"/>
                </a:rPr>
                <a:t>حق تصمیم‌گیری</a:t>
              </a:r>
              <a:r>
                <a:rPr lang="fa-IR" sz="1600" dirty="0">
                  <a:solidFill>
                    <a:srgbClr val="000000"/>
                  </a:solidFill>
                  <a:latin typeface="IRANSans"/>
                  <a:cs typeface="B Nazanin" panose="00000400000000000000" pitchFamily="2" charset="-78"/>
                </a:rPr>
                <a:t> هم در بعضی حوزه‌ها برایش در نظر گرفته شود</a:t>
              </a:r>
              <a:r>
                <a:rPr lang="fa-IR" sz="1600" dirty="0" smtClean="0">
                  <a:solidFill>
                    <a:srgbClr val="000000"/>
                  </a:solidFill>
                  <a:latin typeface="IRANSans"/>
                  <a:cs typeface="B Nazanin" panose="00000400000000000000" pitchFamily="2" charset="-78"/>
                </a:rPr>
                <a:t>.</a:t>
              </a:r>
              <a:endParaRPr lang="en-US" sz="1600" dirty="0">
                <a:solidFill>
                  <a:srgbClr val="000000"/>
                </a:solidFill>
                <a:latin typeface="IRANSans"/>
                <a:cs typeface="B Nazanin" panose="00000400000000000000" pitchFamily="2" charset="-78"/>
              </a:endParaRPr>
            </a:p>
          </p:txBody>
        </p:sp>
        <p:sp>
          <p:nvSpPr>
            <p:cNvPr id="9" name="Rectangle 8"/>
            <p:cNvSpPr/>
            <p:nvPr/>
          </p:nvSpPr>
          <p:spPr>
            <a:xfrm>
              <a:off x="799010" y="5187710"/>
              <a:ext cx="8373292" cy="338554"/>
            </a:xfrm>
            <a:prstGeom prst="rect">
              <a:avLst/>
            </a:prstGeom>
            <a:solidFill>
              <a:srgbClr val="FFFFCC"/>
            </a:solidFill>
          </p:spPr>
          <p:style>
            <a:lnRef idx="2">
              <a:schemeClr val="accent3"/>
            </a:lnRef>
            <a:fillRef idx="1">
              <a:schemeClr val="lt1"/>
            </a:fillRef>
            <a:effectRef idx="0">
              <a:schemeClr val="accent3"/>
            </a:effectRef>
            <a:fontRef idx="minor">
              <a:schemeClr val="dk1"/>
            </a:fontRef>
          </p:style>
          <p:txBody>
            <a:bodyPr wrap="square">
              <a:spAutoFit/>
            </a:bodyPr>
            <a:lstStyle/>
            <a:p>
              <a:pPr algn="just" rtl="1"/>
              <a:r>
                <a:rPr lang="fa-IR" sz="1600" dirty="0">
                  <a:solidFill>
                    <a:srgbClr val="000000"/>
                  </a:solidFill>
                  <a:latin typeface="IRANSans"/>
                  <a:cs typeface="B Nazanin" panose="00000400000000000000" pitchFamily="2" charset="-78"/>
                </a:rPr>
                <a:t> اگر شما در اجرای یک کار، هیچ اختیار و انتخابی نداشته باشید، طبیعی است که خود را مسئول نتایج به دست آمده نخواهید دانست. </a:t>
              </a:r>
              <a:endParaRPr lang="en-US" sz="1600" dirty="0">
                <a:solidFill>
                  <a:srgbClr val="000000"/>
                </a:solidFill>
                <a:latin typeface="IRANSans"/>
                <a:cs typeface="B Nazanin" panose="00000400000000000000" pitchFamily="2" charset="-78"/>
              </a:endParaRPr>
            </a:p>
          </p:txBody>
        </p:sp>
        <p:sp>
          <p:nvSpPr>
            <p:cNvPr id="10" name="Rectangle 9"/>
            <p:cNvSpPr/>
            <p:nvPr/>
          </p:nvSpPr>
          <p:spPr>
            <a:xfrm>
              <a:off x="316776" y="2454051"/>
              <a:ext cx="5042263" cy="338554"/>
            </a:xfrm>
            <a:prstGeom prst="rect">
              <a:avLst/>
            </a:prstGeom>
          </p:spPr>
          <p:txBody>
            <a:bodyPr wrap="square">
              <a:spAutoFit/>
            </a:bodyPr>
            <a:lstStyle/>
            <a:p>
              <a:pPr algn="just" rtl="1"/>
              <a:r>
                <a:rPr lang="fa-IR" sz="1600" dirty="0">
                  <a:solidFill>
                    <a:srgbClr val="000000"/>
                  </a:solidFill>
                  <a:latin typeface="IRANSans"/>
                  <a:cs typeface="B Nazanin" panose="00000400000000000000" pitchFamily="2" charset="-78"/>
                </a:rPr>
                <a:t>اگر فردا سر کار نروید، اتفاق خاصی می‌افتد یا همه‌ چیز مثل قبل پیش می‌رود؟</a:t>
              </a:r>
              <a:endParaRPr lang="en-US" sz="1600" dirty="0">
                <a:solidFill>
                  <a:srgbClr val="000000"/>
                </a:solidFill>
                <a:latin typeface="IRANSans"/>
                <a:cs typeface="B Nazanin" panose="00000400000000000000" pitchFamily="2" charset="-78"/>
              </a:endParaRPr>
            </a:p>
          </p:txBody>
        </p:sp>
        <p:sp>
          <p:nvSpPr>
            <p:cNvPr id="11" name="Rectangle 10"/>
            <p:cNvSpPr/>
            <p:nvPr/>
          </p:nvSpPr>
          <p:spPr>
            <a:xfrm>
              <a:off x="290651" y="2928639"/>
              <a:ext cx="5068388" cy="584775"/>
            </a:xfrm>
            <a:prstGeom prst="rect">
              <a:avLst/>
            </a:prstGeom>
          </p:spPr>
          <p:txBody>
            <a:bodyPr wrap="square">
              <a:spAutoFit/>
            </a:bodyPr>
            <a:lstStyle/>
            <a:p>
              <a:pPr algn="just" rtl="1"/>
              <a:r>
                <a:rPr lang="fa-IR" sz="1600" dirty="0">
                  <a:solidFill>
                    <a:srgbClr val="000000"/>
                  </a:solidFill>
                  <a:latin typeface="IRANSans"/>
                  <a:cs typeface="B Nazanin" panose="00000400000000000000" pitchFamily="2" charset="-78"/>
                </a:rPr>
                <a:t>ک</a:t>
              </a:r>
              <a:r>
                <a:rPr lang="fa-IR" sz="1600" dirty="0" smtClean="0">
                  <a:solidFill>
                    <a:srgbClr val="000000"/>
                  </a:solidFill>
                  <a:latin typeface="IRANSans"/>
                  <a:cs typeface="B Nazanin" panose="00000400000000000000" pitchFamily="2" charset="-78"/>
                </a:rPr>
                <a:t>ارها </a:t>
              </a:r>
              <a:r>
                <a:rPr lang="fa-IR" sz="1600" dirty="0">
                  <a:solidFill>
                    <a:srgbClr val="000000"/>
                  </a:solidFill>
                  <a:latin typeface="IRANSans"/>
                  <a:cs typeface="B Nazanin" panose="00000400000000000000" pitchFamily="2" charset="-78"/>
                </a:rPr>
                <a:t>را به شکلی خُرد نکنیم یا خُرده‌کاری‌ها را به شکلی بر روی شانه‌های یک فرد انباشته نکنیم که نتواند توصیف دقیقی از کار خود ارائه </a:t>
              </a:r>
              <a:r>
                <a:rPr lang="fa-IR" sz="1600" dirty="0" smtClean="0">
                  <a:solidFill>
                    <a:srgbClr val="000000"/>
                  </a:solidFill>
                  <a:latin typeface="IRANSans"/>
                  <a:cs typeface="B Nazanin" panose="00000400000000000000" pitchFamily="2" charset="-78"/>
                </a:rPr>
                <a:t>دهد .</a:t>
              </a:r>
              <a:endParaRPr lang="en-US" sz="1600" dirty="0">
                <a:solidFill>
                  <a:srgbClr val="000000"/>
                </a:solidFill>
                <a:latin typeface="IRANSans"/>
                <a:cs typeface="B Nazanin" panose="00000400000000000000" pitchFamily="2" charset="-78"/>
              </a:endParaRPr>
            </a:p>
          </p:txBody>
        </p:sp>
        <p:sp>
          <p:nvSpPr>
            <p:cNvPr id="12" name="Rectangle 11"/>
            <p:cNvSpPr/>
            <p:nvPr/>
          </p:nvSpPr>
          <p:spPr>
            <a:xfrm>
              <a:off x="316776" y="3593401"/>
              <a:ext cx="4393480" cy="338554"/>
            </a:xfrm>
            <a:prstGeom prst="rect">
              <a:avLst/>
            </a:prstGeom>
          </p:spPr>
          <p:txBody>
            <a:bodyPr wrap="square">
              <a:spAutoFit/>
            </a:bodyPr>
            <a:lstStyle/>
            <a:p>
              <a:pPr algn="just" rtl="1"/>
              <a:r>
                <a:rPr lang="fa-IR" sz="1600" dirty="0" smtClean="0">
                  <a:solidFill>
                    <a:srgbClr val="000000"/>
                  </a:solidFill>
                  <a:latin typeface="IRANSans"/>
                  <a:cs typeface="B Nazanin" panose="00000400000000000000" pitchFamily="2" charset="-78"/>
                </a:rPr>
                <a:t>فرد </a:t>
              </a:r>
              <a:r>
                <a:rPr lang="fa-IR" sz="1600" dirty="0">
                  <a:solidFill>
                    <a:srgbClr val="000000"/>
                  </a:solidFill>
                  <a:latin typeface="IRANSans"/>
                  <a:cs typeface="B Nazanin" panose="00000400000000000000" pitchFamily="2" charset="-78"/>
                </a:rPr>
                <a:t>بتواند توانمندی‌ها و استعدادهای متنوع‌تری را به خدمت </a:t>
              </a:r>
              <a:r>
                <a:rPr lang="fa-IR" sz="1600" dirty="0" smtClean="0">
                  <a:solidFill>
                    <a:srgbClr val="000000"/>
                  </a:solidFill>
                  <a:latin typeface="IRANSans"/>
                  <a:cs typeface="B Nazanin" panose="00000400000000000000" pitchFamily="2" charset="-78"/>
                </a:rPr>
                <a:t>بگیرد .</a:t>
              </a:r>
              <a:endParaRPr lang="en-US" sz="1600" dirty="0">
                <a:solidFill>
                  <a:srgbClr val="000000"/>
                </a:solidFill>
                <a:latin typeface="IRANSans"/>
                <a:cs typeface="B Nazanin" panose="00000400000000000000" pitchFamily="2" charset="-78"/>
              </a:endParaRPr>
            </a:p>
          </p:txBody>
        </p:sp>
        <p:sp>
          <p:nvSpPr>
            <p:cNvPr id="13" name="Rectangle 12"/>
            <p:cNvSpPr/>
            <p:nvPr/>
          </p:nvSpPr>
          <p:spPr>
            <a:xfrm>
              <a:off x="365759" y="5805718"/>
              <a:ext cx="4990010" cy="584775"/>
            </a:xfrm>
            <a:prstGeom prst="rect">
              <a:avLst/>
            </a:prstGeom>
          </p:spPr>
          <p:txBody>
            <a:bodyPr wrap="square">
              <a:spAutoFit/>
            </a:bodyPr>
            <a:lstStyle/>
            <a:p>
              <a:pPr algn="just" rtl="1"/>
              <a:r>
                <a:rPr lang="fa-IR" sz="1600" dirty="0" smtClean="0">
                  <a:solidFill>
                    <a:srgbClr val="000000"/>
                  </a:solidFill>
                  <a:latin typeface="IRANSans"/>
                  <a:cs typeface="B Nazanin" panose="00000400000000000000" pitchFamily="2" charset="-78"/>
                </a:rPr>
                <a:t>اینکه فرد بهتر است با کارفرما ( حتی غیر مستقیم ) ارتباط داشته باشد به دلیل اطلاع از نتیجه کار خود و دریافت بازخورد می باشد . </a:t>
              </a:r>
              <a:endParaRPr lang="en-US" sz="1600" dirty="0">
                <a:solidFill>
                  <a:srgbClr val="000000"/>
                </a:solidFill>
                <a:latin typeface="IRANSans"/>
                <a:cs typeface="B Nazanin" panose="00000400000000000000" pitchFamily="2" charset="-78"/>
              </a:endParaRPr>
            </a:p>
          </p:txBody>
        </p:sp>
        <p:cxnSp>
          <p:nvCxnSpPr>
            <p:cNvPr id="15" name="Straight Arrow Connector 14"/>
            <p:cNvCxnSpPr/>
            <p:nvPr/>
          </p:nvCxnSpPr>
          <p:spPr>
            <a:xfrm flipH="1">
              <a:off x="5391694" y="2610265"/>
              <a:ext cx="37882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796244" y="3736552"/>
              <a:ext cx="37882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5417820" y="3168774"/>
              <a:ext cx="37882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5457010" y="4652893"/>
              <a:ext cx="35269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443947" y="6113684"/>
              <a:ext cx="35269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Rectangle 5"/>
          <p:cNvSpPr/>
          <p:nvPr/>
        </p:nvSpPr>
        <p:spPr>
          <a:xfrm>
            <a:off x="470264" y="1356002"/>
            <a:ext cx="11025050" cy="1015663"/>
          </a:xfrm>
          <a:prstGeom prst="rect">
            <a:avLst/>
          </a:prstGeom>
        </p:spPr>
        <p:txBody>
          <a:bodyPr wrap="square">
            <a:spAutoFit/>
          </a:bodyPr>
          <a:lstStyle/>
          <a:p>
            <a:pPr algn="r" rtl="1"/>
            <a:r>
              <a:rPr lang="fa-IR" sz="2000" dirty="0">
                <a:solidFill>
                  <a:srgbClr val="000000"/>
                </a:solidFill>
                <a:latin typeface="IRANSans"/>
                <a:cs typeface="B Nazanin" panose="00000400000000000000" pitchFamily="2" charset="-78"/>
              </a:rPr>
              <a:t>اگر دنبال آن </a:t>
            </a:r>
            <a:r>
              <a:rPr lang="fa-IR" sz="2000" dirty="0">
                <a:solidFill>
                  <a:srgbClr val="C4161C"/>
                </a:solidFill>
                <a:latin typeface="IRANSans"/>
                <a:cs typeface="B Nazanin" panose="00000400000000000000" pitchFamily="2" charset="-78"/>
              </a:rPr>
              <a:t>چهار هدف اصلی</a:t>
            </a:r>
            <a:r>
              <a:rPr lang="fa-IR" sz="2000" dirty="0">
                <a:solidFill>
                  <a:srgbClr val="000000"/>
                </a:solidFill>
                <a:latin typeface="IRANSans"/>
                <a:cs typeface="B Nazanin" panose="00000400000000000000" pitchFamily="2" charset="-78"/>
              </a:rPr>
              <a:t> (انگیزه، رضایت، عملکرد، کاهش فاصله‌ی شغل و شاغل) هستید، باید</a:t>
            </a:r>
            <a:r>
              <a:rPr lang="en-US" sz="2000" dirty="0">
                <a:solidFill>
                  <a:srgbClr val="000000"/>
                </a:solidFill>
                <a:latin typeface="IRANSans"/>
                <a:cs typeface="B Nazanin" panose="00000400000000000000" pitchFamily="2" charset="-78"/>
              </a:rPr>
              <a:t>  </a:t>
            </a:r>
            <a:r>
              <a:rPr lang="fa-IR" sz="2000" dirty="0">
                <a:solidFill>
                  <a:srgbClr val="000000"/>
                </a:solidFill>
                <a:latin typeface="IRANSans"/>
                <a:cs typeface="B Nazanin" panose="00000400000000000000" pitchFamily="2" charset="-78"/>
              </a:rPr>
              <a:t>در طراحی شغل بکوشید  </a:t>
            </a:r>
            <a:r>
              <a:rPr lang="fa-IR" sz="2000" dirty="0" smtClean="0">
                <a:solidFill>
                  <a:srgbClr val="000000"/>
                </a:solidFill>
                <a:latin typeface="IRANSans"/>
                <a:cs typeface="B Nazanin" panose="00000400000000000000" pitchFamily="2" charset="-78"/>
              </a:rPr>
              <a:t>3 اصل </a:t>
            </a:r>
            <a:r>
              <a:rPr lang="fa-IR" sz="2000" dirty="0">
                <a:solidFill>
                  <a:srgbClr val="000000"/>
                </a:solidFill>
                <a:latin typeface="IRANSans"/>
                <a:cs typeface="B Nazanin" panose="00000400000000000000" pitchFamily="2" charset="-78"/>
              </a:rPr>
              <a:t>را در نظر بگیرید :  </a:t>
            </a:r>
            <a:r>
              <a:rPr lang="fa-IR" sz="2000" b="1" dirty="0" smtClean="0">
                <a:solidFill>
                  <a:srgbClr val="000000"/>
                </a:solidFill>
                <a:latin typeface="IRANSans"/>
                <a:cs typeface="B Nazanin" panose="00000400000000000000" pitchFamily="2" charset="-78"/>
              </a:rPr>
              <a:t>شغل</a:t>
            </a:r>
            <a:r>
              <a:rPr lang="fa-IR" sz="2000" b="1" dirty="0">
                <a:solidFill>
                  <a:srgbClr val="000000"/>
                </a:solidFill>
                <a:latin typeface="IRANSans"/>
                <a:cs typeface="B Nazanin" panose="00000400000000000000" pitchFamily="2" charset="-78"/>
              </a:rPr>
              <a:t> در ذهن فرد شاغل، تا حد امکان معنا و مفهوم داشته باشد.</a:t>
            </a:r>
            <a:r>
              <a:rPr lang="en-US" sz="2000" b="1" dirty="0">
                <a:solidFill>
                  <a:srgbClr val="000000"/>
                </a:solidFill>
                <a:latin typeface="IRANSans"/>
                <a:cs typeface="B Nazanin" panose="00000400000000000000" pitchFamily="2" charset="-78"/>
              </a:rPr>
              <a:t> </a:t>
            </a:r>
            <a:r>
              <a:rPr lang="fa-IR" sz="2000" b="1" dirty="0">
                <a:solidFill>
                  <a:srgbClr val="000000"/>
                </a:solidFill>
                <a:latin typeface="IRANSans"/>
                <a:cs typeface="B Nazanin" panose="00000400000000000000" pitchFamily="2" charset="-78"/>
              </a:rPr>
              <a:t>فرد از نتیجه‌ی فعالیت‌هایش مطلع شده و بتواند مسئولیت کارش را نیز بپذیرد</a:t>
            </a:r>
            <a:r>
              <a:rPr lang="fa-IR" sz="2000" dirty="0">
                <a:solidFill>
                  <a:srgbClr val="000000"/>
                </a:solidFill>
                <a:latin typeface="IRANSans"/>
                <a:cs typeface="B Nazanin" panose="00000400000000000000" pitchFamily="2" charset="-78"/>
              </a:rPr>
              <a:t>.</a:t>
            </a:r>
            <a:endParaRPr lang="en-US" sz="2000" dirty="0">
              <a:solidFill>
                <a:srgbClr val="000000"/>
              </a:solidFill>
              <a:latin typeface="IRANSans"/>
              <a:cs typeface="B Nazanin" panose="00000400000000000000" pitchFamily="2" charset="-78"/>
            </a:endParaRPr>
          </a:p>
        </p:txBody>
      </p:sp>
    </p:spTree>
    <p:extLst>
      <p:ext uri="{BB962C8B-B14F-4D97-AF65-F5344CB8AC3E}">
        <p14:creationId xmlns:p14="http://schemas.microsoft.com/office/powerpoint/2010/main" val="7779832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418009" y="459327"/>
            <a:ext cx="9875520" cy="709749"/>
          </a:xfrm>
        </p:spPr>
        <p:txBody>
          <a:bodyPr vert="horz" lIns="91440" tIns="45720" rIns="91440" bIns="45720" rtlCol="0" anchor="ctr">
            <a:normAutofit fontScale="90000"/>
          </a:bodyPr>
          <a:lstStyle/>
          <a:p>
            <a:pPr algn="r"/>
            <a:r>
              <a:rPr lang="fa-IR" sz="4800" dirty="0" smtClean="0">
                <a:cs typeface="B Nazanin" panose="00000400000000000000" pitchFamily="2" charset="-78"/>
              </a:rPr>
              <a:t>بررسی و تقسیم </a:t>
            </a:r>
            <a:r>
              <a:rPr lang="fa-IR" sz="4800" dirty="0">
                <a:cs typeface="B Nazanin" panose="00000400000000000000" pitchFamily="2" charset="-78"/>
              </a:rPr>
              <a:t>بندی مشاغل </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grpSp>
        <p:nvGrpSpPr>
          <p:cNvPr id="21" name="Group 20"/>
          <p:cNvGrpSpPr/>
          <p:nvPr/>
        </p:nvGrpSpPr>
        <p:grpSpPr>
          <a:xfrm>
            <a:off x="6200158" y="1818797"/>
            <a:ext cx="5433005" cy="4173281"/>
            <a:chOff x="3204495" y="1583666"/>
            <a:chExt cx="5433005" cy="4173281"/>
          </a:xfrm>
        </p:grpSpPr>
        <p:cxnSp>
          <p:nvCxnSpPr>
            <p:cNvPr id="5" name="Straight Arrow Connector 4"/>
            <p:cNvCxnSpPr/>
            <p:nvPr/>
          </p:nvCxnSpPr>
          <p:spPr>
            <a:xfrm>
              <a:off x="5851000" y="2102764"/>
              <a:ext cx="0" cy="3135085"/>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7" name="Straight Arrow Connector 6"/>
            <p:cNvCxnSpPr/>
            <p:nvPr/>
          </p:nvCxnSpPr>
          <p:spPr>
            <a:xfrm flipH="1">
              <a:off x="3657601" y="3670306"/>
              <a:ext cx="4519748" cy="1"/>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9" name="Rounded Rectangle 8"/>
            <p:cNvSpPr/>
            <p:nvPr/>
          </p:nvSpPr>
          <p:spPr>
            <a:xfrm>
              <a:off x="6169882" y="2102764"/>
              <a:ext cx="1593668" cy="1345474"/>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a-IR" sz="2800" b="1" dirty="0" smtClean="0">
                  <a:solidFill>
                    <a:schemeClr val="tx1"/>
                  </a:solidFill>
                  <a:cs typeface="B Nazanin" panose="00000400000000000000" pitchFamily="2" charset="-78"/>
                </a:rPr>
                <a:t>روانکاو</a:t>
              </a:r>
              <a:r>
                <a:rPr lang="fa-IR" sz="2800" b="1" dirty="0" smtClean="0">
                  <a:cs typeface="B Nazanin" panose="00000400000000000000" pitchFamily="2" charset="-78"/>
                </a:rPr>
                <a:t> </a:t>
              </a:r>
              <a:endParaRPr lang="en-US" sz="2800" b="1" dirty="0">
                <a:cs typeface="B Nazanin" panose="00000400000000000000" pitchFamily="2" charset="-78"/>
              </a:endParaRPr>
            </a:p>
          </p:txBody>
        </p:sp>
        <p:sp>
          <p:nvSpPr>
            <p:cNvPr id="10" name="Rounded Rectangle 9"/>
            <p:cNvSpPr/>
            <p:nvPr/>
          </p:nvSpPr>
          <p:spPr>
            <a:xfrm>
              <a:off x="3995496" y="2102764"/>
              <a:ext cx="1593668" cy="1345474"/>
            </a:xfrm>
            <a:prstGeom prst="roundRect">
              <a:avLst/>
            </a:prstGeom>
            <a:solidFill>
              <a:srgbClr val="FFC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a-IR" sz="2800" b="1" dirty="0" smtClean="0">
                  <a:solidFill>
                    <a:schemeClr val="tx1"/>
                  </a:solidFill>
                  <a:cs typeface="B Nazanin" panose="00000400000000000000" pitchFamily="2" charset="-78"/>
                </a:rPr>
                <a:t>پرستار</a:t>
              </a:r>
              <a:r>
                <a:rPr lang="fa-IR" sz="2800" b="1" dirty="0" smtClean="0">
                  <a:cs typeface="B Nazanin" panose="00000400000000000000" pitchFamily="2" charset="-78"/>
                </a:rPr>
                <a:t> </a:t>
              </a:r>
              <a:endParaRPr lang="en-US" sz="2800" b="1" dirty="0">
                <a:cs typeface="B Nazanin" panose="00000400000000000000" pitchFamily="2" charset="-78"/>
              </a:endParaRPr>
            </a:p>
          </p:txBody>
        </p:sp>
        <p:sp>
          <p:nvSpPr>
            <p:cNvPr id="11" name="Rounded Rectangle 10"/>
            <p:cNvSpPr/>
            <p:nvPr/>
          </p:nvSpPr>
          <p:spPr>
            <a:xfrm>
              <a:off x="3997236" y="3892377"/>
              <a:ext cx="1593668" cy="1345474"/>
            </a:xfrm>
            <a:prstGeom prst="roundRect">
              <a:avLst/>
            </a:prstGeom>
            <a:solidFill>
              <a:srgbClr val="4B4E2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a-IR" sz="2800" b="1" dirty="0" smtClean="0">
                  <a:cs typeface="B Nazanin" panose="00000400000000000000" pitchFamily="2" charset="-78"/>
                </a:rPr>
                <a:t>متصدی داروخانه </a:t>
              </a:r>
              <a:endParaRPr lang="en-US" sz="2800" b="1" dirty="0">
                <a:cs typeface="B Nazanin" panose="00000400000000000000" pitchFamily="2" charset="-78"/>
              </a:endParaRPr>
            </a:p>
          </p:txBody>
        </p:sp>
        <p:sp>
          <p:nvSpPr>
            <p:cNvPr id="12" name="Rounded Rectangle 11"/>
            <p:cNvSpPr/>
            <p:nvPr/>
          </p:nvSpPr>
          <p:spPr>
            <a:xfrm>
              <a:off x="6169882" y="3892377"/>
              <a:ext cx="1593668" cy="1345474"/>
            </a:xfrm>
            <a:prstGeom prst="round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800" b="1" dirty="0" smtClean="0">
                  <a:cs typeface="B Nazanin" panose="00000400000000000000" pitchFamily="2" charset="-78"/>
                </a:rPr>
                <a:t>جراح مغز </a:t>
              </a:r>
              <a:endParaRPr lang="en-US" sz="2800" b="1" dirty="0">
                <a:cs typeface="B Nazanin" panose="00000400000000000000" pitchFamily="2" charset="-78"/>
              </a:endParaRPr>
            </a:p>
          </p:txBody>
        </p:sp>
        <p:sp>
          <p:nvSpPr>
            <p:cNvPr id="17" name="Rectangle 16"/>
            <p:cNvSpPr/>
            <p:nvPr/>
          </p:nvSpPr>
          <p:spPr>
            <a:xfrm>
              <a:off x="4758343" y="1583666"/>
              <a:ext cx="2318263" cy="400110"/>
            </a:xfrm>
            <a:prstGeom prst="rect">
              <a:avLst/>
            </a:prstGeom>
          </p:spPr>
          <p:txBody>
            <a:bodyPr wrap="none">
              <a:spAutoFit/>
            </a:bodyPr>
            <a:lstStyle/>
            <a:p>
              <a:r>
                <a:rPr lang="fa-IR" sz="2000" b="1" dirty="0" smtClean="0">
                  <a:solidFill>
                    <a:srgbClr val="000000"/>
                  </a:solidFill>
                  <a:latin typeface="IRANSans"/>
                  <a:cs typeface="B Nazanin" panose="00000400000000000000" pitchFamily="2" charset="-78"/>
                </a:rPr>
                <a:t>عمق ارتباط زیاد با مردم </a:t>
              </a:r>
              <a:endParaRPr lang="en-US" sz="2000" b="1" dirty="0"/>
            </a:p>
          </p:txBody>
        </p:sp>
        <p:sp>
          <p:nvSpPr>
            <p:cNvPr id="18" name="Rectangle 17"/>
            <p:cNvSpPr/>
            <p:nvPr/>
          </p:nvSpPr>
          <p:spPr>
            <a:xfrm>
              <a:off x="4734515" y="5356837"/>
              <a:ext cx="2212465" cy="400110"/>
            </a:xfrm>
            <a:prstGeom prst="rect">
              <a:avLst/>
            </a:prstGeom>
          </p:spPr>
          <p:txBody>
            <a:bodyPr wrap="none">
              <a:spAutoFit/>
            </a:bodyPr>
            <a:lstStyle/>
            <a:p>
              <a:r>
                <a:rPr lang="fa-IR" sz="2000" b="1" dirty="0" smtClean="0">
                  <a:solidFill>
                    <a:srgbClr val="000000"/>
                  </a:solidFill>
                  <a:latin typeface="IRANSans"/>
                  <a:cs typeface="B Nazanin" panose="00000400000000000000" pitchFamily="2" charset="-78"/>
                </a:rPr>
                <a:t>عمق ارتباط کم با مردم </a:t>
              </a:r>
              <a:endParaRPr lang="en-US" sz="2000" b="1" dirty="0"/>
            </a:p>
          </p:txBody>
        </p:sp>
        <p:sp>
          <p:nvSpPr>
            <p:cNvPr id="19" name="Rectangle 18"/>
            <p:cNvSpPr/>
            <p:nvPr/>
          </p:nvSpPr>
          <p:spPr>
            <a:xfrm rot="5400000">
              <a:off x="7244650" y="3574221"/>
              <a:ext cx="2385589" cy="400110"/>
            </a:xfrm>
            <a:prstGeom prst="rect">
              <a:avLst/>
            </a:prstGeom>
          </p:spPr>
          <p:txBody>
            <a:bodyPr wrap="none">
              <a:spAutoFit/>
            </a:bodyPr>
            <a:lstStyle/>
            <a:p>
              <a:r>
                <a:rPr lang="fa-IR" sz="2000" b="1" dirty="0" smtClean="0">
                  <a:solidFill>
                    <a:srgbClr val="000000"/>
                  </a:solidFill>
                  <a:latin typeface="IRANSans"/>
                  <a:cs typeface="B Nazanin" panose="00000400000000000000" pitchFamily="2" charset="-78"/>
                </a:rPr>
                <a:t>فرآیند کاری غیر تکراری </a:t>
              </a:r>
              <a:endParaRPr lang="en-US" sz="2000" b="1" dirty="0"/>
            </a:p>
          </p:txBody>
        </p:sp>
        <p:sp>
          <p:nvSpPr>
            <p:cNvPr id="20" name="Rectangle 19"/>
            <p:cNvSpPr/>
            <p:nvPr/>
          </p:nvSpPr>
          <p:spPr>
            <a:xfrm rot="16200000">
              <a:off x="2399306" y="3470251"/>
              <a:ext cx="2010487" cy="400110"/>
            </a:xfrm>
            <a:prstGeom prst="rect">
              <a:avLst/>
            </a:prstGeom>
          </p:spPr>
          <p:txBody>
            <a:bodyPr wrap="none">
              <a:spAutoFit/>
            </a:bodyPr>
            <a:lstStyle/>
            <a:p>
              <a:r>
                <a:rPr lang="fa-IR" sz="2000" b="1" dirty="0" smtClean="0">
                  <a:solidFill>
                    <a:srgbClr val="000000"/>
                  </a:solidFill>
                  <a:latin typeface="IRANSans"/>
                  <a:cs typeface="B Nazanin" panose="00000400000000000000" pitchFamily="2" charset="-78"/>
                </a:rPr>
                <a:t>فرآیند کاری تکراری </a:t>
              </a:r>
              <a:endParaRPr lang="en-US" sz="2000" b="1" dirty="0"/>
            </a:p>
          </p:txBody>
        </p:sp>
      </p:grpSp>
      <p:sp>
        <p:nvSpPr>
          <p:cNvPr id="22" name="Rectangle 21"/>
          <p:cNvSpPr/>
          <p:nvPr/>
        </p:nvSpPr>
        <p:spPr>
          <a:xfrm>
            <a:off x="461702" y="1462918"/>
            <a:ext cx="5345823" cy="2585323"/>
          </a:xfrm>
          <a:prstGeom prst="rect">
            <a:avLst/>
          </a:prstGeom>
        </p:spPr>
        <p:txBody>
          <a:bodyPr wrap="square">
            <a:spAutoFit/>
          </a:bodyPr>
          <a:lstStyle/>
          <a:p>
            <a:pPr algn="justLow" rtl="1">
              <a:lnSpc>
                <a:spcPct val="150000"/>
              </a:lnSpc>
            </a:pPr>
            <a:r>
              <a:rPr lang="fa-IR" b="1" dirty="0">
                <a:solidFill>
                  <a:srgbClr val="000000"/>
                </a:solidFill>
                <a:latin typeface="IRANSans"/>
                <a:cs typeface="B Nazanin" panose="00000400000000000000" pitchFamily="2" charset="-78"/>
              </a:rPr>
              <a:t>چرا این تقسیم بندی مهم است؟ </a:t>
            </a:r>
            <a:endParaRPr lang="en-US" b="1" dirty="0" smtClean="0">
              <a:solidFill>
                <a:srgbClr val="000000"/>
              </a:solidFill>
              <a:latin typeface="IRANSans"/>
              <a:cs typeface="B Nazanin" panose="00000400000000000000" pitchFamily="2" charset="-78"/>
            </a:endParaRPr>
          </a:p>
          <a:p>
            <a:pPr algn="justLow" rtl="1">
              <a:lnSpc>
                <a:spcPct val="150000"/>
              </a:lnSpc>
            </a:pPr>
            <a:r>
              <a:rPr lang="fa-IR" dirty="0" smtClean="0">
                <a:solidFill>
                  <a:srgbClr val="000000"/>
                </a:solidFill>
                <a:latin typeface="IRANSans"/>
                <a:cs typeface="B Nazanin" panose="00000400000000000000" pitchFamily="2" charset="-78"/>
              </a:rPr>
              <a:t>چون </a:t>
            </a:r>
            <a:r>
              <a:rPr lang="fa-IR" dirty="0">
                <a:solidFill>
                  <a:srgbClr val="000000"/>
                </a:solidFill>
                <a:latin typeface="IRANSans"/>
                <a:cs typeface="B Nazanin" panose="00000400000000000000" pitchFamily="2" charset="-78"/>
              </a:rPr>
              <a:t>انجام یک </a:t>
            </a:r>
            <a:r>
              <a:rPr lang="fa-IR" b="1" dirty="0">
                <a:solidFill>
                  <a:srgbClr val="0070C0"/>
                </a:solidFill>
                <a:latin typeface="IRANSans"/>
                <a:cs typeface="B Nazanin" panose="00000400000000000000" pitchFamily="2" charset="-78"/>
              </a:rPr>
              <a:t>فرایند ثابت تکراری </a:t>
            </a:r>
            <a:r>
              <a:rPr lang="fa-IR" dirty="0">
                <a:solidFill>
                  <a:srgbClr val="000000"/>
                </a:solidFill>
                <a:latin typeface="IRANSans"/>
                <a:cs typeface="B Nazanin" panose="00000400000000000000" pitchFamily="2" charset="-78"/>
              </a:rPr>
              <a:t>و بهبود تدریجی جزییات آن، یک مهارت است. مهارتی که فرد دیگری که توانمندی انجام </a:t>
            </a:r>
            <a:r>
              <a:rPr lang="fa-IR" b="1" dirty="0">
                <a:solidFill>
                  <a:srgbClr val="C00000"/>
                </a:solidFill>
                <a:latin typeface="IRANSans"/>
                <a:cs typeface="B Nazanin" panose="00000400000000000000" pitchFamily="2" charset="-78"/>
              </a:rPr>
              <a:t>فرایندهای متفاوت </a:t>
            </a:r>
            <a:r>
              <a:rPr lang="fa-IR" b="1" dirty="0">
                <a:latin typeface="IRANSans"/>
                <a:cs typeface="B Nazanin" panose="00000400000000000000" pitchFamily="2" charset="-78"/>
              </a:rPr>
              <a:t>–</a:t>
            </a:r>
            <a:r>
              <a:rPr lang="fa-IR" b="1" dirty="0">
                <a:solidFill>
                  <a:srgbClr val="C00000"/>
                </a:solidFill>
                <a:latin typeface="IRANSans"/>
                <a:cs typeface="B Nazanin" panose="00000400000000000000" pitchFamily="2" charset="-78"/>
              </a:rPr>
              <a:t> و اکتشافی </a:t>
            </a:r>
            <a:r>
              <a:rPr lang="fa-IR" b="1" dirty="0">
                <a:latin typeface="IRANSans"/>
                <a:cs typeface="B Nazanin" panose="00000400000000000000" pitchFamily="2" charset="-78"/>
              </a:rPr>
              <a:t>–</a:t>
            </a:r>
            <a:r>
              <a:rPr lang="fa-IR" b="1" dirty="0">
                <a:solidFill>
                  <a:srgbClr val="C00000"/>
                </a:solidFill>
                <a:latin typeface="IRANSans"/>
                <a:cs typeface="B Nazanin" panose="00000400000000000000" pitchFamily="2" charset="-78"/>
              </a:rPr>
              <a:t> </a:t>
            </a:r>
            <a:r>
              <a:rPr lang="fa-IR" dirty="0">
                <a:solidFill>
                  <a:srgbClr val="000000"/>
                </a:solidFill>
                <a:latin typeface="IRANSans"/>
                <a:cs typeface="B Nazanin" panose="00000400000000000000" pitchFamily="2" charset="-78"/>
              </a:rPr>
              <a:t>را دارد، ممکن است در آن ضعیف باشد. همچنانکه توانایی انجام مهارتهای غیرتکراری و اکتشافی هم یک مهارت متفاوت و مستقل است.</a:t>
            </a:r>
            <a:endParaRPr lang="en-US" dirty="0">
              <a:cs typeface="B Nazanin" panose="00000400000000000000" pitchFamily="2" charset="-78"/>
            </a:endParaRPr>
          </a:p>
        </p:txBody>
      </p:sp>
      <p:sp>
        <p:nvSpPr>
          <p:cNvPr id="23" name="Rectangle 22"/>
          <p:cNvSpPr/>
          <p:nvPr/>
        </p:nvSpPr>
        <p:spPr>
          <a:xfrm>
            <a:off x="557264" y="4048241"/>
            <a:ext cx="5324012" cy="2169825"/>
          </a:xfrm>
          <a:prstGeom prst="rect">
            <a:avLst/>
          </a:prstGeom>
        </p:spPr>
        <p:txBody>
          <a:bodyPr wrap="square">
            <a:spAutoFit/>
          </a:bodyPr>
          <a:lstStyle/>
          <a:p>
            <a:pPr algn="justLow" rtl="1">
              <a:lnSpc>
                <a:spcPct val="150000"/>
              </a:lnSpc>
            </a:pPr>
            <a:r>
              <a:rPr lang="fa-IR" dirty="0">
                <a:solidFill>
                  <a:srgbClr val="000000"/>
                </a:solidFill>
                <a:latin typeface="IRANSans"/>
                <a:cs typeface="B Nazanin" panose="00000400000000000000" pitchFamily="2" charset="-78"/>
              </a:rPr>
              <a:t>بر خلاف تصور عامه، کسی که در واحد </a:t>
            </a:r>
            <a:r>
              <a:rPr lang="fa-IR" b="1" dirty="0">
                <a:solidFill>
                  <a:srgbClr val="000000"/>
                </a:solidFill>
                <a:latin typeface="IRANSans"/>
                <a:cs typeface="B Nazanin" panose="00000400000000000000" pitchFamily="2" charset="-78"/>
              </a:rPr>
              <a:t>مدیریت منابع انسانی</a:t>
            </a:r>
            <a:r>
              <a:rPr lang="fa-IR" dirty="0">
                <a:solidFill>
                  <a:srgbClr val="000000"/>
                </a:solidFill>
                <a:latin typeface="IRANSans"/>
                <a:cs typeface="B Nazanin" panose="00000400000000000000" pitchFamily="2" charset="-78"/>
              </a:rPr>
              <a:t>، شغل‌ها را تجزیه و تحلیل می‌کند، خود به گروه </a:t>
            </a:r>
            <a:r>
              <a:rPr lang="fa-IR" b="1" dirty="0">
                <a:solidFill>
                  <a:schemeClr val="accent3">
                    <a:lumMod val="50000"/>
                  </a:schemeClr>
                </a:solidFill>
                <a:latin typeface="IRANSans"/>
                <a:cs typeface="B Nazanin" panose="00000400000000000000" pitchFamily="2" charset="-78"/>
              </a:rPr>
              <a:t>روانکاو</a:t>
            </a:r>
            <a:r>
              <a:rPr lang="fa-IR" dirty="0">
                <a:solidFill>
                  <a:schemeClr val="accent3">
                    <a:lumMod val="50000"/>
                  </a:schemeClr>
                </a:solidFill>
                <a:latin typeface="IRANSans"/>
                <a:cs typeface="B Nazanin" panose="00000400000000000000" pitchFamily="2" charset="-78"/>
              </a:rPr>
              <a:t> و </a:t>
            </a:r>
            <a:r>
              <a:rPr lang="fa-IR" b="1" dirty="0">
                <a:solidFill>
                  <a:schemeClr val="accent3">
                    <a:lumMod val="50000"/>
                  </a:schemeClr>
                </a:solidFill>
                <a:latin typeface="IRANSans"/>
                <a:cs typeface="B Nazanin" panose="00000400000000000000" pitchFamily="2" charset="-78"/>
              </a:rPr>
              <a:t>جراح</a:t>
            </a:r>
            <a:r>
              <a:rPr lang="fa-IR" dirty="0">
                <a:solidFill>
                  <a:schemeClr val="accent3">
                    <a:lumMod val="50000"/>
                  </a:schemeClr>
                </a:solidFill>
                <a:latin typeface="IRANSans"/>
                <a:cs typeface="B Nazanin" panose="00000400000000000000" pitchFamily="2" charset="-78"/>
              </a:rPr>
              <a:t> </a:t>
            </a:r>
            <a:r>
              <a:rPr lang="fa-IR" dirty="0">
                <a:solidFill>
                  <a:srgbClr val="000000"/>
                </a:solidFill>
                <a:latin typeface="IRANSans"/>
                <a:cs typeface="B Nazanin" panose="00000400000000000000" pitchFamily="2" charset="-78"/>
              </a:rPr>
              <a:t>نزدیک‌تر است. در حالی که عموماً این کار را به عنوان یکی از ابتدایی ترین فعالیت‌ها و به عنوان کاری کم ارزش، به جوان ترین و کم تجربه‌ترین کارشناسان واحد مدیریت منابع انسانی سپرده می‌شود</a:t>
            </a:r>
            <a:endParaRPr lang="en-US" dirty="0">
              <a:solidFill>
                <a:srgbClr val="000000"/>
              </a:solidFill>
              <a:latin typeface="IRANSans"/>
              <a:cs typeface="B Nazanin" panose="00000400000000000000" pitchFamily="2" charset="-78"/>
            </a:endParaRPr>
          </a:p>
        </p:txBody>
      </p:sp>
    </p:spTree>
    <p:extLst>
      <p:ext uri="{BB962C8B-B14F-4D97-AF65-F5344CB8AC3E}">
        <p14:creationId xmlns:p14="http://schemas.microsoft.com/office/powerpoint/2010/main" val="2802366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فعالیت – وظیفه – مسئولیت </a:t>
            </a:r>
            <a:endParaRPr lang="en-US" sz="4800" dirty="0">
              <a:cs typeface="B Nazanin" panose="00000400000000000000" pitchFamily="2" charset="-78"/>
            </a:endParaRPr>
          </a:p>
        </p:txBody>
      </p:sp>
      <p:sp>
        <p:nvSpPr>
          <p:cNvPr id="3" name="Rectangle 2"/>
          <p:cNvSpPr/>
          <p:nvPr/>
        </p:nvSpPr>
        <p:spPr>
          <a:xfrm>
            <a:off x="610763" y="2579034"/>
            <a:ext cx="6139543" cy="3416320"/>
          </a:xfrm>
          <a:prstGeom prst="rect">
            <a:avLst/>
          </a:prstGeom>
        </p:spPr>
        <p:txBody>
          <a:bodyPr wrap="square">
            <a:spAutoFit/>
          </a:bodyPr>
          <a:lstStyle/>
          <a:p>
            <a:pPr algn="justLow" rtl="1">
              <a:lnSpc>
                <a:spcPct val="150000"/>
              </a:lnSpc>
            </a:pPr>
            <a:r>
              <a:rPr lang="fa-IR" dirty="0">
                <a:solidFill>
                  <a:srgbClr val="000000"/>
                </a:solidFill>
                <a:latin typeface="IRANSans"/>
                <a:cs typeface="B Nazanin" panose="00000400000000000000" pitchFamily="2" charset="-78"/>
              </a:rPr>
              <a:t>تفکیک </a:t>
            </a:r>
            <a:r>
              <a:rPr lang="fa-IR" b="1" dirty="0">
                <a:solidFill>
                  <a:srgbClr val="0070C0"/>
                </a:solidFill>
                <a:latin typeface="IRANSans"/>
                <a:cs typeface="B Nazanin" panose="00000400000000000000" pitchFamily="2" charset="-78"/>
              </a:rPr>
              <a:t>فعالیت</a:t>
            </a:r>
            <a:r>
              <a:rPr lang="fa-IR" dirty="0">
                <a:solidFill>
                  <a:srgbClr val="000000"/>
                </a:solidFill>
                <a:latin typeface="IRANSans"/>
                <a:cs typeface="B Nazanin" panose="00000400000000000000" pitchFamily="2" charset="-78"/>
              </a:rPr>
              <a:t> و </a:t>
            </a:r>
            <a:r>
              <a:rPr lang="fa-IR" b="1" dirty="0">
                <a:solidFill>
                  <a:srgbClr val="00B050"/>
                </a:solidFill>
                <a:latin typeface="IRANSans"/>
                <a:cs typeface="B Nazanin" panose="00000400000000000000" pitchFamily="2" charset="-78"/>
              </a:rPr>
              <a:t>وظیفه</a:t>
            </a:r>
            <a:r>
              <a:rPr lang="fa-IR" dirty="0">
                <a:solidFill>
                  <a:srgbClr val="000000"/>
                </a:solidFill>
                <a:latin typeface="IRANSans"/>
                <a:cs typeface="B Nazanin" panose="00000400000000000000" pitchFamily="2" charset="-78"/>
              </a:rPr>
              <a:t> و </a:t>
            </a:r>
            <a:r>
              <a:rPr lang="fa-IR" b="1" dirty="0">
                <a:solidFill>
                  <a:srgbClr val="FF0000"/>
                </a:solidFill>
                <a:latin typeface="IRANSans"/>
                <a:cs typeface="B Nazanin" panose="00000400000000000000" pitchFamily="2" charset="-78"/>
              </a:rPr>
              <a:t>مسئولیت</a:t>
            </a:r>
            <a:r>
              <a:rPr lang="fa-IR" dirty="0">
                <a:solidFill>
                  <a:srgbClr val="000000"/>
                </a:solidFill>
                <a:latin typeface="IRANSans"/>
                <a:cs typeface="B Nazanin" panose="00000400000000000000" pitchFamily="2" charset="-78"/>
              </a:rPr>
              <a:t> صرفاً به تجزیه و تحلیل شغل و تدوین شرح ویژگیهای شغل و شاغل و مصاحبه‌های شغلی و موارد مشابه مربوط </a:t>
            </a:r>
            <a:r>
              <a:rPr lang="fa-IR" dirty="0" smtClean="0">
                <a:solidFill>
                  <a:srgbClr val="000000"/>
                </a:solidFill>
                <a:latin typeface="IRANSans"/>
                <a:cs typeface="B Nazanin" panose="00000400000000000000" pitchFamily="2" charset="-78"/>
              </a:rPr>
              <a:t>نیست . </a:t>
            </a:r>
            <a:r>
              <a:rPr lang="fa-IR" dirty="0">
                <a:solidFill>
                  <a:srgbClr val="000000"/>
                </a:solidFill>
                <a:latin typeface="IRANSans"/>
                <a:cs typeface="B Nazanin" panose="00000400000000000000" pitchFamily="2" charset="-78"/>
              </a:rPr>
              <a:t>بلکه عدم توجه به این تفاوت‌ها می‌تواند چالش‌ها و مشکلات متعددی را برای یک سازمان ایجاد نماید. به عنوان مثال: مدیری که </a:t>
            </a:r>
            <a:r>
              <a:rPr lang="fa-IR" b="1" dirty="0">
                <a:solidFill>
                  <a:srgbClr val="C00000"/>
                </a:solidFill>
                <a:latin typeface="IRANSans"/>
                <a:cs typeface="B Nazanin" panose="00000400000000000000" pitchFamily="2" charset="-78"/>
              </a:rPr>
              <a:t>مسئولیت</a:t>
            </a:r>
            <a:r>
              <a:rPr lang="fa-IR" dirty="0">
                <a:solidFill>
                  <a:srgbClr val="000000"/>
                </a:solidFill>
                <a:latin typeface="IRANSans"/>
                <a:cs typeface="B Nazanin" panose="00000400000000000000" pitchFamily="2" charset="-78"/>
              </a:rPr>
              <a:t> مورد انتظار از همکارانش را در ذهن دارد </a:t>
            </a:r>
            <a:r>
              <a:rPr lang="fa-IR" b="1" dirty="0">
                <a:solidFill>
                  <a:srgbClr val="C00000"/>
                </a:solidFill>
                <a:latin typeface="IRANSans"/>
                <a:cs typeface="B Nazanin" panose="00000400000000000000" pitchFamily="2" charset="-78"/>
              </a:rPr>
              <a:t>اما به آنها نمی‌گوید </a:t>
            </a:r>
            <a:r>
              <a:rPr lang="fa-IR" dirty="0">
                <a:solidFill>
                  <a:srgbClr val="000000"/>
                </a:solidFill>
                <a:latin typeface="IRANSans"/>
                <a:cs typeface="B Nazanin" panose="00000400000000000000" pitchFamily="2" charset="-78"/>
              </a:rPr>
              <a:t>و </a:t>
            </a:r>
            <a:r>
              <a:rPr lang="fa-IR" b="1" dirty="0">
                <a:solidFill>
                  <a:schemeClr val="bg2">
                    <a:lumMod val="25000"/>
                  </a:schemeClr>
                </a:solidFill>
                <a:latin typeface="IRANSans"/>
                <a:cs typeface="B Nazanin" panose="00000400000000000000" pitchFamily="2" charset="-78"/>
              </a:rPr>
              <a:t>صرفاً در مورد فعالیت‌ها و وظیفه‌های </a:t>
            </a:r>
            <a:r>
              <a:rPr lang="fa-IR" dirty="0">
                <a:solidFill>
                  <a:srgbClr val="000000"/>
                </a:solidFill>
                <a:latin typeface="IRANSans"/>
                <a:cs typeface="B Nazanin" panose="00000400000000000000" pitchFamily="2" charset="-78"/>
              </a:rPr>
              <a:t>آنها صحبت می‌کند، ممکن است پس از مدتی متوجه شود که همکاران،‌ ضمن اینکه با تعهد و علاقه کامل، مشغول کار هستند، اما عملاً کاری از پیش نمی‌رود و یا حتی در خلاف جهت منافع سازمان فعالیت می‌کنند.</a:t>
            </a:r>
            <a:endParaRPr lang="en-US" dirty="0">
              <a:cs typeface="B Nazanin" panose="00000400000000000000" pitchFamily="2" charset="-78"/>
            </a:endParaRPr>
          </a:p>
        </p:txBody>
      </p:sp>
      <p:sp>
        <p:nvSpPr>
          <p:cNvPr id="4" name="Rectangle 3"/>
          <p:cNvSpPr/>
          <p:nvPr/>
        </p:nvSpPr>
        <p:spPr>
          <a:xfrm>
            <a:off x="5878589" y="2020786"/>
            <a:ext cx="5110842" cy="473206"/>
          </a:xfrm>
          <a:prstGeom prst="rect">
            <a:avLst/>
          </a:prstGeom>
        </p:spPr>
        <p:txBody>
          <a:bodyPr wrap="square">
            <a:spAutoFit/>
          </a:bodyPr>
          <a:lstStyle/>
          <a:p>
            <a:pPr algn="r" rtl="1">
              <a:lnSpc>
                <a:spcPct val="150000"/>
              </a:lnSpc>
            </a:pPr>
            <a:r>
              <a:rPr lang="fa-IR" b="1" dirty="0">
                <a:solidFill>
                  <a:srgbClr val="0070C0"/>
                </a:solidFill>
                <a:latin typeface="IRANSans"/>
                <a:cs typeface="B Nazanin" panose="00000400000000000000" pitchFamily="2" charset="-78"/>
              </a:rPr>
              <a:t>خردترین و کوچکترین المان </a:t>
            </a:r>
            <a:r>
              <a:rPr lang="fa-IR" b="1" dirty="0" smtClean="0">
                <a:solidFill>
                  <a:srgbClr val="0070C0"/>
                </a:solidFill>
                <a:latin typeface="IRANSans"/>
                <a:cs typeface="B Nazanin" panose="00000400000000000000" pitchFamily="2" charset="-78"/>
              </a:rPr>
              <a:t>معنی‌دار</a:t>
            </a:r>
            <a:r>
              <a:rPr lang="en-US" b="1" dirty="0" smtClean="0">
                <a:solidFill>
                  <a:srgbClr val="0070C0"/>
                </a:solidFill>
                <a:latin typeface="IRANSans"/>
                <a:cs typeface="B Nazanin" panose="00000400000000000000" pitchFamily="2" charset="-78"/>
              </a:rPr>
              <a:t> </a:t>
            </a:r>
            <a:r>
              <a:rPr lang="fa-IR" b="1" dirty="0" smtClean="0">
                <a:solidFill>
                  <a:srgbClr val="0070C0"/>
                </a:solidFill>
                <a:latin typeface="IRANSans"/>
                <a:cs typeface="B Nazanin" panose="00000400000000000000" pitchFamily="2" charset="-78"/>
              </a:rPr>
              <a:t> ( </a:t>
            </a:r>
            <a:r>
              <a:rPr lang="en-US" b="1" dirty="0" smtClean="0">
                <a:solidFill>
                  <a:srgbClr val="0070C0"/>
                </a:solidFill>
                <a:latin typeface="IRANSans"/>
                <a:cs typeface="B Nazanin" panose="00000400000000000000" pitchFamily="2" charset="-78"/>
              </a:rPr>
              <a:t>Task</a:t>
            </a:r>
            <a:r>
              <a:rPr lang="fa-IR" b="1" dirty="0" smtClean="0">
                <a:solidFill>
                  <a:srgbClr val="0070C0"/>
                </a:solidFill>
                <a:latin typeface="IRANSans"/>
                <a:cs typeface="B Nazanin" panose="00000400000000000000" pitchFamily="2" charset="-78"/>
              </a:rPr>
              <a:t> )</a:t>
            </a:r>
            <a:endParaRPr lang="en-US" b="1" dirty="0">
              <a:solidFill>
                <a:srgbClr val="0070C0"/>
              </a:solidFill>
              <a:latin typeface="IRANSans"/>
              <a:cs typeface="B Nazanin" panose="00000400000000000000" pitchFamily="2" charset="-78"/>
            </a:endParaRPr>
          </a:p>
        </p:txBody>
      </p:sp>
      <p:sp>
        <p:nvSpPr>
          <p:cNvPr id="5" name="Rectangle 4"/>
          <p:cNvSpPr/>
          <p:nvPr/>
        </p:nvSpPr>
        <p:spPr>
          <a:xfrm>
            <a:off x="5638799" y="1270395"/>
            <a:ext cx="3193979" cy="507831"/>
          </a:xfrm>
          <a:prstGeom prst="rect">
            <a:avLst/>
          </a:prstGeom>
        </p:spPr>
        <p:txBody>
          <a:bodyPr wrap="square">
            <a:spAutoFit/>
          </a:bodyPr>
          <a:lstStyle/>
          <a:p>
            <a:pPr algn="r" rtl="1">
              <a:lnSpc>
                <a:spcPct val="150000"/>
              </a:lnSpc>
            </a:pPr>
            <a:r>
              <a:rPr lang="fa-IR" b="1" dirty="0">
                <a:solidFill>
                  <a:srgbClr val="00B050"/>
                </a:solidFill>
                <a:latin typeface="IRANSans"/>
                <a:cs typeface="B Nazanin" panose="00000400000000000000" pitchFamily="2" charset="-78"/>
              </a:rPr>
              <a:t>کمی بزرگتر از فعالیت است</a:t>
            </a:r>
            <a:r>
              <a:rPr lang="en-US" b="1" dirty="0">
                <a:solidFill>
                  <a:srgbClr val="00B050"/>
                </a:solidFill>
                <a:latin typeface="IRANSans"/>
                <a:cs typeface="B Nazanin" panose="00000400000000000000" pitchFamily="2" charset="-78"/>
              </a:rPr>
              <a:t>  </a:t>
            </a:r>
            <a:r>
              <a:rPr lang="fa-IR" b="1" dirty="0">
                <a:solidFill>
                  <a:srgbClr val="00B050"/>
                </a:solidFill>
                <a:latin typeface="IRANSans"/>
                <a:cs typeface="B Nazanin" panose="00000400000000000000" pitchFamily="2" charset="-78"/>
              </a:rPr>
              <a:t>(</a:t>
            </a:r>
            <a:r>
              <a:rPr lang="en-US" b="1" dirty="0">
                <a:solidFill>
                  <a:srgbClr val="00B050"/>
                </a:solidFill>
                <a:latin typeface="IRANSans"/>
                <a:cs typeface="B Nazanin" panose="00000400000000000000" pitchFamily="2" charset="-78"/>
              </a:rPr>
              <a:t>Duty</a:t>
            </a:r>
            <a:r>
              <a:rPr lang="fa-IR" b="1" dirty="0">
                <a:solidFill>
                  <a:srgbClr val="00B050"/>
                </a:solidFill>
                <a:latin typeface="IRANSans"/>
                <a:cs typeface="B Nazanin" panose="00000400000000000000" pitchFamily="2" charset="-78"/>
              </a:rPr>
              <a:t>)</a:t>
            </a:r>
            <a:r>
              <a:rPr lang="en-US" b="1" dirty="0">
                <a:solidFill>
                  <a:srgbClr val="00B050"/>
                </a:solidFill>
                <a:latin typeface="IRANSans"/>
                <a:cs typeface="B Nazanin" panose="00000400000000000000" pitchFamily="2" charset="-78"/>
              </a:rPr>
              <a:t> </a:t>
            </a:r>
          </a:p>
        </p:txBody>
      </p:sp>
      <p:sp>
        <p:nvSpPr>
          <p:cNvPr id="6" name="Rectangle 5"/>
          <p:cNvSpPr/>
          <p:nvPr/>
        </p:nvSpPr>
        <p:spPr>
          <a:xfrm>
            <a:off x="1078580" y="1472537"/>
            <a:ext cx="4110447" cy="473206"/>
          </a:xfrm>
          <a:prstGeom prst="rect">
            <a:avLst/>
          </a:prstGeom>
        </p:spPr>
        <p:txBody>
          <a:bodyPr wrap="square">
            <a:spAutoFit/>
          </a:bodyPr>
          <a:lstStyle/>
          <a:p>
            <a:pPr algn="r" rtl="1">
              <a:lnSpc>
                <a:spcPct val="150000"/>
              </a:lnSpc>
            </a:pPr>
            <a:r>
              <a:rPr lang="fa-IR" b="1" dirty="0">
                <a:solidFill>
                  <a:srgbClr val="FF0000"/>
                </a:solidFill>
                <a:latin typeface="IRANSans"/>
                <a:cs typeface="B Nazanin" panose="00000400000000000000" pitchFamily="2" charset="-78"/>
              </a:rPr>
              <a:t> انتظاری است که از یک شغل وجود دارد.</a:t>
            </a:r>
          </a:p>
        </p:txBody>
      </p:sp>
      <p:cxnSp>
        <p:nvCxnSpPr>
          <p:cNvPr id="9" name="Straight Arrow Connector 8"/>
          <p:cNvCxnSpPr/>
          <p:nvPr/>
        </p:nvCxnSpPr>
        <p:spPr>
          <a:xfrm flipV="1">
            <a:off x="4362995" y="1945743"/>
            <a:ext cx="0" cy="7435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888274" y="1240973"/>
            <a:ext cx="10437223" cy="1327846"/>
            <a:chOff x="888274" y="1240973"/>
            <a:chExt cx="10437223" cy="1327846"/>
          </a:xfrm>
        </p:grpSpPr>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Arrow Connector 10"/>
            <p:cNvCxnSpPr/>
            <p:nvPr/>
          </p:nvCxnSpPr>
          <p:spPr>
            <a:xfrm flipV="1">
              <a:off x="5290457" y="1540751"/>
              <a:ext cx="0" cy="1028068"/>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279572" y="1558986"/>
              <a:ext cx="461554"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6021975" y="2317502"/>
            <a:ext cx="1012372" cy="325780"/>
            <a:chOff x="6087290" y="2134620"/>
            <a:chExt cx="1012372" cy="325780"/>
          </a:xfrm>
        </p:grpSpPr>
        <p:cxnSp>
          <p:nvCxnSpPr>
            <p:cNvPr id="14" name="Straight Arrow Connector 13"/>
            <p:cNvCxnSpPr/>
            <p:nvPr/>
          </p:nvCxnSpPr>
          <p:spPr>
            <a:xfrm flipV="1">
              <a:off x="6087290" y="2134620"/>
              <a:ext cx="1012372" cy="6709"/>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6100353" y="2144355"/>
              <a:ext cx="6532" cy="316045"/>
            </a:xfrm>
            <a:prstGeom prst="straightConnector1">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3" name="Rectangle 22"/>
          <p:cNvSpPr/>
          <p:nvPr/>
        </p:nvSpPr>
        <p:spPr>
          <a:xfrm>
            <a:off x="8215993" y="2518224"/>
            <a:ext cx="1476686" cy="307777"/>
          </a:xfrm>
          <a:prstGeom prst="rect">
            <a:avLst/>
          </a:prstGeom>
        </p:spPr>
        <p:txBody>
          <a:bodyPr wrap="none">
            <a:spAutoFit/>
          </a:bodyPr>
          <a:lstStyle/>
          <a:p>
            <a:r>
              <a:rPr lang="fa-IR" sz="1400" b="1" dirty="0">
                <a:solidFill>
                  <a:srgbClr val="000000"/>
                </a:solidFill>
                <a:latin typeface="IRANSans"/>
                <a:cs typeface="B Nazanin" panose="00000400000000000000" pitchFamily="2" charset="-78"/>
              </a:rPr>
              <a:t>بستن پیچ سرسلیندر</a:t>
            </a:r>
            <a:endParaRPr lang="en-US" sz="1400" dirty="0">
              <a:cs typeface="B Nazanin" panose="00000400000000000000" pitchFamily="2" charset="-78"/>
            </a:endParaRPr>
          </a:p>
        </p:txBody>
      </p:sp>
      <p:sp>
        <p:nvSpPr>
          <p:cNvPr id="24" name="Rectangle 23"/>
          <p:cNvSpPr/>
          <p:nvPr/>
        </p:nvSpPr>
        <p:spPr>
          <a:xfrm>
            <a:off x="5773927" y="1709090"/>
            <a:ext cx="3058851" cy="307777"/>
          </a:xfrm>
          <a:prstGeom prst="rect">
            <a:avLst/>
          </a:prstGeom>
        </p:spPr>
        <p:txBody>
          <a:bodyPr wrap="none">
            <a:spAutoFit/>
          </a:bodyPr>
          <a:lstStyle/>
          <a:p>
            <a:r>
              <a:rPr lang="fa-IR" sz="1400" b="1" dirty="0" smtClean="0">
                <a:solidFill>
                  <a:srgbClr val="000000"/>
                </a:solidFill>
                <a:latin typeface="IRANSans"/>
                <a:cs typeface="B Nazanin" panose="00000400000000000000" pitchFamily="2" charset="-78"/>
              </a:rPr>
              <a:t>مونتاژ سرسلیندر ها </a:t>
            </a:r>
            <a:r>
              <a:rPr lang="fa-IR" sz="1400" b="1" dirty="0">
                <a:solidFill>
                  <a:srgbClr val="000000"/>
                </a:solidFill>
                <a:latin typeface="IRANSans"/>
                <a:cs typeface="B Nazanin" panose="00000400000000000000" pitchFamily="2" charset="-78"/>
              </a:rPr>
              <a:t>و متعلقات آن را روی موتور</a:t>
            </a:r>
            <a:endParaRPr lang="en-US" sz="1400" b="1" dirty="0">
              <a:solidFill>
                <a:srgbClr val="000000"/>
              </a:solidFill>
              <a:latin typeface="IRANSans"/>
              <a:cs typeface="B Nazanin" panose="00000400000000000000" pitchFamily="2" charset="-78"/>
            </a:endParaRPr>
          </a:p>
        </p:txBody>
      </p:sp>
      <p:sp>
        <p:nvSpPr>
          <p:cNvPr id="25" name="Rectangle 24"/>
          <p:cNvSpPr/>
          <p:nvPr/>
        </p:nvSpPr>
        <p:spPr>
          <a:xfrm>
            <a:off x="2570620" y="1915122"/>
            <a:ext cx="936475" cy="307777"/>
          </a:xfrm>
          <a:prstGeom prst="rect">
            <a:avLst/>
          </a:prstGeom>
        </p:spPr>
        <p:txBody>
          <a:bodyPr wrap="none">
            <a:spAutoFit/>
          </a:bodyPr>
          <a:lstStyle/>
          <a:p>
            <a:r>
              <a:rPr lang="fa-IR" sz="1400" b="1" dirty="0" smtClean="0">
                <a:solidFill>
                  <a:srgbClr val="000000"/>
                </a:solidFill>
                <a:latin typeface="IRANSans"/>
                <a:cs typeface="B Nazanin" panose="00000400000000000000" pitchFamily="2" charset="-78"/>
              </a:rPr>
              <a:t>تعمیر موتور </a:t>
            </a:r>
            <a:endParaRPr lang="en-US" sz="1400" b="1" dirty="0">
              <a:solidFill>
                <a:srgbClr val="000000"/>
              </a:solidFill>
              <a:latin typeface="IRANSans"/>
              <a:cs typeface="B Nazanin" panose="00000400000000000000" pitchFamily="2" charset="-78"/>
            </a:endParaRPr>
          </a:p>
        </p:txBody>
      </p:sp>
      <p:sp>
        <p:nvSpPr>
          <p:cNvPr id="26" name="Rectangle 25"/>
          <p:cNvSpPr/>
          <p:nvPr/>
        </p:nvSpPr>
        <p:spPr>
          <a:xfrm>
            <a:off x="234814" y="1504969"/>
            <a:ext cx="1762021" cy="430887"/>
          </a:xfrm>
          <a:prstGeom prst="rect">
            <a:avLst/>
          </a:prstGeom>
        </p:spPr>
        <p:txBody>
          <a:bodyPr wrap="square">
            <a:spAutoFit/>
          </a:bodyPr>
          <a:lstStyle/>
          <a:p>
            <a:pPr algn="r" rtl="1">
              <a:lnSpc>
                <a:spcPct val="150000"/>
              </a:lnSpc>
            </a:pPr>
            <a:r>
              <a:rPr lang="en-US" sz="1600" b="1" dirty="0" smtClean="0">
                <a:solidFill>
                  <a:srgbClr val="FF0000"/>
                </a:solidFill>
                <a:latin typeface="IRANSans"/>
                <a:cs typeface="B Nazanin" panose="00000400000000000000" pitchFamily="2" charset="-78"/>
              </a:rPr>
              <a:t>(Responsibility</a:t>
            </a:r>
            <a:r>
              <a:rPr lang="en-US" sz="1600" b="1" dirty="0">
                <a:solidFill>
                  <a:srgbClr val="FF0000"/>
                </a:solidFill>
                <a:latin typeface="IRANSans"/>
                <a:cs typeface="B Nazanin" panose="00000400000000000000" pitchFamily="2" charset="-78"/>
              </a:rPr>
              <a:t>)</a:t>
            </a:r>
          </a:p>
        </p:txBody>
      </p:sp>
      <p:sp>
        <p:nvSpPr>
          <p:cNvPr id="27" name="Rectangle 26"/>
          <p:cNvSpPr/>
          <p:nvPr/>
        </p:nvSpPr>
        <p:spPr>
          <a:xfrm>
            <a:off x="7303352" y="3726846"/>
            <a:ext cx="4127319" cy="2169825"/>
          </a:xfrm>
          <a:prstGeom prst="rect">
            <a:avLst/>
          </a:prstGeom>
          <a:solidFill>
            <a:srgbClr val="FFFFCC"/>
          </a:solidFill>
        </p:spPr>
        <p:style>
          <a:lnRef idx="2">
            <a:schemeClr val="accent3"/>
          </a:lnRef>
          <a:fillRef idx="1">
            <a:schemeClr val="lt1"/>
          </a:fillRef>
          <a:effectRef idx="0">
            <a:schemeClr val="accent3"/>
          </a:effectRef>
          <a:fontRef idx="minor">
            <a:schemeClr val="dk1"/>
          </a:fontRef>
        </p:style>
        <p:txBody>
          <a:bodyPr wrap="square">
            <a:spAutoFit/>
          </a:bodyPr>
          <a:lstStyle/>
          <a:p>
            <a:pPr algn="justLow" rtl="1">
              <a:lnSpc>
                <a:spcPct val="150000"/>
              </a:lnSpc>
            </a:pPr>
            <a:r>
              <a:rPr lang="fa-IR" dirty="0" smtClean="0">
                <a:solidFill>
                  <a:srgbClr val="000000"/>
                </a:solidFill>
                <a:latin typeface="IRANSans"/>
                <a:cs typeface="B Nazanin" panose="00000400000000000000" pitchFamily="2" charset="-78"/>
              </a:rPr>
              <a:t>مدیری که </a:t>
            </a:r>
            <a:r>
              <a:rPr lang="fa-IR" b="1" dirty="0" smtClean="0">
                <a:solidFill>
                  <a:schemeClr val="tx1"/>
                </a:solidFill>
                <a:latin typeface="IRANSans"/>
                <a:cs typeface="B Nazanin" panose="00000400000000000000" pitchFamily="2" charset="-78"/>
              </a:rPr>
              <a:t>ضعف</a:t>
            </a:r>
            <a:r>
              <a:rPr lang="fa-IR" dirty="0" smtClean="0">
                <a:solidFill>
                  <a:srgbClr val="000000"/>
                </a:solidFill>
                <a:latin typeface="IRANSans"/>
                <a:cs typeface="B Nazanin" panose="00000400000000000000" pitchFamily="2" charset="-78"/>
              </a:rPr>
              <a:t> پرسنل خدمات پس از فروش را در </a:t>
            </a:r>
            <a:r>
              <a:rPr lang="fa-IR" b="1" dirty="0" smtClean="0">
                <a:solidFill>
                  <a:schemeClr val="tx1"/>
                </a:solidFill>
                <a:latin typeface="IRANSans"/>
                <a:cs typeface="B Nazanin" panose="00000400000000000000" pitchFamily="2" charset="-78"/>
              </a:rPr>
              <a:t>ارتباط تلفنی </a:t>
            </a:r>
            <a:r>
              <a:rPr lang="fa-IR" dirty="0" smtClean="0">
                <a:solidFill>
                  <a:srgbClr val="000000"/>
                </a:solidFill>
                <a:latin typeface="IRANSans"/>
                <a:cs typeface="B Nazanin" panose="00000400000000000000" pitchFamily="2" charset="-78"/>
              </a:rPr>
              <a:t>با مشتری می داند و بجای آموزش مهارت ارتباط تلفنی ساعتها در مورد اهمیت ارتباط با مشتری  با کارکنان این واحد صحبت میکند معنای </a:t>
            </a:r>
            <a:r>
              <a:rPr lang="fa-IR" b="1" dirty="0" smtClean="0">
                <a:solidFill>
                  <a:srgbClr val="C00000"/>
                </a:solidFill>
                <a:latin typeface="IRANSans"/>
                <a:cs typeface="B Nazanin" panose="00000400000000000000" pitchFamily="2" charset="-78"/>
              </a:rPr>
              <a:t>مسئولیت</a:t>
            </a:r>
            <a:r>
              <a:rPr lang="fa-IR" dirty="0" smtClean="0">
                <a:solidFill>
                  <a:srgbClr val="000000"/>
                </a:solidFill>
                <a:latin typeface="IRANSans"/>
                <a:cs typeface="B Nazanin" panose="00000400000000000000" pitchFamily="2" charset="-78"/>
              </a:rPr>
              <a:t> و </a:t>
            </a:r>
            <a:r>
              <a:rPr lang="fa-IR" b="1" dirty="0" smtClean="0">
                <a:solidFill>
                  <a:srgbClr val="00B050"/>
                </a:solidFill>
                <a:latin typeface="IRANSans"/>
                <a:cs typeface="B Nazanin" panose="00000400000000000000" pitchFamily="2" charset="-78"/>
              </a:rPr>
              <a:t>وظیفه</a:t>
            </a:r>
            <a:r>
              <a:rPr lang="fa-IR" dirty="0" smtClean="0">
                <a:solidFill>
                  <a:srgbClr val="000000"/>
                </a:solidFill>
                <a:latin typeface="IRANSans"/>
                <a:cs typeface="B Nazanin" panose="00000400000000000000" pitchFamily="2" charset="-78"/>
              </a:rPr>
              <a:t> را خوب درک نکرده است .   </a:t>
            </a:r>
            <a:endParaRPr lang="en-US" dirty="0">
              <a:cs typeface="B Nazanin" panose="00000400000000000000" pitchFamily="2" charset="-78"/>
            </a:endParaRPr>
          </a:p>
        </p:txBody>
      </p:sp>
    </p:spTree>
    <p:extLst>
      <p:ext uri="{BB962C8B-B14F-4D97-AF65-F5344CB8AC3E}">
        <p14:creationId xmlns:p14="http://schemas.microsoft.com/office/powerpoint/2010/main" val="26729576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شایستگی افراد</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9996287" y="1559225"/>
            <a:ext cx="1329210" cy="707886"/>
          </a:xfrm>
          <a:prstGeom prst="rect">
            <a:avLst/>
          </a:prstGeom>
        </p:spPr>
        <p:txBody>
          <a:bodyPr wrap="none">
            <a:spAutoFit/>
          </a:bodyPr>
          <a:lstStyle/>
          <a:p>
            <a:pPr algn="ctr"/>
            <a:r>
              <a:rPr lang="fa-IR" sz="2000" b="1" dirty="0" smtClean="0">
                <a:solidFill>
                  <a:srgbClr val="C4161C"/>
                </a:solidFill>
                <a:latin typeface="IRANSans"/>
                <a:cs typeface="B Nazanin" panose="00000400000000000000" pitchFamily="2" charset="-78"/>
              </a:rPr>
              <a:t>شایستگی</a:t>
            </a:r>
          </a:p>
          <a:p>
            <a:pPr algn="ctr"/>
            <a:r>
              <a:rPr lang="en-US" sz="1400" b="1" dirty="0" smtClean="0">
                <a:solidFill>
                  <a:srgbClr val="C4161C"/>
                </a:solidFill>
                <a:latin typeface="IRANSans"/>
                <a:cs typeface="B Nazanin" panose="00000400000000000000" pitchFamily="2" charset="-78"/>
              </a:rPr>
              <a:t>Competency</a:t>
            </a:r>
            <a:r>
              <a:rPr lang="en-US" sz="2000" b="1" dirty="0">
                <a:solidFill>
                  <a:srgbClr val="000000"/>
                </a:solidFill>
                <a:latin typeface="IRANSans"/>
                <a:cs typeface="B Nazanin" panose="00000400000000000000" pitchFamily="2" charset="-78"/>
              </a:rPr>
              <a:t> </a:t>
            </a:r>
            <a:endParaRPr lang="en-US" sz="2000" b="1" dirty="0">
              <a:cs typeface="B Nazanin" panose="00000400000000000000" pitchFamily="2" charset="-78"/>
            </a:endParaRPr>
          </a:p>
        </p:txBody>
      </p:sp>
      <p:sp>
        <p:nvSpPr>
          <p:cNvPr id="4" name="Rectangle 3"/>
          <p:cNvSpPr/>
          <p:nvPr/>
        </p:nvSpPr>
        <p:spPr>
          <a:xfrm>
            <a:off x="2401965" y="1653988"/>
            <a:ext cx="6743636" cy="369332"/>
          </a:xfrm>
          <a:prstGeom prst="rect">
            <a:avLst/>
          </a:prstGeom>
        </p:spPr>
        <p:txBody>
          <a:bodyPr wrap="square">
            <a:spAutoFit/>
          </a:bodyPr>
          <a:lstStyle/>
          <a:p>
            <a:r>
              <a:rPr lang="fa-IR" dirty="0">
                <a:solidFill>
                  <a:srgbClr val="000000"/>
                </a:solidFill>
                <a:latin typeface="IRANSans"/>
                <a:cs typeface="B Nazanin" panose="00000400000000000000" pitchFamily="2" charset="-78"/>
              </a:rPr>
              <a:t> </a:t>
            </a:r>
            <a:r>
              <a:rPr lang="fa-IR" b="1" dirty="0">
                <a:solidFill>
                  <a:srgbClr val="000000"/>
                </a:solidFill>
                <a:latin typeface="IRANSans"/>
                <a:cs typeface="B Nazanin" panose="00000400000000000000" pitchFamily="2" charset="-78"/>
              </a:rPr>
              <a:t>ویژگیهای یک فرد که کمک می‌کند او اثربخش‌تر بوده یا عملکرد بهتری داشته باشد.</a:t>
            </a:r>
            <a:endParaRPr lang="en-US" dirty="0">
              <a:cs typeface="B Nazanin" panose="00000400000000000000" pitchFamily="2" charset="-78"/>
            </a:endParaRPr>
          </a:p>
        </p:txBody>
      </p:sp>
      <p:sp>
        <p:nvSpPr>
          <p:cNvPr id="5" name="Rectangle 4"/>
          <p:cNvSpPr/>
          <p:nvPr/>
        </p:nvSpPr>
        <p:spPr>
          <a:xfrm>
            <a:off x="1169125" y="2457037"/>
            <a:ext cx="2505879" cy="369332"/>
          </a:xfrm>
          <a:prstGeom prst="rect">
            <a:avLst/>
          </a:prstGeom>
          <a:solidFill>
            <a:srgbClr val="99FFCC"/>
          </a:solidFill>
        </p:spPr>
        <p:style>
          <a:lnRef idx="2">
            <a:schemeClr val="accent6"/>
          </a:lnRef>
          <a:fillRef idx="1">
            <a:schemeClr val="lt1"/>
          </a:fillRef>
          <a:effectRef idx="0">
            <a:schemeClr val="accent6"/>
          </a:effectRef>
          <a:fontRef idx="minor">
            <a:schemeClr val="dk1"/>
          </a:fontRef>
        </p:style>
        <p:txBody>
          <a:bodyPr wrap="none">
            <a:spAutoFit/>
          </a:bodyPr>
          <a:lstStyle/>
          <a:p>
            <a:r>
              <a:rPr lang="en-US" dirty="0">
                <a:solidFill>
                  <a:srgbClr val="000000"/>
                </a:solidFill>
                <a:latin typeface="IRANSans"/>
              </a:rPr>
              <a:t>Technical Competency</a:t>
            </a:r>
            <a:endParaRPr lang="en-US" dirty="0"/>
          </a:p>
        </p:txBody>
      </p:sp>
      <p:sp>
        <p:nvSpPr>
          <p:cNvPr id="6" name="Rectangle 5"/>
          <p:cNvSpPr/>
          <p:nvPr/>
        </p:nvSpPr>
        <p:spPr>
          <a:xfrm>
            <a:off x="5710069" y="2457037"/>
            <a:ext cx="2634054" cy="369332"/>
          </a:xfrm>
          <a:prstGeom prst="rect">
            <a:avLst/>
          </a:prstGeom>
          <a:solidFill>
            <a:srgbClr val="FFFF99"/>
          </a:solidFill>
        </p:spPr>
        <p:style>
          <a:lnRef idx="2">
            <a:schemeClr val="accent1"/>
          </a:lnRef>
          <a:fillRef idx="1">
            <a:schemeClr val="lt1"/>
          </a:fillRef>
          <a:effectRef idx="0">
            <a:schemeClr val="accent1"/>
          </a:effectRef>
          <a:fontRef idx="minor">
            <a:schemeClr val="dk1"/>
          </a:fontRef>
        </p:style>
        <p:txBody>
          <a:bodyPr wrap="none">
            <a:spAutoFit/>
          </a:bodyPr>
          <a:lstStyle/>
          <a:p>
            <a:r>
              <a:rPr lang="en-US" dirty="0">
                <a:solidFill>
                  <a:srgbClr val="000000"/>
                </a:solidFill>
                <a:latin typeface="IRANSans"/>
              </a:rPr>
              <a:t>Behavioral Competency</a:t>
            </a:r>
            <a:endParaRPr lang="en-US" dirty="0"/>
          </a:p>
        </p:txBody>
      </p:sp>
      <p:cxnSp>
        <p:nvCxnSpPr>
          <p:cNvPr id="9" name="Straight Arrow Connector 8"/>
          <p:cNvCxnSpPr/>
          <p:nvPr/>
        </p:nvCxnSpPr>
        <p:spPr>
          <a:xfrm flipH="1">
            <a:off x="3370217" y="2076993"/>
            <a:ext cx="1201783" cy="309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p:nvPr/>
        </p:nvCxnSpPr>
        <p:spPr>
          <a:xfrm>
            <a:off x="4572000" y="2076993"/>
            <a:ext cx="1201783" cy="309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p:cNvCxnSpPr/>
          <p:nvPr/>
        </p:nvCxnSpPr>
        <p:spPr>
          <a:xfrm flipH="1">
            <a:off x="9145601" y="1864780"/>
            <a:ext cx="62851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710069" y="3075420"/>
            <a:ext cx="4140877" cy="369332"/>
          </a:xfrm>
          <a:prstGeom prst="rect">
            <a:avLst/>
          </a:prstGeom>
        </p:spPr>
        <p:txBody>
          <a:bodyPr wrap="none">
            <a:spAutoFit/>
          </a:bodyPr>
          <a:lstStyle/>
          <a:p>
            <a:r>
              <a:rPr lang="fa-IR" dirty="0">
                <a:solidFill>
                  <a:srgbClr val="000000"/>
                </a:solidFill>
                <a:latin typeface="IRANSans"/>
                <a:cs typeface="B Nazanin" panose="00000400000000000000" pitchFamily="2" charset="-78"/>
              </a:rPr>
              <a:t>کار گروهی، </a:t>
            </a:r>
            <a:r>
              <a:rPr lang="fa-IR" dirty="0">
                <a:solidFill>
                  <a:srgbClr val="C4161C"/>
                </a:solidFill>
                <a:latin typeface="IRANSans"/>
                <a:cs typeface="B Nazanin" panose="00000400000000000000" pitchFamily="2" charset="-78"/>
              </a:rPr>
              <a:t>مهارت ارتباطی</a:t>
            </a:r>
            <a:r>
              <a:rPr lang="fa-IR" dirty="0">
                <a:solidFill>
                  <a:srgbClr val="000000"/>
                </a:solidFill>
                <a:latin typeface="IRANSans"/>
                <a:cs typeface="B Nazanin" panose="00000400000000000000" pitchFamily="2" charset="-78"/>
              </a:rPr>
              <a:t>، </a:t>
            </a:r>
            <a:r>
              <a:rPr lang="fa-IR" dirty="0">
                <a:solidFill>
                  <a:srgbClr val="00B050"/>
                </a:solidFill>
                <a:latin typeface="IRANSans"/>
                <a:cs typeface="B Nazanin" panose="00000400000000000000" pitchFamily="2" charset="-78"/>
              </a:rPr>
              <a:t>رهبری</a:t>
            </a:r>
            <a:r>
              <a:rPr lang="fa-IR" dirty="0">
                <a:solidFill>
                  <a:srgbClr val="000000"/>
                </a:solidFill>
                <a:latin typeface="IRANSans"/>
                <a:cs typeface="B Nazanin" panose="00000400000000000000" pitchFamily="2" charset="-78"/>
              </a:rPr>
              <a:t> و </a:t>
            </a:r>
            <a:r>
              <a:rPr lang="fa-IR" dirty="0">
                <a:solidFill>
                  <a:schemeClr val="accent6">
                    <a:lumMod val="50000"/>
                  </a:schemeClr>
                </a:solidFill>
                <a:latin typeface="IRANSans"/>
                <a:cs typeface="B Nazanin" panose="00000400000000000000" pitchFamily="2" charset="-78"/>
              </a:rPr>
              <a:t>تصمیم </a:t>
            </a:r>
            <a:r>
              <a:rPr lang="fa-IR" dirty="0" smtClean="0">
                <a:solidFill>
                  <a:schemeClr val="accent6">
                    <a:lumMod val="50000"/>
                  </a:schemeClr>
                </a:solidFill>
                <a:latin typeface="IRANSans"/>
                <a:cs typeface="B Nazanin" panose="00000400000000000000" pitchFamily="2" charset="-78"/>
              </a:rPr>
              <a:t>گیری و ...</a:t>
            </a:r>
            <a:r>
              <a:rPr lang="fa-IR" dirty="0">
                <a:solidFill>
                  <a:srgbClr val="000000"/>
                </a:solidFill>
                <a:latin typeface="IRANSans"/>
                <a:cs typeface="B Nazanin" panose="00000400000000000000" pitchFamily="2" charset="-78"/>
              </a:rPr>
              <a:t> </a:t>
            </a:r>
            <a:endParaRPr lang="en-US" dirty="0">
              <a:cs typeface="B Nazanin" panose="00000400000000000000" pitchFamily="2" charset="-78"/>
            </a:endParaRPr>
          </a:p>
        </p:txBody>
      </p:sp>
      <p:sp>
        <p:nvSpPr>
          <p:cNvPr id="17" name="Rectangle 16"/>
          <p:cNvSpPr/>
          <p:nvPr/>
        </p:nvSpPr>
        <p:spPr>
          <a:xfrm>
            <a:off x="398416" y="3075420"/>
            <a:ext cx="4668266" cy="369332"/>
          </a:xfrm>
          <a:prstGeom prst="rect">
            <a:avLst/>
          </a:prstGeom>
        </p:spPr>
        <p:txBody>
          <a:bodyPr wrap="none">
            <a:spAutoFit/>
          </a:bodyPr>
          <a:lstStyle/>
          <a:p>
            <a:r>
              <a:rPr lang="fa-IR" dirty="0" smtClean="0">
                <a:solidFill>
                  <a:srgbClr val="000000"/>
                </a:solidFill>
                <a:latin typeface="IRANSans"/>
                <a:cs typeface="B Nazanin" panose="00000400000000000000" pitchFamily="2" charset="-78"/>
              </a:rPr>
              <a:t>تسلط به </a:t>
            </a:r>
            <a:r>
              <a:rPr lang="fa-IR" b="1" dirty="0" smtClean="0">
                <a:solidFill>
                  <a:srgbClr val="000000"/>
                </a:solidFill>
                <a:latin typeface="IRANSans"/>
                <a:cs typeface="B Nazanin" panose="00000400000000000000" pitchFamily="2" charset="-78"/>
              </a:rPr>
              <a:t>پایگاه داده ها </a:t>
            </a:r>
            <a:r>
              <a:rPr lang="fa-IR" dirty="0" smtClean="0">
                <a:solidFill>
                  <a:srgbClr val="000000"/>
                </a:solidFill>
                <a:latin typeface="IRANSans"/>
                <a:cs typeface="B Nazanin" panose="00000400000000000000" pitchFamily="2" charset="-78"/>
              </a:rPr>
              <a:t>، </a:t>
            </a:r>
            <a:r>
              <a:rPr lang="fa-IR" i="1" dirty="0" smtClean="0">
                <a:solidFill>
                  <a:srgbClr val="000000"/>
                </a:solidFill>
                <a:latin typeface="IRANSans"/>
                <a:cs typeface="B Nazanin" panose="00000400000000000000" pitchFamily="2" charset="-78"/>
              </a:rPr>
              <a:t>زبان برنامه نویسی </a:t>
            </a:r>
            <a:r>
              <a:rPr lang="fa-IR" dirty="0" smtClean="0">
                <a:solidFill>
                  <a:srgbClr val="000000"/>
                </a:solidFill>
                <a:latin typeface="IRANSans"/>
                <a:cs typeface="B Nazanin" panose="00000400000000000000" pitchFamily="2" charset="-78"/>
              </a:rPr>
              <a:t>، </a:t>
            </a:r>
            <a:r>
              <a:rPr lang="fa-IR" b="1" i="1" dirty="0" smtClean="0">
                <a:solidFill>
                  <a:srgbClr val="000000"/>
                </a:solidFill>
                <a:latin typeface="IRANSans"/>
                <a:cs typeface="B Nazanin" panose="00000400000000000000" pitchFamily="2" charset="-78"/>
              </a:rPr>
              <a:t>مفاهیم وب </a:t>
            </a:r>
            <a:r>
              <a:rPr lang="fa-IR" dirty="0" smtClean="0">
                <a:solidFill>
                  <a:srgbClr val="000000"/>
                </a:solidFill>
                <a:latin typeface="IRANSans"/>
                <a:cs typeface="B Nazanin" panose="00000400000000000000" pitchFamily="2" charset="-78"/>
              </a:rPr>
              <a:t>و ....</a:t>
            </a:r>
            <a:r>
              <a:rPr lang="fa-IR" dirty="0">
                <a:solidFill>
                  <a:srgbClr val="000000"/>
                </a:solidFill>
                <a:latin typeface="IRANSans"/>
                <a:cs typeface="B Nazanin" panose="00000400000000000000" pitchFamily="2" charset="-78"/>
              </a:rPr>
              <a:t> </a:t>
            </a:r>
            <a:endParaRPr lang="en-US" dirty="0">
              <a:cs typeface="B Nazanin" panose="00000400000000000000" pitchFamily="2" charset="-78"/>
            </a:endParaRPr>
          </a:p>
        </p:txBody>
      </p:sp>
      <p:grpSp>
        <p:nvGrpSpPr>
          <p:cNvPr id="39" name="Group 38"/>
          <p:cNvGrpSpPr/>
          <p:nvPr/>
        </p:nvGrpSpPr>
        <p:grpSpPr>
          <a:xfrm>
            <a:off x="639303" y="3752536"/>
            <a:ext cx="9067175" cy="2728086"/>
            <a:chOff x="783771" y="3790280"/>
            <a:chExt cx="9067175" cy="2728086"/>
          </a:xfrm>
        </p:grpSpPr>
        <p:sp>
          <p:nvSpPr>
            <p:cNvPr id="38" name="Rectangle 37"/>
            <p:cNvSpPr/>
            <p:nvPr/>
          </p:nvSpPr>
          <p:spPr>
            <a:xfrm>
              <a:off x="783771" y="3790280"/>
              <a:ext cx="9067175" cy="2728086"/>
            </a:xfrm>
            <a:prstGeom prst="rect">
              <a:avLst/>
            </a:prstGeom>
            <a:solidFill>
              <a:srgbClr val="FFFFCC"/>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8" name="Rectangle 17"/>
            <p:cNvSpPr/>
            <p:nvPr/>
          </p:nvSpPr>
          <p:spPr>
            <a:xfrm>
              <a:off x="7573836" y="5639228"/>
              <a:ext cx="1590500" cy="369332"/>
            </a:xfrm>
            <a:prstGeom prst="rect">
              <a:avLst/>
            </a:prstGeom>
          </p:spPr>
          <p:txBody>
            <a:bodyPr wrap="none">
              <a:spAutoFit/>
            </a:bodyPr>
            <a:lstStyle/>
            <a:p>
              <a:r>
                <a:rPr lang="fa-IR" b="1" dirty="0" smtClean="0">
                  <a:solidFill>
                    <a:srgbClr val="07A9CF"/>
                  </a:solidFill>
                  <a:latin typeface="IRANSans"/>
                  <a:cs typeface="B Nazanin" panose="00000400000000000000" pitchFamily="2" charset="-78"/>
                </a:rPr>
                <a:t>جهت گیری تیمی </a:t>
              </a:r>
              <a:endParaRPr lang="en-US" b="1" dirty="0">
                <a:solidFill>
                  <a:srgbClr val="07A9CF"/>
                </a:solidFill>
                <a:cs typeface="B Nazanin" panose="00000400000000000000" pitchFamily="2" charset="-78"/>
              </a:endParaRPr>
            </a:p>
          </p:txBody>
        </p:sp>
        <p:sp>
          <p:nvSpPr>
            <p:cNvPr id="19" name="Rectangle 18"/>
            <p:cNvSpPr/>
            <p:nvPr/>
          </p:nvSpPr>
          <p:spPr>
            <a:xfrm>
              <a:off x="8841535" y="3880059"/>
              <a:ext cx="723275" cy="369332"/>
            </a:xfrm>
            <a:prstGeom prst="rect">
              <a:avLst/>
            </a:prstGeom>
          </p:spPr>
          <p:txBody>
            <a:bodyPr wrap="none">
              <a:spAutoFit/>
            </a:bodyPr>
            <a:lstStyle/>
            <a:p>
              <a:r>
                <a:rPr lang="fa-IR" b="1" dirty="0" smtClean="0">
                  <a:solidFill>
                    <a:srgbClr val="FF0000"/>
                  </a:solidFill>
                  <a:latin typeface="IRANSans"/>
                  <a:cs typeface="B Nazanin" panose="00000400000000000000" pitchFamily="2" charset="-78"/>
                </a:rPr>
                <a:t>ارتباط </a:t>
              </a:r>
              <a:endParaRPr lang="en-US" b="1" dirty="0">
                <a:solidFill>
                  <a:srgbClr val="FF0000"/>
                </a:solidFill>
                <a:cs typeface="B Nazanin" panose="00000400000000000000" pitchFamily="2" charset="-78"/>
              </a:endParaRPr>
            </a:p>
          </p:txBody>
        </p:sp>
        <p:sp>
          <p:nvSpPr>
            <p:cNvPr id="20" name="Rectangle 19"/>
            <p:cNvSpPr/>
            <p:nvPr/>
          </p:nvSpPr>
          <p:spPr>
            <a:xfrm>
              <a:off x="869146" y="3986957"/>
              <a:ext cx="1489510" cy="369332"/>
            </a:xfrm>
            <a:prstGeom prst="rect">
              <a:avLst/>
            </a:prstGeom>
          </p:spPr>
          <p:txBody>
            <a:bodyPr wrap="none">
              <a:spAutoFit/>
            </a:bodyPr>
            <a:lstStyle/>
            <a:p>
              <a:r>
                <a:rPr lang="fa-IR" b="1" dirty="0" smtClean="0">
                  <a:solidFill>
                    <a:schemeClr val="accent3">
                      <a:lumMod val="50000"/>
                    </a:schemeClr>
                  </a:solidFill>
                  <a:latin typeface="IRANSans"/>
                  <a:cs typeface="B Nazanin" panose="00000400000000000000" pitchFamily="2" charset="-78"/>
                </a:rPr>
                <a:t>مدیریت انسانها  </a:t>
              </a:r>
              <a:endParaRPr lang="en-US" b="1" dirty="0">
                <a:solidFill>
                  <a:schemeClr val="accent3">
                    <a:lumMod val="50000"/>
                  </a:schemeClr>
                </a:solidFill>
                <a:cs typeface="B Nazanin" panose="00000400000000000000" pitchFamily="2" charset="-78"/>
              </a:endParaRPr>
            </a:p>
          </p:txBody>
        </p:sp>
        <p:sp>
          <p:nvSpPr>
            <p:cNvPr id="21" name="Rectangle 20"/>
            <p:cNvSpPr/>
            <p:nvPr/>
          </p:nvSpPr>
          <p:spPr>
            <a:xfrm>
              <a:off x="6612525" y="6057437"/>
              <a:ext cx="1196161" cy="369332"/>
            </a:xfrm>
            <a:prstGeom prst="rect">
              <a:avLst/>
            </a:prstGeom>
          </p:spPr>
          <p:txBody>
            <a:bodyPr wrap="none">
              <a:spAutoFit/>
            </a:bodyPr>
            <a:lstStyle/>
            <a:p>
              <a:r>
                <a:rPr lang="fa-IR" b="1" dirty="0" smtClean="0">
                  <a:solidFill>
                    <a:srgbClr val="002060"/>
                  </a:solidFill>
                  <a:latin typeface="IRANSans"/>
                  <a:cs typeface="B Nazanin" panose="00000400000000000000" pitchFamily="2" charset="-78"/>
                </a:rPr>
                <a:t>نتیجه گرایی </a:t>
              </a:r>
              <a:endParaRPr lang="en-US" b="1" dirty="0">
                <a:solidFill>
                  <a:srgbClr val="002060"/>
                </a:solidFill>
                <a:cs typeface="B Nazanin" panose="00000400000000000000" pitchFamily="2" charset="-78"/>
              </a:endParaRPr>
            </a:p>
          </p:txBody>
        </p:sp>
        <p:sp>
          <p:nvSpPr>
            <p:cNvPr id="22" name="Rectangle 21"/>
            <p:cNvSpPr/>
            <p:nvPr/>
          </p:nvSpPr>
          <p:spPr>
            <a:xfrm>
              <a:off x="5472395" y="5122594"/>
              <a:ext cx="1066318" cy="369332"/>
            </a:xfrm>
            <a:prstGeom prst="rect">
              <a:avLst/>
            </a:prstGeom>
          </p:spPr>
          <p:txBody>
            <a:bodyPr wrap="none">
              <a:spAutoFit/>
            </a:bodyPr>
            <a:lstStyle/>
            <a:p>
              <a:r>
                <a:rPr lang="fa-IR" b="1" dirty="0" smtClean="0">
                  <a:solidFill>
                    <a:srgbClr val="006600"/>
                  </a:solidFill>
                  <a:latin typeface="IRANSans"/>
                  <a:cs typeface="B Nazanin" panose="00000400000000000000" pitchFamily="2" charset="-78"/>
                </a:rPr>
                <a:t>حل مسئله </a:t>
              </a:r>
              <a:endParaRPr lang="en-US" b="1" dirty="0">
                <a:solidFill>
                  <a:srgbClr val="006600"/>
                </a:solidFill>
                <a:cs typeface="B Nazanin" panose="00000400000000000000" pitchFamily="2" charset="-78"/>
              </a:endParaRPr>
            </a:p>
          </p:txBody>
        </p:sp>
        <p:sp>
          <p:nvSpPr>
            <p:cNvPr id="23" name="Rectangle 22"/>
            <p:cNvSpPr/>
            <p:nvPr/>
          </p:nvSpPr>
          <p:spPr>
            <a:xfrm>
              <a:off x="6712873" y="5022728"/>
              <a:ext cx="2191626" cy="369332"/>
            </a:xfrm>
            <a:prstGeom prst="rect">
              <a:avLst/>
            </a:prstGeom>
          </p:spPr>
          <p:txBody>
            <a:bodyPr wrap="none">
              <a:spAutoFit/>
            </a:bodyPr>
            <a:lstStyle/>
            <a:p>
              <a:r>
                <a:rPr lang="fa-IR" b="1" dirty="0" smtClean="0">
                  <a:solidFill>
                    <a:schemeClr val="bg2">
                      <a:lumMod val="50000"/>
                    </a:schemeClr>
                  </a:solidFill>
                  <a:latin typeface="IRANSans"/>
                  <a:cs typeface="B Nazanin" panose="00000400000000000000" pitchFamily="2" charset="-78"/>
                </a:rPr>
                <a:t>برنامه ریزی و سازماندهی </a:t>
              </a:r>
              <a:endParaRPr lang="en-US" b="1" dirty="0">
                <a:solidFill>
                  <a:schemeClr val="bg2">
                    <a:lumMod val="50000"/>
                  </a:schemeClr>
                </a:solidFill>
                <a:cs typeface="B Nazanin" panose="00000400000000000000" pitchFamily="2" charset="-78"/>
              </a:endParaRPr>
            </a:p>
          </p:txBody>
        </p:sp>
        <p:sp>
          <p:nvSpPr>
            <p:cNvPr id="24" name="Rectangle 23"/>
            <p:cNvSpPr/>
            <p:nvPr/>
          </p:nvSpPr>
          <p:spPr>
            <a:xfrm>
              <a:off x="6658210" y="4407467"/>
              <a:ext cx="1324402" cy="369332"/>
            </a:xfrm>
            <a:prstGeom prst="rect">
              <a:avLst/>
            </a:prstGeom>
          </p:spPr>
          <p:txBody>
            <a:bodyPr wrap="none">
              <a:spAutoFit/>
            </a:bodyPr>
            <a:lstStyle/>
            <a:p>
              <a:r>
                <a:rPr lang="fa-IR" b="1" dirty="0" smtClean="0">
                  <a:solidFill>
                    <a:srgbClr val="00B050"/>
                  </a:solidFill>
                  <a:latin typeface="IRANSans"/>
                  <a:cs typeface="B Nazanin" panose="00000400000000000000" pitchFamily="2" charset="-78"/>
                </a:rPr>
                <a:t>مهارتهای فنی </a:t>
              </a:r>
              <a:endParaRPr lang="en-US" b="1" dirty="0">
                <a:solidFill>
                  <a:srgbClr val="00B050"/>
                </a:solidFill>
                <a:cs typeface="B Nazanin" panose="00000400000000000000" pitchFamily="2" charset="-78"/>
              </a:endParaRPr>
            </a:p>
          </p:txBody>
        </p:sp>
        <p:sp>
          <p:nvSpPr>
            <p:cNvPr id="25" name="Rectangle 24"/>
            <p:cNvSpPr/>
            <p:nvPr/>
          </p:nvSpPr>
          <p:spPr>
            <a:xfrm>
              <a:off x="4645238" y="5325822"/>
              <a:ext cx="761747" cy="369332"/>
            </a:xfrm>
            <a:prstGeom prst="rect">
              <a:avLst/>
            </a:prstGeom>
          </p:spPr>
          <p:txBody>
            <a:bodyPr wrap="none">
              <a:spAutoFit/>
            </a:bodyPr>
            <a:lstStyle/>
            <a:p>
              <a:r>
                <a:rPr lang="fa-IR" b="1" dirty="0" smtClean="0">
                  <a:solidFill>
                    <a:srgbClr val="996633"/>
                  </a:solidFill>
                  <a:latin typeface="IRANSans"/>
                  <a:cs typeface="B Nazanin" panose="00000400000000000000" pitchFamily="2" charset="-78"/>
                </a:rPr>
                <a:t>رهبری </a:t>
              </a:r>
              <a:endParaRPr lang="en-US" b="1" dirty="0">
                <a:solidFill>
                  <a:srgbClr val="996633"/>
                </a:solidFill>
                <a:cs typeface="B Nazanin" panose="00000400000000000000" pitchFamily="2" charset="-78"/>
              </a:endParaRPr>
            </a:p>
          </p:txBody>
        </p:sp>
        <p:sp>
          <p:nvSpPr>
            <p:cNvPr id="26" name="Rectangle 25"/>
            <p:cNvSpPr/>
            <p:nvPr/>
          </p:nvSpPr>
          <p:spPr>
            <a:xfrm>
              <a:off x="3361267" y="4641547"/>
              <a:ext cx="2696572" cy="369332"/>
            </a:xfrm>
            <a:prstGeom prst="rect">
              <a:avLst/>
            </a:prstGeom>
          </p:spPr>
          <p:txBody>
            <a:bodyPr wrap="none">
              <a:spAutoFit/>
            </a:bodyPr>
            <a:lstStyle/>
            <a:p>
              <a:r>
                <a:rPr lang="fa-IR" b="1" dirty="0" smtClean="0">
                  <a:solidFill>
                    <a:schemeClr val="accent6">
                      <a:lumMod val="75000"/>
                    </a:schemeClr>
                  </a:solidFill>
                  <a:latin typeface="IRANSans"/>
                  <a:cs typeface="B Nazanin" panose="00000400000000000000" pitchFamily="2" charset="-78"/>
                </a:rPr>
                <a:t>آگاهی و هوشمندی کسب و کار  </a:t>
              </a:r>
              <a:endParaRPr lang="en-US" b="1" dirty="0">
                <a:solidFill>
                  <a:schemeClr val="accent6">
                    <a:lumMod val="75000"/>
                  </a:schemeClr>
                </a:solidFill>
                <a:cs typeface="B Nazanin" panose="00000400000000000000" pitchFamily="2" charset="-78"/>
              </a:endParaRPr>
            </a:p>
          </p:txBody>
        </p:sp>
        <p:sp>
          <p:nvSpPr>
            <p:cNvPr id="27" name="Rectangle 26"/>
            <p:cNvSpPr/>
            <p:nvPr/>
          </p:nvSpPr>
          <p:spPr>
            <a:xfrm>
              <a:off x="3005686" y="5200669"/>
              <a:ext cx="1241045" cy="369332"/>
            </a:xfrm>
            <a:prstGeom prst="rect">
              <a:avLst/>
            </a:prstGeom>
          </p:spPr>
          <p:txBody>
            <a:bodyPr wrap="none">
              <a:spAutoFit/>
            </a:bodyPr>
            <a:lstStyle/>
            <a:p>
              <a:r>
                <a:rPr lang="fa-IR" b="1" dirty="0" smtClean="0">
                  <a:solidFill>
                    <a:srgbClr val="990033"/>
                  </a:solidFill>
                  <a:latin typeface="IRANSans"/>
                  <a:cs typeface="B Nazanin" panose="00000400000000000000" pitchFamily="2" charset="-78"/>
                </a:rPr>
                <a:t>تصمیم گیری </a:t>
              </a:r>
              <a:endParaRPr lang="en-US" b="1" dirty="0">
                <a:solidFill>
                  <a:srgbClr val="990033"/>
                </a:solidFill>
                <a:cs typeface="B Nazanin" panose="00000400000000000000" pitchFamily="2" charset="-78"/>
              </a:endParaRPr>
            </a:p>
          </p:txBody>
        </p:sp>
        <p:sp>
          <p:nvSpPr>
            <p:cNvPr id="28" name="Rectangle 27"/>
            <p:cNvSpPr/>
            <p:nvPr/>
          </p:nvSpPr>
          <p:spPr>
            <a:xfrm>
              <a:off x="3462725" y="5792008"/>
              <a:ext cx="1205779" cy="369332"/>
            </a:xfrm>
            <a:prstGeom prst="rect">
              <a:avLst/>
            </a:prstGeom>
          </p:spPr>
          <p:txBody>
            <a:bodyPr wrap="none">
              <a:spAutoFit/>
            </a:bodyPr>
            <a:lstStyle/>
            <a:p>
              <a:r>
                <a:rPr lang="fa-IR" b="1" dirty="0" smtClean="0">
                  <a:solidFill>
                    <a:srgbClr val="45C903"/>
                  </a:solidFill>
                  <a:latin typeface="IRANSans"/>
                  <a:cs typeface="B Nazanin" panose="00000400000000000000" pitchFamily="2" charset="-78"/>
                </a:rPr>
                <a:t>تغییر پذیری </a:t>
              </a:r>
              <a:endParaRPr lang="en-US" b="1" dirty="0">
                <a:solidFill>
                  <a:srgbClr val="45C903"/>
                </a:solidFill>
                <a:cs typeface="B Nazanin" panose="00000400000000000000" pitchFamily="2" charset="-78"/>
              </a:endParaRPr>
            </a:p>
          </p:txBody>
        </p:sp>
        <p:sp>
          <p:nvSpPr>
            <p:cNvPr id="29" name="Rectangle 28"/>
            <p:cNvSpPr/>
            <p:nvPr/>
          </p:nvSpPr>
          <p:spPr>
            <a:xfrm>
              <a:off x="1523761" y="5954556"/>
              <a:ext cx="1353256" cy="369332"/>
            </a:xfrm>
            <a:prstGeom prst="rect">
              <a:avLst/>
            </a:prstGeom>
          </p:spPr>
          <p:txBody>
            <a:bodyPr wrap="none">
              <a:spAutoFit/>
            </a:bodyPr>
            <a:lstStyle/>
            <a:p>
              <a:r>
                <a:rPr lang="fa-IR" b="1" dirty="0" smtClean="0">
                  <a:solidFill>
                    <a:srgbClr val="548725"/>
                  </a:solidFill>
                  <a:latin typeface="IRANSans"/>
                  <a:cs typeface="B Nazanin" panose="00000400000000000000" pitchFamily="2" charset="-78"/>
                </a:rPr>
                <a:t>توسعه دیگران </a:t>
              </a:r>
              <a:endParaRPr lang="en-US" b="1" dirty="0">
                <a:solidFill>
                  <a:srgbClr val="548725"/>
                </a:solidFill>
                <a:cs typeface="B Nazanin" panose="00000400000000000000" pitchFamily="2" charset="-78"/>
              </a:endParaRPr>
            </a:p>
          </p:txBody>
        </p:sp>
        <p:sp>
          <p:nvSpPr>
            <p:cNvPr id="30" name="Rectangle 29"/>
            <p:cNvSpPr/>
            <p:nvPr/>
          </p:nvSpPr>
          <p:spPr>
            <a:xfrm>
              <a:off x="1325418" y="4563573"/>
              <a:ext cx="1680268" cy="369332"/>
            </a:xfrm>
            <a:prstGeom prst="rect">
              <a:avLst/>
            </a:prstGeom>
          </p:spPr>
          <p:txBody>
            <a:bodyPr wrap="none">
              <a:spAutoFit/>
            </a:bodyPr>
            <a:lstStyle/>
            <a:p>
              <a:r>
                <a:rPr lang="fa-IR" b="1" dirty="0" smtClean="0">
                  <a:solidFill>
                    <a:srgbClr val="CC3300"/>
                  </a:solidFill>
                  <a:latin typeface="IRANSans"/>
                  <a:cs typeface="B Nazanin" panose="00000400000000000000" pitchFamily="2" charset="-78"/>
                </a:rPr>
                <a:t>نفوذ و تاثیر گذاری </a:t>
              </a:r>
              <a:endParaRPr lang="en-US" b="1" dirty="0">
                <a:solidFill>
                  <a:srgbClr val="CC3300"/>
                </a:solidFill>
                <a:cs typeface="B Nazanin" panose="00000400000000000000" pitchFamily="2" charset="-78"/>
              </a:endParaRPr>
            </a:p>
          </p:txBody>
        </p:sp>
        <p:sp>
          <p:nvSpPr>
            <p:cNvPr id="31" name="Rectangle 30"/>
            <p:cNvSpPr/>
            <p:nvPr/>
          </p:nvSpPr>
          <p:spPr>
            <a:xfrm>
              <a:off x="4939739" y="4067347"/>
              <a:ext cx="1194558" cy="369332"/>
            </a:xfrm>
            <a:prstGeom prst="rect">
              <a:avLst/>
            </a:prstGeom>
          </p:spPr>
          <p:txBody>
            <a:bodyPr wrap="none">
              <a:spAutoFit/>
            </a:bodyPr>
            <a:lstStyle/>
            <a:p>
              <a:r>
                <a:rPr lang="fa-IR" b="1" dirty="0" smtClean="0">
                  <a:solidFill>
                    <a:srgbClr val="FF3399"/>
                  </a:solidFill>
                  <a:latin typeface="IRANSans"/>
                  <a:cs typeface="B Nazanin" panose="00000400000000000000" pitchFamily="2" charset="-78"/>
                </a:rPr>
                <a:t>آغازگر بودن </a:t>
              </a:r>
              <a:endParaRPr lang="en-US" b="1" dirty="0">
                <a:solidFill>
                  <a:srgbClr val="FF3399"/>
                </a:solidFill>
                <a:cs typeface="B Nazanin" panose="00000400000000000000" pitchFamily="2" charset="-78"/>
              </a:endParaRPr>
            </a:p>
          </p:txBody>
        </p:sp>
        <p:sp>
          <p:nvSpPr>
            <p:cNvPr id="32" name="Rectangle 31"/>
            <p:cNvSpPr/>
            <p:nvPr/>
          </p:nvSpPr>
          <p:spPr>
            <a:xfrm>
              <a:off x="1129360" y="5390746"/>
              <a:ext cx="1630575" cy="369332"/>
            </a:xfrm>
            <a:prstGeom prst="rect">
              <a:avLst/>
            </a:prstGeom>
          </p:spPr>
          <p:txBody>
            <a:bodyPr wrap="none">
              <a:spAutoFit/>
            </a:bodyPr>
            <a:lstStyle/>
            <a:p>
              <a:r>
                <a:rPr lang="fa-IR" b="1" dirty="0" smtClean="0">
                  <a:solidFill>
                    <a:srgbClr val="6600CC"/>
                  </a:solidFill>
                  <a:latin typeface="IRANSans"/>
                  <a:cs typeface="B Nazanin" panose="00000400000000000000" pitchFamily="2" charset="-78"/>
                </a:rPr>
                <a:t>نگرش استراتژیک </a:t>
              </a:r>
              <a:endParaRPr lang="en-US" b="1" dirty="0">
                <a:solidFill>
                  <a:srgbClr val="6600CC"/>
                </a:solidFill>
                <a:cs typeface="B Nazanin" panose="00000400000000000000" pitchFamily="2" charset="-78"/>
              </a:endParaRPr>
            </a:p>
          </p:txBody>
        </p:sp>
        <p:sp>
          <p:nvSpPr>
            <p:cNvPr id="33" name="Rectangle 32"/>
            <p:cNvSpPr/>
            <p:nvPr/>
          </p:nvSpPr>
          <p:spPr>
            <a:xfrm>
              <a:off x="2792808" y="3907847"/>
              <a:ext cx="1770036" cy="369332"/>
            </a:xfrm>
            <a:prstGeom prst="rect">
              <a:avLst/>
            </a:prstGeom>
          </p:spPr>
          <p:txBody>
            <a:bodyPr wrap="none">
              <a:spAutoFit/>
            </a:bodyPr>
            <a:lstStyle/>
            <a:p>
              <a:r>
                <a:rPr lang="fa-IR" b="1" dirty="0" smtClean="0">
                  <a:solidFill>
                    <a:srgbClr val="9933FF"/>
                  </a:solidFill>
                  <a:latin typeface="IRANSans"/>
                  <a:cs typeface="B Nazanin" panose="00000400000000000000" pitchFamily="2" charset="-78"/>
                </a:rPr>
                <a:t>مهارتهای بین فردی </a:t>
              </a:r>
              <a:endParaRPr lang="en-US" b="1" dirty="0">
                <a:solidFill>
                  <a:srgbClr val="9933FF"/>
                </a:solidFill>
                <a:cs typeface="B Nazanin" panose="00000400000000000000" pitchFamily="2" charset="-78"/>
              </a:endParaRPr>
            </a:p>
          </p:txBody>
        </p:sp>
        <p:sp>
          <p:nvSpPr>
            <p:cNvPr id="34" name="Rectangle 33"/>
            <p:cNvSpPr/>
            <p:nvPr/>
          </p:nvSpPr>
          <p:spPr>
            <a:xfrm>
              <a:off x="4757705" y="6084688"/>
              <a:ext cx="848309" cy="369332"/>
            </a:xfrm>
            <a:prstGeom prst="rect">
              <a:avLst/>
            </a:prstGeom>
          </p:spPr>
          <p:txBody>
            <a:bodyPr wrap="none">
              <a:spAutoFit/>
            </a:bodyPr>
            <a:lstStyle/>
            <a:p>
              <a:r>
                <a:rPr lang="fa-IR" b="1" dirty="0" smtClean="0">
                  <a:solidFill>
                    <a:srgbClr val="EA04CF"/>
                  </a:solidFill>
                  <a:latin typeface="IRANSans"/>
                  <a:cs typeface="B Nazanin" panose="00000400000000000000" pitchFamily="2" charset="-78"/>
                </a:rPr>
                <a:t>خلاقیت </a:t>
              </a:r>
              <a:endParaRPr lang="en-US" b="1" dirty="0">
                <a:solidFill>
                  <a:srgbClr val="EA04CF"/>
                </a:solidFill>
                <a:cs typeface="B Nazanin" panose="00000400000000000000" pitchFamily="2" charset="-78"/>
              </a:endParaRPr>
            </a:p>
          </p:txBody>
        </p:sp>
        <p:sp>
          <p:nvSpPr>
            <p:cNvPr id="35" name="Rectangle 34"/>
            <p:cNvSpPr/>
            <p:nvPr/>
          </p:nvSpPr>
          <p:spPr>
            <a:xfrm>
              <a:off x="6612525" y="3859166"/>
              <a:ext cx="1606530" cy="369332"/>
            </a:xfrm>
            <a:prstGeom prst="rect">
              <a:avLst/>
            </a:prstGeom>
          </p:spPr>
          <p:txBody>
            <a:bodyPr wrap="none">
              <a:spAutoFit/>
            </a:bodyPr>
            <a:lstStyle/>
            <a:p>
              <a:r>
                <a:rPr lang="fa-IR" b="1" dirty="0" smtClean="0">
                  <a:solidFill>
                    <a:srgbClr val="000000"/>
                  </a:solidFill>
                  <a:latin typeface="IRANSans"/>
                  <a:cs typeface="B Nazanin" panose="00000400000000000000" pitchFamily="2" charset="-78"/>
                </a:rPr>
                <a:t>مدیریت اطلاعات  </a:t>
              </a:r>
              <a:endParaRPr lang="en-US" b="1" dirty="0">
                <a:cs typeface="B Nazanin" panose="00000400000000000000" pitchFamily="2" charset="-78"/>
              </a:endParaRPr>
            </a:p>
          </p:txBody>
        </p:sp>
        <p:sp>
          <p:nvSpPr>
            <p:cNvPr id="36" name="Rectangle 35"/>
            <p:cNvSpPr/>
            <p:nvPr/>
          </p:nvSpPr>
          <p:spPr>
            <a:xfrm>
              <a:off x="8281837" y="4475455"/>
              <a:ext cx="1348446" cy="369332"/>
            </a:xfrm>
            <a:prstGeom prst="rect">
              <a:avLst/>
            </a:prstGeom>
          </p:spPr>
          <p:txBody>
            <a:bodyPr wrap="none">
              <a:spAutoFit/>
            </a:bodyPr>
            <a:lstStyle/>
            <a:p>
              <a:r>
                <a:rPr lang="fa-IR" b="1" dirty="0" smtClean="0">
                  <a:solidFill>
                    <a:srgbClr val="B88C00"/>
                  </a:solidFill>
                  <a:latin typeface="IRANSans"/>
                  <a:cs typeface="B Nazanin" panose="00000400000000000000" pitchFamily="2" charset="-78"/>
                </a:rPr>
                <a:t>اعتماد به نفس </a:t>
              </a:r>
              <a:endParaRPr lang="en-US" b="1" dirty="0">
                <a:solidFill>
                  <a:srgbClr val="B88C00"/>
                </a:solidFill>
                <a:cs typeface="B Nazanin" panose="00000400000000000000" pitchFamily="2" charset="-78"/>
              </a:endParaRPr>
            </a:p>
          </p:txBody>
        </p:sp>
        <p:sp>
          <p:nvSpPr>
            <p:cNvPr id="37" name="Rectangle 36"/>
            <p:cNvSpPr/>
            <p:nvPr/>
          </p:nvSpPr>
          <p:spPr>
            <a:xfrm>
              <a:off x="5676177" y="5570001"/>
              <a:ext cx="1378904" cy="369332"/>
            </a:xfrm>
            <a:prstGeom prst="rect">
              <a:avLst/>
            </a:prstGeom>
          </p:spPr>
          <p:txBody>
            <a:bodyPr wrap="none">
              <a:spAutoFit/>
            </a:bodyPr>
            <a:lstStyle/>
            <a:p>
              <a:r>
                <a:rPr lang="fa-IR" b="1" dirty="0" smtClean="0">
                  <a:solidFill>
                    <a:srgbClr val="9A9600"/>
                  </a:solidFill>
                  <a:latin typeface="IRANSans"/>
                  <a:cs typeface="B Nazanin" panose="00000400000000000000" pitchFamily="2" charset="-78"/>
                </a:rPr>
                <a:t>توسعه شخصی </a:t>
              </a:r>
              <a:endParaRPr lang="en-US" b="1" dirty="0">
                <a:solidFill>
                  <a:srgbClr val="9A9600"/>
                </a:solidFill>
                <a:cs typeface="B Nazanin" panose="00000400000000000000" pitchFamily="2" charset="-78"/>
              </a:endParaRPr>
            </a:p>
          </p:txBody>
        </p:sp>
      </p:grpSp>
      <p:sp>
        <p:nvSpPr>
          <p:cNvPr id="40" name="Rectangle 39"/>
          <p:cNvSpPr/>
          <p:nvPr/>
        </p:nvSpPr>
        <p:spPr>
          <a:xfrm>
            <a:off x="9719615" y="4486236"/>
            <a:ext cx="2068195" cy="707886"/>
          </a:xfrm>
          <a:prstGeom prst="rect">
            <a:avLst/>
          </a:prstGeom>
        </p:spPr>
        <p:txBody>
          <a:bodyPr wrap="none">
            <a:spAutoFit/>
          </a:bodyPr>
          <a:lstStyle/>
          <a:p>
            <a:pPr algn="ctr"/>
            <a:r>
              <a:rPr lang="fa-IR" sz="2000" b="1" dirty="0" smtClean="0">
                <a:solidFill>
                  <a:schemeClr val="bg2">
                    <a:lumMod val="10000"/>
                  </a:schemeClr>
                </a:solidFill>
                <a:latin typeface="IRANSans"/>
                <a:cs typeface="B Nazanin" panose="00000400000000000000" pitchFamily="2" charset="-78"/>
              </a:rPr>
              <a:t>برخی شایستگی های </a:t>
            </a:r>
          </a:p>
          <a:p>
            <a:pPr algn="ctr"/>
            <a:r>
              <a:rPr lang="fa-IR" sz="2000" b="1" dirty="0" smtClean="0">
                <a:solidFill>
                  <a:schemeClr val="bg2">
                    <a:lumMod val="10000"/>
                  </a:schemeClr>
                </a:solidFill>
                <a:latin typeface="IRANSans"/>
                <a:cs typeface="B Nazanin" panose="00000400000000000000" pitchFamily="2" charset="-78"/>
              </a:rPr>
              <a:t>مورد نظر سازمانها : </a:t>
            </a:r>
            <a:r>
              <a:rPr lang="en-US" sz="2000" b="1" dirty="0">
                <a:solidFill>
                  <a:schemeClr val="bg2">
                    <a:lumMod val="10000"/>
                  </a:schemeClr>
                </a:solidFill>
                <a:latin typeface="IRANSans"/>
                <a:cs typeface="B Nazanin" panose="00000400000000000000" pitchFamily="2" charset="-78"/>
              </a:rPr>
              <a:t> </a:t>
            </a:r>
            <a:endParaRPr lang="en-US" sz="2000" b="1" dirty="0">
              <a:solidFill>
                <a:schemeClr val="bg2">
                  <a:lumMod val="10000"/>
                </a:schemeClr>
              </a:solidFill>
              <a:cs typeface="B Nazanin" panose="00000400000000000000" pitchFamily="2" charset="-78"/>
            </a:endParaRPr>
          </a:p>
        </p:txBody>
      </p:sp>
    </p:spTree>
    <p:extLst>
      <p:ext uri="{BB962C8B-B14F-4D97-AF65-F5344CB8AC3E}">
        <p14:creationId xmlns:p14="http://schemas.microsoft.com/office/powerpoint/2010/main" val="26259463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65749" y="1471036"/>
            <a:ext cx="2571750" cy="1781175"/>
          </a:xfrm>
          <a:prstGeom prst="rect">
            <a:avLst/>
          </a:prstGeom>
        </p:spPr>
      </p:pic>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a:bodyPr>
          <a:lstStyle/>
          <a:p>
            <a:pPr algn="r"/>
            <a:r>
              <a:rPr lang="fa-IR" sz="4000" dirty="0" smtClean="0">
                <a:cs typeface="B Nazanin" panose="00000400000000000000" pitchFamily="2" charset="-78"/>
              </a:rPr>
              <a:t>تهیه فهرست شایستگی های کلیدی سازمان ما </a:t>
            </a:r>
            <a:endParaRPr lang="en-US" sz="40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1946366" y="1342348"/>
            <a:ext cx="9287691" cy="473206"/>
          </a:xfrm>
          <a:prstGeom prst="rect">
            <a:avLst/>
          </a:prstGeom>
        </p:spPr>
        <p:txBody>
          <a:bodyPr wrap="square">
            <a:spAutoFit/>
          </a:bodyPr>
          <a:lstStyle/>
          <a:p>
            <a:pPr marL="285750" indent="-285750" algn="justLow" rtl="1">
              <a:lnSpc>
                <a:spcPct val="150000"/>
              </a:lnSpc>
              <a:buFont typeface="Wingdings" panose="05000000000000000000" pitchFamily="2" charset="2"/>
              <a:buChar char="ü"/>
            </a:pPr>
            <a:r>
              <a:rPr lang="fa-IR" dirty="0">
                <a:solidFill>
                  <a:srgbClr val="000000"/>
                </a:solidFill>
                <a:latin typeface="IRANSans"/>
                <a:cs typeface="B Nazanin" panose="00000400000000000000" pitchFamily="2" charset="-78"/>
              </a:rPr>
              <a:t>مدل </a:t>
            </a:r>
            <a:r>
              <a:rPr lang="en-US" dirty="0">
                <a:solidFill>
                  <a:srgbClr val="000000"/>
                </a:solidFill>
                <a:latin typeface="IRANSans"/>
                <a:cs typeface="B Nazanin" panose="00000400000000000000" pitchFamily="2" charset="-78"/>
              </a:rPr>
              <a:t> </a:t>
            </a:r>
            <a:r>
              <a:rPr lang="en-US" b="1" dirty="0">
                <a:solidFill>
                  <a:srgbClr val="FF0000"/>
                </a:solidFill>
                <a:latin typeface="IRANSans"/>
                <a:cs typeface="B Nazanin" panose="00000400000000000000" pitchFamily="2" charset="-78"/>
              </a:rPr>
              <a:t>K</a:t>
            </a:r>
            <a:r>
              <a:rPr lang="en-US" b="1" dirty="0">
                <a:solidFill>
                  <a:srgbClr val="CACB08"/>
                </a:solidFill>
                <a:latin typeface="IRANSans"/>
                <a:cs typeface="B Nazanin" panose="00000400000000000000" pitchFamily="2" charset="-78"/>
              </a:rPr>
              <a:t>S</a:t>
            </a:r>
            <a:r>
              <a:rPr lang="en-US" b="1" dirty="0">
                <a:solidFill>
                  <a:srgbClr val="3699C9"/>
                </a:solidFill>
                <a:latin typeface="IRANSans"/>
                <a:cs typeface="B Nazanin" panose="00000400000000000000" pitchFamily="2" charset="-78"/>
              </a:rPr>
              <a:t>A</a:t>
            </a:r>
            <a:r>
              <a:rPr lang="en-US" dirty="0">
                <a:solidFill>
                  <a:srgbClr val="000000"/>
                </a:solidFill>
                <a:latin typeface="IRANSans"/>
                <a:cs typeface="B Nazanin" panose="00000400000000000000" pitchFamily="2" charset="-78"/>
              </a:rPr>
              <a:t> </a:t>
            </a:r>
            <a:r>
              <a:rPr lang="fa-IR" dirty="0" smtClean="0">
                <a:solidFill>
                  <a:srgbClr val="000000"/>
                </a:solidFill>
                <a:latin typeface="IRANSans"/>
                <a:cs typeface="B Nazanin" panose="00000400000000000000" pitchFamily="2" charset="-78"/>
              </a:rPr>
              <a:t>شایستگی‌های لازم برای انجام یک شغل </a:t>
            </a:r>
            <a:r>
              <a:rPr lang="fa-IR" dirty="0">
                <a:solidFill>
                  <a:srgbClr val="000000"/>
                </a:solidFill>
                <a:latin typeface="IRANSans"/>
                <a:cs typeface="B Nazanin" panose="00000400000000000000" pitchFamily="2" charset="-78"/>
              </a:rPr>
              <a:t>را در سه حوزه‌ی دانش، مهارت و </a:t>
            </a:r>
            <a:r>
              <a:rPr lang="fa-IR" dirty="0" smtClean="0">
                <a:solidFill>
                  <a:srgbClr val="000000"/>
                </a:solidFill>
                <a:latin typeface="IRANSans"/>
                <a:cs typeface="B Nazanin" panose="00000400000000000000" pitchFamily="2" charset="-78"/>
              </a:rPr>
              <a:t>توانایی معرفی و</a:t>
            </a:r>
            <a:r>
              <a:rPr lang="fa-IR" dirty="0">
                <a:solidFill>
                  <a:srgbClr val="000000"/>
                </a:solidFill>
                <a:latin typeface="IRANSans"/>
                <a:cs typeface="B Nazanin" panose="00000400000000000000" pitchFamily="2" charset="-78"/>
              </a:rPr>
              <a:t> بررسی می‌کنند.</a:t>
            </a:r>
            <a:endParaRPr lang="en-US" dirty="0">
              <a:solidFill>
                <a:srgbClr val="000000"/>
              </a:solidFill>
              <a:latin typeface="IRANSans"/>
              <a:cs typeface="B Nazanin" panose="00000400000000000000" pitchFamily="2" charset="-78"/>
            </a:endParaRPr>
          </a:p>
        </p:txBody>
      </p:sp>
      <p:sp>
        <p:nvSpPr>
          <p:cNvPr id="4" name="Rectangle 3"/>
          <p:cNvSpPr/>
          <p:nvPr/>
        </p:nvSpPr>
        <p:spPr>
          <a:xfrm>
            <a:off x="3035683" y="1768679"/>
            <a:ext cx="8395064" cy="461665"/>
          </a:xfrm>
          <a:prstGeom prst="rect">
            <a:avLst/>
          </a:prstGeom>
        </p:spPr>
        <p:txBody>
          <a:bodyPr wrap="square">
            <a:spAutoFit/>
          </a:bodyPr>
          <a:lstStyle/>
          <a:p>
            <a:pPr marL="285750" indent="-285750" algn="justLow" rtl="1">
              <a:lnSpc>
                <a:spcPct val="150000"/>
              </a:lnSpc>
              <a:buFont typeface="Arial" panose="020B0604020202020204" pitchFamily="34" charset="0"/>
              <a:buChar char="•"/>
            </a:pPr>
            <a:r>
              <a:rPr lang="fa-IR" sz="1600" b="1" dirty="0">
                <a:solidFill>
                  <a:srgbClr val="FF0000"/>
                </a:solidFill>
                <a:latin typeface="IRANSans"/>
                <a:cs typeface="B Nazanin" panose="00000400000000000000" pitchFamily="2" charset="-78"/>
              </a:rPr>
              <a:t>دانش</a:t>
            </a:r>
            <a:r>
              <a:rPr lang="fa-IR" sz="1600" dirty="0">
                <a:solidFill>
                  <a:srgbClr val="000000"/>
                </a:solidFill>
                <a:latin typeface="IRANSans"/>
                <a:cs typeface="B Nazanin" panose="00000400000000000000" pitchFamily="2" charset="-78"/>
              </a:rPr>
              <a:t> به این معنا است که در یک حوزه‌ی خاص، با مطالعه‌ی تئوریک یا تجربه‌ی عملی، به درک کلی یک موضوع دست یافته‌ایم.</a:t>
            </a:r>
            <a:endParaRPr lang="en-US" sz="1600" dirty="0">
              <a:solidFill>
                <a:srgbClr val="000000"/>
              </a:solidFill>
              <a:latin typeface="IRANSans"/>
              <a:cs typeface="B Nazanin" panose="00000400000000000000" pitchFamily="2" charset="-78"/>
            </a:endParaRPr>
          </a:p>
        </p:txBody>
      </p:sp>
      <p:sp>
        <p:nvSpPr>
          <p:cNvPr id="5" name="Rectangle 4"/>
          <p:cNvSpPr/>
          <p:nvPr/>
        </p:nvSpPr>
        <p:spPr>
          <a:xfrm>
            <a:off x="2231638" y="2189207"/>
            <a:ext cx="9199109" cy="338554"/>
          </a:xfrm>
          <a:prstGeom prst="rect">
            <a:avLst/>
          </a:prstGeom>
        </p:spPr>
        <p:txBody>
          <a:bodyPr wrap="square">
            <a:spAutoFit/>
          </a:bodyPr>
          <a:lstStyle/>
          <a:p>
            <a:pPr marL="285750" indent="-285750" algn="r" rtl="1">
              <a:buFont typeface="Arial" panose="020B0604020202020204" pitchFamily="34" charset="0"/>
              <a:buChar char="•"/>
            </a:pPr>
            <a:r>
              <a:rPr lang="fa-IR" sz="1600" b="1" dirty="0" smtClean="0">
                <a:solidFill>
                  <a:srgbClr val="CACB08"/>
                </a:solidFill>
                <a:latin typeface="IRANSans"/>
                <a:cs typeface="B Nazanin" panose="00000400000000000000" pitchFamily="2" charset="-78"/>
              </a:rPr>
              <a:t>مهارت</a:t>
            </a: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زمانی شکل می‌گیرد که فرد با آموزش و تکرار و تجربه، در یک حوزه حرفه‌ای شده و بتواند خروجی مشخص و ملموس داشته باشد.</a:t>
            </a:r>
            <a:endParaRPr lang="en-US" sz="1600" dirty="0">
              <a:cs typeface="B Nazanin" panose="00000400000000000000" pitchFamily="2" charset="-78"/>
            </a:endParaRPr>
          </a:p>
        </p:txBody>
      </p:sp>
      <p:sp>
        <p:nvSpPr>
          <p:cNvPr id="6" name="Rectangle 5"/>
          <p:cNvSpPr/>
          <p:nvPr/>
        </p:nvSpPr>
        <p:spPr>
          <a:xfrm>
            <a:off x="2534194" y="2536928"/>
            <a:ext cx="8896553" cy="584775"/>
          </a:xfrm>
          <a:prstGeom prst="rect">
            <a:avLst/>
          </a:prstGeom>
        </p:spPr>
        <p:txBody>
          <a:bodyPr wrap="square">
            <a:spAutoFit/>
          </a:bodyPr>
          <a:lstStyle/>
          <a:p>
            <a:pPr marL="285750" indent="-285750" algn="justLow" rtl="1">
              <a:buFont typeface="Arial" panose="020B0604020202020204" pitchFamily="34" charset="0"/>
              <a:buChar char="•"/>
            </a:pPr>
            <a:r>
              <a:rPr lang="fa-IR" sz="1600" b="1" dirty="0">
                <a:solidFill>
                  <a:srgbClr val="CACB08"/>
                </a:solidFill>
                <a:latin typeface="IRANSans"/>
                <a:cs typeface="B Nazanin" panose="00000400000000000000" pitchFamily="2" charset="-78"/>
              </a:rPr>
              <a:t>مهارت</a:t>
            </a:r>
            <a:r>
              <a:rPr lang="fa-IR" sz="1600" dirty="0">
                <a:solidFill>
                  <a:srgbClr val="000000"/>
                </a:solidFill>
                <a:latin typeface="IRANSans"/>
                <a:cs typeface="B Nazanin" panose="00000400000000000000" pitchFamily="2" charset="-78"/>
              </a:rPr>
              <a:t> چیزی است که با تمرین بهبود پیدا می‌کند و </a:t>
            </a:r>
            <a:r>
              <a:rPr lang="fa-IR" sz="1600" b="1" dirty="0">
                <a:solidFill>
                  <a:srgbClr val="3699C9"/>
                </a:solidFill>
                <a:latin typeface="IRANSans"/>
                <a:cs typeface="B Nazanin" panose="00000400000000000000" pitchFamily="2" charset="-78"/>
              </a:rPr>
              <a:t>توانایی</a:t>
            </a:r>
            <a:r>
              <a:rPr lang="fa-IR" sz="1600" dirty="0">
                <a:solidFill>
                  <a:srgbClr val="000000"/>
                </a:solidFill>
                <a:latin typeface="IRANSans"/>
                <a:cs typeface="B Nazanin" panose="00000400000000000000" pitchFamily="2" charset="-78"/>
              </a:rPr>
              <a:t>، چیزی است که یا به صورت ذاتی آن را داریم یا نداریم و اگر چه می‌توان آن را بهبود داد، اما گاهی اوقات ایجاد کردن آن توانایی بسیار دشوار یا عملاً غیرممکن است.</a:t>
            </a:r>
            <a:endParaRPr lang="en-US" sz="1600" dirty="0">
              <a:solidFill>
                <a:srgbClr val="000000"/>
              </a:solidFill>
              <a:latin typeface="IRANSans"/>
              <a:cs typeface="B Nazanin" panose="00000400000000000000" pitchFamily="2" charset="-78"/>
            </a:endParaRPr>
          </a:p>
        </p:txBody>
      </p:sp>
      <p:sp>
        <p:nvSpPr>
          <p:cNvPr id="9" name="Rectangle 8"/>
          <p:cNvSpPr/>
          <p:nvPr/>
        </p:nvSpPr>
        <p:spPr>
          <a:xfrm>
            <a:off x="6833013" y="3334210"/>
            <a:ext cx="4597734" cy="400110"/>
          </a:xfrm>
          <a:prstGeom prst="rect">
            <a:avLst/>
          </a:prstGeom>
        </p:spPr>
        <p:txBody>
          <a:bodyPr wrap="none">
            <a:spAutoFit/>
          </a:bodyPr>
          <a:lstStyle/>
          <a:p>
            <a:r>
              <a:rPr lang="fa-IR" sz="2000" b="1" dirty="0">
                <a:solidFill>
                  <a:srgbClr val="0070C0"/>
                </a:solidFill>
                <a:cs typeface="B Nazanin" panose="00000400000000000000" pitchFamily="2" charset="-78"/>
              </a:rPr>
              <a:t>منابع پیشنهادی برای </a:t>
            </a:r>
            <a:r>
              <a:rPr lang="fa-IR" sz="2000" b="1" u="sng" dirty="0">
                <a:solidFill>
                  <a:srgbClr val="0070C0"/>
                </a:solidFill>
                <a:cs typeface="B Nazanin" panose="00000400000000000000" pitchFamily="2" charset="-78"/>
              </a:rPr>
              <a:t>تدوین فهرست </a:t>
            </a:r>
            <a:r>
              <a:rPr lang="fa-IR" sz="2000" b="1" u="sng" dirty="0" smtClean="0">
                <a:solidFill>
                  <a:srgbClr val="0070C0"/>
                </a:solidFill>
                <a:cs typeface="B Nazanin" panose="00000400000000000000" pitchFamily="2" charset="-78"/>
              </a:rPr>
              <a:t>شایستگی ها </a:t>
            </a:r>
            <a:endParaRPr lang="en-US" sz="2000" b="1" u="sng" dirty="0">
              <a:solidFill>
                <a:srgbClr val="0070C0"/>
              </a:solidFill>
              <a:cs typeface="B Nazanin" panose="00000400000000000000" pitchFamily="2" charset="-78"/>
            </a:endParaRPr>
          </a:p>
        </p:txBody>
      </p:sp>
      <p:sp>
        <p:nvSpPr>
          <p:cNvPr id="10" name="Rectangle 9"/>
          <p:cNvSpPr/>
          <p:nvPr/>
        </p:nvSpPr>
        <p:spPr>
          <a:xfrm>
            <a:off x="7775516" y="3856237"/>
            <a:ext cx="1739580" cy="369332"/>
          </a:xfrm>
          <a:prstGeom prst="rect">
            <a:avLst/>
          </a:prstGeom>
        </p:spPr>
        <p:txBody>
          <a:bodyPr wrap="none">
            <a:spAutoFit/>
          </a:bodyPr>
          <a:lstStyle/>
          <a:p>
            <a:pPr marL="285750" indent="-285750" algn="r" rtl="1">
              <a:buFont typeface="Wingdings" panose="05000000000000000000" pitchFamily="2" charset="2"/>
              <a:buChar char="v"/>
            </a:pPr>
            <a:r>
              <a:rPr lang="fa-IR" b="1" dirty="0">
                <a:solidFill>
                  <a:srgbClr val="C00000"/>
                </a:solidFill>
                <a:cs typeface="B Nazanin" panose="00000400000000000000" pitchFamily="2" charset="-78"/>
              </a:rPr>
              <a:t>مصاحبه عمومی:</a:t>
            </a:r>
            <a:endParaRPr lang="en-US" b="1" dirty="0">
              <a:solidFill>
                <a:srgbClr val="C00000"/>
              </a:solidFill>
              <a:cs typeface="B Nazanin" panose="00000400000000000000" pitchFamily="2" charset="-78"/>
            </a:endParaRPr>
          </a:p>
        </p:txBody>
      </p:sp>
      <p:sp>
        <p:nvSpPr>
          <p:cNvPr id="11" name="Rectangle 10"/>
          <p:cNvSpPr/>
          <p:nvPr/>
        </p:nvSpPr>
        <p:spPr>
          <a:xfrm>
            <a:off x="1306286" y="4277821"/>
            <a:ext cx="7414514" cy="1077218"/>
          </a:xfrm>
          <a:prstGeom prst="rect">
            <a:avLst/>
          </a:prstGeom>
        </p:spPr>
        <p:txBody>
          <a:bodyPr wrap="square">
            <a:spAutoFit/>
          </a:bodyPr>
          <a:lstStyle/>
          <a:p>
            <a:pPr marL="285750" indent="-285750" algn="r" rtl="1">
              <a:buFont typeface="Arial" panose="020B0604020202020204" pitchFamily="34" charset="0"/>
              <a:buChar char="•"/>
            </a:pPr>
            <a:r>
              <a:rPr lang="fa-IR" sz="1600" dirty="0">
                <a:cs typeface="B Nazanin" panose="00000400000000000000" pitchFamily="2" charset="-78"/>
              </a:rPr>
              <a:t>کسانی که در حال حاضر – یا در گذشته – در همین شغل فعال </a:t>
            </a:r>
            <a:r>
              <a:rPr lang="fa-IR" sz="1600" dirty="0" smtClean="0">
                <a:cs typeface="B Nazanin" panose="00000400000000000000" pitchFamily="2" charset="-78"/>
              </a:rPr>
              <a:t>بوده اند</a:t>
            </a:r>
            <a:r>
              <a:rPr lang="fa-IR" sz="1600" dirty="0">
                <a:cs typeface="B Nazanin" panose="00000400000000000000" pitchFamily="2" charset="-78"/>
              </a:rPr>
              <a:t>. </a:t>
            </a:r>
            <a:endParaRPr lang="fa-IR" sz="1600" dirty="0" smtClean="0">
              <a:cs typeface="B Nazanin" panose="00000400000000000000" pitchFamily="2" charset="-78"/>
            </a:endParaRPr>
          </a:p>
          <a:p>
            <a:pPr marL="285750" indent="-285750" algn="r" rtl="1">
              <a:buFont typeface="Arial" panose="020B0604020202020204" pitchFamily="34" charset="0"/>
              <a:buChar char="•"/>
            </a:pPr>
            <a:r>
              <a:rPr lang="fa-IR" sz="1600" dirty="0" smtClean="0">
                <a:cs typeface="B Nazanin" panose="00000400000000000000" pitchFamily="2" charset="-78"/>
              </a:rPr>
              <a:t>کسانی </a:t>
            </a:r>
            <a:r>
              <a:rPr lang="fa-IR" sz="1600" dirty="0">
                <a:cs typeface="B Nazanin" panose="00000400000000000000" pitchFamily="2" charset="-78"/>
              </a:rPr>
              <a:t>که مدیریت افراد شاغل در این موقعیت شغلی را بر عهده </a:t>
            </a:r>
            <a:r>
              <a:rPr lang="fa-IR" sz="1600" dirty="0" smtClean="0">
                <a:cs typeface="B Nazanin" panose="00000400000000000000" pitchFamily="2" charset="-78"/>
              </a:rPr>
              <a:t>داشته اند</a:t>
            </a:r>
            <a:r>
              <a:rPr lang="fa-IR" sz="1600" dirty="0">
                <a:cs typeface="B Nazanin" panose="00000400000000000000" pitchFamily="2" charset="-78"/>
              </a:rPr>
              <a:t>. </a:t>
            </a:r>
            <a:endParaRPr lang="fa-IR" sz="1600" dirty="0" smtClean="0">
              <a:cs typeface="B Nazanin" panose="00000400000000000000" pitchFamily="2" charset="-78"/>
            </a:endParaRPr>
          </a:p>
          <a:p>
            <a:pPr marL="285750" indent="-285750" algn="r" rtl="1">
              <a:buFont typeface="Arial" panose="020B0604020202020204" pitchFamily="34" charset="0"/>
              <a:buChar char="•"/>
            </a:pPr>
            <a:r>
              <a:rPr lang="fa-IR" sz="1600" dirty="0" smtClean="0">
                <a:cs typeface="B Nazanin" panose="00000400000000000000" pitchFamily="2" charset="-78"/>
              </a:rPr>
              <a:t>کسانی </a:t>
            </a:r>
            <a:r>
              <a:rPr lang="fa-IR" sz="1600" dirty="0">
                <a:cs typeface="B Nazanin" panose="00000400000000000000" pitchFamily="2" charset="-78"/>
              </a:rPr>
              <a:t>که در واحد منابع انسانی فعالیت کرده و با همکاران خود در این شغل در ارتباط </a:t>
            </a:r>
            <a:r>
              <a:rPr lang="fa-IR" sz="1600" dirty="0" smtClean="0">
                <a:cs typeface="B Nazanin" panose="00000400000000000000" pitchFamily="2" charset="-78"/>
              </a:rPr>
              <a:t>بوده اند</a:t>
            </a:r>
            <a:r>
              <a:rPr lang="fa-IR" sz="1600" dirty="0">
                <a:cs typeface="B Nazanin" panose="00000400000000000000" pitchFamily="2" charset="-78"/>
              </a:rPr>
              <a:t>. </a:t>
            </a:r>
            <a:endParaRPr lang="fa-IR" sz="1600" dirty="0" smtClean="0">
              <a:cs typeface="B Nazanin" panose="00000400000000000000" pitchFamily="2" charset="-78"/>
            </a:endParaRPr>
          </a:p>
          <a:p>
            <a:pPr marL="285750" indent="-285750" algn="r" rtl="1">
              <a:buFont typeface="Arial" panose="020B0604020202020204" pitchFamily="34" charset="0"/>
              <a:buChar char="•"/>
            </a:pPr>
            <a:r>
              <a:rPr lang="fa-IR" sz="1600" dirty="0" smtClean="0">
                <a:cs typeface="B Nazanin" panose="00000400000000000000" pitchFamily="2" charset="-78"/>
              </a:rPr>
              <a:t>کسانی </a:t>
            </a:r>
            <a:r>
              <a:rPr lang="fa-IR" sz="1600" dirty="0">
                <a:cs typeface="B Nazanin" panose="00000400000000000000" pitchFamily="2" charset="-78"/>
              </a:rPr>
              <a:t>که مشتری این شغل محسوب میشوند. مستقل از اینکه درون سازمان یا بیرون</a:t>
            </a:r>
            <a:r>
              <a:rPr lang="fa-IR" sz="1600" dirty="0" smtClean="0">
                <a:cs typeface="B Nazanin" panose="00000400000000000000" pitchFamily="2" charset="-78"/>
              </a:rPr>
              <a:t> </a:t>
            </a:r>
            <a:r>
              <a:rPr lang="fa-IR" sz="1600" dirty="0">
                <a:cs typeface="B Nazanin" panose="00000400000000000000" pitchFamily="2" charset="-78"/>
              </a:rPr>
              <a:t>سازمان باشند.</a:t>
            </a:r>
            <a:endParaRPr lang="en-US" sz="1600" dirty="0">
              <a:cs typeface="B Nazanin" panose="00000400000000000000" pitchFamily="2" charset="-78"/>
            </a:endParaRPr>
          </a:p>
        </p:txBody>
      </p:sp>
      <p:sp>
        <p:nvSpPr>
          <p:cNvPr id="12" name="Rectangle 11"/>
          <p:cNvSpPr/>
          <p:nvPr/>
        </p:nvSpPr>
        <p:spPr>
          <a:xfrm>
            <a:off x="4725002" y="5434282"/>
            <a:ext cx="4790094" cy="369332"/>
          </a:xfrm>
          <a:prstGeom prst="rect">
            <a:avLst/>
          </a:prstGeom>
        </p:spPr>
        <p:txBody>
          <a:bodyPr wrap="none">
            <a:spAutoFit/>
          </a:bodyPr>
          <a:lstStyle/>
          <a:p>
            <a:pPr marL="285750" indent="-285750" algn="r" rtl="1">
              <a:buFont typeface="Wingdings" panose="05000000000000000000" pitchFamily="2" charset="2"/>
              <a:buChar char="v"/>
            </a:pPr>
            <a:r>
              <a:rPr lang="fa-IR" b="1" dirty="0">
                <a:solidFill>
                  <a:srgbClr val="C00000"/>
                </a:solidFill>
                <a:cs typeface="B Nazanin" panose="00000400000000000000" pitchFamily="2" charset="-78"/>
              </a:rPr>
              <a:t>مصاحبه برای مرور و بررسی رویدادهای کلیدی و بحرانی</a:t>
            </a:r>
            <a:endParaRPr lang="en-US" b="1" dirty="0">
              <a:solidFill>
                <a:srgbClr val="C00000"/>
              </a:solidFill>
              <a:cs typeface="B Nazanin" panose="00000400000000000000" pitchFamily="2" charset="-78"/>
            </a:endParaRPr>
          </a:p>
        </p:txBody>
      </p:sp>
      <p:sp>
        <p:nvSpPr>
          <p:cNvPr id="13" name="Rectangle 12"/>
          <p:cNvSpPr/>
          <p:nvPr/>
        </p:nvSpPr>
        <p:spPr>
          <a:xfrm>
            <a:off x="5654744" y="6029924"/>
            <a:ext cx="3860352" cy="369332"/>
          </a:xfrm>
          <a:prstGeom prst="rect">
            <a:avLst/>
          </a:prstGeom>
        </p:spPr>
        <p:txBody>
          <a:bodyPr wrap="none">
            <a:spAutoFit/>
          </a:bodyPr>
          <a:lstStyle/>
          <a:p>
            <a:pPr marL="285750" indent="-285750" algn="r" rtl="1">
              <a:buFont typeface="Wingdings" panose="05000000000000000000" pitchFamily="2" charset="2"/>
              <a:buChar char="v"/>
            </a:pPr>
            <a:r>
              <a:rPr lang="en-US" b="1" dirty="0">
                <a:solidFill>
                  <a:srgbClr val="C00000"/>
                </a:solidFill>
                <a:cs typeface="B Nazanin" panose="00000400000000000000" pitchFamily="2" charset="-78"/>
              </a:rPr>
              <a:t>  </a:t>
            </a:r>
            <a:r>
              <a:rPr lang="fa-IR" b="1" dirty="0">
                <a:solidFill>
                  <a:srgbClr val="C00000"/>
                </a:solidFill>
                <a:cs typeface="B Nazanin" panose="00000400000000000000" pitchFamily="2" charset="-78"/>
              </a:rPr>
              <a:t> استفاده از فهرستهای عمومی شایستگیها</a:t>
            </a:r>
            <a:r>
              <a:rPr lang="en-US" b="1" dirty="0">
                <a:solidFill>
                  <a:srgbClr val="C00000"/>
                </a:solidFill>
                <a:cs typeface="B Nazanin" panose="00000400000000000000" pitchFamily="2" charset="-78"/>
              </a:rPr>
              <a:t> </a:t>
            </a:r>
          </a:p>
        </p:txBody>
      </p:sp>
      <p:sp>
        <p:nvSpPr>
          <p:cNvPr id="14" name="Rectangle 13"/>
          <p:cNvSpPr/>
          <p:nvPr/>
        </p:nvSpPr>
        <p:spPr>
          <a:xfrm>
            <a:off x="265749" y="6029924"/>
            <a:ext cx="5388995" cy="461665"/>
          </a:xfrm>
          <a:prstGeom prst="rect">
            <a:avLst/>
          </a:prstGeom>
        </p:spPr>
        <p:txBody>
          <a:bodyPr wrap="square">
            <a:spAutoFit/>
          </a:bodyPr>
          <a:lstStyle/>
          <a:p>
            <a:pPr algn="r" rtl="1"/>
            <a:r>
              <a:rPr lang="fa-IR" sz="1200" b="1" dirty="0" smtClean="0">
                <a:cs typeface="B Nazanin" panose="00000400000000000000" pitchFamily="2" charset="-78"/>
              </a:rPr>
              <a:t>بهتر است جهت وزن دهی به این فهرست عمومی برای سازمان خود از افراد درگیر و ماهر با این تخصص کمک بگیریم . </a:t>
            </a:r>
            <a:endParaRPr lang="en-US" sz="1200" b="1" dirty="0"/>
          </a:p>
        </p:txBody>
      </p:sp>
      <p:sp>
        <p:nvSpPr>
          <p:cNvPr id="15" name="Rectangle 14"/>
          <p:cNvSpPr/>
          <p:nvPr/>
        </p:nvSpPr>
        <p:spPr>
          <a:xfrm>
            <a:off x="3442280" y="5534999"/>
            <a:ext cx="1282722" cy="276999"/>
          </a:xfrm>
          <a:prstGeom prst="rect">
            <a:avLst/>
          </a:prstGeom>
        </p:spPr>
        <p:txBody>
          <a:bodyPr wrap="square">
            <a:spAutoFit/>
          </a:bodyPr>
          <a:lstStyle/>
          <a:p>
            <a:pPr algn="r" rtl="1"/>
            <a:r>
              <a:rPr lang="fa-IR" sz="1200" b="1" dirty="0">
                <a:cs typeface="B Nazanin" panose="00000400000000000000" pitchFamily="2" charset="-78"/>
              </a:rPr>
              <a:t>شبیه مصاحبه خروج </a:t>
            </a:r>
            <a:endParaRPr lang="en-US" sz="1200" b="1" dirty="0">
              <a:cs typeface="B Nazanin" panose="00000400000000000000" pitchFamily="2" charset="-78"/>
            </a:endParaRPr>
          </a:p>
        </p:txBody>
      </p:sp>
    </p:spTree>
    <p:extLst>
      <p:ext uri="{BB962C8B-B14F-4D97-AF65-F5344CB8AC3E}">
        <p14:creationId xmlns:p14="http://schemas.microsoft.com/office/powerpoint/2010/main" val="33710253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ounded Rectangle 54"/>
          <p:cNvSpPr/>
          <p:nvPr/>
        </p:nvSpPr>
        <p:spPr>
          <a:xfrm>
            <a:off x="365760" y="2573383"/>
            <a:ext cx="4473015" cy="3618260"/>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تنظیم سند شرح </a:t>
            </a:r>
            <a:r>
              <a:rPr lang="fa-IR" sz="4800" dirty="0">
                <a:cs typeface="B Nazanin" panose="00000400000000000000" pitchFamily="2" charset="-78"/>
              </a:rPr>
              <a:t>شغل و شرایط احراز </a:t>
            </a:r>
            <a:r>
              <a:rPr lang="fa-IR" sz="4800" dirty="0" smtClean="0">
                <a:cs typeface="B Nazanin" panose="00000400000000000000" pitchFamily="2" charset="-78"/>
              </a:rPr>
              <a:t>شغل</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8567194" y="1559225"/>
            <a:ext cx="3228565" cy="369332"/>
          </a:xfrm>
          <a:prstGeom prst="rect">
            <a:avLst/>
          </a:prstGeom>
        </p:spPr>
        <p:txBody>
          <a:bodyPr wrap="square">
            <a:spAutoFit/>
          </a:bodyPr>
          <a:lstStyle/>
          <a:p>
            <a:r>
              <a:rPr lang="fa-IR" b="1" dirty="0">
                <a:solidFill>
                  <a:srgbClr val="0070C0"/>
                </a:solidFill>
                <a:latin typeface="IRANSans"/>
                <a:cs typeface="B Nazanin" panose="00000400000000000000" pitchFamily="2" charset="-78"/>
              </a:rPr>
              <a:t>اطلاعات حاصل از تجزیه و تحلیل شغل</a:t>
            </a:r>
            <a:endParaRPr lang="en-US" b="1" dirty="0">
              <a:solidFill>
                <a:srgbClr val="0070C0"/>
              </a:solidFill>
              <a:latin typeface="IRANSans"/>
              <a:cs typeface="B Nazanin" panose="00000400000000000000" pitchFamily="2" charset="-78"/>
            </a:endParaRPr>
          </a:p>
        </p:txBody>
      </p:sp>
      <p:sp>
        <p:nvSpPr>
          <p:cNvPr id="4" name="Rectangle 3"/>
          <p:cNvSpPr/>
          <p:nvPr/>
        </p:nvSpPr>
        <p:spPr>
          <a:xfrm>
            <a:off x="6751943" y="1399150"/>
            <a:ext cx="1535998" cy="307777"/>
          </a:xfrm>
          <a:prstGeom prst="rect">
            <a:avLst/>
          </a:prstGeom>
        </p:spPr>
        <p:txBody>
          <a:bodyPr wrap="none">
            <a:spAutoFit/>
          </a:bodyPr>
          <a:lstStyle/>
          <a:p>
            <a:r>
              <a:rPr lang="en-US" sz="1400" b="1" dirty="0">
                <a:solidFill>
                  <a:srgbClr val="000000"/>
                </a:solidFill>
                <a:latin typeface="IRANSans"/>
              </a:rPr>
              <a:t>Job Description</a:t>
            </a:r>
            <a:endParaRPr lang="en-US" sz="1400" dirty="0"/>
          </a:p>
        </p:txBody>
      </p:sp>
      <p:sp>
        <p:nvSpPr>
          <p:cNvPr id="5" name="Rectangle 4"/>
          <p:cNvSpPr/>
          <p:nvPr/>
        </p:nvSpPr>
        <p:spPr>
          <a:xfrm>
            <a:off x="6623703" y="1839983"/>
            <a:ext cx="1664238" cy="307777"/>
          </a:xfrm>
          <a:prstGeom prst="rect">
            <a:avLst/>
          </a:prstGeom>
        </p:spPr>
        <p:txBody>
          <a:bodyPr wrap="none">
            <a:spAutoFit/>
          </a:bodyPr>
          <a:lstStyle/>
          <a:p>
            <a:r>
              <a:rPr lang="en-US" sz="1400" b="1" dirty="0">
                <a:solidFill>
                  <a:srgbClr val="000000"/>
                </a:solidFill>
                <a:latin typeface="IRANSans"/>
              </a:rPr>
              <a:t>Job Specification</a:t>
            </a:r>
            <a:endParaRPr lang="en-US" sz="1400" dirty="0"/>
          </a:p>
        </p:txBody>
      </p:sp>
      <p:sp>
        <p:nvSpPr>
          <p:cNvPr id="6" name="Rectangle 5"/>
          <p:cNvSpPr/>
          <p:nvPr/>
        </p:nvSpPr>
        <p:spPr>
          <a:xfrm>
            <a:off x="2720525" y="1391195"/>
            <a:ext cx="3882794" cy="338554"/>
          </a:xfrm>
          <a:prstGeom prst="rect">
            <a:avLst/>
          </a:prstGeom>
        </p:spPr>
        <p:txBody>
          <a:bodyPr wrap="square">
            <a:spAutoFit/>
          </a:bodyPr>
          <a:lstStyle/>
          <a:p>
            <a:pPr algn="r" rtl="1"/>
            <a:r>
              <a:rPr lang="fa-IR" sz="1600" dirty="0">
                <a:solidFill>
                  <a:srgbClr val="000000"/>
                </a:solidFill>
                <a:latin typeface="IRANSans"/>
                <a:cs typeface="B Nazanin" panose="00000400000000000000" pitchFamily="2" charset="-78"/>
              </a:rPr>
              <a:t>اطلاعات مربوط به شرح شغل و فهرست وظایف شغلی</a:t>
            </a:r>
            <a:endParaRPr lang="en-US" sz="1600" dirty="0">
              <a:solidFill>
                <a:srgbClr val="000000"/>
              </a:solidFill>
              <a:latin typeface="IRANSans"/>
              <a:cs typeface="B Nazanin" panose="00000400000000000000" pitchFamily="2" charset="-78"/>
            </a:endParaRPr>
          </a:p>
        </p:txBody>
      </p:sp>
      <p:sp>
        <p:nvSpPr>
          <p:cNvPr id="7" name="Rectangle 6"/>
          <p:cNvSpPr/>
          <p:nvPr/>
        </p:nvSpPr>
        <p:spPr>
          <a:xfrm>
            <a:off x="507319" y="1871019"/>
            <a:ext cx="6096000" cy="338554"/>
          </a:xfrm>
          <a:prstGeom prst="rect">
            <a:avLst/>
          </a:prstGeom>
        </p:spPr>
        <p:txBody>
          <a:bodyPr wrap="square">
            <a:spAutoFit/>
          </a:bodyPr>
          <a:lstStyle/>
          <a:p>
            <a:pPr algn="r" rtl="1"/>
            <a:r>
              <a:rPr lang="fa-IR" sz="1600" dirty="0">
                <a:solidFill>
                  <a:srgbClr val="000000"/>
                </a:solidFill>
                <a:latin typeface="IRANSans"/>
                <a:cs typeface="B Nazanin" panose="00000400000000000000" pitchFamily="2" charset="-78"/>
              </a:rPr>
              <a:t>اطلاعات مربوط به ویژگی‌های فردی که می‌خواهد در این شغل مشغول به کار شود </a:t>
            </a:r>
            <a:endParaRPr lang="en-US" sz="1600" dirty="0">
              <a:solidFill>
                <a:srgbClr val="000000"/>
              </a:solidFill>
              <a:latin typeface="IRANSans"/>
              <a:cs typeface="B Nazanin" panose="00000400000000000000" pitchFamily="2" charset="-78"/>
            </a:endParaRPr>
          </a:p>
        </p:txBody>
      </p:sp>
      <p:sp>
        <p:nvSpPr>
          <p:cNvPr id="35" name="Rectangle 34"/>
          <p:cNvSpPr/>
          <p:nvPr/>
        </p:nvSpPr>
        <p:spPr>
          <a:xfrm>
            <a:off x="8578378" y="2400892"/>
            <a:ext cx="3321051" cy="338554"/>
          </a:xfrm>
          <a:prstGeom prst="rect">
            <a:avLst/>
          </a:prstGeom>
        </p:spPr>
        <p:txBody>
          <a:bodyPr wrap="square">
            <a:spAutoFit/>
          </a:bodyPr>
          <a:lstStyle/>
          <a:p>
            <a:pPr algn="r" rtl="1"/>
            <a:r>
              <a:rPr lang="fa-IR" sz="1600" b="1" dirty="0" smtClean="0">
                <a:solidFill>
                  <a:srgbClr val="FF0000"/>
                </a:solidFill>
                <a:latin typeface="IRANSans"/>
                <a:cs typeface="B Nazanin" panose="00000400000000000000" pitchFamily="2" charset="-78"/>
              </a:rPr>
              <a:t>نمونه سند شرح شغل و شرایط احراز شغل </a:t>
            </a:r>
            <a:endParaRPr lang="en-US" sz="1600" b="1" dirty="0">
              <a:solidFill>
                <a:srgbClr val="FF0000"/>
              </a:solidFill>
              <a:latin typeface="IRANSans"/>
              <a:cs typeface="B Nazanin" panose="00000400000000000000" pitchFamily="2" charset="-78"/>
            </a:endParaRPr>
          </a:p>
        </p:txBody>
      </p:sp>
      <p:grpSp>
        <p:nvGrpSpPr>
          <p:cNvPr id="38" name="Group 37"/>
          <p:cNvGrpSpPr/>
          <p:nvPr/>
        </p:nvGrpSpPr>
        <p:grpSpPr>
          <a:xfrm>
            <a:off x="4950245" y="2315696"/>
            <a:ext cx="3348718" cy="4246969"/>
            <a:chOff x="5009956" y="2315696"/>
            <a:chExt cx="3348718" cy="4246969"/>
          </a:xfrm>
        </p:grpSpPr>
        <p:sp>
          <p:nvSpPr>
            <p:cNvPr id="17" name="Rectangle 16"/>
            <p:cNvSpPr/>
            <p:nvPr/>
          </p:nvSpPr>
          <p:spPr>
            <a:xfrm>
              <a:off x="5145211" y="2315696"/>
              <a:ext cx="3213463" cy="424696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490204" y="2400892"/>
              <a:ext cx="813043" cy="276999"/>
            </a:xfrm>
            <a:prstGeom prst="rect">
              <a:avLst/>
            </a:prstGeom>
          </p:spPr>
          <p:txBody>
            <a:bodyPr wrap="none">
              <a:spAutoFit/>
            </a:bodyPr>
            <a:lstStyle/>
            <a:p>
              <a:pPr algn="r" rtl="1"/>
              <a:r>
                <a:rPr lang="fa-IR" sz="1200" b="1" dirty="0">
                  <a:cs typeface="B Nazanin" panose="00000400000000000000" pitchFamily="2" charset="-78"/>
                </a:rPr>
                <a:t>عنوان شغل:</a:t>
              </a:r>
              <a:endParaRPr lang="en-US" sz="1200" b="1" dirty="0">
                <a:cs typeface="B Nazanin" panose="00000400000000000000" pitchFamily="2" charset="-78"/>
              </a:endParaRPr>
            </a:p>
          </p:txBody>
        </p:sp>
        <p:sp>
          <p:nvSpPr>
            <p:cNvPr id="10" name="Rectangle 9"/>
            <p:cNvSpPr/>
            <p:nvPr/>
          </p:nvSpPr>
          <p:spPr>
            <a:xfrm>
              <a:off x="6858621" y="2700433"/>
              <a:ext cx="1444626" cy="276999"/>
            </a:xfrm>
            <a:prstGeom prst="rect">
              <a:avLst/>
            </a:prstGeom>
          </p:spPr>
          <p:txBody>
            <a:bodyPr wrap="none">
              <a:spAutoFit/>
            </a:bodyPr>
            <a:lstStyle/>
            <a:p>
              <a:pPr algn="r" rtl="1"/>
              <a:r>
                <a:rPr lang="fa-IR" sz="1200" b="1" dirty="0">
                  <a:cs typeface="B Nazanin" panose="00000400000000000000" pitchFamily="2" charset="-78"/>
                </a:rPr>
                <a:t>موظف به گزارشدهی به: </a:t>
              </a:r>
              <a:endParaRPr lang="en-US" sz="1200" b="1" dirty="0">
                <a:cs typeface="B Nazanin" panose="00000400000000000000" pitchFamily="2" charset="-78"/>
              </a:endParaRPr>
            </a:p>
          </p:txBody>
        </p:sp>
        <p:sp>
          <p:nvSpPr>
            <p:cNvPr id="13" name="Rectangle 12"/>
            <p:cNvSpPr/>
            <p:nvPr/>
          </p:nvSpPr>
          <p:spPr>
            <a:xfrm>
              <a:off x="6541226" y="3530429"/>
              <a:ext cx="1742785" cy="276999"/>
            </a:xfrm>
            <a:prstGeom prst="rect">
              <a:avLst/>
            </a:prstGeom>
          </p:spPr>
          <p:txBody>
            <a:bodyPr wrap="none">
              <a:spAutoFit/>
            </a:bodyPr>
            <a:lstStyle/>
            <a:p>
              <a:pPr algn="r" rtl="1"/>
              <a:r>
                <a:rPr lang="fa-IR" sz="1200" b="1" dirty="0">
                  <a:cs typeface="B Nazanin" panose="00000400000000000000" pitchFamily="2" charset="-78"/>
                </a:rPr>
                <a:t>وظایف و مسئولیتهای کلیدی: </a:t>
              </a:r>
              <a:endParaRPr lang="en-US" sz="1200" b="1" dirty="0">
                <a:cs typeface="B Nazanin" panose="00000400000000000000" pitchFamily="2" charset="-78"/>
              </a:endParaRPr>
            </a:p>
          </p:txBody>
        </p:sp>
        <p:sp>
          <p:nvSpPr>
            <p:cNvPr id="14" name="Rectangle 13"/>
            <p:cNvSpPr/>
            <p:nvPr/>
          </p:nvSpPr>
          <p:spPr>
            <a:xfrm>
              <a:off x="6672512" y="4416932"/>
              <a:ext cx="1635383" cy="276999"/>
            </a:xfrm>
            <a:prstGeom prst="rect">
              <a:avLst/>
            </a:prstGeom>
          </p:spPr>
          <p:txBody>
            <a:bodyPr wrap="none">
              <a:spAutoFit/>
            </a:bodyPr>
            <a:lstStyle/>
            <a:p>
              <a:pPr algn="r" rtl="1"/>
              <a:r>
                <a:rPr lang="fa-IR" sz="1200" b="1" dirty="0">
                  <a:cs typeface="B Nazanin" panose="00000400000000000000" pitchFamily="2" charset="-78"/>
                </a:rPr>
                <a:t>دانش، مهارتها و توانمندیها: </a:t>
              </a:r>
              <a:endParaRPr lang="en-US" sz="1200" b="1" dirty="0">
                <a:cs typeface="B Nazanin" panose="00000400000000000000" pitchFamily="2" charset="-78"/>
              </a:endParaRPr>
            </a:p>
          </p:txBody>
        </p:sp>
        <p:sp>
          <p:nvSpPr>
            <p:cNvPr id="15" name="Rectangle 14"/>
            <p:cNvSpPr/>
            <p:nvPr/>
          </p:nvSpPr>
          <p:spPr>
            <a:xfrm>
              <a:off x="7099071" y="5371195"/>
              <a:ext cx="1184940" cy="276999"/>
            </a:xfrm>
            <a:prstGeom prst="rect">
              <a:avLst/>
            </a:prstGeom>
          </p:spPr>
          <p:txBody>
            <a:bodyPr wrap="none">
              <a:spAutoFit/>
            </a:bodyPr>
            <a:lstStyle/>
            <a:p>
              <a:pPr algn="r" rtl="1"/>
              <a:r>
                <a:rPr lang="fa-IR" sz="1200" b="1" dirty="0" smtClean="0">
                  <a:cs typeface="B Nazanin" panose="00000400000000000000" pitchFamily="2" charset="-78"/>
                </a:rPr>
                <a:t>تحصیلات </a:t>
              </a:r>
              <a:r>
                <a:rPr lang="fa-IR" sz="1200" b="1" dirty="0">
                  <a:cs typeface="B Nazanin" panose="00000400000000000000" pitchFamily="2" charset="-78"/>
                </a:rPr>
                <a:t>و تجربه: </a:t>
              </a:r>
              <a:endParaRPr lang="en-US" sz="1200" b="1" dirty="0">
                <a:cs typeface="B Nazanin" panose="00000400000000000000" pitchFamily="2" charset="-78"/>
              </a:endParaRPr>
            </a:p>
          </p:txBody>
        </p:sp>
        <p:sp>
          <p:nvSpPr>
            <p:cNvPr id="16" name="Rectangle 15"/>
            <p:cNvSpPr/>
            <p:nvPr/>
          </p:nvSpPr>
          <p:spPr>
            <a:xfrm>
              <a:off x="5783237" y="5875454"/>
              <a:ext cx="2491387" cy="276999"/>
            </a:xfrm>
            <a:prstGeom prst="rect">
              <a:avLst/>
            </a:prstGeom>
          </p:spPr>
          <p:txBody>
            <a:bodyPr wrap="none">
              <a:spAutoFit/>
            </a:bodyPr>
            <a:lstStyle/>
            <a:p>
              <a:pPr algn="r" rtl="1"/>
              <a:r>
                <a:rPr lang="fa-IR" sz="1200" b="1" dirty="0">
                  <a:cs typeface="B Nazanin" panose="00000400000000000000" pitchFamily="2" charset="-78"/>
                </a:rPr>
                <a:t>ضرورتها و تواناییهای فیزیکی و فیزیولوژیک:</a:t>
              </a:r>
              <a:endParaRPr lang="en-US" sz="1200" b="1" dirty="0">
                <a:cs typeface="B Nazanin" panose="00000400000000000000" pitchFamily="2" charset="-78"/>
              </a:endParaRPr>
            </a:p>
          </p:txBody>
        </p:sp>
        <p:sp>
          <p:nvSpPr>
            <p:cNvPr id="18" name="Rectangle 17"/>
            <p:cNvSpPr/>
            <p:nvPr/>
          </p:nvSpPr>
          <p:spPr>
            <a:xfrm>
              <a:off x="6399365" y="2421456"/>
              <a:ext cx="1132040" cy="261610"/>
            </a:xfrm>
            <a:prstGeom prst="rect">
              <a:avLst/>
            </a:prstGeom>
          </p:spPr>
          <p:txBody>
            <a:bodyPr wrap="none">
              <a:spAutoFit/>
            </a:bodyPr>
            <a:lstStyle/>
            <a:p>
              <a:pPr algn="r" rtl="1"/>
              <a:r>
                <a:rPr lang="en-US" sz="1100" b="1" dirty="0" smtClean="0">
                  <a:cs typeface="B Nazanin" panose="00000400000000000000" pitchFamily="2" charset="-78"/>
                </a:rPr>
                <a:t>…………………..</a:t>
              </a:r>
              <a:endParaRPr lang="en-US" sz="1100" b="1" dirty="0">
                <a:cs typeface="B Nazanin" panose="00000400000000000000" pitchFamily="2" charset="-78"/>
              </a:endParaRPr>
            </a:p>
          </p:txBody>
        </p:sp>
        <p:sp>
          <p:nvSpPr>
            <p:cNvPr id="19" name="Rectangle 18"/>
            <p:cNvSpPr/>
            <p:nvPr/>
          </p:nvSpPr>
          <p:spPr>
            <a:xfrm>
              <a:off x="5833345" y="2750025"/>
              <a:ext cx="1132040" cy="261610"/>
            </a:xfrm>
            <a:prstGeom prst="rect">
              <a:avLst/>
            </a:prstGeom>
          </p:spPr>
          <p:txBody>
            <a:bodyPr wrap="none">
              <a:spAutoFit/>
            </a:bodyPr>
            <a:lstStyle/>
            <a:p>
              <a:pPr algn="r" rtl="1"/>
              <a:r>
                <a:rPr lang="en-US" sz="1100" b="1" dirty="0" smtClean="0">
                  <a:cs typeface="B Nazanin" panose="00000400000000000000" pitchFamily="2" charset="-78"/>
                </a:rPr>
                <a:t>…………………..</a:t>
              </a:r>
              <a:endParaRPr lang="en-US" sz="1100" b="1" dirty="0">
                <a:cs typeface="B Nazanin" panose="00000400000000000000" pitchFamily="2" charset="-78"/>
              </a:endParaRPr>
            </a:p>
          </p:txBody>
        </p:sp>
        <p:sp>
          <p:nvSpPr>
            <p:cNvPr id="23" name="Rectangle 22"/>
            <p:cNvSpPr/>
            <p:nvPr/>
          </p:nvSpPr>
          <p:spPr>
            <a:xfrm>
              <a:off x="5218749" y="3738998"/>
              <a:ext cx="3084499" cy="646331"/>
            </a:xfrm>
            <a:prstGeom prst="rect">
              <a:avLst/>
            </a:prstGeom>
          </p:spPr>
          <p:txBody>
            <a:bodyPr wrap="square">
              <a:spAutoFit/>
            </a:bodyPr>
            <a:lstStyle/>
            <a:p>
              <a:pPr marL="171450" indent="-171450" algn="r" rtl="1">
                <a:buFont typeface="Wingdings" panose="05000000000000000000" pitchFamily="2" charset="2"/>
                <a:buChar char="ü"/>
              </a:pPr>
              <a:r>
                <a:rPr lang="en-US" sz="900" b="1" dirty="0" smtClean="0">
                  <a:cs typeface="B Nazanin" panose="00000400000000000000" pitchFamily="2" charset="-78"/>
                </a:rPr>
                <a:t>………………….…………………..</a:t>
              </a:r>
              <a:r>
                <a:rPr lang="fa-IR" sz="900" b="1" dirty="0" smtClean="0">
                  <a:cs typeface="B Nazanin" panose="00000400000000000000" pitchFamily="2" charset="-78"/>
                </a:rPr>
                <a:t> ( 25 %)</a:t>
              </a:r>
              <a:endParaRPr lang="en-US" sz="900" b="1" dirty="0" smtClean="0">
                <a:cs typeface="B Nazanin" panose="00000400000000000000" pitchFamily="2" charset="-78"/>
              </a:endParaRPr>
            </a:p>
            <a:p>
              <a:pPr marL="171450" indent="-171450" algn="r" rtl="1">
                <a:buFont typeface="Wingdings" panose="05000000000000000000" pitchFamily="2" charset="2"/>
                <a:buChar char="ü"/>
              </a:pPr>
              <a:r>
                <a:rPr lang="en-US" sz="900" b="1" dirty="0" smtClean="0">
                  <a:cs typeface="B Nazanin" panose="00000400000000000000" pitchFamily="2" charset="-78"/>
                </a:rPr>
                <a:t>………………………..……..</a:t>
              </a:r>
              <a:r>
                <a:rPr lang="fa-IR" sz="900" b="1" dirty="0" smtClean="0">
                  <a:cs typeface="B Nazanin" panose="00000400000000000000" pitchFamily="2" charset="-78"/>
                </a:rPr>
                <a:t> ( 10% )</a:t>
              </a:r>
              <a:endParaRPr lang="en-US" sz="900" b="1" dirty="0" smtClean="0">
                <a:cs typeface="B Nazanin" panose="00000400000000000000" pitchFamily="2" charset="-78"/>
              </a:endParaRPr>
            </a:p>
            <a:p>
              <a:pPr marL="171450" indent="-171450" algn="r" rtl="1">
                <a:buFont typeface="Wingdings" panose="05000000000000000000" pitchFamily="2" charset="2"/>
                <a:buChar char="ü"/>
              </a:pPr>
              <a:r>
                <a:rPr lang="en-US" sz="900" b="1" dirty="0" smtClean="0">
                  <a:cs typeface="B Nazanin" panose="00000400000000000000" pitchFamily="2" charset="-78"/>
                </a:rPr>
                <a:t>…………………..</a:t>
              </a:r>
              <a:r>
                <a:rPr lang="fa-IR" sz="900" b="1" dirty="0" smtClean="0">
                  <a:cs typeface="B Nazanin" panose="00000400000000000000" pitchFamily="2" charset="-78"/>
                </a:rPr>
                <a:t> ( 35% )</a:t>
              </a:r>
              <a:endParaRPr lang="en-US" sz="900" b="1" dirty="0" smtClean="0">
                <a:cs typeface="B Nazanin" panose="00000400000000000000" pitchFamily="2" charset="-78"/>
              </a:endParaRPr>
            </a:p>
            <a:p>
              <a:pPr marL="171450" indent="-171450" algn="r" rtl="1">
                <a:buFont typeface="Wingdings" panose="05000000000000000000" pitchFamily="2" charset="2"/>
                <a:buChar char="ü"/>
              </a:pPr>
              <a:r>
                <a:rPr lang="en-US" sz="900" b="1" dirty="0" smtClean="0">
                  <a:cs typeface="B Nazanin" panose="00000400000000000000" pitchFamily="2" charset="-78"/>
                </a:rPr>
                <a:t>………………….………..</a:t>
              </a:r>
              <a:r>
                <a:rPr lang="fa-IR" sz="900" b="1" dirty="0" smtClean="0">
                  <a:cs typeface="B Nazanin" panose="00000400000000000000" pitchFamily="2" charset="-78"/>
                </a:rPr>
                <a:t> ( 20% )</a:t>
              </a:r>
              <a:endParaRPr lang="en-US" sz="900" b="1" dirty="0">
                <a:cs typeface="B Nazanin" panose="00000400000000000000" pitchFamily="2" charset="-78"/>
              </a:endParaRPr>
            </a:p>
          </p:txBody>
        </p:sp>
        <p:sp>
          <p:nvSpPr>
            <p:cNvPr id="24" name="Rectangle 23"/>
            <p:cNvSpPr/>
            <p:nvPr/>
          </p:nvSpPr>
          <p:spPr>
            <a:xfrm>
              <a:off x="5218749" y="3024423"/>
              <a:ext cx="2339144" cy="261610"/>
            </a:xfrm>
            <a:prstGeom prst="rect">
              <a:avLst/>
            </a:prstGeom>
          </p:spPr>
          <p:txBody>
            <a:bodyPr wrap="square">
              <a:spAutoFit/>
            </a:bodyPr>
            <a:lstStyle/>
            <a:p>
              <a:pPr algn="r" rtl="1"/>
              <a:r>
                <a:rPr lang="en-US" sz="1100" b="1" dirty="0" smtClean="0">
                  <a:cs typeface="B Nazanin" panose="00000400000000000000" pitchFamily="2" charset="-78"/>
                </a:rPr>
                <a:t>…….……………………….……………..</a:t>
              </a:r>
              <a:endParaRPr lang="en-US" sz="1100" b="1" dirty="0">
                <a:cs typeface="B Nazanin" panose="00000400000000000000" pitchFamily="2" charset="-78"/>
              </a:endParaRPr>
            </a:p>
          </p:txBody>
        </p:sp>
        <p:sp>
          <p:nvSpPr>
            <p:cNvPr id="25" name="Rectangle 24"/>
            <p:cNvSpPr/>
            <p:nvPr/>
          </p:nvSpPr>
          <p:spPr>
            <a:xfrm>
              <a:off x="5218749" y="3146621"/>
              <a:ext cx="3065262" cy="261610"/>
            </a:xfrm>
            <a:prstGeom prst="rect">
              <a:avLst/>
            </a:prstGeom>
          </p:spPr>
          <p:txBody>
            <a:bodyPr wrap="none">
              <a:spAutoFit/>
            </a:bodyPr>
            <a:lstStyle/>
            <a:p>
              <a:pPr algn="r" rtl="1"/>
              <a:r>
                <a:rPr lang="en-US" sz="1100" b="1" dirty="0" smtClean="0">
                  <a:cs typeface="B Nazanin" panose="00000400000000000000" pitchFamily="2" charset="-78"/>
                </a:rPr>
                <a:t>…………………………………………………………….</a:t>
              </a:r>
              <a:endParaRPr lang="en-US" sz="1100" b="1" dirty="0">
                <a:cs typeface="B Nazanin" panose="00000400000000000000" pitchFamily="2" charset="-78"/>
              </a:endParaRPr>
            </a:p>
          </p:txBody>
        </p:sp>
        <p:sp>
          <p:nvSpPr>
            <p:cNvPr id="26" name="Rectangle 25"/>
            <p:cNvSpPr/>
            <p:nvPr/>
          </p:nvSpPr>
          <p:spPr>
            <a:xfrm>
              <a:off x="5218749" y="3235564"/>
              <a:ext cx="3065262" cy="261610"/>
            </a:xfrm>
            <a:prstGeom prst="rect">
              <a:avLst/>
            </a:prstGeom>
          </p:spPr>
          <p:txBody>
            <a:bodyPr wrap="none">
              <a:spAutoFit/>
            </a:bodyPr>
            <a:lstStyle/>
            <a:p>
              <a:pPr algn="r" rtl="1"/>
              <a:r>
                <a:rPr lang="en-US" sz="1100" b="1" dirty="0" smtClean="0">
                  <a:cs typeface="B Nazanin" panose="00000400000000000000" pitchFamily="2" charset="-78"/>
                </a:rPr>
                <a:t>…………………………………………………………….</a:t>
              </a:r>
              <a:endParaRPr lang="en-US" sz="1100" b="1" dirty="0">
                <a:cs typeface="B Nazanin" panose="00000400000000000000" pitchFamily="2" charset="-78"/>
              </a:endParaRPr>
            </a:p>
          </p:txBody>
        </p:sp>
        <p:sp>
          <p:nvSpPr>
            <p:cNvPr id="20" name="Rectangle 19"/>
            <p:cNvSpPr/>
            <p:nvPr/>
          </p:nvSpPr>
          <p:spPr>
            <a:xfrm>
              <a:off x="7474174" y="3009035"/>
              <a:ext cx="809837" cy="276999"/>
            </a:xfrm>
            <a:prstGeom prst="rect">
              <a:avLst/>
            </a:prstGeom>
          </p:spPr>
          <p:txBody>
            <a:bodyPr wrap="none">
              <a:spAutoFit/>
            </a:bodyPr>
            <a:lstStyle/>
            <a:p>
              <a:pPr algn="r" rtl="1"/>
              <a:r>
                <a:rPr lang="fa-IR" sz="1200" b="1" dirty="0" smtClean="0">
                  <a:cs typeface="B Nazanin" panose="00000400000000000000" pitchFamily="2" charset="-78"/>
                </a:rPr>
                <a:t>خلاصه </a:t>
              </a:r>
              <a:r>
                <a:rPr lang="fa-IR" sz="1200" b="1" dirty="0">
                  <a:cs typeface="B Nazanin" panose="00000400000000000000" pitchFamily="2" charset="-78"/>
                </a:rPr>
                <a:t>کلی</a:t>
              </a:r>
              <a:r>
                <a:rPr lang="fa-IR" sz="1200" b="1" dirty="0" smtClean="0">
                  <a:cs typeface="B Nazanin" panose="00000400000000000000" pitchFamily="2" charset="-78"/>
                </a:rPr>
                <a:t>:</a:t>
              </a:r>
              <a:endParaRPr lang="en-US" sz="1200" b="1" dirty="0">
                <a:cs typeface="B Nazanin" panose="00000400000000000000" pitchFamily="2" charset="-78"/>
              </a:endParaRPr>
            </a:p>
          </p:txBody>
        </p:sp>
        <p:sp>
          <p:nvSpPr>
            <p:cNvPr id="29" name="Rectangle 28"/>
            <p:cNvSpPr/>
            <p:nvPr/>
          </p:nvSpPr>
          <p:spPr>
            <a:xfrm>
              <a:off x="6858621" y="4693596"/>
              <a:ext cx="1416003" cy="646331"/>
            </a:xfrm>
            <a:prstGeom prst="rect">
              <a:avLst/>
            </a:prstGeom>
          </p:spPr>
          <p:txBody>
            <a:bodyPr wrap="square">
              <a:spAutoFit/>
            </a:bodyPr>
            <a:lstStyle/>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endParaRPr lang="en-US" sz="900" b="1" dirty="0">
                <a:cs typeface="B Nazanin" panose="00000400000000000000" pitchFamily="2" charset="-78"/>
              </a:endParaRPr>
            </a:p>
          </p:txBody>
        </p:sp>
        <p:sp>
          <p:nvSpPr>
            <p:cNvPr id="30" name="Rectangle 29"/>
            <p:cNvSpPr/>
            <p:nvPr/>
          </p:nvSpPr>
          <p:spPr>
            <a:xfrm>
              <a:off x="5218748" y="5567187"/>
              <a:ext cx="3084499" cy="369332"/>
            </a:xfrm>
            <a:prstGeom prst="rect">
              <a:avLst/>
            </a:prstGeom>
          </p:spPr>
          <p:txBody>
            <a:bodyPr wrap="square">
              <a:spAutoFit/>
            </a:bodyPr>
            <a:lstStyle/>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p:txBody>
        </p:sp>
        <p:sp>
          <p:nvSpPr>
            <p:cNvPr id="31" name="Rectangle 30"/>
            <p:cNvSpPr/>
            <p:nvPr/>
          </p:nvSpPr>
          <p:spPr>
            <a:xfrm>
              <a:off x="6965385" y="6091052"/>
              <a:ext cx="1393289" cy="369332"/>
            </a:xfrm>
            <a:prstGeom prst="rect">
              <a:avLst/>
            </a:prstGeom>
          </p:spPr>
          <p:txBody>
            <a:bodyPr wrap="square">
              <a:spAutoFit/>
            </a:bodyPr>
            <a:lstStyle/>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p:txBody>
        </p:sp>
        <p:sp>
          <p:nvSpPr>
            <p:cNvPr id="32" name="Rectangle 31"/>
            <p:cNvSpPr/>
            <p:nvPr/>
          </p:nvSpPr>
          <p:spPr>
            <a:xfrm>
              <a:off x="5465332" y="6091030"/>
              <a:ext cx="1393289" cy="369332"/>
            </a:xfrm>
            <a:prstGeom prst="rect">
              <a:avLst/>
            </a:prstGeom>
          </p:spPr>
          <p:txBody>
            <a:bodyPr wrap="square">
              <a:spAutoFit/>
            </a:bodyPr>
            <a:lstStyle/>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p:txBody>
        </p:sp>
        <p:sp>
          <p:nvSpPr>
            <p:cNvPr id="33" name="Rectangle 32"/>
            <p:cNvSpPr/>
            <p:nvPr/>
          </p:nvSpPr>
          <p:spPr>
            <a:xfrm>
              <a:off x="5293915" y="4733097"/>
              <a:ext cx="1416003" cy="646331"/>
            </a:xfrm>
            <a:prstGeom prst="rect">
              <a:avLst/>
            </a:prstGeom>
          </p:spPr>
          <p:txBody>
            <a:bodyPr wrap="square">
              <a:spAutoFit/>
            </a:bodyPr>
            <a:lstStyle/>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p>
            <a:p>
              <a:pPr marL="171450" indent="-171450" algn="r" rtl="1">
                <a:buFont typeface="Wingdings" panose="05000000000000000000" pitchFamily="2" charset="2"/>
                <a:buChar char="ü"/>
              </a:pPr>
              <a:r>
                <a:rPr lang="en-US" sz="900" b="1" dirty="0" smtClean="0">
                  <a:cs typeface="B Nazanin" panose="00000400000000000000" pitchFamily="2" charset="-78"/>
                </a:rPr>
                <a:t>………….…..……..</a:t>
              </a:r>
              <a:endParaRPr lang="en-US" sz="900" b="1" dirty="0">
                <a:cs typeface="B Nazanin" panose="00000400000000000000" pitchFamily="2" charset="-78"/>
              </a:endParaRPr>
            </a:p>
          </p:txBody>
        </p:sp>
        <p:sp>
          <p:nvSpPr>
            <p:cNvPr id="37" name="Rectangle 36"/>
            <p:cNvSpPr/>
            <p:nvPr/>
          </p:nvSpPr>
          <p:spPr>
            <a:xfrm>
              <a:off x="5009956" y="4166579"/>
              <a:ext cx="1639873" cy="215444"/>
            </a:xfrm>
            <a:prstGeom prst="rect">
              <a:avLst/>
            </a:prstGeom>
          </p:spPr>
          <p:txBody>
            <a:bodyPr wrap="square">
              <a:spAutoFit/>
            </a:bodyPr>
            <a:lstStyle/>
            <a:p>
              <a:pPr marL="171450" indent="-171450" algn="r" rtl="1">
                <a:buFont typeface="Wingdings" panose="05000000000000000000" pitchFamily="2" charset="2"/>
                <a:buChar char="ü"/>
              </a:pPr>
              <a:r>
                <a:rPr lang="fa-IR" sz="800" b="1" dirty="0" smtClean="0">
                  <a:cs typeface="B Nazanin" panose="00000400000000000000" pitchFamily="2" charset="-78"/>
                </a:rPr>
                <a:t>سابیر موارد و وظایف محوله (10%) </a:t>
              </a:r>
              <a:endParaRPr lang="en-US" sz="800" b="1" dirty="0">
                <a:cs typeface="B Nazanin" panose="00000400000000000000" pitchFamily="2" charset="-78"/>
              </a:endParaRPr>
            </a:p>
          </p:txBody>
        </p:sp>
      </p:grpSp>
      <p:cxnSp>
        <p:nvCxnSpPr>
          <p:cNvPr id="40" name="Straight Arrow Connector 39"/>
          <p:cNvCxnSpPr/>
          <p:nvPr/>
        </p:nvCxnSpPr>
        <p:spPr>
          <a:xfrm>
            <a:off x="8214913" y="3996848"/>
            <a:ext cx="628641" cy="0"/>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8843554" y="3727534"/>
            <a:ext cx="3055875" cy="646331"/>
          </a:xfrm>
          <a:prstGeom prst="rect">
            <a:avLst/>
          </a:prstGeom>
        </p:spPr>
        <p:txBody>
          <a:bodyPr wrap="square">
            <a:spAutoFit/>
          </a:bodyPr>
          <a:lstStyle/>
          <a:p>
            <a:pPr algn="justLow" rtl="1"/>
            <a:r>
              <a:rPr lang="fa-IR" sz="1200" dirty="0" smtClean="0">
                <a:solidFill>
                  <a:srgbClr val="000000"/>
                </a:solidFill>
                <a:latin typeface="IRANSans"/>
                <a:cs typeface="B Nazanin" panose="00000400000000000000" pitchFamily="2" charset="-78"/>
              </a:rPr>
              <a:t>بهتر است درصد تقریبی کار برای هر مورد را مشخص کنیم . در این صورت درج مورد سایر موارد که مورد علاقه سازمانها نیز می باشد قابل توجیه است .  </a:t>
            </a:r>
            <a:endParaRPr lang="en-US" sz="1200" dirty="0">
              <a:solidFill>
                <a:srgbClr val="000000"/>
              </a:solidFill>
              <a:latin typeface="IRANSans"/>
              <a:cs typeface="B Nazanin" panose="00000400000000000000" pitchFamily="2" charset="-78"/>
            </a:endParaRPr>
          </a:p>
        </p:txBody>
      </p:sp>
      <p:cxnSp>
        <p:nvCxnSpPr>
          <p:cNvPr id="43" name="Straight Arrow Connector 42"/>
          <p:cNvCxnSpPr/>
          <p:nvPr/>
        </p:nvCxnSpPr>
        <p:spPr>
          <a:xfrm>
            <a:off x="8214913" y="4937998"/>
            <a:ext cx="628641" cy="0"/>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8843554" y="4643179"/>
            <a:ext cx="1416003" cy="646331"/>
          </a:xfrm>
          <a:prstGeom prst="rect">
            <a:avLst/>
          </a:prstGeom>
        </p:spPr>
        <p:txBody>
          <a:bodyPr wrap="square">
            <a:spAutoFit/>
          </a:bodyPr>
          <a:lstStyle/>
          <a:p>
            <a:pPr marL="171450" indent="-171450" algn="justLow">
              <a:buFont typeface="Arial" panose="020B0604020202020204" pitchFamily="34" charset="0"/>
              <a:buChar char="•"/>
            </a:pPr>
            <a:r>
              <a:rPr lang="en-US" sz="1200" dirty="0" smtClean="0">
                <a:solidFill>
                  <a:srgbClr val="000000"/>
                </a:solidFill>
                <a:latin typeface="IRANSans"/>
                <a:cs typeface="B Nazanin" panose="00000400000000000000" pitchFamily="2" charset="-78"/>
              </a:rPr>
              <a:t>Abilities</a:t>
            </a:r>
          </a:p>
          <a:p>
            <a:pPr marL="171450" indent="-171450" algn="justLow">
              <a:buFont typeface="Arial" panose="020B0604020202020204" pitchFamily="34" charset="0"/>
              <a:buChar char="•"/>
            </a:pPr>
            <a:r>
              <a:rPr lang="en-US" sz="1200" dirty="0" smtClean="0">
                <a:solidFill>
                  <a:srgbClr val="000000"/>
                </a:solidFill>
                <a:latin typeface="IRANSans"/>
                <a:cs typeface="B Nazanin" panose="00000400000000000000" pitchFamily="2" charset="-78"/>
              </a:rPr>
              <a:t>Skills</a:t>
            </a:r>
          </a:p>
          <a:p>
            <a:pPr marL="171450" indent="-171450" algn="justLow">
              <a:buFont typeface="Arial" panose="020B0604020202020204" pitchFamily="34" charset="0"/>
              <a:buChar char="•"/>
            </a:pPr>
            <a:r>
              <a:rPr lang="en-US" sz="1200" dirty="0" smtClean="0">
                <a:solidFill>
                  <a:srgbClr val="000000"/>
                </a:solidFill>
                <a:latin typeface="IRANSans"/>
                <a:cs typeface="B Nazanin" panose="00000400000000000000" pitchFamily="2" charset="-78"/>
              </a:rPr>
              <a:t>Knowledge</a:t>
            </a:r>
          </a:p>
        </p:txBody>
      </p:sp>
      <p:cxnSp>
        <p:nvCxnSpPr>
          <p:cNvPr id="45" name="Straight Arrow Connector 44"/>
          <p:cNvCxnSpPr/>
          <p:nvPr/>
        </p:nvCxnSpPr>
        <p:spPr>
          <a:xfrm>
            <a:off x="8224300" y="6047564"/>
            <a:ext cx="628641" cy="0"/>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8845548" y="5663360"/>
            <a:ext cx="3055875" cy="830997"/>
          </a:xfrm>
          <a:prstGeom prst="rect">
            <a:avLst/>
          </a:prstGeom>
        </p:spPr>
        <p:txBody>
          <a:bodyPr wrap="square">
            <a:spAutoFit/>
          </a:bodyPr>
          <a:lstStyle/>
          <a:p>
            <a:pPr algn="justLow" rtl="1"/>
            <a:r>
              <a:rPr lang="fa-IR" sz="1200" dirty="0" smtClean="0">
                <a:solidFill>
                  <a:srgbClr val="000000"/>
                </a:solidFill>
                <a:latin typeface="IRANSans"/>
                <a:cs typeface="B Nazanin" panose="00000400000000000000" pitchFamily="2" charset="-78"/>
              </a:rPr>
              <a:t>درج این قسمت موجب عدم سوگیری های پیشفرض برای جذب نیرو میگردد . مثلا نقص در پا ممکن است از ضرورتهای فیزیکی یک برنامه نویس نباشد ولی احتمالا سوگیری های پیش فرضی در این زمینه وجود دارد </a:t>
            </a:r>
            <a:endParaRPr lang="en-US" sz="1200" dirty="0">
              <a:solidFill>
                <a:srgbClr val="000000"/>
              </a:solidFill>
              <a:latin typeface="IRANSans"/>
              <a:cs typeface="B Nazanin" panose="00000400000000000000" pitchFamily="2" charset="-78"/>
            </a:endParaRPr>
          </a:p>
        </p:txBody>
      </p:sp>
      <p:sp>
        <p:nvSpPr>
          <p:cNvPr id="48" name="Rectangle 47"/>
          <p:cNvSpPr/>
          <p:nvPr/>
        </p:nvSpPr>
        <p:spPr>
          <a:xfrm>
            <a:off x="734971" y="5600246"/>
            <a:ext cx="3038011" cy="369332"/>
          </a:xfrm>
          <a:prstGeom prst="rect">
            <a:avLst/>
          </a:prstGeom>
        </p:spPr>
        <p:txBody>
          <a:bodyPr wrap="none">
            <a:spAutoFit/>
          </a:bodyPr>
          <a:lstStyle/>
          <a:p>
            <a:r>
              <a:rPr lang="en-US" b="1" dirty="0">
                <a:solidFill>
                  <a:srgbClr val="0070C0"/>
                </a:solidFill>
                <a:hlinkClick r:id="rId2"/>
              </a:rPr>
              <a:t>http://demo.idealms.ir/onet/</a:t>
            </a:r>
            <a:endParaRPr lang="en-US" b="1" dirty="0">
              <a:solidFill>
                <a:srgbClr val="0070C0"/>
              </a:solidFill>
            </a:endParaRPr>
          </a:p>
        </p:txBody>
      </p:sp>
      <p:pic>
        <p:nvPicPr>
          <p:cNvPr id="52" name="Picture 51"/>
          <p:cNvPicPr>
            <a:picLocks noChangeAspect="1"/>
          </p:cNvPicPr>
          <p:nvPr/>
        </p:nvPicPr>
        <p:blipFill>
          <a:blip r:embed="rId3"/>
          <a:stretch>
            <a:fillRect/>
          </a:stretch>
        </p:blipFill>
        <p:spPr>
          <a:xfrm>
            <a:off x="418597" y="3803150"/>
            <a:ext cx="4380989" cy="596403"/>
          </a:xfrm>
          <a:prstGeom prst="rect">
            <a:avLst/>
          </a:prstGeom>
        </p:spPr>
      </p:pic>
      <p:sp>
        <p:nvSpPr>
          <p:cNvPr id="53" name="Rectangle 52"/>
          <p:cNvSpPr/>
          <p:nvPr/>
        </p:nvSpPr>
        <p:spPr>
          <a:xfrm>
            <a:off x="679269" y="2919569"/>
            <a:ext cx="3859646" cy="738664"/>
          </a:xfrm>
          <a:prstGeom prst="rect">
            <a:avLst/>
          </a:prstGeom>
        </p:spPr>
        <p:txBody>
          <a:bodyPr wrap="square">
            <a:spAutoFit/>
          </a:bodyPr>
          <a:lstStyle/>
          <a:p>
            <a:pPr marL="285750" indent="-285750" algn="justLow" rtl="1">
              <a:buFont typeface="Wingdings" panose="05000000000000000000" pitchFamily="2" charset="2"/>
              <a:buChar char="ü"/>
            </a:pPr>
            <a:r>
              <a:rPr lang="fa-IR" sz="1400" dirty="0">
                <a:solidFill>
                  <a:srgbClr val="0070C0"/>
                </a:solidFill>
                <a:latin typeface="IRANSans"/>
                <a:cs typeface="B Nazanin" panose="00000400000000000000" pitchFamily="2" charset="-78"/>
              </a:rPr>
              <a:t>یکی از سایت‌های مرجع در جهان برای تنظیم شرح شغل‌ها و شرایط احراز شغل </a:t>
            </a:r>
            <a:r>
              <a:rPr lang="fa-IR" sz="1400" dirty="0" smtClean="0">
                <a:solidFill>
                  <a:srgbClr val="0070C0"/>
                </a:solidFill>
                <a:latin typeface="IRANSans"/>
                <a:cs typeface="B Nazanin" panose="00000400000000000000" pitchFamily="2" charset="-78"/>
              </a:rPr>
              <a:t>سایت</a:t>
            </a:r>
            <a:r>
              <a:rPr lang="en-US" sz="1400" dirty="0" smtClean="0">
                <a:solidFill>
                  <a:srgbClr val="0070C0"/>
                </a:solidFill>
                <a:latin typeface="IRANSans"/>
                <a:cs typeface="B Nazanin" panose="00000400000000000000" pitchFamily="2" charset="-78"/>
              </a:rPr>
              <a:t> O*NET </a:t>
            </a:r>
            <a:r>
              <a:rPr lang="en-US" sz="1400" dirty="0">
                <a:solidFill>
                  <a:srgbClr val="0070C0"/>
                </a:solidFill>
                <a:latin typeface="IRANSans"/>
                <a:cs typeface="B Nazanin" panose="00000400000000000000" pitchFamily="2" charset="-78"/>
              </a:rPr>
              <a:t> </a:t>
            </a:r>
            <a:r>
              <a:rPr lang="fa-IR" sz="1400" dirty="0">
                <a:solidFill>
                  <a:srgbClr val="0070C0"/>
                </a:solidFill>
                <a:latin typeface="IRANSans"/>
                <a:cs typeface="B Nazanin" panose="00000400000000000000" pitchFamily="2" charset="-78"/>
              </a:rPr>
              <a:t>است (خوانده می‌شود: </a:t>
            </a:r>
            <a:r>
              <a:rPr lang="en-US" sz="1400" dirty="0" smtClean="0">
                <a:solidFill>
                  <a:srgbClr val="0070C0"/>
                </a:solidFill>
                <a:latin typeface="IRANSans"/>
                <a:cs typeface="B Nazanin" panose="00000400000000000000" pitchFamily="2" charset="-78"/>
              </a:rPr>
              <a:t>(O </a:t>
            </a:r>
            <a:r>
              <a:rPr lang="en-US" sz="1400" dirty="0">
                <a:solidFill>
                  <a:srgbClr val="0070C0"/>
                </a:solidFill>
                <a:latin typeface="IRANSans"/>
                <a:cs typeface="B Nazanin" panose="00000400000000000000" pitchFamily="2" charset="-78"/>
              </a:rPr>
              <a:t>Star Net)</a:t>
            </a:r>
          </a:p>
        </p:txBody>
      </p:sp>
      <p:sp>
        <p:nvSpPr>
          <p:cNvPr id="54" name="Rectangle 53"/>
          <p:cNvSpPr/>
          <p:nvPr/>
        </p:nvSpPr>
        <p:spPr>
          <a:xfrm>
            <a:off x="679269" y="5302440"/>
            <a:ext cx="3859646" cy="307777"/>
          </a:xfrm>
          <a:prstGeom prst="rect">
            <a:avLst/>
          </a:prstGeom>
        </p:spPr>
        <p:txBody>
          <a:bodyPr wrap="square">
            <a:spAutoFit/>
          </a:bodyPr>
          <a:lstStyle/>
          <a:p>
            <a:pPr marL="285750" indent="-285750" algn="justLow" rtl="1">
              <a:buFont typeface="Wingdings" panose="05000000000000000000" pitchFamily="2" charset="2"/>
              <a:buChar char="ü"/>
            </a:pPr>
            <a:r>
              <a:rPr lang="fa-IR" sz="1400" dirty="0" smtClean="0">
                <a:solidFill>
                  <a:srgbClr val="0070C0"/>
                </a:solidFill>
                <a:latin typeface="IRANSans"/>
                <a:cs typeface="B Nazanin" panose="00000400000000000000" pitchFamily="2" charset="-78"/>
              </a:rPr>
              <a:t>نمونه ایرانی و فارسی </a:t>
            </a:r>
            <a:r>
              <a:rPr lang="en-US" sz="1400" dirty="0" smtClean="0">
                <a:solidFill>
                  <a:srgbClr val="0070C0"/>
                </a:solidFill>
                <a:latin typeface="IRANSans"/>
                <a:cs typeface="B Nazanin" panose="00000400000000000000" pitchFamily="2" charset="-78"/>
              </a:rPr>
              <a:t>O*NET </a:t>
            </a:r>
            <a:r>
              <a:rPr lang="en-US" sz="1400" dirty="0">
                <a:solidFill>
                  <a:srgbClr val="0070C0"/>
                </a:solidFill>
                <a:latin typeface="IRANSans"/>
                <a:cs typeface="B Nazanin" panose="00000400000000000000" pitchFamily="2" charset="-78"/>
              </a:rPr>
              <a:t> </a:t>
            </a:r>
          </a:p>
        </p:txBody>
      </p:sp>
      <p:sp>
        <p:nvSpPr>
          <p:cNvPr id="56" name="Rectangle 55"/>
          <p:cNvSpPr/>
          <p:nvPr/>
        </p:nvSpPr>
        <p:spPr>
          <a:xfrm>
            <a:off x="365760" y="4421213"/>
            <a:ext cx="4224164" cy="523220"/>
          </a:xfrm>
          <a:prstGeom prst="rect">
            <a:avLst/>
          </a:prstGeom>
        </p:spPr>
        <p:txBody>
          <a:bodyPr wrap="square">
            <a:spAutoFit/>
          </a:bodyPr>
          <a:lstStyle/>
          <a:p>
            <a:pPr marL="285750" indent="-285750" algn="justLow" rtl="1">
              <a:buFont typeface="Arial" panose="020B0604020202020204" pitchFamily="34" charset="0"/>
              <a:buChar char="•"/>
            </a:pPr>
            <a:r>
              <a:rPr lang="fa-IR" sz="1400" dirty="0" smtClean="0">
                <a:solidFill>
                  <a:srgbClr val="0070C0"/>
                </a:solidFill>
                <a:latin typeface="IRANSans"/>
                <a:cs typeface="B Nazanin" panose="00000400000000000000" pitchFamily="2" charset="-78"/>
              </a:rPr>
              <a:t>دارای سرویس </a:t>
            </a:r>
            <a:r>
              <a:rPr lang="en-US" sz="1400" dirty="0" err="1" smtClean="0">
                <a:solidFill>
                  <a:srgbClr val="0070C0"/>
                </a:solidFill>
                <a:latin typeface="IRANSans"/>
                <a:cs typeface="B Nazanin" panose="00000400000000000000" pitchFamily="2" charset="-78"/>
              </a:rPr>
              <a:t>Api</a:t>
            </a:r>
            <a:r>
              <a:rPr lang="en-US" sz="1400" dirty="0" smtClean="0">
                <a:solidFill>
                  <a:srgbClr val="0070C0"/>
                </a:solidFill>
                <a:latin typeface="IRANSans"/>
                <a:cs typeface="B Nazanin" panose="00000400000000000000" pitchFamily="2" charset="-78"/>
              </a:rPr>
              <a:t> </a:t>
            </a:r>
            <a:r>
              <a:rPr lang="fa-IR" sz="1400" dirty="0" smtClean="0">
                <a:solidFill>
                  <a:srgbClr val="0070C0"/>
                </a:solidFill>
                <a:latin typeface="IRANSans"/>
                <a:cs typeface="B Nazanin" panose="00000400000000000000" pitchFamily="2" charset="-78"/>
              </a:rPr>
              <a:t> برای توسعه دهندگان </a:t>
            </a:r>
          </a:p>
          <a:p>
            <a:pPr marL="285750" indent="-285750" algn="justLow" rtl="1">
              <a:buFont typeface="Arial" panose="020B0604020202020204" pitchFamily="34" charset="0"/>
              <a:buChar char="•"/>
            </a:pPr>
            <a:r>
              <a:rPr lang="fa-IR" sz="1400" dirty="0" smtClean="0">
                <a:solidFill>
                  <a:srgbClr val="0070C0"/>
                </a:solidFill>
                <a:latin typeface="IRANSans"/>
                <a:cs typeface="B Nazanin" panose="00000400000000000000" pitchFamily="2" charset="-78"/>
              </a:rPr>
              <a:t>امکان دریافت فایل اطلاعات تخصص ها ، توانایی ها ، مهارت ها و ... </a:t>
            </a:r>
          </a:p>
        </p:txBody>
      </p:sp>
      <p:sp>
        <p:nvSpPr>
          <p:cNvPr id="57" name="Right Brace 56"/>
          <p:cNvSpPr/>
          <p:nvPr/>
        </p:nvSpPr>
        <p:spPr>
          <a:xfrm>
            <a:off x="8197422" y="1357950"/>
            <a:ext cx="313509" cy="853831"/>
          </a:xfrm>
          <a:prstGeom prst="rightBrace">
            <a:avLst>
              <a:gd name="adj1" fmla="val 25000"/>
              <a:gd name="adj2" fmla="val 48470"/>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29670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ارزیابی عملکرد کارکنان </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sp>
        <p:nvSpPr>
          <p:cNvPr id="3" name="Rectangle 2"/>
          <p:cNvSpPr/>
          <p:nvPr/>
        </p:nvSpPr>
        <p:spPr>
          <a:xfrm>
            <a:off x="522515" y="1418046"/>
            <a:ext cx="10920548" cy="584775"/>
          </a:xfrm>
          <a:prstGeom prst="rect">
            <a:avLst/>
          </a:prstGeom>
        </p:spPr>
        <p:txBody>
          <a:bodyPr wrap="square">
            <a:spAutoFit/>
          </a:bodyPr>
          <a:lstStyle/>
          <a:p>
            <a:pPr marL="285750" indent="-285750" algn="r" rtl="1">
              <a:buFont typeface="Wingdings" panose="05000000000000000000" pitchFamily="2" charset="2"/>
              <a:buChar char="ü"/>
            </a:pPr>
            <a:r>
              <a:rPr lang="fa-IR" sz="1600" dirty="0">
                <a:cs typeface="B Nazanin" panose="00000400000000000000" pitchFamily="2" charset="-78"/>
              </a:rPr>
              <a:t>در </a:t>
            </a:r>
            <a:r>
              <a:rPr lang="fa-IR" sz="1600" b="1" dirty="0">
                <a:solidFill>
                  <a:srgbClr val="6600CC"/>
                </a:solidFill>
                <a:cs typeface="B Nazanin" panose="00000400000000000000" pitchFamily="2" charset="-78"/>
              </a:rPr>
              <a:t>سازمان‌های بزرگ</a:t>
            </a:r>
            <a:r>
              <a:rPr lang="fa-IR" sz="1600" dirty="0">
                <a:cs typeface="B Nazanin" panose="00000400000000000000" pitchFamily="2" charset="-78"/>
              </a:rPr>
              <a:t>، مکانیزم‌های </a:t>
            </a:r>
            <a:r>
              <a:rPr lang="fa-IR" sz="1600" b="1" dirty="0">
                <a:solidFill>
                  <a:srgbClr val="6600CC"/>
                </a:solidFill>
                <a:cs typeface="B Nazanin" panose="00000400000000000000" pitchFamily="2" charset="-78"/>
              </a:rPr>
              <a:t>رسمی</a:t>
            </a:r>
            <a:r>
              <a:rPr lang="fa-IR" sz="1600" dirty="0">
                <a:cs typeface="B Nazanin" panose="00000400000000000000" pitchFamily="2" charset="-78"/>
              </a:rPr>
              <a:t> مشخصی برای </a:t>
            </a:r>
            <a:r>
              <a:rPr lang="fa-IR" sz="1600" b="1" dirty="0">
                <a:solidFill>
                  <a:srgbClr val="FF0000"/>
                </a:solidFill>
                <a:cs typeface="B Nazanin" panose="00000400000000000000" pitchFamily="2" charset="-78"/>
              </a:rPr>
              <a:t>ارزیابی عملکرد </a:t>
            </a:r>
            <a:r>
              <a:rPr lang="fa-IR" sz="1600" dirty="0">
                <a:cs typeface="B Nazanin" panose="00000400000000000000" pitchFamily="2" charset="-78"/>
              </a:rPr>
              <a:t>در نظر گرفته می‌شود و در شرکت‌ها و </a:t>
            </a:r>
            <a:r>
              <a:rPr lang="fa-IR" sz="1600" b="1" dirty="0">
                <a:solidFill>
                  <a:srgbClr val="00B050"/>
                </a:solidFill>
                <a:cs typeface="B Nazanin" panose="00000400000000000000" pitchFamily="2" charset="-78"/>
              </a:rPr>
              <a:t>مجموعه‌های کوچک</a:t>
            </a:r>
            <a:r>
              <a:rPr lang="fa-IR" sz="1600" dirty="0">
                <a:cs typeface="B Nazanin" panose="00000400000000000000" pitchFamily="2" charset="-78"/>
              </a:rPr>
              <a:t>، این کار عموماً به صورت</a:t>
            </a:r>
            <a:r>
              <a:rPr lang="fa-IR" sz="1600" b="1" dirty="0">
                <a:solidFill>
                  <a:srgbClr val="00B050"/>
                </a:solidFill>
                <a:cs typeface="B Nazanin" panose="00000400000000000000" pitchFamily="2" charset="-78"/>
              </a:rPr>
              <a:t> غیررسمی </a:t>
            </a:r>
            <a:r>
              <a:rPr lang="fa-IR" sz="1600" dirty="0">
                <a:cs typeface="B Nazanin" panose="00000400000000000000" pitchFamily="2" charset="-78"/>
              </a:rPr>
              <a:t>و گاهی در ذهن مدیر انجام می‌شود.</a:t>
            </a:r>
            <a:endParaRPr lang="en-US" sz="1600" dirty="0">
              <a:cs typeface="B Nazanin" panose="00000400000000000000" pitchFamily="2" charset="-78"/>
            </a:endParaRPr>
          </a:p>
        </p:txBody>
      </p:sp>
      <p:sp>
        <p:nvSpPr>
          <p:cNvPr id="4" name="Rectangle 3"/>
          <p:cNvSpPr/>
          <p:nvPr/>
        </p:nvSpPr>
        <p:spPr>
          <a:xfrm>
            <a:off x="608432" y="2027792"/>
            <a:ext cx="10894423" cy="584775"/>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algn="r" rtl="1"/>
            <a:r>
              <a:rPr lang="fa-IR" sz="1600" dirty="0">
                <a:cs typeface="B Nazanin" panose="00000400000000000000" pitchFamily="2" charset="-78"/>
              </a:rPr>
              <a:t>به هر حال، همه مدیران منابع انسانی (یا در مجموعه‌های کوچکتر، مدیر تیم) همیشه این مسئله را در خاطر دارند که فرایندهای رسمی و مکانیکی ارزیابی عملکرد هم، باید به شکلی با ارزیابی‌های غیررسمی ترکیب شوند.</a:t>
            </a:r>
            <a:endParaRPr lang="en-US" sz="1600" dirty="0">
              <a:cs typeface="B Nazanin" panose="00000400000000000000" pitchFamily="2" charset="-78"/>
            </a:endParaRPr>
          </a:p>
        </p:txBody>
      </p:sp>
      <p:sp>
        <p:nvSpPr>
          <p:cNvPr id="5" name="Rectangle 4"/>
          <p:cNvSpPr/>
          <p:nvPr/>
        </p:nvSpPr>
        <p:spPr>
          <a:xfrm>
            <a:off x="522515" y="2703397"/>
            <a:ext cx="10920548" cy="584775"/>
          </a:xfrm>
          <a:prstGeom prst="rect">
            <a:avLst/>
          </a:prstGeom>
        </p:spPr>
        <p:txBody>
          <a:bodyPr wrap="square">
            <a:spAutoFit/>
          </a:bodyPr>
          <a:lstStyle/>
          <a:p>
            <a:pPr marL="285750" indent="-285750" algn="r" rtl="1">
              <a:buFont typeface="Wingdings" panose="05000000000000000000" pitchFamily="2" charset="2"/>
              <a:buChar char="ü"/>
            </a:pPr>
            <a:r>
              <a:rPr lang="fa-IR" sz="1600" dirty="0">
                <a:cs typeface="B Nazanin" panose="00000400000000000000" pitchFamily="2" charset="-78"/>
              </a:rPr>
              <a:t>مهم این است که به خاطر داشته باشیم که همه انسانها </a:t>
            </a:r>
            <a:r>
              <a:rPr lang="fa-IR" sz="1600" b="1" dirty="0">
                <a:solidFill>
                  <a:srgbClr val="C00000"/>
                </a:solidFill>
                <a:cs typeface="B Nazanin" panose="00000400000000000000" pitchFamily="2" charset="-78"/>
              </a:rPr>
              <a:t>بازخورد</a:t>
            </a:r>
            <a:r>
              <a:rPr lang="fa-IR" sz="1600" dirty="0">
                <a:cs typeface="B Nazanin" panose="00000400000000000000" pitchFamily="2" charset="-78"/>
              </a:rPr>
              <a:t> گرفتن را دوست ندارند. در واقع برای خیلی از آنها،‌ بازخورد شنیدن سخت است و حتی از آن نفرت دارند. وظیفه شما این است که حضور در چنین جلساتی را برای همکاران خود تسهیل کنید.</a:t>
            </a:r>
            <a:endParaRPr lang="en-US" sz="1600" dirty="0">
              <a:cs typeface="B Nazanin" panose="00000400000000000000" pitchFamily="2" charset="-78"/>
            </a:endParaRPr>
          </a:p>
        </p:txBody>
      </p:sp>
      <p:grpSp>
        <p:nvGrpSpPr>
          <p:cNvPr id="18" name="Group 17"/>
          <p:cNvGrpSpPr/>
          <p:nvPr/>
        </p:nvGrpSpPr>
        <p:grpSpPr>
          <a:xfrm>
            <a:off x="431074" y="3413676"/>
            <a:ext cx="11071782" cy="1373645"/>
            <a:chOff x="431074" y="3962318"/>
            <a:chExt cx="11071782" cy="1373645"/>
          </a:xfrm>
        </p:grpSpPr>
        <p:sp>
          <p:nvSpPr>
            <p:cNvPr id="6" name="Rectangle 5"/>
            <p:cNvSpPr/>
            <p:nvPr/>
          </p:nvSpPr>
          <p:spPr>
            <a:xfrm>
              <a:off x="10717063" y="4313935"/>
              <a:ext cx="785793" cy="369332"/>
            </a:xfrm>
            <a:prstGeom prst="rect">
              <a:avLst/>
            </a:prstGeom>
          </p:spPr>
          <p:txBody>
            <a:bodyPr wrap="none">
              <a:spAutoFit/>
            </a:bodyPr>
            <a:lstStyle/>
            <a:p>
              <a:r>
                <a:rPr lang="fa-IR" b="1" dirty="0">
                  <a:solidFill>
                    <a:srgbClr val="C00000"/>
                  </a:solidFill>
                  <a:latin typeface="IRANSans"/>
                  <a:cs typeface="B Nazanin" panose="00000400000000000000" pitchFamily="2" charset="-78"/>
                </a:rPr>
                <a:t>عملکرد</a:t>
              </a:r>
              <a:endParaRPr lang="en-US" b="1" dirty="0">
                <a:solidFill>
                  <a:srgbClr val="C00000"/>
                </a:solidFill>
                <a:cs typeface="B Nazanin" panose="00000400000000000000" pitchFamily="2" charset="-78"/>
              </a:endParaRPr>
            </a:p>
          </p:txBody>
        </p:sp>
        <p:sp>
          <p:nvSpPr>
            <p:cNvPr id="7" name="Rectangle 6"/>
            <p:cNvSpPr/>
            <p:nvPr/>
          </p:nvSpPr>
          <p:spPr>
            <a:xfrm>
              <a:off x="6609806" y="4014782"/>
              <a:ext cx="3709852" cy="369332"/>
            </a:xfrm>
            <a:prstGeom prst="rect">
              <a:avLst/>
            </a:prstGeom>
          </p:spPr>
          <p:txBody>
            <a:bodyPr wrap="square">
              <a:spAutoFit/>
            </a:bodyPr>
            <a:lstStyle/>
            <a:p>
              <a:pPr marL="285750" indent="-285750" algn="r" rtl="1">
                <a:buFont typeface="Arial" panose="020B0604020202020204" pitchFamily="34" charset="0"/>
                <a:buChar char="•"/>
              </a:pPr>
              <a:r>
                <a:rPr lang="fa-IR" dirty="0">
                  <a:solidFill>
                    <a:srgbClr val="000000"/>
                  </a:solidFill>
                  <a:latin typeface="IRANSans"/>
                  <a:cs typeface="B Nazanin" panose="00000400000000000000" pitchFamily="2" charset="-78"/>
                </a:rPr>
                <a:t>عملکرد </a:t>
              </a:r>
              <a:r>
                <a:rPr lang="fa-IR" b="1" dirty="0">
                  <a:solidFill>
                    <a:srgbClr val="C00000"/>
                  </a:solidFill>
                  <a:latin typeface="IRANSans"/>
                  <a:cs typeface="B Nazanin" panose="00000400000000000000" pitchFamily="2" charset="-78"/>
                </a:rPr>
                <a:t>وظیفه‌ای</a:t>
              </a:r>
              <a:r>
                <a:rPr lang="fa-IR" dirty="0">
                  <a:solidFill>
                    <a:srgbClr val="000000"/>
                  </a:solidFill>
                  <a:latin typeface="IRANSans"/>
                  <a:cs typeface="B Nazanin" panose="00000400000000000000" pitchFamily="2" charset="-78"/>
                </a:rPr>
                <a:t> یا </a:t>
              </a:r>
              <a:r>
                <a:rPr lang="en-US" sz="1400" b="1" dirty="0">
                  <a:solidFill>
                    <a:srgbClr val="000000"/>
                  </a:solidFill>
                  <a:latin typeface="IRANSans"/>
                  <a:cs typeface="B Nazanin" panose="00000400000000000000" pitchFamily="2" charset="-78"/>
                </a:rPr>
                <a:t>Task </a:t>
              </a:r>
              <a:r>
                <a:rPr lang="en-US" sz="1400" b="1" dirty="0" smtClean="0">
                  <a:solidFill>
                    <a:srgbClr val="000000"/>
                  </a:solidFill>
                  <a:latin typeface="IRANSans"/>
                  <a:cs typeface="B Nazanin" panose="00000400000000000000" pitchFamily="2" charset="-78"/>
                </a:rPr>
                <a:t>Performance</a:t>
              </a:r>
              <a:endParaRPr lang="en-US" b="1" dirty="0">
                <a:solidFill>
                  <a:srgbClr val="000000"/>
                </a:solidFill>
                <a:latin typeface="IRANSans"/>
                <a:cs typeface="B Nazanin" panose="00000400000000000000" pitchFamily="2" charset="-78"/>
              </a:endParaRPr>
            </a:p>
          </p:txBody>
        </p:sp>
        <p:sp>
          <p:nvSpPr>
            <p:cNvPr id="9" name="Rectangle 8"/>
            <p:cNvSpPr/>
            <p:nvPr/>
          </p:nvSpPr>
          <p:spPr>
            <a:xfrm>
              <a:off x="4650377" y="4689632"/>
              <a:ext cx="5669281" cy="646331"/>
            </a:xfrm>
            <a:prstGeom prst="rect">
              <a:avLst/>
            </a:prstGeom>
          </p:spPr>
          <p:txBody>
            <a:bodyPr wrap="square">
              <a:spAutoFit/>
            </a:bodyPr>
            <a:lstStyle/>
            <a:p>
              <a:pPr marL="285750" indent="-285750" algn="r" rtl="1">
                <a:buFont typeface="Arial" panose="020B0604020202020204" pitchFamily="34" charset="0"/>
                <a:buChar char="•"/>
              </a:pPr>
              <a:r>
                <a:rPr lang="fa-IR" dirty="0">
                  <a:solidFill>
                    <a:srgbClr val="000000"/>
                  </a:solidFill>
                  <a:latin typeface="IRANSans"/>
                  <a:cs typeface="B Nazanin" panose="00000400000000000000" pitchFamily="2" charset="-78"/>
                </a:rPr>
                <a:t>عملکرد در بستر سازمان یا </a:t>
              </a:r>
              <a:r>
                <a:rPr lang="en-US" sz="1400" b="1" dirty="0" smtClean="0">
                  <a:solidFill>
                    <a:srgbClr val="000000"/>
                  </a:solidFill>
                  <a:latin typeface="IRANSans"/>
                  <a:cs typeface="B Nazanin" panose="00000400000000000000" pitchFamily="2" charset="-78"/>
                </a:rPr>
                <a:t>Contextual Performance</a:t>
              </a:r>
              <a:r>
                <a:rPr lang="fa-IR" sz="1400" b="1" dirty="0" smtClean="0">
                  <a:solidFill>
                    <a:srgbClr val="000000"/>
                  </a:solidFill>
                  <a:latin typeface="IRANSans"/>
                  <a:cs typeface="B Nazanin" panose="00000400000000000000" pitchFamily="2" charset="-78"/>
                </a:rPr>
                <a:t> </a:t>
              </a:r>
            </a:p>
            <a:p>
              <a:pPr algn="r" rtl="1"/>
              <a:r>
                <a:rPr lang="fa-IR" dirty="0" smtClean="0">
                  <a:latin typeface="IRANSans"/>
                  <a:cs typeface="B Nazanin" panose="00000400000000000000" pitchFamily="2" charset="-78"/>
                </a:rPr>
                <a:t>              (</a:t>
              </a:r>
              <a:r>
                <a:rPr lang="fa-IR" dirty="0" smtClean="0">
                  <a:solidFill>
                    <a:srgbClr val="C00000"/>
                  </a:solidFill>
                  <a:latin typeface="IRANSans"/>
                  <a:cs typeface="B Nazanin" panose="00000400000000000000" pitchFamily="2" charset="-78"/>
                </a:rPr>
                <a:t> </a:t>
              </a:r>
              <a:r>
                <a:rPr lang="fa-IR" b="1" dirty="0">
                  <a:solidFill>
                    <a:srgbClr val="0070C0"/>
                  </a:solidFill>
                  <a:latin typeface="IRANSans"/>
                  <a:cs typeface="B Nazanin" panose="00000400000000000000" pitchFamily="2" charset="-78"/>
                </a:rPr>
                <a:t>زمینه ای </a:t>
              </a:r>
              <a:r>
                <a:rPr lang="fa-IR" dirty="0">
                  <a:latin typeface="IRANSans"/>
                  <a:cs typeface="B Nazanin" panose="00000400000000000000" pitchFamily="2" charset="-78"/>
                </a:rPr>
                <a:t>)</a:t>
              </a:r>
              <a:endParaRPr lang="en-US" dirty="0">
                <a:latin typeface="IRANSans"/>
                <a:cs typeface="B Nazanin" panose="00000400000000000000" pitchFamily="2" charset="-78"/>
              </a:endParaRPr>
            </a:p>
          </p:txBody>
        </p:sp>
        <p:sp>
          <p:nvSpPr>
            <p:cNvPr id="10" name="Rectangle 9"/>
            <p:cNvSpPr/>
            <p:nvPr/>
          </p:nvSpPr>
          <p:spPr>
            <a:xfrm>
              <a:off x="431075" y="3962318"/>
              <a:ext cx="5447210" cy="523220"/>
            </a:xfrm>
            <a:prstGeom prst="rect">
              <a:avLst/>
            </a:prstGeom>
            <a:solidFill>
              <a:schemeClr val="accent5">
                <a:lumMod val="20000"/>
                <a:lumOff val="80000"/>
              </a:schemeClr>
            </a:solidFill>
          </p:spPr>
          <p:txBody>
            <a:bodyPr wrap="square">
              <a:spAutoFit/>
            </a:bodyPr>
            <a:lstStyle/>
            <a:p>
              <a:pPr marL="285750" indent="-285750" algn="r" rtl="1">
                <a:buFont typeface="Wingdings" panose="05000000000000000000" pitchFamily="2" charset="2"/>
                <a:buChar char="ü"/>
              </a:pPr>
              <a:r>
                <a:rPr lang="fa-IR" sz="1400" dirty="0" smtClean="0">
                  <a:cs typeface="B Nazanin" panose="00000400000000000000" pitchFamily="2" charset="-78"/>
                </a:rPr>
                <a:t>اینکه فرد تا چه حد وظیفه ای را که به عهده او گذاشته ایم با کیفیت انجام می دهد . و آیا   اثر بخشی فعالیت هایش در سطح مطلوب است ؟ </a:t>
              </a:r>
              <a:endParaRPr lang="en-US" sz="1400" dirty="0">
                <a:cs typeface="B Nazanin" panose="00000400000000000000" pitchFamily="2" charset="-78"/>
              </a:endParaRPr>
            </a:p>
          </p:txBody>
        </p:sp>
        <p:sp>
          <p:nvSpPr>
            <p:cNvPr id="11" name="Rectangle 10"/>
            <p:cNvSpPr/>
            <p:nvPr/>
          </p:nvSpPr>
          <p:spPr>
            <a:xfrm>
              <a:off x="431074" y="4710072"/>
              <a:ext cx="5460274" cy="523220"/>
            </a:xfrm>
            <a:prstGeom prst="rect">
              <a:avLst/>
            </a:prstGeom>
            <a:solidFill>
              <a:schemeClr val="accent5">
                <a:lumMod val="20000"/>
                <a:lumOff val="80000"/>
              </a:schemeClr>
            </a:solidFill>
          </p:spPr>
          <p:txBody>
            <a:bodyPr wrap="square">
              <a:spAutoFit/>
            </a:bodyPr>
            <a:lstStyle/>
            <a:p>
              <a:pPr marL="285750" indent="-285750" algn="r" rtl="1">
                <a:buFont typeface="Wingdings" panose="05000000000000000000" pitchFamily="2" charset="2"/>
                <a:buChar char="ü"/>
              </a:pPr>
              <a:r>
                <a:rPr lang="fa-IR" sz="1400" dirty="0" smtClean="0">
                  <a:cs typeface="B Nazanin" panose="00000400000000000000" pitchFamily="2" charset="-78"/>
                </a:rPr>
                <a:t>اینکه فرد تا چه حد حاضر است فراتر از وظیفه رسمی و تعریف شده محول شده به وی عمل کند .  </a:t>
              </a:r>
              <a:endParaRPr lang="en-US" sz="1400" dirty="0">
                <a:cs typeface="B Nazanin" panose="00000400000000000000" pitchFamily="2" charset="-78"/>
              </a:endParaRPr>
            </a:p>
          </p:txBody>
        </p:sp>
        <p:cxnSp>
          <p:nvCxnSpPr>
            <p:cNvPr id="13" name="Straight Connector 12"/>
            <p:cNvCxnSpPr/>
            <p:nvPr/>
          </p:nvCxnSpPr>
          <p:spPr>
            <a:xfrm flipH="1" flipV="1">
              <a:off x="10259863" y="4164582"/>
              <a:ext cx="483326" cy="3601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0272926" y="4516880"/>
              <a:ext cx="470263" cy="3133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4383600" y="5199948"/>
            <a:ext cx="2181496" cy="1077218"/>
          </a:xfrm>
          <a:prstGeom prst="rect">
            <a:avLst/>
          </a:prstGeom>
          <a:solidFill>
            <a:srgbClr val="FFFFCC"/>
          </a:solidFill>
        </p:spPr>
        <p:style>
          <a:lnRef idx="2">
            <a:schemeClr val="accent6"/>
          </a:lnRef>
          <a:fillRef idx="1">
            <a:schemeClr val="lt1"/>
          </a:fillRef>
          <a:effectRef idx="0">
            <a:schemeClr val="accent6"/>
          </a:effectRef>
          <a:fontRef idx="minor">
            <a:schemeClr val="dk1"/>
          </a:fontRef>
        </p:style>
        <p:txBody>
          <a:bodyPr wrap="square">
            <a:spAutoFit/>
          </a:bodyPr>
          <a:lstStyle/>
          <a:p>
            <a:pPr algn="justLow" rtl="1"/>
            <a:r>
              <a:rPr lang="fa-IR" sz="1600" dirty="0" smtClean="0">
                <a:cs typeface="B Nazanin" panose="00000400000000000000" pitchFamily="2" charset="-78"/>
              </a:rPr>
              <a:t>وقتی برای خود چای یا قهوه درست میکنید آیا به فکر همکاران خود هم هستید ؟ </a:t>
            </a:r>
          </a:p>
          <a:p>
            <a:pPr algn="justLow" rtl="1"/>
            <a:endParaRPr lang="en-US" sz="1600" dirty="0">
              <a:cs typeface="B Nazanin" panose="00000400000000000000" pitchFamily="2" charset="-78"/>
            </a:endParaRPr>
          </a:p>
        </p:txBody>
      </p:sp>
      <p:sp>
        <p:nvSpPr>
          <p:cNvPr id="20" name="Rectangle 19"/>
          <p:cNvSpPr/>
          <p:nvPr/>
        </p:nvSpPr>
        <p:spPr>
          <a:xfrm>
            <a:off x="6878605" y="5199948"/>
            <a:ext cx="2181496" cy="1077218"/>
          </a:xfrm>
          <a:prstGeom prst="rect">
            <a:avLst/>
          </a:prstGeom>
          <a:solidFill>
            <a:srgbClr val="FFFFCC"/>
          </a:solidFill>
        </p:spPr>
        <p:style>
          <a:lnRef idx="2">
            <a:schemeClr val="accent6"/>
          </a:lnRef>
          <a:fillRef idx="1">
            <a:schemeClr val="lt1"/>
          </a:fillRef>
          <a:effectRef idx="0">
            <a:schemeClr val="accent6"/>
          </a:effectRef>
          <a:fontRef idx="minor">
            <a:schemeClr val="dk1"/>
          </a:fontRef>
        </p:style>
        <p:txBody>
          <a:bodyPr wrap="square">
            <a:spAutoFit/>
          </a:bodyPr>
          <a:lstStyle/>
          <a:p>
            <a:pPr algn="justLow" rtl="1"/>
            <a:r>
              <a:rPr lang="fa-IR" sz="1600" dirty="0" smtClean="0">
                <a:cs typeface="B Nazanin" panose="00000400000000000000" pitchFamily="2" charset="-78"/>
              </a:rPr>
              <a:t>وقتی سینی از دست آبدارچی به زمین می افتد و امه چیز میشکند تا چه حد به او کمک میکنید ؟ </a:t>
            </a:r>
            <a:endParaRPr lang="en-US" sz="1600" dirty="0">
              <a:cs typeface="B Nazanin" panose="00000400000000000000" pitchFamily="2" charset="-78"/>
            </a:endParaRPr>
          </a:p>
        </p:txBody>
      </p:sp>
      <p:sp>
        <p:nvSpPr>
          <p:cNvPr id="21" name="Rectangle 20"/>
          <p:cNvSpPr/>
          <p:nvPr/>
        </p:nvSpPr>
        <p:spPr>
          <a:xfrm>
            <a:off x="9321360" y="5199948"/>
            <a:ext cx="2181496" cy="1077218"/>
          </a:xfrm>
          <a:prstGeom prst="rect">
            <a:avLst/>
          </a:prstGeom>
          <a:solidFill>
            <a:srgbClr val="FFFFCC"/>
          </a:solidFill>
        </p:spPr>
        <p:style>
          <a:lnRef idx="2">
            <a:schemeClr val="accent6"/>
          </a:lnRef>
          <a:fillRef idx="1">
            <a:schemeClr val="lt1"/>
          </a:fillRef>
          <a:effectRef idx="0">
            <a:schemeClr val="accent6"/>
          </a:effectRef>
          <a:fontRef idx="minor">
            <a:schemeClr val="dk1"/>
          </a:fontRef>
        </p:style>
        <p:txBody>
          <a:bodyPr wrap="square">
            <a:spAutoFit/>
          </a:bodyPr>
          <a:lstStyle/>
          <a:p>
            <a:pPr algn="justLow" rtl="1"/>
            <a:r>
              <a:rPr lang="fa-IR" sz="1600" dirty="0" smtClean="0">
                <a:cs typeface="B Nazanin" panose="00000400000000000000" pitchFamily="2" charset="-78"/>
              </a:rPr>
              <a:t>اگر فردی برای مرخصی گرفتن باید کار خود را به اتمام برساند و کار وی به اتمام نرسیده به او کمک میکنید ؟ </a:t>
            </a:r>
            <a:endParaRPr lang="en-US" sz="1600" dirty="0">
              <a:cs typeface="B Nazanin" panose="00000400000000000000" pitchFamily="2" charset="-78"/>
            </a:endParaRPr>
          </a:p>
        </p:txBody>
      </p:sp>
      <p:sp>
        <p:nvSpPr>
          <p:cNvPr id="22" name="Rectangle 21"/>
          <p:cNvSpPr/>
          <p:nvPr/>
        </p:nvSpPr>
        <p:spPr>
          <a:xfrm>
            <a:off x="608433" y="5199948"/>
            <a:ext cx="3461658" cy="1077218"/>
          </a:xfrm>
          <a:prstGeom prst="rect">
            <a:avLst/>
          </a:prstGeom>
          <a:solidFill>
            <a:srgbClr val="FFFFCC"/>
          </a:solidFill>
        </p:spPr>
        <p:style>
          <a:lnRef idx="2">
            <a:schemeClr val="accent6"/>
          </a:lnRef>
          <a:fillRef idx="1">
            <a:schemeClr val="lt1"/>
          </a:fillRef>
          <a:effectRef idx="0">
            <a:schemeClr val="accent6"/>
          </a:effectRef>
          <a:fontRef idx="minor">
            <a:schemeClr val="dk1"/>
          </a:fontRef>
        </p:style>
        <p:txBody>
          <a:bodyPr wrap="square">
            <a:spAutoFit/>
          </a:bodyPr>
          <a:lstStyle/>
          <a:p>
            <a:pPr algn="justLow" rtl="1"/>
            <a:r>
              <a:rPr lang="fa-IR" sz="1600" dirty="0">
                <a:cs typeface="B Nazanin" panose="00000400000000000000" pitchFamily="2" charset="-78"/>
              </a:rPr>
              <a:t>اتاق جلسات کثیف است و قرار است تا ساعتی دیگر یک جلسه رسمی در آن برگزار شود. مسئول نظافت هم الان بیرون شرکت است تا برای مهمان‌ها خرید کند. آیا برای تمیز کردن میز اقدام </a:t>
            </a:r>
            <a:r>
              <a:rPr lang="fa-IR" sz="1600" dirty="0" smtClean="0">
                <a:cs typeface="B Nazanin" panose="00000400000000000000" pitchFamily="2" charset="-78"/>
              </a:rPr>
              <a:t>می‌کنید؟</a:t>
            </a:r>
            <a:endParaRPr lang="fa-IR" sz="1600" dirty="0">
              <a:cs typeface="B Nazanin" panose="00000400000000000000" pitchFamily="2" charset="-78"/>
            </a:endParaRPr>
          </a:p>
        </p:txBody>
      </p:sp>
      <p:sp>
        <p:nvSpPr>
          <p:cNvPr id="23" name="Rectangle 22"/>
          <p:cNvSpPr/>
          <p:nvPr/>
        </p:nvSpPr>
        <p:spPr>
          <a:xfrm>
            <a:off x="9228337" y="4880598"/>
            <a:ext cx="2339102" cy="307777"/>
          </a:xfrm>
          <a:prstGeom prst="rect">
            <a:avLst/>
          </a:prstGeom>
        </p:spPr>
        <p:txBody>
          <a:bodyPr wrap="none">
            <a:spAutoFit/>
          </a:bodyPr>
          <a:lstStyle/>
          <a:p>
            <a:r>
              <a:rPr lang="fa-IR" sz="1400" dirty="0" smtClean="0">
                <a:cs typeface="B Nazanin" panose="00000400000000000000" pitchFamily="2" charset="-78"/>
              </a:rPr>
              <a:t>نمونه هایی از ارزیابی عملکرد زمینه ای :</a:t>
            </a:r>
            <a:endParaRPr lang="en-US" sz="1400" dirty="0"/>
          </a:p>
        </p:txBody>
      </p:sp>
    </p:spTree>
    <p:extLst>
      <p:ext uri="{BB962C8B-B14F-4D97-AF65-F5344CB8AC3E}">
        <p14:creationId xmlns:p14="http://schemas.microsoft.com/office/powerpoint/2010/main" val="20664661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ounded Rectangle 46"/>
          <p:cNvSpPr/>
          <p:nvPr/>
        </p:nvSpPr>
        <p:spPr>
          <a:xfrm>
            <a:off x="6798784" y="1361365"/>
            <a:ext cx="4552419" cy="7772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تطبیق فرد با شرایط محیطی کار </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grpSp>
        <p:nvGrpSpPr>
          <p:cNvPr id="41" name="Group 40"/>
          <p:cNvGrpSpPr/>
          <p:nvPr/>
        </p:nvGrpSpPr>
        <p:grpSpPr>
          <a:xfrm>
            <a:off x="4231105" y="2050434"/>
            <a:ext cx="3870726" cy="4209625"/>
            <a:chOff x="4042127" y="2114086"/>
            <a:chExt cx="3870726" cy="4209625"/>
          </a:xfrm>
        </p:grpSpPr>
        <p:grpSp>
          <p:nvGrpSpPr>
            <p:cNvPr id="29" name="Group 28"/>
            <p:cNvGrpSpPr/>
            <p:nvPr/>
          </p:nvGrpSpPr>
          <p:grpSpPr>
            <a:xfrm>
              <a:off x="4042127" y="2372892"/>
              <a:ext cx="3870726" cy="3598453"/>
              <a:chOff x="4969590" y="2320640"/>
              <a:chExt cx="3870726" cy="3598453"/>
            </a:xfrm>
          </p:grpSpPr>
          <p:sp>
            <p:nvSpPr>
              <p:cNvPr id="6" name="Oval 5"/>
              <p:cNvSpPr/>
              <p:nvPr/>
            </p:nvSpPr>
            <p:spPr>
              <a:xfrm>
                <a:off x="6266984" y="2320640"/>
                <a:ext cx="953665" cy="980153"/>
              </a:xfrm>
              <a:prstGeom prst="ellipse">
                <a:avLst/>
              </a:prstGeom>
              <a:solidFill>
                <a:srgbClr val="F7AB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1400" b="1" dirty="0">
                    <a:solidFill>
                      <a:schemeClr val="accent6">
                        <a:lumMod val="50000"/>
                      </a:schemeClr>
                    </a:solidFill>
                    <a:cs typeface="B Nazanin" panose="00000400000000000000" pitchFamily="2" charset="-78"/>
                  </a:rPr>
                  <a:t>فرد و سازمان </a:t>
                </a:r>
                <a:endParaRPr lang="en-US" sz="1400" b="1" dirty="0">
                  <a:solidFill>
                    <a:schemeClr val="accent6">
                      <a:lumMod val="50000"/>
                    </a:schemeClr>
                  </a:solidFill>
                  <a:cs typeface="B Nazanin" panose="00000400000000000000" pitchFamily="2" charset="-78"/>
                </a:endParaRPr>
              </a:p>
            </p:txBody>
          </p:sp>
          <p:sp>
            <p:nvSpPr>
              <p:cNvPr id="9" name="Oval 8"/>
              <p:cNvSpPr/>
              <p:nvPr/>
            </p:nvSpPr>
            <p:spPr>
              <a:xfrm>
                <a:off x="7838776" y="2644509"/>
                <a:ext cx="953665" cy="980153"/>
              </a:xfrm>
              <a:prstGeom prst="ellipse">
                <a:avLst/>
              </a:prstGeom>
              <a:solidFill>
                <a:srgbClr val="F9C3A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a-IR" sz="1600" b="1" dirty="0">
                    <a:solidFill>
                      <a:srgbClr val="006600"/>
                    </a:solidFill>
                    <a:cs typeface="B Nazanin" panose="00000400000000000000" pitchFamily="2" charset="-78"/>
                  </a:rPr>
                  <a:t>فرد و </a:t>
                </a:r>
                <a:r>
                  <a:rPr lang="fa-IR" sz="1600" b="1" dirty="0" smtClean="0">
                    <a:solidFill>
                      <a:srgbClr val="006600"/>
                    </a:solidFill>
                    <a:cs typeface="B Nazanin" panose="00000400000000000000" pitchFamily="2" charset="-78"/>
                  </a:rPr>
                  <a:t>فرد </a:t>
                </a:r>
                <a:endParaRPr lang="en-US" sz="1600" b="1" dirty="0">
                  <a:solidFill>
                    <a:srgbClr val="006600"/>
                  </a:solidFill>
                  <a:cs typeface="B Nazanin" panose="00000400000000000000" pitchFamily="2" charset="-78"/>
                </a:endParaRPr>
              </a:p>
            </p:txBody>
          </p:sp>
          <p:sp>
            <p:nvSpPr>
              <p:cNvPr id="10" name="Oval 9"/>
              <p:cNvSpPr/>
              <p:nvPr/>
            </p:nvSpPr>
            <p:spPr>
              <a:xfrm>
                <a:off x="7886651" y="4369665"/>
                <a:ext cx="953665" cy="980153"/>
              </a:xfrm>
              <a:prstGeom prst="ellipse">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1600" b="1" dirty="0">
                    <a:solidFill>
                      <a:schemeClr val="bg2">
                        <a:lumMod val="25000"/>
                      </a:schemeClr>
                    </a:solidFill>
                    <a:cs typeface="B Nazanin" panose="00000400000000000000" pitchFamily="2" charset="-78"/>
                  </a:rPr>
                  <a:t>فرد و </a:t>
                </a:r>
                <a:r>
                  <a:rPr lang="fa-IR" sz="1600" b="1" dirty="0" smtClean="0">
                    <a:solidFill>
                      <a:schemeClr val="bg2">
                        <a:lumMod val="25000"/>
                      </a:schemeClr>
                    </a:solidFill>
                    <a:cs typeface="B Nazanin" panose="00000400000000000000" pitchFamily="2" charset="-78"/>
                  </a:rPr>
                  <a:t>گروه </a:t>
                </a:r>
                <a:endParaRPr lang="en-US" sz="1600" b="1" dirty="0">
                  <a:solidFill>
                    <a:schemeClr val="bg2">
                      <a:lumMod val="25000"/>
                    </a:schemeClr>
                  </a:solidFill>
                  <a:cs typeface="B Nazanin" panose="00000400000000000000" pitchFamily="2" charset="-78"/>
                </a:endParaRPr>
              </a:p>
            </p:txBody>
          </p:sp>
          <p:sp>
            <p:nvSpPr>
              <p:cNvPr id="11" name="Oval 10"/>
              <p:cNvSpPr/>
              <p:nvPr/>
            </p:nvSpPr>
            <p:spPr>
              <a:xfrm>
                <a:off x="6306252" y="4938940"/>
                <a:ext cx="953665" cy="980153"/>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1600" b="1" dirty="0">
                    <a:solidFill>
                      <a:schemeClr val="accent6">
                        <a:lumMod val="50000"/>
                      </a:schemeClr>
                    </a:solidFill>
                    <a:cs typeface="B Nazanin" panose="00000400000000000000" pitchFamily="2" charset="-78"/>
                  </a:rPr>
                  <a:t>فرد و </a:t>
                </a:r>
                <a:r>
                  <a:rPr lang="fa-IR" sz="1600" b="1" dirty="0" smtClean="0">
                    <a:solidFill>
                      <a:schemeClr val="accent6">
                        <a:lumMod val="50000"/>
                      </a:schemeClr>
                    </a:solidFill>
                    <a:cs typeface="B Nazanin" panose="00000400000000000000" pitchFamily="2" charset="-78"/>
                  </a:rPr>
                  <a:t>شغل </a:t>
                </a:r>
                <a:endParaRPr lang="en-US" sz="1600" b="1" dirty="0">
                  <a:solidFill>
                    <a:schemeClr val="accent6">
                      <a:lumMod val="50000"/>
                    </a:schemeClr>
                  </a:solidFill>
                  <a:cs typeface="B Nazanin" panose="00000400000000000000" pitchFamily="2" charset="-78"/>
                </a:endParaRPr>
              </a:p>
            </p:txBody>
          </p:sp>
          <p:sp>
            <p:nvSpPr>
              <p:cNvPr id="12" name="Oval 11"/>
              <p:cNvSpPr/>
              <p:nvPr/>
            </p:nvSpPr>
            <p:spPr>
              <a:xfrm>
                <a:off x="4969590" y="3566681"/>
                <a:ext cx="953665" cy="980153"/>
              </a:xfrm>
              <a:prstGeom prst="ellipse">
                <a:avLst/>
              </a:prstGeom>
              <a:solidFill>
                <a:srgbClr val="BCFC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1600" b="1" dirty="0">
                    <a:solidFill>
                      <a:schemeClr val="accent6">
                        <a:lumMod val="50000"/>
                      </a:schemeClr>
                    </a:solidFill>
                    <a:cs typeface="B Nazanin" panose="00000400000000000000" pitchFamily="2" charset="-78"/>
                  </a:rPr>
                  <a:t>فرد و </a:t>
                </a:r>
                <a:r>
                  <a:rPr lang="fa-IR" sz="1600" b="1" dirty="0" smtClean="0">
                    <a:solidFill>
                      <a:schemeClr val="accent6">
                        <a:lumMod val="50000"/>
                      </a:schemeClr>
                    </a:solidFill>
                    <a:cs typeface="B Nazanin" panose="00000400000000000000" pitchFamily="2" charset="-78"/>
                  </a:rPr>
                  <a:t>حرفه  </a:t>
                </a:r>
                <a:endParaRPr lang="en-US" sz="1600" b="1" dirty="0">
                  <a:solidFill>
                    <a:schemeClr val="accent6">
                      <a:lumMod val="50000"/>
                    </a:schemeClr>
                  </a:solidFill>
                  <a:cs typeface="B Nazanin" panose="00000400000000000000" pitchFamily="2" charset="-78"/>
                </a:endParaRPr>
              </a:p>
            </p:txBody>
          </p:sp>
          <p:sp>
            <p:nvSpPr>
              <p:cNvPr id="7" name="Rounded Rectangle 6"/>
              <p:cNvSpPr/>
              <p:nvPr/>
            </p:nvSpPr>
            <p:spPr>
              <a:xfrm>
                <a:off x="6413863" y="3736718"/>
                <a:ext cx="1123406" cy="810116"/>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b="1" dirty="0">
                    <a:solidFill>
                      <a:srgbClr val="FFFFCC"/>
                    </a:solidFill>
                    <a:cs typeface="B Nazanin" panose="00000400000000000000" pitchFamily="2" charset="-78"/>
                  </a:rPr>
                  <a:t>تطبیق فرد و محیط </a:t>
                </a:r>
                <a:endParaRPr lang="en-US" b="1" dirty="0">
                  <a:solidFill>
                    <a:srgbClr val="FFFFCC"/>
                  </a:solidFill>
                  <a:cs typeface="B Nazanin" panose="00000400000000000000" pitchFamily="2" charset="-78"/>
                </a:endParaRPr>
              </a:p>
            </p:txBody>
          </p:sp>
          <p:cxnSp>
            <p:nvCxnSpPr>
              <p:cNvPr id="14" name="Straight Connector 13"/>
              <p:cNvCxnSpPr>
                <a:stCxn id="7" idx="0"/>
              </p:cNvCxnSpPr>
              <p:nvPr/>
            </p:nvCxnSpPr>
            <p:spPr>
              <a:xfrm flipH="1" flipV="1">
                <a:off x="6923314" y="3300793"/>
                <a:ext cx="52252" cy="435925"/>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Straight Connector 14"/>
              <p:cNvCxnSpPr>
                <a:endCxn id="12" idx="6"/>
              </p:cNvCxnSpPr>
              <p:nvPr/>
            </p:nvCxnSpPr>
            <p:spPr>
              <a:xfrm flipH="1">
                <a:off x="5923255" y="4056757"/>
                <a:ext cx="490608" cy="1"/>
              </a:xfrm>
              <a:prstGeom prst="line">
                <a:avLst/>
              </a:prstGeom>
            </p:spPr>
            <p:style>
              <a:lnRef idx="3">
                <a:schemeClr val="accent1"/>
              </a:lnRef>
              <a:fillRef idx="0">
                <a:schemeClr val="accent1"/>
              </a:fillRef>
              <a:effectRef idx="2">
                <a:schemeClr val="accent1"/>
              </a:effectRef>
              <a:fontRef idx="minor">
                <a:schemeClr val="tx1"/>
              </a:fontRef>
            </p:style>
          </p:cxnSp>
          <p:cxnSp>
            <p:nvCxnSpPr>
              <p:cNvPr id="19" name="Straight Connector 18"/>
              <p:cNvCxnSpPr>
                <a:endCxn id="9" idx="3"/>
              </p:cNvCxnSpPr>
              <p:nvPr/>
            </p:nvCxnSpPr>
            <p:spPr>
              <a:xfrm flipV="1">
                <a:off x="7577642" y="3481122"/>
                <a:ext cx="400795" cy="4546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p:cNvCxnSpPr/>
              <p:nvPr/>
            </p:nvCxnSpPr>
            <p:spPr>
              <a:xfrm>
                <a:off x="7511563" y="4474860"/>
                <a:ext cx="375088" cy="205914"/>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Straight Connector 26"/>
              <p:cNvCxnSpPr>
                <a:endCxn id="11" idx="0"/>
              </p:cNvCxnSpPr>
              <p:nvPr/>
            </p:nvCxnSpPr>
            <p:spPr>
              <a:xfrm flipH="1">
                <a:off x="6783085" y="4557508"/>
                <a:ext cx="68115" cy="381432"/>
              </a:xfrm>
              <a:prstGeom prst="line">
                <a:avLst/>
              </a:prstGeom>
            </p:spPr>
            <p:style>
              <a:lnRef idx="3">
                <a:schemeClr val="accent1"/>
              </a:lnRef>
              <a:fillRef idx="0">
                <a:schemeClr val="accent1"/>
              </a:fillRef>
              <a:effectRef idx="2">
                <a:schemeClr val="accent1"/>
              </a:effectRef>
              <a:fontRef idx="minor">
                <a:schemeClr val="tx1"/>
              </a:fontRef>
            </p:style>
          </p:cxnSp>
        </p:grpSp>
        <p:sp>
          <p:nvSpPr>
            <p:cNvPr id="30" name="Rectangle 29"/>
            <p:cNvSpPr/>
            <p:nvPr/>
          </p:nvSpPr>
          <p:spPr>
            <a:xfrm>
              <a:off x="5430540" y="2114086"/>
              <a:ext cx="771365" cy="307777"/>
            </a:xfrm>
            <a:prstGeom prst="rect">
              <a:avLst/>
            </a:prstGeom>
          </p:spPr>
          <p:txBody>
            <a:bodyPr wrap="none">
              <a:spAutoFit/>
            </a:bodyPr>
            <a:lstStyle/>
            <a:p>
              <a:r>
                <a:rPr lang="en-US" sz="1400" b="1" dirty="0">
                  <a:solidFill>
                    <a:srgbClr val="000000"/>
                  </a:solidFill>
                  <a:latin typeface="IRANSans"/>
                </a:rPr>
                <a:t>P-O Fit</a:t>
              </a:r>
              <a:endParaRPr lang="en-US" sz="1400" dirty="0"/>
            </a:p>
          </p:txBody>
        </p:sp>
        <p:sp>
          <p:nvSpPr>
            <p:cNvPr id="33" name="Rectangle 32"/>
            <p:cNvSpPr/>
            <p:nvPr/>
          </p:nvSpPr>
          <p:spPr>
            <a:xfrm>
              <a:off x="7050974" y="2420866"/>
              <a:ext cx="771365" cy="307777"/>
            </a:xfrm>
            <a:prstGeom prst="rect">
              <a:avLst/>
            </a:prstGeom>
          </p:spPr>
          <p:txBody>
            <a:bodyPr wrap="none">
              <a:spAutoFit/>
            </a:bodyPr>
            <a:lstStyle/>
            <a:p>
              <a:r>
                <a:rPr lang="en-US" sz="1400" b="1" dirty="0" smtClean="0">
                  <a:solidFill>
                    <a:srgbClr val="000000"/>
                  </a:solidFill>
                  <a:latin typeface="IRANSans"/>
                </a:rPr>
                <a:t>P-P </a:t>
              </a:r>
              <a:r>
                <a:rPr lang="en-US" sz="1400" b="1" dirty="0">
                  <a:solidFill>
                    <a:srgbClr val="000000"/>
                  </a:solidFill>
                  <a:latin typeface="IRANSans"/>
                </a:rPr>
                <a:t>Fit</a:t>
              </a:r>
              <a:endParaRPr lang="en-US" sz="1400" dirty="0"/>
            </a:p>
          </p:txBody>
        </p:sp>
        <p:sp>
          <p:nvSpPr>
            <p:cNvPr id="34" name="Rectangle 33"/>
            <p:cNvSpPr/>
            <p:nvPr/>
          </p:nvSpPr>
          <p:spPr>
            <a:xfrm>
              <a:off x="4115420" y="3353045"/>
              <a:ext cx="752129" cy="307777"/>
            </a:xfrm>
            <a:prstGeom prst="rect">
              <a:avLst/>
            </a:prstGeom>
          </p:spPr>
          <p:txBody>
            <a:bodyPr wrap="none">
              <a:spAutoFit/>
            </a:bodyPr>
            <a:lstStyle/>
            <a:p>
              <a:r>
                <a:rPr lang="en-US" sz="1400" b="1" dirty="0">
                  <a:solidFill>
                    <a:srgbClr val="000000"/>
                  </a:solidFill>
                  <a:latin typeface="IRANSans"/>
                  <a:cs typeface="B Nazanin" panose="00000400000000000000" pitchFamily="2" charset="-78"/>
                </a:rPr>
                <a:t>P-V Fit</a:t>
              </a:r>
              <a:endParaRPr lang="en-US" sz="1400" b="1" dirty="0"/>
            </a:p>
          </p:txBody>
        </p:sp>
        <p:sp>
          <p:nvSpPr>
            <p:cNvPr id="35" name="Rectangle 34"/>
            <p:cNvSpPr/>
            <p:nvPr/>
          </p:nvSpPr>
          <p:spPr>
            <a:xfrm>
              <a:off x="7096498" y="4130696"/>
              <a:ext cx="771365" cy="307777"/>
            </a:xfrm>
            <a:prstGeom prst="rect">
              <a:avLst/>
            </a:prstGeom>
          </p:spPr>
          <p:txBody>
            <a:bodyPr wrap="none">
              <a:spAutoFit/>
            </a:bodyPr>
            <a:lstStyle/>
            <a:p>
              <a:r>
                <a:rPr lang="en-US" sz="1400" b="1" dirty="0">
                  <a:solidFill>
                    <a:srgbClr val="000000"/>
                  </a:solidFill>
                  <a:latin typeface="IRANSans"/>
                </a:rPr>
                <a:t>P-G Fit</a:t>
              </a:r>
              <a:endParaRPr lang="en-US" sz="1400" b="1" dirty="0">
                <a:solidFill>
                  <a:srgbClr val="000000"/>
                </a:solidFill>
                <a:latin typeface="IRANSans"/>
              </a:endParaRPr>
            </a:p>
          </p:txBody>
        </p:sp>
        <p:sp>
          <p:nvSpPr>
            <p:cNvPr id="36" name="Rectangle 35"/>
            <p:cNvSpPr/>
            <p:nvPr/>
          </p:nvSpPr>
          <p:spPr>
            <a:xfrm>
              <a:off x="5524034" y="6015934"/>
              <a:ext cx="731290" cy="307777"/>
            </a:xfrm>
            <a:prstGeom prst="rect">
              <a:avLst/>
            </a:prstGeom>
          </p:spPr>
          <p:txBody>
            <a:bodyPr wrap="none">
              <a:spAutoFit/>
            </a:bodyPr>
            <a:lstStyle/>
            <a:p>
              <a:r>
                <a:rPr lang="en-US" sz="1400" b="1" dirty="0">
                  <a:solidFill>
                    <a:srgbClr val="000000"/>
                  </a:solidFill>
                  <a:latin typeface="IRANSans"/>
                </a:rPr>
                <a:t>P-J Fit</a:t>
              </a:r>
              <a:endParaRPr lang="en-US" sz="1400" b="1" dirty="0">
                <a:solidFill>
                  <a:srgbClr val="000000"/>
                </a:solidFill>
                <a:latin typeface="IRANSans"/>
              </a:endParaRPr>
            </a:p>
          </p:txBody>
        </p:sp>
      </p:grpSp>
      <p:sp>
        <p:nvSpPr>
          <p:cNvPr id="37" name="Rectangle 36"/>
          <p:cNvSpPr/>
          <p:nvPr/>
        </p:nvSpPr>
        <p:spPr>
          <a:xfrm>
            <a:off x="754669" y="1508760"/>
            <a:ext cx="4598126" cy="954107"/>
          </a:xfrm>
          <a:prstGeom prst="rect">
            <a:avLst/>
          </a:prstGeom>
        </p:spPr>
        <p:txBody>
          <a:bodyPr wrap="square">
            <a:spAutoFit/>
          </a:bodyPr>
          <a:lstStyle/>
          <a:p>
            <a:pPr algn="just" rtl="1"/>
            <a:r>
              <a:rPr lang="fa-IR" sz="1400" dirty="0">
                <a:solidFill>
                  <a:srgbClr val="000000"/>
                </a:solidFill>
                <a:latin typeface="IRANSans"/>
                <a:cs typeface="B Nazanin" panose="00000400000000000000" pitchFamily="2" charset="-78"/>
              </a:rPr>
              <a:t>فرض کنید من همواره به سلامتی مردمِ جامعه فکر می‌کنم. اکنون شغل من در یک شرکت بازرگانی است که سیگار وارد می‌کند. قاعدتاً حفظ سلامت جامعه در چارچوب ارزش‌های شرکت جایگاهی </a:t>
            </a:r>
            <a:r>
              <a:rPr lang="fa-IR" sz="1400" dirty="0" smtClean="0">
                <a:solidFill>
                  <a:srgbClr val="000000"/>
                </a:solidFill>
                <a:latin typeface="IRANSans"/>
                <a:cs typeface="B Nazanin" panose="00000400000000000000" pitchFamily="2" charset="-78"/>
              </a:rPr>
              <a:t>ندارد.این</a:t>
            </a:r>
            <a:r>
              <a:rPr lang="fa-IR" sz="1400" dirty="0">
                <a:solidFill>
                  <a:srgbClr val="000000"/>
                </a:solidFill>
                <a:latin typeface="IRANSans"/>
                <a:cs typeface="B Nazanin" panose="00000400000000000000" pitchFamily="2" charset="-78"/>
              </a:rPr>
              <a:t> </a:t>
            </a:r>
            <a:r>
              <a:rPr lang="fa-IR" sz="1400" b="1" dirty="0">
                <a:solidFill>
                  <a:srgbClr val="C00000"/>
                </a:solidFill>
                <a:latin typeface="IRANSans"/>
                <a:cs typeface="B Nazanin" panose="00000400000000000000" pitchFamily="2" charset="-78"/>
              </a:rPr>
              <a:t>تفاوت ارزشی</a:t>
            </a:r>
            <a:r>
              <a:rPr lang="fa-IR" sz="1400" dirty="0">
                <a:solidFill>
                  <a:srgbClr val="000000"/>
                </a:solidFill>
                <a:latin typeface="IRANSans"/>
                <a:cs typeface="B Nazanin" panose="00000400000000000000" pitchFamily="2" charset="-78"/>
              </a:rPr>
              <a:t> بین من و سازمانم، </a:t>
            </a:r>
            <a:r>
              <a:rPr lang="fa-IR" sz="1400" b="1" dirty="0">
                <a:solidFill>
                  <a:srgbClr val="C00000"/>
                </a:solidFill>
                <a:latin typeface="IRANSans"/>
                <a:cs typeface="B Nazanin" panose="00000400000000000000" pitchFamily="2" charset="-78"/>
              </a:rPr>
              <a:t>میزان تطبیق من با </a:t>
            </a:r>
            <a:r>
              <a:rPr lang="fa-IR" sz="1400" b="1" dirty="0" smtClean="0">
                <a:solidFill>
                  <a:srgbClr val="C00000"/>
                </a:solidFill>
                <a:latin typeface="IRANSans"/>
                <a:cs typeface="B Nazanin" panose="00000400000000000000" pitchFamily="2" charset="-78"/>
              </a:rPr>
              <a:t>سازمان</a:t>
            </a:r>
            <a:r>
              <a:rPr lang="en-US" sz="1400" b="1" dirty="0" smtClean="0">
                <a:solidFill>
                  <a:srgbClr val="000000"/>
                </a:solidFill>
                <a:latin typeface="IRANSans"/>
                <a:cs typeface="B Nazanin" panose="00000400000000000000" pitchFamily="2" charset="-78"/>
              </a:rPr>
              <a:t> </a:t>
            </a:r>
            <a:r>
              <a:rPr lang="en-US" sz="1400" b="1" dirty="0">
                <a:solidFill>
                  <a:srgbClr val="000000"/>
                </a:solidFill>
                <a:latin typeface="IRANSans"/>
                <a:cs typeface="B Nazanin" panose="00000400000000000000" pitchFamily="2" charset="-78"/>
              </a:rPr>
              <a:t>P-O Fit</a:t>
            </a:r>
            <a:r>
              <a:rPr lang="en-US" sz="1400" dirty="0">
                <a:solidFill>
                  <a:srgbClr val="000000"/>
                </a:solidFill>
                <a:latin typeface="IRANSans"/>
                <a:cs typeface="B Nazanin" panose="00000400000000000000" pitchFamily="2" charset="-78"/>
              </a:rPr>
              <a:t> </a:t>
            </a:r>
            <a:r>
              <a:rPr lang="fa-IR" sz="1400" b="1" dirty="0">
                <a:solidFill>
                  <a:srgbClr val="000000"/>
                </a:solidFill>
                <a:latin typeface="IRANSans"/>
                <a:cs typeface="B Nazanin" panose="00000400000000000000" pitchFamily="2" charset="-78"/>
              </a:rPr>
              <a:t> </a:t>
            </a:r>
            <a:r>
              <a:rPr lang="fa-IR" sz="1400" dirty="0" smtClean="0">
                <a:solidFill>
                  <a:srgbClr val="000000"/>
                </a:solidFill>
                <a:latin typeface="IRANSans"/>
                <a:cs typeface="B Nazanin" panose="00000400000000000000" pitchFamily="2" charset="-78"/>
              </a:rPr>
              <a:t>را </a:t>
            </a:r>
            <a:r>
              <a:rPr lang="fa-IR" sz="1400" dirty="0">
                <a:solidFill>
                  <a:srgbClr val="000000"/>
                </a:solidFill>
                <a:latin typeface="IRANSans"/>
                <a:cs typeface="B Nazanin" panose="00000400000000000000" pitchFamily="2" charset="-78"/>
              </a:rPr>
              <a:t>کاهش می‌دهد.</a:t>
            </a:r>
            <a:endParaRPr lang="fa-IR" sz="1400" b="0" i="0" dirty="0">
              <a:solidFill>
                <a:srgbClr val="000000"/>
              </a:solidFill>
              <a:effectLst/>
              <a:latin typeface="IRANSans"/>
              <a:cs typeface="B Nazanin" panose="00000400000000000000" pitchFamily="2" charset="-78"/>
            </a:endParaRPr>
          </a:p>
        </p:txBody>
      </p:sp>
      <p:sp>
        <p:nvSpPr>
          <p:cNvPr id="38" name="Rectangle 37"/>
          <p:cNvSpPr/>
          <p:nvPr/>
        </p:nvSpPr>
        <p:spPr>
          <a:xfrm>
            <a:off x="997559" y="5956046"/>
            <a:ext cx="4570208" cy="523220"/>
          </a:xfrm>
          <a:prstGeom prst="rect">
            <a:avLst/>
          </a:prstGeom>
        </p:spPr>
        <p:txBody>
          <a:bodyPr wrap="square">
            <a:spAutoFit/>
          </a:bodyPr>
          <a:lstStyle/>
          <a:p>
            <a:pPr algn="just" rtl="1"/>
            <a:r>
              <a:rPr lang="fa-IR" sz="1400" dirty="0">
                <a:solidFill>
                  <a:srgbClr val="000000"/>
                </a:solidFill>
                <a:latin typeface="IRANSans"/>
                <a:cs typeface="B Nazanin" panose="00000400000000000000" pitchFamily="2" charset="-78"/>
              </a:rPr>
              <a:t>هر چه </a:t>
            </a:r>
            <a:r>
              <a:rPr lang="fa-IR" sz="1400" b="1" dirty="0" smtClean="0">
                <a:solidFill>
                  <a:srgbClr val="006600"/>
                </a:solidFill>
                <a:latin typeface="IRANSans"/>
                <a:cs typeface="B Nazanin" panose="00000400000000000000" pitchFamily="2" charset="-78"/>
              </a:rPr>
              <a:t>توانمندی‌ها</a:t>
            </a:r>
            <a:r>
              <a:rPr lang="en-US" sz="1400" b="1" dirty="0" smtClean="0">
                <a:solidFill>
                  <a:srgbClr val="006600"/>
                </a:solidFill>
                <a:latin typeface="IRANSans"/>
                <a:cs typeface="B Nazanin" panose="00000400000000000000" pitchFamily="2" charset="-78"/>
              </a:rPr>
              <a:t> </a:t>
            </a:r>
            <a:r>
              <a:rPr lang="fa-IR" sz="1400" b="1" dirty="0" smtClean="0">
                <a:solidFill>
                  <a:srgbClr val="006600"/>
                </a:solidFill>
                <a:latin typeface="IRANSans"/>
                <a:cs typeface="B Nazanin" panose="00000400000000000000" pitchFamily="2" charset="-78"/>
              </a:rPr>
              <a:t>، مهارت ها و قابلیت </a:t>
            </a:r>
            <a:r>
              <a:rPr lang="fa-IR" sz="1400" dirty="0" smtClean="0">
                <a:solidFill>
                  <a:srgbClr val="000000"/>
                </a:solidFill>
                <a:latin typeface="IRANSans"/>
                <a:cs typeface="B Nazanin" panose="00000400000000000000" pitchFamily="2" charset="-78"/>
              </a:rPr>
              <a:t>های </a:t>
            </a:r>
            <a:r>
              <a:rPr lang="fa-IR" sz="1400" dirty="0">
                <a:solidFill>
                  <a:srgbClr val="000000"/>
                </a:solidFill>
                <a:latin typeface="IRANSans"/>
                <a:cs typeface="B Nazanin" panose="00000400000000000000" pitchFamily="2" charset="-78"/>
              </a:rPr>
              <a:t>من به آنچه شغلم نیاز دارد نزدیک‌تر باشد، </a:t>
            </a:r>
            <a:r>
              <a:rPr lang="fa-IR" sz="1400" b="1" dirty="0">
                <a:solidFill>
                  <a:srgbClr val="006600"/>
                </a:solidFill>
                <a:latin typeface="IRANSans"/>
                <a:cs typeface="B Nazanin" panose="00000400000000000000" pitchFamily="2" charset="-78"/>
              </a:rPr>
              <a:t>تطبیق من با شغل</a:t>
            </a:r>
            <a:r>
              <a:rPr lang="fa-IR" sz="1400" b="1" dirty="0">
                <a:latin typeface="IRANSans"/>
                <a:cs typeface="B Nazanin" panose="00000400000000000000" pitchFamily="2" charset="-78"/>
              </a:rPr>
              <a:t>م</a:t>
            </a:r>
            <a:r>
              <a:rPr lang="fa-IR" sz="1400" b="1" dirty="0">
                <a:solidFill>
                  <a:srgbClr val="006600"/>
                </a:solidFill>
                <a:latin typeface="IRANSans"/>
                <a:cs typeface="B Nazanin" panose="00000400000000000000" pitchFamily="2" charset="-78"/>
              </a:rPr>
              <a:t>‌ </a:t>
            </a:r>
            <a:r>
              <a:rPr lang="en-US" sz="1400" b="1" dirty="0" smtClean="0">
                <a:solidFill>
                  <a:srgbClr val="000000"/>
                </a:solidFill>
                <a:latin typeface="IRANSans"/>
                <a:cs typeface="B Nazanin" panose="00000400000000000000" pitchFamily="2" charset="-78"/>
              </a:rPr>
              <a:t>P-J Fit</a:t>
            </a:r>
            <a:r>
              <a:rPr lang="fa-IR" sz="1400" dirty="0" smtClean="0">
                <a:solidFill>
                  <a:srgbClr val="000000"/>
                </a:solidFill>
                <a:latin typeface="IRANSans"/>
                <a:cs typeface="B Nazanin" panose="00000400000000000000" pitchFamily="2" charset="-78"/>
              </a:rPr>
              <a:t> افزایش </a:t>
            </a:r>
            <a:r>
              <a:rPr lang="fa-IR" sz="1400" dirty="0">
                <a:solidFill>
                  <a:srgbClr val="000000"/>
                </a:solidFill>
                <a:latin typeface="IRANSans"/>
                <a:cs typeface="B Nazanin" panose="00000400000000000000" pitchFamily="2" charset="-78"/>
              </a:rPr>
              <a:t>می‌یابد.</a:t>
            </a:r>
            <a:endParaRPr lang="en-US" sz="1400" dirty="0">
              <a:solidFill>
                <a:srgbClr val="000000"/>
              </a:solidFill>
              <a:latin typeface="IRANSans"/>
              <a:cs typeface="B Nazanin" panose="00000400000000000000" pitchFamily="2" charset="-78"/>
            </a:endParaRPr>
          </a:p>
        </p:txBody>
      </p:sp>
      <p:grpSp>
        <p:nvGrpSpPr>
          <p:cNvPr id="42" name="Group 41"/>
          <p:cNvGrpSpPr/>
          <p:nvPr/>
        </p:nvGrpSpPr>
        <p:grpSpPr>
          <a:xfrm>
            <a:off x="272206" y="2960043"/>
            <a:ext cx="4776132" cy="2533481"/>
            <a:chOff x="233017" y="3129862"/>
            <a:chExt cx="4776132" cy="2533481"/>
          </a:xfrm>
        </p:grpSpPr>
        <p:sp>
          <p:nvSpPr>
            <p:cNvPr id="39" name="Rectangle 38"/>
            <p:cNvSpPr/>
            <p:nvPr/>
          </p:nvSpPr>
          <p:spPr>
            <a:xfrm>
              <a:off x="233017" y="4924679"/>
              <a:ext cx="4776132" cy="738664"/>
            </a:xfrm>
            <a:prstGeom prst="rect">
              <a:avLst/>
            </a:prstGeom>
          </p:spPr>
          <p:txBody>
            <a:bodyPr wrap="square">
              <a:spAutoFit/>
            </a:bodyPr>
            <a:lstStyle/>
            <a:p>
              <a:pPr algn="just" rtl="1"/>
              <a:r>
                <a:rPr lang="fa-IR" sz="1400" dirty="0">
                  <a:solidFill>
                    <a:srgbClr val="000000"/>
                  </a:solidFill>
                  <a:latin typeface="IRANSans"/>
                  <a:cs typeface="B Nazanin" panose="00000400000000000000" pitchFamily="2" charset="-78"/>
                </a:rPr>
                <a:t>در بحث </a:t>
              </a:r>
              <a:r>
                <a:rPr lang="fa-IR" sz="1400" b="1" dirty="0">
                  <a:solidFill>
                    <a:srgbClr val="0070C0"/>
                  </a:solidFill>
                  <a:latin typeface="IRANSans"/>
                  <a:cs typeface="B Nazanin" panose="00000400000000000000" pitchFamily="2" charset="-78"/>
                </a:rPr>
                <a:t>تطبیق حرفه‌ای</a:t>
              </a:r>
              <a:r>
                <a:rPr lang="fa-IR" sz="1400" dirty="0">
                  <a:solidFill>
                    <a:srgbClr val="000000"/>
                  </a:solidFill>
                  <a:latin typeface="IRANSans"/>
                  <a:cs typeface="B Nazanin" panose="00000400000000000000" pitchFamily="2" charset="-78"/>
                </a:rPr>
                <a:t>، به </a:t>
              </a:r>
              <a:r>
                <a:rPr lang="fa-IR" sz="1400" b="1" dirty="0">
                  <a:solidFill>
                    <a:srgbClr val="0070C0"/>
                  </a:solidFill>
                  <a:latin typeface="IRANSans"/>
                  <a:cs typeface="B Nazanin" panose="00000400000000000000" pitchFamily="2" charset="-78"/>
                </a:rPr>
                <a:t>علائق، ترجیحات، انگیزه‌های درونی، مدل ذهنی</a:t>
              </a:r>
              <a:r>
                <a:rPr lang="fa-IR" sz="1400" dirty="0">
                  <a:solidFill>
                    <a:srgbClr val="000000"/>
                  </a:solidFill>
                  <a:latin typeface="IRANSans"/>
                  <a:cs typeface="B Nazanin" panose="00000400000000000000" pitchFamily="2" charset="-78"/>
                </a:rPr>
                <a:t> و نکاتی از این دست می‌پردازیم. عمده‌ی این نکات، به سادگی و با معیارهای عینی قابل سنجش نیستند.</a:t>
              </a:r>
              <a:endParaRPr lang="en-US" sz="1400" dirty="0">
                <a:solidFill>
                  <a:srgbClr val="000000"/>
                </a:solidFill>
                <a:latin typeface="IRANSans"/>
                <a:cs typeface="B Nazanin" panose="00000400000000000000" pitchFamily="2" charset="-78"/>
              </a:endParaRPr>
            </a:p>
          </p:txBody>
        </p:sp>
        <p:sp>
          <p:nvSpPr>
            <p:cNvPr id="40" name="Rectangle 39"/>
            <p:cNvSpPr/>
            <p:nvPr/>
          </p:nvSpPr>
          <p:spPr>
            <a:xfrm>
              <a:off x="373846" y="3129862"/>
              <a:ext cx="3672034" cy="1815882"/>
            </a:xfrm>
            <a:prstGeom prst="rect">
              <a:avLst/>
            </a:prstGeom>
          </p:spPr>
          <p:txBody>
            <a:bodyPr wrap="square">
              <a:spAutoFit/>
            </a:bodyPr>
            <a:lstStyle/>
            <a:p>
              <a:pPr algn="just" rtl="1"/>
              <a:r>
                <a:rPr lang="fa-IR" sz="1400" dirty="0" smtClean="0">
                  <a:solidFill>
                    <a:srgbClr val="000000"/>
                  </a:solidFill>
                  <a:latin typeface="IRANSans"/>
                  <a:cs typeface="B Nazanin" panose="00000400000000000000" pitchFamily="2" charset="-78"/>
                </a:rPr>
                <a:t>فرض </a:t>
              </a:r>
              <a:r>
                <a:rPr lang="fa-IR" sz="1400" dirty="0">
                  <a:solidFill>
                    <a:srgbClr val="000000"/>
                  </a:solidFill>
                  <a:latin typeface="IRANSans"/>
                  <a:cs typeface="B Nazanin" panose="00000400000000000000" pitchFamily="2" charset="-78"/>
                </a:rPr>
                <a:t>کنید کسی به صورت کاملاً تصادفی پرستار شده است. </a:t>
              </a:r>
              <a:r>
                <a:rPr lang="fa-IR" sz="1400" dirty="0" smtClean="0">
                  <a:solidFill>
                    <a:srgbClr val="000000"/>
                  </a:solidFill>
                  <a:latin typeface="IRANSans"/>
                  <a:cs typeface="B Nazanin" panose="00000400000000000000" pitchFamily="2" charset="-78"/>
                </a:rPr>
                <a:t>و اکنون </a:t>
              </a:r>
              <a:r>
                <a:rPr lang="fa-IR" sz="1400" dirty="0">
                  <a:solidFill>
                    <a:srgbClr val="000000"/>
                  </a:solidFill>
                  <a:latin typeface="IRANSans"/>
                  <a:cs typeface="B Nazanin" panose="00000400000000000000" pitchFamily="2" charset="-78"/>
                </a:rPr>
                <a:t>در بیمارستان مشغول کار است.</a:t>
              </a:r>
            </a:p>
            <a:p>
              <a:pPr algn="just" rtl="1"/>
              <a:r>
                <a:rPr lang="fa-IR" sz="1400" dirty="0">
                  <a:solidFill>
                    <a:srgbClr val="000000"/>
                  </a:solidFill>
                  <a:latin typeface="IRANSans"/>
                  <a:cs typeface="B Nazanin" panose="00000400000000000000" pitchFamily="2" charset="-78"/>
                </a:rPr>
                <a:t>ممکن است چنین فردی از نظر تطبیق شغلی یا </a:t>
              </a:r>
              <a:r>
                <a:rPr lang="en-US" sz="1400" dirty="0">
                  <a:solidFill>
                    <a:srgbClr val="000000"/>
                  </a:solidFill>
                  <a:latin typeface="IRANSans"/>
                  <a:cs typeface="B Nazanin" panose="00000400000000000000" pitchFamily="2" charset="-78"/>
                </a:rPr>
                <a:t>P-J </a:t>
              </a:r>
              <a:r>
                <a:rPr lang="en-US" sz="1400" dirty="0" smtClean="0">
                  <a:solidFill>
                    <a:srgbClr val="000000"/>
                  </a:solidFill>
                  <a:latin typeface="IRANSans"/>
                  <a:cs typeface="B Nazanin" panose="00000400000000000000" pitchFamily="2" charset="-78"/>
                </a:rPr>
                <a:t>Fit</a:t>
              </a:r>
              <a:r>
                <a:rPr lang="fa-IR" sz="1400" dirty="0" smtClean="0">
                  <a:solidFill>
                    <a:srgbClr val="000000"/>
                  </a:solidFill>
                  <a:latin typeface="IRANSans"/>
                  <a:cs typeface="B Nazanin" panose="00000400000000000000" pitchFamily="2" charset="-78"/>
                </a:rPr>
                <a:t> </a:t>
              </a:r>
              <a:r>
                <a:rPr lang="en-US" sz="1400" dirty="0" smtClean="0">
                  <a:solidFill>
                    <a:srgbClr val="000000"/>
                  </a:solidFill>
                  <a:latin typeface="IRANSans"/>
                  <a:cs typeface="B Nazanin" panose="00000400000000000000" pitchFamily="2" charset="-78"/>
                </a:rPr>
                <a:t> </a:t>
              </a:r>
              <a:r>
                <a:rPr lang="fa-IR" sz="1400" dirty="0">
                  <a:solidFill>
                    <a:srgbClr val="000000"/>
                  </a:solidFill>
                  <a:latin typeface="IRANSans"/>
                  <a:cs typeface="B Nazanin" panose="00000400000000000000" pitchFamily="2" charset="-78"/>
                </a:rPr>
                <a:t>اوضاع خوبی داشته باشد. تحصیلات، تجربه و تخصص و توانمندی‌هایش برای این شغل مناسب باشد. </a:t>
              </a:r>
              <a:r>
                <a:rPr lang="fa-IR" sz="1400" dirty="0">
                  <a:solidFill>
                    <a:srgbClr val="000000"/>
                  </a:solidFill>
                  <a:latin typeface="IRANSans"/>
                  <a:cs typeface="B Nazanin" panose="00000400000000000000" pitchFamily="2" charset="-78"/>
                </a:rPr>
                <a:t>در واقع روی کاغذ، او برای این شغل مناسب </a:t>
              </a:r>
              <a:r>
                <a:rPr lang="fa-IR" sz="1400" dirty="0" smtClean="0">
                  <a:solidFill>
                    <a:srgbClr val="000000"/>
                  </a:solidFill>
                  <a:latin typeface="IRANSans"/>
                  <a:cs typeface="B Nazanin" panose="00000400000000000000" pitchFamily="2" charset="-78"/>
                </a:rPr>
                <a:t>است. اما </a:t>
              </a:r>
              <a:r>
                <a:rPr lang="fa-IR" sz="1400" dirty="0">
                  <a:solidFill>
                    <a:srgbClr val="000000"/>
                  </a:solidFill>
                  <a:latin typeface="IRANSans"/>
                  <a:cs typeface="B Nazanin" panose="00000400000000000000" pitchFamily="2" charset="-78"/>
                </a:rPr>
                <a:t>اگر آن عشق به خدمت و رضایت ناشی از سلامت مردم در وجود این فرد نباشد، احتمالاً از لحاظ </a:t>
              </a:r>
              <a:r>
                <a:rPr lang="en-US" sz="1400" b="1" dirty="0">
                  <a:solidFill>
                    <a:srgbClr val="000000"/>
                  </a:solidFill>
                  <a:latin typeface="IRANSans"/>
                  <a:cs typeface="B Nazanin" panose="00000400000000000000" pitchFamily="2" charset="-78"/>
                </a:rPr>
                <a:t>P-V Fit</a:t>
              </a:r>
              <a:r>
                <a:rPr lang="en-US" sz="1400" dirty="0">
                  <a:solidFill>
                    <a:srgbClr val="000000"/>
                  </a:solidFill>
                  <a:latin typeface="IRANSans"/>
                  <a:cs typeface="B Nazanin" panose="00000400000000000000" pitchFamily="2" charset="-78"/>
                </a:rPr>
                <a:t> </a:t>
              </a:r>
              <a:r>
                <a:rPr lang="fa-IR" sz="1400" dirty="0">
                  <a:solidFill>
                    <a:srgbClr val="000000"/>
                  </a:solidFill>
                  <a:latin typeface="IRANSans"/>
                  <a:cs typeface="B Nazanin" panose="00000400000000000000" pitchFamily="2" charset="-78"/>
                </a:rPr>
                <a:t>تا تطبیق حرفه‌ای در وضعیت مناسبی نخواهد بود.</a:t>
              </a:r>
            </a:p>
          </p:txBody>
        </p:sp>
      </p:grpSp>
      <p:sp>
        <p:nvSpPr>
          <p:cNvPr id="43" name="Rectangle 42"/>
          <p:cNvSpPr/>
          <p:nvPr/>
        </p:nvSpPr>
        <p:spPr>
          <a:xfrm>
            <a:off x="7151076" y="5646499"/>
            <a:ext cx="4570208" cy="523220"/>
          </a:xfrm>
          <a:prstGeom prst="rect">
            <a:avLst/>
          </a:prstGeom>
        </p:spPr>
        <p:txBody>
          <a:bodyPr wrap="square">
            <a:spAutoFit/>
          </a:bodyPr>
          <a:lstStyle/>
          <a:p>
            <a:pPr algn="just" rtl="1"/>
            <a:r>
              <a:rPr lang="fa-IR" sz="1400" dirty="0" smtClean="0">
                <a:solidFill>
                  <a:srgbClr val="000000"/>
                </a:solidFill>
                <a:latin typeface="IRANSans"/>
                <a:cs typeface="B Nazanin" panose="00000400000000000000" pitchFamily="2" charset="-78"/>
              </a:rPr>
              <a:t>اینکه یک </a:t>
            </a:r>
            <a:r>
              <a:rPr lang="fa-IR" sz="1400" b="1" dirty="0" smtClean="0">
                <a:solidFill>
                  <a:srgbClr val="9933FF"/>
                </a:solidFill>
                <a:latin typeface="IRANSans"/>
                <a:cs typeface="B Nazanin" panose="00000400000000000000" pitchFamily="2" charset="-78"/>
              </a:rPr>
              <a:t>فرد با تیم جور نباشد </a:t>
            </a:r>
            <a:r>
              <a:rPr lang="fa-IR" sz="1400" dirty="0" smtClean="0">
                <a:solidFill>
                  <a:srgbClr val="000000"/>
                </a:solidFill>
                <a:latin typeface="IRANSans"/>
                <a:cs typeface="B Nazanin" panose="00000400000000000000" pitchFamily="2" charset="-78"/>
              </a:rPr>
              <a:t>یا به هر علتی با تیم کاری مشکل داشته باشد </a:t>
            </a:r>
            <a:r>
              <a:rPr lang="fa-IR" sz="1400" b="1" dirty="0" smtClean="0">
                <a:solidFill>
                  <a:srgbClr val="9933FF"/>
                </a:solidFill>
                <a:latin typeface="IRANSans"/>
                <a:cs typeface="B Nazanin" panose="00000400000000000000" pitchFamily="2" charset="-78"/>
              </a:rPr>
              <a:t>تطبیق فرد و گروه </a:t>
            </a:r>
            <a:r>
              <a:rPr lang="en-US" sz="1400" b="1" dirty="0">
                <a:solidFill>
                  <a:srgbClr val="000000"/>
                </a:solidFill>
                <a:latin typeface="IRANSans"/>
              </a:rPr>
              <a:t>P-G </a:t>
            </a:r>
            <a:r>
              <a:rPr lang="en-US" sz="1400" b="1" dirty="0" smtClean="0">
                <a:solidFill>
                  <a:srgbClr val="000000"/>
                </a:solidFill>
                <a:latin typeface="IRANSans"/>
              </a:rPr>
              <a:t>Fit</a:t>
            </a:r>
            <a:r>
              <a:rPr lang="fa-IR" sz="1400" dirty="0" smtClean="0">
                <a:solidFill>
                  <a:srgbClr val="000000"/>
                </a:solidFill>
                <a:latin typeface="IRANSans"/>
                <a:cs typeface="B Nazanin" panose="00000400000000000000" pitchFamily="2" charset="-78"/>
              </a:rPr>
              <a:t>  برای وی کم می باشد . </a:t>
            </a:r>
            <a:endParaRPr lang="en-US" sz="1400" dirty="0">
              <a:solidFill>
                <a:srgbClr val="000000"/>
              </a:solidFill>
              <a:latin typeface="IRANSans"/>
              <a:cs typeface="B Nazanin" panose="00000400000000000000" pitchFamily="2" charset="-78"/>
            </a:endParaRPr>
          </a:p>
        </p:txBody>
      </p:sp>
      <p:sp>
        <p:nvSpPr>
          <p:cNvPr id="44" name="Rectangle 43"/>
          <p:cNvSpPr/>
          <p:nvPr/>
        </p:nvSpPr>
        <p:spPr>
          <a:xfrm>
            <a:off x="8298655" y="2382155"/>
            <a:ext cx="3458155" cy="2462213"/>
          </a:xfrm>
          <a:prstGeom prst="rect">
            <a:avLst/>
          </a:prstGeom>
        </p:spPr>
        <p:txBody>
          <a:bodyPr wrap="square">
            <a:spAutoFit/>
          </a:bodyPr>
          <a:lstStyle/>
          <a:p>
            <a:pPr algn="just" rtl="1"/>
            <a:r>
              <a:rPr lang="fa-IR" sz="1400" dirty="0" smtClean="0">
                <a:solidFill>
                  <a:srgbClr val="000000"/>
                </a:solidFill>
                <a:latin typeface="IRANSans"/>
                <a:cs typeface="B Nazanin" panose="00000400000000000000" pitchFamily="2" charset="-78"/>
              </a:rPr>
              <a:t>گاهی همه </a:t>
            </a:r>
            <a:r>
              <a:rPr lang="fa-IR" sz="1400" dirty="0">
                <a:solidFill>
                  <a:srgbClr val="000000"/>
                </a:solidFill>
                <a:latin typeface="IRANSans"/>
                <a:cs typeface="B Nazanin" panose="00000400000000000000" pitchFamily="2" charset="-78"/>
              </a:rPr>
              <a:t>چیز خوب است. اما یک نفر (مدیر من یا همکار من یا حتی زیردست من) چنان با من تفاوت دارد و چنان الگوهای فکری و ارزشی و رفتاری‌اش از من دور است که محیط کار را برای من تلخ (و شاید جهنم) کرده است</a:t>
            </a:r>
            <a:r>
              <a:rPr lang="fa-IR" sz="1400" dirty="0" smtClean="0">
                <a:solidFill>
                  <a:srgbClr val="000000"/>
                </a:solidFill>
                <a:latin typeface="IRANSans"/>
                <a:cs typeface="B Nazanin" panose="00000400000000000000" pitchFamily="2" charset="-78"/>
              </a:rPr>
              <a:t>.</a:t>
            </a:r>
          </a:p>
          <a:p>
            <a:pPr algn="ctr" rtl="1"/>
            <a:r>
              <a:rPr lang="en-US" sz="1400" dirty="0" smtClean="0">
                <a:solidFill>
                  <a:srgbClr val="000000"/>
                </a:solidFill>
                <a:latin typeface="IRANSans"/>
                <a:cs typeface="B Nazanin" panose="00000400000000000000" pitchFamily="2" charset="-78"/>
              </a:rPr>
              <a:t> </a:t>
            </a:r>
            <a:r>
              <a:rPr lang="en-US" sz="1400" b="1" dirty="0" smtClean="0">
                <a:solidFill>
                  <a:srgbClr val="000000"/>
                </a:solidFill>
                <a:latin typeface="IRANSans"/>
              </a:rPr>
              <a:t>P-P Fit</a:t>
            </a:r>
            <a:r>
              <a:rPr lang="en-US" sz="1400" dirty="0" smtClean="0"/>
              <a:t>  )</a:t>
            </a:r>
            <a:r>
              <a:rPr lang="fa-IR" sz="1400" dirty="0" smtClean="0"/>
              <a:t>)</a:t>
            </a:r>
            <a:endParaRPr lang="fa-IR" sz="1400" dirty="0">
              <a:solidFill>
                <a:srgbClr val="000000"/>
              </a:solidFill>
              <a:latin typeface="IRANSans"/>
              <a:cs typeface="B Nazanin" panose="00000400000000000000" pitchFamily="2" charset="-78"/>
            </a:endParaRPr>
          </a:p>
          <a:p>
            <a:pPr algn="just" rtl="1"/>
            <a:r>
              <a:rPr lang="fa-IR" sz="1400" dirty="0" smtClean="0">
                <a:solidFill>
                  <a:srgbClr val="000000"/>
                </a:solidFill>
                <a:latin typeface="IRANSans"/>
                <a:cs typeface="B Nazanin" panose="00000400000000000000" pitchFamily="2" charset="-78"/>
              </a:rPr>
              <a:t>به </a:t>
            </a:r>
            <a:r>
              <a:rPr lang="fa-IR" sz="1400" dirty="0">
                <a:solidFill>
                  <a:srgbClr val="000000"/>
                </a:solidFill>
                <a:latin typeface="IRANSans"/>
                <a:cs typeface="B Nazanin" panose="00000400000000000000" pitchFamily="2" charset="-78"/>
              </a:rPr>
              <a:t>خاطر داشته باشیم که قرار نیست این افراد، الزاماً</a:t>
            </a:r>
            <a:r>
              <a:rPr lang="fa-IR" sz="1400" dirty="0">
                <a:solidFill>
                  <a:srgbClr val="CC6600"/>
                </a:solidFill>
                <a:latin typeface="IRANSans"/>
                <a:cs typeface="B Nazanin" panose="00000400000000000000" pitchFamily="2" charset="-78"/>
              </a:rPr>
              <a:t> </a:t>
            </a:r>
            <a:r>
              <a:rPr lang="fa-IR" sz="1400" b="1" dirty="0">
                <a:solidFill>
                  <a:srgbClr val="CC6600"/>
                </a:solidFill>
                <a:latin typeface="IRANSans"/>
                <a:cs typeface="B Nazanin" panose="00000400000000000000" pitchFamily="2" charset="-78"/>
              </a:rPr>
              <a:t>افرادی مسموم و منفی</a:t>
            </a:r>
            <a:r>
              <a:rPr lang="fa-IR" sz="1400" dirty="0">
                <a:solidFill>
                  <a:srgbClr val="000000"/>
                </a:solidFill>
                <a:latin typeface="IRANSans"/>
                <a:cs typeface="B Nazanin" panose="00000400000000000000" pitchFamily="2" charset="-78"/>
              </a:rPr>
              <a:t> </a:t>
            </a:r>
            <a:r>
              <a:rPr lang="fa-IR" sz="1400" dirty="0" smtClean="0">
                <a:solidFill>
                  <a:srgbClr val="000000"/>
                </a:solidFill>
                <a:latin typeface="IRANSans"/>
                <a:cs typeface="B Nazanin" panose="00000400000000000000" pitchFamily="2" charset="-78"/>
              </a:rPr>
              <a:t>باشند. گاهی </a:t>
            </a:r>
            <a:r>
              <a:rPr lang="fa-IR" sz="1400" dirty="0">
                <a:solidFill>
                  <a:srgbClr val="000000"/>
                </a:solidFill>
                <a:latin typeface="IRANSans"/>
                <a:cs typeface="B Nazanin" panose="00000400000000000000" pitchFamily="2" charset="-78"/>
              </a:rPr>
              <a:t>اوقات، شما و فرد دیگر، هر دو انسان‌های معقول و پذیرفته شده هستید. </a:t>
            </a:r>
            <a:r>
              <a:rPr lang="fa-IR" sz="1400" dirty="0">
                <a:solidFill>
                  <a:srgbClr val="000000"/>
                </a:solidFill>
                <a:latin typeface="IRANSans"/>
                <a:cs typeface="B Nazanin" panose="00000400000000000000" pitchFamily="2" charset="-78"/>
              </a:rPr>
              <a:t>اما تفاوت‌های شما آن‌قدر زیاد است که </a:t>
            </a:r>
            <a:r>
              <a:rPr lang="fa-IR" sz="1400" b="1" dirty="0">
                <a:solidFill>
                  <a:srgbClr val="CC6600"/>
                </a:solidFill>
                <a:latin typeface="IRANSans"/>
                <a:cs typeface="B Nazanin" panose="00000400000000000000" pitchFamily="2" charset="-78"/>
              </a:rPr>
              <a:t>عدم تطبیق بین سبک‌ نگاه و رفتار شم</a:t>
            </a:r>
            <a:r>
              <a:rPr lang="fa-IR" sz="1400" b="1" dirty="0">
                <a:latin typeface="IRANSans"/>
                <a:cs typeface="B Nazanin" panose="00000400000000000000" pitchFamily="2" charset="-78"/>
              </a:rPr>
              <a:t>ا</a:t>
            </a:r>
            <a:r>
              <a:rPr lang="fa-IR" sz="1400" dirty="0">
                <a:solidFill>
                  <a:srgbClr val="000000"/>
                </a:solidFill>
                <a:latin typeface="IRANSans"/>
                <a:cs typeface="B Nazanin" panose="00000400000000000000" pitchFamily="2" charset="-78"/>
              </a:rPr>
              <a:t>، عملاً به عاملی مستهلک‌کننده در محیط کار تبدیل می‌شود.</a:t>
            </a:r>
          </a:p>
        </p:txBody>
      </p:sp>
      <p:grpSp>
        <p:nvGrpSpPr>
          <p:cNvPr id="46" name="Group 45"/>
          <p:cNvGrpSpPr/>
          <p:nvPr/>
        </p:nvGrpSpPr>
        <p:grpSpPr>
          <a:xfrm>
            <a:off x="6798784" y="1453212"/>
            <a:ext cx="4433590" cy="641757"/>
            <a:chOff x="6773078" y="1546162"/>
            <a:chExt cx="4433590" cy="641757"/>
          </a:xfrm>
        </p:grpSpPr>
        <p:sp>
          <p:nvSpPr>
            <p:cNvPr id="3" name="Rectangle 2"/>
            <p:cNvSpPr/>
            <p:nvPr/>
          </p:nvSpPr>
          <p:spPr>
            <a:xfrm>
              <a:off x="6783085" y="1546162"/>
              <a:ext cx="4423583" cy="338554"/>
            </a:xfrm>
            <a:prstGeom prst="rect">
              <a:avLst/>
            </a:prstGeom>
          </p:spPr>
          <p:txBody>
            <a:bodyPr wrap="square">
              <a:spAutoFit/>
            </a:bodyPr>
            <a:lstStyle/>
            <a:p>
              <a:pPr algn="r" rtl="1"/>
              <a:r>
                <a:rPr lang="fa-IR" sz="1600" b="1" dirty="0">
                  <a:solidFill>
                    <a:srgbClr val="FF0000"/>
                  </a:solidFill>
                  <a:cs typeface="B Nazanin" panose="00000400000000000000" pitchFamily="2" charset="-78"/>
                </a:rPr>
                <a:t>تطبیق فرد با شرایط محیطی </a:t>
              </a:r>
              <a:r>
                <a:rPr lang="fa-IR" sz="1600" b="1" dirty="0" smtClean="0">
                  <a:solidFill>
                    <a:srgbClr val="FF0000"/>
                  </a:solidFill>
                  <a:cs typeface="B Nazanin" panose="00000400000000000000" pitchFamily="2" charset="-78"/>
                </a:rPr>
                <a:t>- </a:t>
              </a:r>
              <a:r>
                <a:rPr lang="en-US" sz="1600" b="1" dirty="0" smtClean="0">
                  <a:solidFill>
                    <a:srgbClr val="FF0000"/>
                  </a:solidFill>
                  <a:cs typeface="B Nazanin" panose="00000400000000000000" pitchFamily="2" charset="-78"/>
                </a:rPr>
                <a:t>Person-Environment Fit</a:t>
              </a:r>
              <a:r>
                <a:rPr lang="fa-IR" sz="1600" b="1" dirty="0" smtClean="0">
                  <a:solidFill>
                    <a:srgbClr val="FF0000"/>
                  </a:solidFill>
                  <a:cs typeface="B Nazanin" panose="00000400000000000000" pitchFamily="2" charset="-78"/>
                </a:rPr>
                <a:t> </a:t>
              </a:r>
              <a:endParaRPr lang="en-US" sz="1600" b="1" dirty="0">
                <a:solidFill>
                  <a:srgbClr val="FF0000"/>
                </a:solidFill>
                <a:cs typeface="B Nazanin" panose="00000400000000000000" pitchFamily="2" charset="-78"/>
              </a:endParaRPr>
            </a:p>
          </p:txBody>
        </p:sp>
        <p:sp>
          <p:nvSpPr>
            <p:cNvPr id="45" name="Rectangle 44"/>
            <p:cNvSpPr/>
            <p:nvPr/>
          </p:nvSpPr>
          <p:spPr>
            <a:xfrm>
              <a:off x="6773078" y="1849365"/>
              <a:ext cx="4423583" cy="338554"/>
            </a:xfrm>
            <a:prstGeom prst="rect">
              <a:avLst/>
            </a:prstGeom>
          </p:spPr>
          <p:txBody>
            <a:bodyPr wrap="square">
              <a:spAutoFit/>
            </a:bodyPr>
            <a:lstStyle/>
            <a:p>
              <a:pPr algn="ctr" rtl="1"/>
              <a:r>
                <a:rPr lang="fa-IR" sz="1600" b="1" dirty="0" smtClean="0">
                  <a:solidFill>
                    <a:srgbClr val="FF0000"/>
                  </a:solidFill>
                  <a:cs typeface="B Nazanin" panose="00000400000000000000" pitchFamily="2" charset="-78"/>
                </a:rPr>
                <a:t>مدل </a:t>
              </a:r>
              <a:r>
                <a:rPr lang="fa-IR" sz="1600" b="1" dirty="0">
                  <a:solidFill>
                    <a:srgbClr val="FF0000"/>
                  </a:solidFill>
                  <a:cs typeface="B Nazanin" panose="00000400000000000000" pitchFamily="2" charset="-78"/>
                </a:rPr>
                <a:t>پنجگانه </a:t>
              </a:r>
              <a:r>
                <a:rPr lang="fa-IR" sz="1600" b="1" dirty="0">
                  <a:solidFill>
                    <a:srgbClr val="FF0000"/>
                  </a:solidFill>
                  <a:cs typeface="B Nazanin" panose="00000400000000000000" pitchFamily="2" charset="-78"/>
                </a:rPr>
                <a:t>کارِن جَنسِن و کریستوف براون</a:t>
              </a:r>
              <a:endParaRPr lang="en-US" sz="1600" b="1" dirty="0">
                <a:solidFill>
                  <a:srgbClr val="FF0000"/>
                </a:solidFill>
                <a:cs typeface="B Nazanin" panose="00000400000000000000" pitchFamily="2" charset="-78"/>
              </a:endParaRPr>
            </a:p>
          </p:txBody>
        </p:sp>
      </p:grpSp>
      <p:sp>
        <p:nvSpPr>
          <p:cNvPr id="48" name="Rectangle 47"/>
          <p:cNvSpPr/>
          <p:nvPr/>
        </p:nvSpPr>
        <p:spPr>
          <a:xfrm rot="5400000">
            <a:off x="11007199" y="1617671"/>
            <a:ext cx="995785" cy="307777"/>
          </a:xfrm>
          <a:prstGeom prst="rect">
            <a:avLst/>
          </a:prstGeom>
        </p:spPr>
        <p:txBody>
          <a:bodyPr wrap="none">
            <a:spAutoFit/>
          </a:bodyPr>
          <a:lstStyle/>
          <a:p>
            <a:pPr algn="ctr" rtl="1"/>
            <a:r>
              <a:rPr lang="en-US" sz="1400" dirty="0">
                <a:solidFill>
                  <a:srgbClr val="000000"/>
                </a:solidFill>
                <a:latin typeface="IRANSans"/>
                <a:cs typeface="B Nazanin" panose="00000400000000000000" pitchFamily="2" charset="-78"/>
              </a:rPr>
              <a:t> </a:t>
            </a:r>
            <a:r>
              <a:rPr lang="en-US" sz="1400" b="1" dirty="0" smtClean="0">
                <a:solidFill>
                  <a:srgbClr val="000000"/>
                </a:solidFill>
                <a:latin typeface="IRANSans"/>
              </a:rPr>
              <a:t>P-E </a:t>
            </a:r>
            <a:r>
              <a:rPr lang="en-US" sz="1400" b="1" dirty="0">
                <a:solidFill>
                  <a:srgbClr val="000000"/>
                </a:solidFill>
                <a:latin typeface="IRANSans"/>
              </a:rPr>
              <a:t>Fit</a:t>
            </a:r>
            <a:r>
              <a:rPr lang="en-US" sz="1400" dirty="0"/>
              <a:t>  )</a:t>
            </a:r>
            <a:r>
              <a:rPr lang="fa-IR" sz="1400" dirty="0"/>
              <a:t>)</a:t>
            </a:r>
            <a:endParaRPr lang="fa-IR" sz="1400" dirty="0">
              <a:solidFill>
                <a:srgbClr val="000000"/>
              </a:solidFill>
              <a:latin typeface="IRANSans"/>
              <a:cs typeface="B Nazanin" panose="00000400000000000000" pitchFamily="2" charset="-78"/>
            </a:endParaRPr>
          </a:p>
        </p:txBody>
      </p:sp>
    </p:spTree>
    <p:extLst>
      <p:ext uri="{BB962C8B-B14F-4D97-AF65-F5344CB8AC3E}">
        <p14:creationId xmlns:p14="http://schemas.microsoft.com/office/powerpoint/2010/main" val="30044288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1169125" y="425299"/>
            <a:ext cx="9875520" cy="709749"/>
          </a:xfrm>
        </p:spPr>
        <p:txBody>
          <a:bodyPr>
            <a:normAutofit fontScale="90000"/>
          </a:bodyPr>
          <a:lstStyle/>
          <a:p>
            <a:pPr algn="r"/>
            <a:r>
              <a:rPr lang="fa-IR" sz="4800" dirty="0" smtClean="0">
                <a:cs typeface="B Nazanin" panose="00000400000000000000" pitchFamily="2" charset="-78"/>
              </a:rPr>
              <a:t>معرفی کتاب مدیریت منابع انسانی </a:t>
            </a:r>
            <a:endParaRPr lang="en-US" sz="4800" dirty="0">
              <a:cs typeface="B Nazanin" panose="00000400000000000000" pitchFamily="2" charset="-78"/>
            </a:endParaRPr>
          </a:p>
        </p:txBody>
      </p:sp>
      <p:cxnSp>
        <p:nvCxnSpPr>
          <p:cNvPr id="8" name="Straight Connector 7"/>
          <p:cNvCxnSpPr/>
          <p:nvPr/>
        </p:nvCxnSpPr>
        <p:spPr>
          <a:xfrm>
            <a:off x="888274" y="1240973"/>
            <a:ext cx="10437223" cy="13063"/>
          </a:xfrm>
          <a:prstGeom prst="line">
            <a:avLst/>
          </a:prstGeom>
        </p:spPr>
        <p:style>
          <a:lnRef idx="3">
            <a:schemeClr val="accent1"/>
          </a:lnRef>
          <a:fillRef idx="0">
            <a:schemeClr val="accent1"/>
          </a:fillRef>
          <a:effectRef idx="2">
            <a:schemeClr val="accent1"/>
          </a:effectRef>
          <a:fontRef idx="minor">
            <a:schemeClr val="tx1"/>
          </a:fontRef>
        </p:style>
      </p:cxnSp>
      <p:pic>
        <p:nvPicPr>
          <p:cNvPr id="1026" name="Picture 2" descr="https://images-na.ssl-images-amazon.com/images/I/618RC5H1FrL._SX388_BO1,204,203,200_.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83" y="1675282"/>
            <a:ext cx="3416221" cy="43710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9552660" y="1649474"/>
            <a:ext cx="1779603" cy="2604297"/>
          </a:xfrm>
          <a:prstGeom prst="rect">
            <a:avLst/>
          </a:prstGeom>
        </p:spPr>
      </p:pic>
      <p:sp>
        <p:nvSpPr>
          <p:cNvPr id="4" name="Rectangle 3"/>
          <p:cNvSpPr/>
          <p:nvPr/>
        </p:nvSpPr>
        <p:spPr>
          <a:xfrm>
            <a:off x="9284518" y="4661299"/>
            <a:ext cx="2354487" cy="1384995"/>
          </a:xfrm>
          <a:prstGeom prst="rect">
            <a:avLst/>
          </a:prstGeom>
          <a:solidFill>
            <a:srgbClr val="FED754"/>
          </a:solidFill>
        </p:spPr>
        <p:txBody>
          <a:bodyPr wrap="square">
            <a:spAutoFit/>
          </a:bodyPr>
          <a:lstStyle/>
          <a:p>
            <a:pPr algn="justLow" rtl="1"/>
            <a:r>
              <a:rPr lang="fa-IR" sz="1400" dirty="0">
                <a:solidFill>
                  <a:srgbClr val="000000"/>
                </a:solidFill>
                <a:latin typeface="IRANSans"/>
                <a:cs typeface="B Nazanin" panose="00000400000000000000" pitchFamily="2" charset="-78"/>
              </a:rPr>
              <a:t>کتاب حاضر ترجمه کاملی (غیر از فصل ۲ نسخه اصلی که مربوط به قوانین کار آمریکاست) از کتاب مبانی مدیریت منابع انسانی است که در یک جلد و ۹ فصل برای دوره های کارشناسی و دوره های کوتاه مدت مدیریت، منتشر شده است.</a:t>
            </a:r>
            <a:endParaRPr lang="en-US" sz="1400" dirty="0">
              <a:solidFill>
                <a:srgbClr val="000000"/>
              </a:solidFill>
              <a:latin typeface="IRANSans"/>
              <a:cs typeface="B Nazanin" panose="00000400000000000000" pitchFamily="2" charset="-78"/>
            </a:endParaRPr>
          </a:p>
        </p:txBody>
      </p:sp>
      <p:sp>
        <p:nvSpPr>
          <p:cNvPr id="5" name="Rectangle 4"/>
          <p:cNvSpPr/>
          <p:nvPr/>
        </p:nvSpPr>
        <p:spPr>
          <a:xfrm>
            <a:off x="2940323" y="1649474"/>
            <a:ext cx="6096000" cy="4647426"/>
          </a:xfrm>
          <a:prstGeom prst="rect">
            <a:avLst/>
          </a:prstGeom>
        </p:spPr>
        <p:txBody>
          <a:bodyPr>
            <a:spAutoFit/>
          </a:bodyPr>
          <a:lstStyle/>
          <a:p>
            <a:pPr marL="285750" indent="-285750" algn="just" rtl="1">
              <a:buFont typeface="Arial" panose="020B0604020202020204" pitchFamily="34" charset="0"/>
              <a:buChar char="•"/>
            </a:pPr>
            <a:r>
              <a:rPr lang="fa-IR" sz="1600" b="1" dirty="0">
                <a:solidFill>
                  <a:srgbClr val="000000"/>
                </a:solidFill>
                <a:latin typeface="IRANSans"/>
                <a:cs typeface="B Nazanin" panose="00000400000000000000" pitchFamily="2" charset="-78"/>
              </a:rPr>
              <a:t>مقدمه‌ای بر مدیریت منابع انسانی</a:t>
            </a:r>
            <a:r>
              <a:rPr lang="fa-IR" sz="1600" dirty="0">
                <a:solidFill>
                  <a:srgbClr val="000000"/>
                </a:solidFill>
                <a:latin typeface="IRANSans"/>
                <a:cs typeface="B Nazanin" panose="00000400000000000000" pitchFamily="2" charset="-78"/>
              </a:rPr>
              <a:t> </a:t>
            </a:r>
            <a:endParaRPr lang="en-US" sz="1600" dirty="0" smtClean="0">
              <a:solidFill>
                <a:srgbClr val="000000"/>
              </a:solidFill>
              <a:latin typeface="IRANSans"/>
              <a:cs typeface="B Nazanin" panose="00000400000000000000" pitchFamily="2" charset="-78"/>
            </a:endParaRPr>
          </a:p>
          <a:p>
            <a:pPr marL="285750" indent="-285750" algn="just" rtl="1">
              <a:buFont typeface="Arial" panose="020B0604020202020204" pitchFamily="34" charset="0"/>
              <a:buChar char="•"/>
            </a:pPr>
            <a:r>
              <a:rPr lang="fa-IR" sz="1600" b="1" dirty="0" smtClean="0">
                <a:solidFill>
                  <a:srgbClr val="000000"/>
                </a:solidFill>
                <a:latin typeface="IRANSans"/>
                <a:cs typeface="B Nazanin" panose="00000400000000000000" pitchFamily="2" charset="-78"/>
              </a:rPr>
              <a:t>استخدام و جایابی و مدیریت توانمندی‌ها و استعدادها</a:t>
            </a:r>
            <a:r>
              <a:rPr lang="fa-IR" sz="1600" dirty="0" smtClean="0">
                <a:solidFill>
                  <a:srgbClr val="000000"/>
                </a:solidFill>
                <a:latin typeface="IRANSans"/>
                <a:cs typeface="B Nazanin" panose="00000400000000000000" pitchFamily="2" charset="-78"/>
              </a:rPr>
              <a:t> </a:t>
            </a:r>
          </a:p>
          <a:p>
            <a:pPr marL="742950" lvl="1" indent="-285750" algn="just" rtl="1">
              <a:buFont typeface="Courier New" panose="02070309020205020404" pitchFamily="49" charset="0"/>
              <a:buChar char="o"/>
            </a:pPr>
            <a:r>
              <a:rPr lang="fa-IR" sz="1600" dirty="0">
                <a:latin typeface="IRANSans"/>
                <a:cs typeface="B Nazanin" panose="00000400000000000000" pitchFamily="2" charset="-78"/>
              </a:rPr>
              <a:t> </a:t>
            </a:r>
            <a:r>
              <a:rPr lang="fa-IR" sz="1600" dirty="0" smtClean="0">
                <a:latin typeface="IRANSans"/>
                <a:cs typeface="B Nazanin" panose="00000400000000000000" pitchFamily="2" charset="-78"/>
              </a:rPr>
              <a:t>تجزیه </a:t>
            </a:r>
            <a:r>
              <a:rPr lang="fa-IR" sz="1600" dirty="0">
                <a:latin typeface="IRANSans"/>
                <a:cs typeface="B Nazanin" panose="00000400000000000000" pitchFamily="2" charset="-78"/>
              </a:rPr>
              <a:t>و تحلیل </a:t>
            </a:r>
            <a:r>
              <a:rPr lang="fa-IR" sz="1600" dirty="0" smtClean="0">
                <a:latin typeface="IRANSans"/>
                <a:cs typeface="B Nazanin" panose="00000400000000000000" pitchFamily="2" charset="-78"/>
              </a:rPr>
              <a:t>شغل</a:t>
            </a:r>
            <a:endParaRPr lang="en-US" sz="1600" dirty="0" smtClean="0">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برنامه ریزی نیروی </a:t>
            </a:r>
            <a:r>
              <a:rPr lang="fa-IR" sz="1600" dirty="0" smtClean="0">
                <a:solidFill>
                  <a:srgbClr val="000000"/>
                </a:solidFill>
                <a:latin typeface="IRANSans"/>
                <a:cs typeface="B Nazanin" panose="00000400000000000000" pitchFamily="2" charset="-78"/>
              </a:rPr>
              <a:t>انسانی</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آزمون استخدام و انتخاب کارکنان و مصاحبه </a:t>
            </a:r>
            <a:r>
              <a:rPr lang="fa-IR" sz="1600" dirty="0" smtClean="0">
                <a:solidFill>
                  <a:srgbClr val="000000"/>
                </a:solidFill>
                <a:latin typeface="IRANSans"/>
                <a:cs typeface="B Nazanin" panose="00000400000000000000" pitchFamily="2" charset="-78"/>
              </a:rPr>
              <a:t>شغلی</a:t>
            </a:r>
            <a:endParaRPr lang="en-US" sz="1600" dirty="0" smtClean="0">
              <a:solidFill>
                <a:srgbClr val="000000"/>
              </a:solidFill>
              <a:latin typeface="IRANSans"/>
              <a:cs typeface="B Nazanin" panose="00000400000000000000" pitchFamily="2" charset="-78"/>
            </a:endParaRPr>
          </a:p>
          <a:p>
            <a:pPr marL="285750" indent="-285750" algn="just" rtl="1">
              <a:buFont typeface="Arial" panose="020B0604020202020204" pitchFamily="34" charset="0"/>
              <a:buChar char="•"/>
            </a:pPr>
            <a:r>
              <a:rPr lang="fa-IR" sz="1600" dirty="0">
                <a:solidFill>
                  <a:srgbClr val="000000"/>
                </a:solidFill>
                <a:latin typeface="IRANSans"/>
                <a:cs typeface="B Nazanin" panose="00000400000000000000" pitchFamily="2" charset="-78"/>
              </a:rPr>
              <a:t>  </a:t>
            </a:r>
            <a:r>
              <a:rPr lang="fa-IR" sz="1600" b="1" dirty="0">
                <a:solidFill>
                  <a:srgbClr val="000000"/>
                </a:solidFill>
                <a:latin typeface="IRANSans"/>
                <a:cs typeface="B Nazanin" panose="00000400000000000000" pitchFamily="2" charset="-78"/>
              </a:rPr>
              <a:t>آموزش و توسعه منابع انسانی</a:t>
            </a:r>
            <a:r>
              <a:rPr lang="fa-IR" sz="1600" dirty="0">
                <a:solidFill>
                  <a:srgbClr val="000000"/>
                </a:solidFill>
                <a:latin typeface="IRANSans"/>
                <a:cs typeface="B Nazanin" panose="00000400000000000000" pitchFamily="2" charset="-78"/>
              </a:rPr>
              <a:t> </a:t>
            </a:r>
            <a:endParaRPr lang="en-US" sz="1600" dirty="0" smtClean="0">
              <a:solidFill>
                <a:srgbClr val="000000"/>
              </a:solidFill>
              <a:latin typeface="IRANSans"/>
              <a:cs typeface="B Nazanin" panose="00000400000000000000" pitchFamily="2" charset="-78"/>
            </a:endParaRPr>
          </a:p>
          <a:p>
            <a:pPr marL="285750" indent="-285750" algn="just" rtl="1">
              <a:buFont typeface="Arial" panose="020B0604020202020204" pitchFamily="34" charset="0"/>
              <a:buChar char="•"/>
            </a:pPr>
            <a:r>
              <a:rPr lang="fa-IR" sz="1600" dirty="0">
                <a:solidFill>
                  <a:srgbClr val="000000"/>
                </a:solidFill>
                <a:latin typeface="IRANSans"/>
                <a:cs typeface="B Nazanin" panose="00000400000000000000" pitchFamily="2" charset="-78"/>
              </a:rPr>
              <a:t>  </a:t>
            </a:r>
            <a:r>
              <a:rPr lang="fa-IR" sz="1600" b="1" dirty="0">
                <a:solidFill>
                  <a:srgbClr val="000000"/>
                </a:solidFill>
                <a:latin typeface="IRANSans"/>
                <a:cs typeface="B Nazanin" panose="00000400000000000000" pitchFamily="2" charset="-78"/>
              </a:rPr>
              <a:t>جبران خدمات</a:t>
            </a:r>
            <a:r>
              <a:rPr lang="fa-IR" sz="1600" dirty="0">
                <a:solidFill>
                  <a:srgbClr val="000000"/>
                </a:solidFill>
                <a:latin typeface="IRANSans"/>
                <a:cs typeface="B Nazanin" panose="00000400000000000000" pitchFamily="2" charset="-78"/>
              </a:rPr>
              <a:t> </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حقوق </a:t>
            </a:r>
            <a:r>
              <a:rPr lang="fa-IR" sz="1600" dirty="0">
                <a:solidFill>
                  <a:srgbClr val="000000"/>
                </a:solidFill>
                <a:latin typeface="IRANSans"/>
                <a:cs typeface="B Nazanin" panose="00000400000000000000" pitchFamily="2" charset="-78"/>
              </a:rPr>
              <a:t>و مزایا و پاداش و مکانیزم‌های تشویق کارکنان </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پاداش‌های </a:t>
            </a:r>
            <a:r>
              <a:rPr lang="fa-IR" sz="1600" dirty="0">
                <a:solidFill>
                  <a:srgbClr val="000000"/>
                </a:solidFill>
                <a:latin typeface="IRANSans"/>
                <a:cs typeface="B Nazanin" panose="00000400000000000000" pitchFamily="2" charset="-78"/>
              </a:rPr>
              <a:t>مالی و </a:t>
            </a:r>
            <a:r>
              <a:rPr lang="fa-IR" sz="1600" dirty="0" smtClean="0">
                <a:solidFill>
                  <a:srgbClr val="000000"/>
                </a:solidFill>
                <a:latin typeface="IRANSans"/>
                <a:cs typeface="B Nazanin" panose="00000400000000000000" pitchFamily="2" charset="-78"/>
              </a:rPr>
              <a:t>غیرمالی</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برنامه ریزی استراتژیک برای روند تغییر </a:t>
            </a:r>
            <a:r>
              <a:rPr lang="fa-IR" sz="1600" dirty="0" smtClean="0">
                <a:solidFill>
                  <a:srgbClr val="000000"/>
                </a:solidFill>
                <a:latin typeface="IRANSans"/>
                <a:cs typeface="B Nazanin" panose="00000400000000000000" pitchFamily="2" charset="-78"/>
              </a:rPr>
              <a:t>پاداش‌ها</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خدمات و مزایای شغلی در مقاطع مختلف مسیر شغلی </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چارچوب‌های تعیین سطح حقوق و </a:t>
            </a:r>
            <a:r>
              <a:rPr lang="en-US" sz="1600" dirty="0" smtClean="0">
                <a:solidFill>
                  <a:srgbClr val="000000"/>
                </a:solidFill>
                <a:latin typeface="IRANSans"/>
                <a:cs typeface="B Nazanin" panose="00000400000000000000" pitchFamily="2" charset="-78"/>
              </a:rPr>
              <a:t>…</a:t>
            </a:r>
            <a:endParaRPr lang="fa-IR" sz="1600" dirty="0">
              <a:solidFill>
                <a:srgbClr val="000000"/>
              </a:solidFill>
              <a:latin typeface="IRANSans"/>
              <a:cs typeface="B Nazanin" panose="00000400000000000000" pitchFamily="2" charset="-78"/>
            </a:endParaRPr>
          </a:p>
          <a:p>
            <a:pPr marL="285750" indent="-285750" algn="just" rtl="1">
              <a:buFont typeface="Arial" panose="020B0604020202020204" pitchFamily="34" charset="0"/>
              <a:buChar char="•"/>
            </a:pPr>
            <a:r>
              <a:rPr lang="fa-IR" sz="1600" dirty="0">
                <a:solidFill>
                  <a:srgbClr val="000000"/>
                </a:solidFill>
                <a:latin typeface="IRANSans"/>
                <a:cs typeface="B Nazanin" panose="00000400000000000000" pitchFamily="2" charset="-78"/>
              </a:rPr>
              <a:t>  </a:t>
            </a:r>
            <a:r>
              <a:rPr lang="fa-IR" sz="1600" b="1" dirty="0">
                <a:solidFill>
                  <a:srgbClr val="000000"/>
                </a:solidFill>
                <a:latin typeface="IRANSans"/>
                <a:cs typeface="B Nazanin" panose="00000400000000000000" pitchFamily="2" charset="-78"/>
              </a:rPr>
              <a:t>ارتباطات میان کارکنان سازمان</a:t>
            </a:r>
            <a:r>
              <a:rPr lang="fa-IR" sz="1600" dirty="0">
                <a:solidFill>
                  <a:srgbClr val="000000"/>
                </a:solidFill>
                <a:latin typeface="IRANSans"/>
                <a:cs typeface="B Nazanin" panose="00000400000000000000" pitchFamily="2" charset="-78"/>
              </a:rPr>
              <a:t> </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چارچوب‌های </a:t>
            </a:r>
            <a:r>
              <a:rPr lang="fa-IR" sz="1600" dirty="0">
                <a:solidFill>
                  <a:srgbClr val="000000"/>
                </a:solidFill>
                <a:latin typeface="IRANSans"/>
                <a:cs typeface="B Nazanin" panose="00000400000000000000" pitchFamily="2" charset="-78"/>
              </a:rPr>
              <a:t>رعایت نظم </a:t>
            </a:r>
            <a:r>
              <a:rPr lang="fa-IR" sz="1600" dirty="0" smtClean="0">
                <a:solidFill>
                  <a:srgbClr val="000000"/>
                </a:solidFill>
                <a:latin typeface="IRANSans"/>
                <a:cs typeface="B Nazanin" panose="00000400000000000000" pitchFamily="2" charset="-78"/>
              </a:rPr>
              <a:t>سازمانی</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تدوین دستورالعمل‌های  </a:t>
            </a:r>
            <a:r>
              <a:rPr lang="fa-IR" sz="1600" dirty="0" smtClean="0">
                <a:solidFill>
                  <a:srgbClr val="000000"/>
                </a:solidFill>
                <a:latin typeface="IRANSans"/>
                <a:cs typeface="B Nazanin" panose="00000400000000000000" pitchFamily="2" charset="-78"/>
              </a:rPr>
              <a:t>عملکرد</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اصول اخلاقی </a:t>
            </a:r>
            <a:r>
              <a:rPr lang="fa-IR" sz="1600" dirty="0" smtClean="0">
                <a:solidFill>
                  <a:srgbClr val="000000"/>
                </a:solidFill>
                <a:latin typeface="IRANSans"/>
                <a:cs typeface="B Nazanin" panose="00000400000000000000" pitchFamily="2" charset="-78"/>
              </a:rPr>
              <a:t>سازمان</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امنیت </a:t>
            </a:r>
            <a:r>
              <a:rPr lang="fa-IR" sz="1600" dirty="0" smtClean="0">
                <a:solidFill>
                  <a:srgbClr val="000000"/>
                </a:solidFill>
                <a:latin typeface="IRANSans"/>
                <a:cs typeface="B Nazanin" panose="00000400000000000000" pitchFamily="2" charset="-78"/>
              </a:rPr>
              <a:t>و</a:t>
            </a:r>
            <a:r>
              <a:rPr lang="en-US" sz="1600" dirty="0" smtClean="0">
                <a:solidFill>
                  <a:srgbClr val="000000"/>
                </a:solidFill>
                <a:latin typeface="IRANSans"/>
                <a:cs typeface="B Nazanin" panose="00000400000000000000" pitchFamily="2" charset="-78"/>
              </a:rPr>
              <a:t> </a:t>
            </a:r>
            <a:r>
              <a:rPr lang="fa-IR" sz="1600" dirty="0" smtClean="0">
                <a:latin typeface="IRANSans"/>
                <a:cs typeface="B Nazanin" panose="00000400000000000000" pitchFamily="2" charset="-78"/>
              </a:rPr>
              <a:t>سلامت</a:t>
            </a:r>
            <a:r>
              <a:rPr lang="fa-IR" sz="1600" dirty="0">
                <a:solidFill>
                  <a:srgbClr val="000000"/>
                </a:solidFill>
                <a:latin typeface="IRANSans"/>
                <a:cs typeface="B Nazanin" panose="00000400000000000000" pitchFamily="2" charset="-78"/>
              </a:rPr>
              <a:t> کارکنان </a:t>
            </a:r>
            <a:endParaRPr lang="en-US" sz="1600" dirty="0" smtClean="0">
              <a:solidFill>
                <a:srgbClr val="000000"/>
              </a:solidFill>
              <a:latin typeface="IRANSans"/>
              <a:cs typeface="B Nazanin" panose="00000400000000000000" pitchFamily="2" charset="-78"/>
            </a:endParaRPr>
          </a:p>
          <a:p>
            <a:pPr marL="742950" lvl="1" indent="-285750" algn="just" rtl="1">
              <a:buFont typeface="Courier New" panose="02070309020205020404" pitchFamily="49" charset="0"/>
              <a:buChar char="o"/>
            </a:pPr>
            <a:r>
              <a:rPr lang="fa-IR" sz="1600" dirty="0" smtClean="0">
                <a:solidFill>
                  <a:srgbClr val="000000"/>
                </a:solidFill>
                <a:latin typeface="IRANSans"/>
                <a:cs typeface="B Nazanin" panose="00000400000000000000" pitchFamily="2" charset="-78"/>
              </a:rPr>
              <a:t> </a:t>
            </a:r>
            <a:r>
              <a:rPr lang="fa-IR" sz="1600" dirty="0">
                <a:solidFill>
                  <a:srgbClr val="000000"/>
                </a:solidFill>
                <a:latin typeface="IRANSans"/>
                <a:cs typeface="B Nazanin" panose="00000400000000000000" pitchFamily="2" charset="-78"/>
              </a:rPr>
              <a:t>مدیریت منابع انسانی در شرکت‌های بین‌المللی و </a:t>
            </a:r>
            <a:r>
              <a:rPr lang="fa-IR" sz="1600" dirty="0" smtClean="0">
                <a:solidFill>
                  <a:srgbClr val="000000"/>
                </a:solidFill>
                <a:latin typeface="IRANSans"/>
                <a:cs typeface="B Nazanin" panose="00000400000000000000" pitchFamily="2" charset="-78"/>
              </a:rPr>
              <a:t>چند ملیتی </a:t>
            </a:r>
            <a:endParaRPr lang="fa-IR" sz="1600" b="0" i="0" dirty="0">
              <a:solidFill>
                <a:srgbClr val="000000"/>
              </a:solidFill>
              <a:effectLst/>
              <a:latin typeface="IRANSans"/>
              <a:cs typeface="B Nazanin" panose="00000400000000000000" pitchFamily="2" charset="-78"/>
            </a:endParaRPr>
          </a:p>
        </p:txBody>
      </p:sp>
    </p:spTree>
    <p:extLst>
      <p:ext uri="{BB962C8B-B14F-4D97-AF65-F5344CB8AC3E}">
        <p14:creationId xmlns:p14="http://schemas.microsoft.com/office/powerpoint/2010/main" val="26775269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3DC42C2-6B58-404C-B339-2C72808A5BE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D81407-D1A6-42DD-AE7A-4FA34ACD1317}"/>
              </a:ext>
            </a:extLst>
          </p:cNvPr>
          <p:cNvSpPr>
            <a:spLocks noGrp="1"/>
          </p:cNvSpPr>
          <p:nvPr>
            <p:ph type="title"/>
          </p:nvPr>
        </p:nvSpPr>
        <p:spPr>
          <a:xfrm>
            <a:off x="6090920" y="856176"/>
            <a:ext cx="5038844" cy="1356360"/>
          </a:xfrm>
        </p:spPr>
        <p:txBody>
          <a:bodyPr>
            <a:normAutofit/>
          </a:bodyPr>
          <a:lstStyle/>
          <a:p>
            <a:pPr algn="ctr"/>
            <a:r>
              <a:rPr lang="fa-IR" sz="8000" dirty="0" smtClean="0">
                <a:solidFill>
                  <a:srgbClr val="FFFFFF"/>
                </a:solidFill>
                <a:cs typeface="B Nazanin" panose="00000400000000000000" pitchFamily="2" charset="-78"/>
              </a:rPr>
              <a:t>پایان</a:t>
            </a:r>
            <a:endParaRPr lang="en-US" dirty="0">
              <a:solidFill>
                <a:srgbClr val="FFFFFF"/>
              </a:solidFill>
              <a:cs typeface="B Nazanin" panose="00000400000000000000" pitchFamily="2" charset="-78"/>
            </a:endParaRPr>
          </a:p>
        </p:txBody>
      </p:sp>
      <p:sp>
        <p:nvSpPr>
          <p:cNvPr id="8" name="Content Placeholder 7">
            <a:extLst>
              <a:ext uri="{FF2B5EF4-FFF2-40B4-BE49-F238E27FC236}">
                <a16:creationId xmlns:a16="http://schemas.microsoft.com/office/drawing/2014/main" id="{41FF5D4E-7134-4EA4-BA11-FE50F4576B73}"/>
              </a:ext>
            </a:extLst>
          </p:cNvPr>
          <p:cNvSpPr>
            <a:spLocks noGrp="1"/>
          </p:cNvSpPr>
          <p:nvPr>
            <p:ph idx="1"/>
          </p:nvPr>
        </p:nvSpPr>
        <p:spPr>
          <a:xfrm>
            <a:off x="6194484" y="2363875"/>
            <a:ext cx="5038844" cy="562205"/>
          </a:xfrm>
        </p:spPr>
        <p:txBody>
          <a:bodyPr>
            <a:normAutofit/>
          </a:bodyPr>
          <a:lstStyle/>
          <a:p>
            <a:pPr marL="45720" indent="0" algn="ctr">
              <a:buNone/>
            </a:pPr>
            <a:r>
              <a:rPr lang="en-US" dirty="0" smtClean="0">
                <a:solidFill>
                  <a:srgbClr val="FFFFFF"/>
                </a:solidFill>
              </a:rPr>
              <a:t>Afshin.Abbaspour@gmail.com</a:t>
            </a:r>
          </a:p>
          <a:p>
            <a:pPr algn="ctr"/>
            <a:endParaRPr lang="en-US" dirty="0">
              <a:solidFill>
                <a:srgbClr val="FFFFFF"/>
              </a:solidFill>
            </a:endParaRPr>
          </a:p>
        </p:txBody>
      </p:sp>
      <p:sp>
        <p:nvSpPr>
          <p:cNvPr id="26" name="Rectangle 25">
            <a:extLst>
              <a:ext uri="{FF2B5EF4-FFF2-40B4-BE49-F238E27FC236}">
                <a16:creationId xmlns:a16="http://schemas.microsoft.com/office/drawing/2014/main" id="{FCF82941-5589-49BF-B6B1-76122B2D0EA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3840"/>
            <a:ext cx="11724640" cy="6377939"/>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232860" y="243839"/>
            <a:ext cx="5425643" cy="637793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human resource mana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60" y="243838"/>
            <a:ext cx="5425643" cy="353108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8" name="Picture 4" descr="Image result for Human Resource Management in Context: Insights, Strategy and Solutions David Farnh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453" y="3869992"/>
            <a:ext cx="1733632" cy="26004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6410654" y="3804845"/>
            <a:ext cx="1972540" cy="2665595"/>
          </a:xfrm>
          <a:prstGeom prst="rect">
            <a:avLst/>
          </a:prstGeom>
        </p:spPr>
      </p:pic>
      <p:pic>
        <p:nvPicPr>
          <p:cNvPr id="6" name="Picture 5"/>
          <p:cNvPicPr>
            <a:picLocks noChangeAspect="1"/>
          </p:cNvPicPr>
          <p:nvPr/>
        </p:nvPicPr>
        <p:blipFill>
          <a:blip r:embed="rId5"/>
          <a:stretch>
            <a:fillRect/>
          </a:stretch>
        </p:blipFill>
        <p:spPr>
          <a:xfrm>
            <a:off x="3164386" y="3774927"/>
            <a:ext cx="2022798" cy="2640729"/>
          </a:xfrm>
          <a:prstGeom prst="rect">
            <a:avLst/>
          </a:prstGeom>
        </p:spPr>
      </p:pic>
      <p:pic>
        <p:nvPicPr>
          <p:cNvPr id="7" name="Picture 6"/>
          <p:cNvPicPr>
            <a:picLocks noChangeAspect="1"/>
          </p:cNvPicPr>
          <p:nvPr/>
        </p:nvPicPr>
        <p:blipFill>
          <a:blip r:embed="rId6"/>
          <a:stretch>
            <a:fillRect/>
          </a:stretch>
        </p:blipFill>
        <p:spPr>
          <a:xfrm>
            <a:off x="9370734" y="3779700"/>
            <a:ext cx="2080367" cy="2715884"/>
          </a:xfrm>
          <a:prstGeom prst="rect">
            <a:avLst/>
          </a:prstGeom>
        </p:spPr>
      </p:pic>
    </p:spTree>
    <p:extLst>
      <p:ext uri="{BB962C8B-B14F-4D97-AF65-F5344CB8AC3E}">
        <p14:creationId xmlns:p14="http://schemas.microsoft.com/office/powerpoint/2010/main" val="1646983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Basi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04E1485-0760-4ABF-A612-28A97B86DF09}">
  <ds:schemaRefs>
    <ds:schemaRef ds:uri="http://schemas.microsoft.com/sharepoint/v3/contenttype/forms"/>
  </ds:schemaRefs>
</ds:datastoreItem>
</file>

<file path=customXml/itemProps2.xml><?xml version="1.0" encoding="utf-8"?>
<ds:datastoreItem xmlns:ds="http://schemas.openxmlformats.org/officeDocument/2006/customXml" ds:itemID="{55813238-AF3D-40EB-A3A4-550AB85131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65EBD3-98B5-4FD2-8FAF-5D4022A9F7F4}">
  <ds:schemaRefs>
    <ds:schemaRef ds:uri="http://purl.org/dc/terms/"/>
    <ds:schemaRef ds:uri="http://purl.org/dc/elements/1.1/"/>
    <ds:schemaRef ds:uri="http://purl.org/dc/dcmitype/"/>
    <ds:schemaRef ds:uri="71af3243-3dd4-4a8d-8c0d-dd76da1f02a5"/>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16c05727-aa75-4e4a-9b5f-8a80a116589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Tourism Facet design</Template>
  <TotalTime>0</TotalTime>
  <Words>2403</Words>
  <Application>Microsoft Office PowerPoint</Application>
  <PresentationFormat>Widescreen</PresentationFormat>
  <Paragraphs>271</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 Nazanin</vt:lpstr>
      <vt:lpstr>Calibri</vt:lpstr>
      <vt:lpstr>Corbel</vt:lpstr>
      <vt:lpstr>Courier New</vt:lpstr>
      <vt:lpstr>IRANSans</vt:lpstr>
      <vt:lpstr>Tahoma</vt:lpstr>
      <vt:lpstr>Wingdings</vt:lpstr>
      <vt:lpstr>Basis</vt:lpstr>
      <vt:lpstr>مدیریت منابع انسانی</vt:lpstr>
      <vt:lpstr>تیلوریسم</vt:lpstr>
      <vt:lpstr>مدیریت منابع انسانی چیست ؟</vt:lpstr>
      <vt:lpstr>وظایف واحد مدیریت منابع انسانی</vt:lpstr>
      <vt:lpstr>وظایف واحد مدیریت منابع انسانی</vt:lpstr>
      <vt:lpstr>وظایف واحد مدیریت منابع انسانی</vt:lpstr>
      <vt:lpstr>شغل و طراحی شغل </vt:lpstr>
      <vt:lpstr>طراحی شغل بر اساس مدل   JCM هاکمن و اولدهام</vt:lpstr>
      <vt:lpstr>بررسی و تقسیم بندی مشاغل </vt:lpstr>
      <vt:lpstr>فعالیت – وظیفه – مسئولیت </vt:lpstr>
      <vt:lpstr>شایستگی افراد</vt:lpstr>
      <vt:lpstr>تهیه فهرست شایستگی های کلیدی سازمان ما </vt:lpstr>
      <vt:lpstr>تنظیم سند شرح شغل و شرایط احراز شغل</vt:lpstr>
      <vt:lpstr>ارزیابی عملکرد کارکنان </vt:lpstr>
      <vt:lpstr>تطبیق فرد با شرایط محیطی کار </vt:lpstr>
      <vt:lpstr>معرفی کتاب مدیریت منابع انسانی </vt:lpstr>
      <vt:lpstr>پایان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2019-02-05T10:32:05Z</dcterms:created>
  <dcterms:modified xsi:type="dcterms:W3CDTF">2019-07-07T11:04:21Z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