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876" r:id="rId4"/>
  </p:sldMasterIdLst>
  <p:sldIdLst>
    <p:sldId id="256" r:id="rId5"/>
    <p:sldId id="265" r:id="rId6"/>
    <p:sldId id="257" r:id="rId7"/>
    <p:sldId id="266" r:id="rId8"/>
    <p:sldId id="267" r:id="rId9"/>
    <p:sldId id="264" r:id="rId10"/>
    <p:sldId id="268" r:id="rId11"/>
    <p:sldId id="270" r:id="rId12"/>
    <p:sldId id="269" r:id="rId13"/>
    <p:sldId id="260"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C1382D"/>
    <a:srgbClr val="01050E"/>
    <a:srgbClr val="050B17"/>
    <a:srgbClr val="01060A"/>
    <a:srgbClr val="233C5B"/>
    <a:srgbClr val="111926"/>
    <a:srgbClr val="0E1824"/>
    <a:srgbClr val="0E1623"/>
    <a:srgbClr val="09111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042" autoAdjust="0"/>
    <p:restoredTop sz="94660"/>
  </p:normalViewPr>
  <p:slideViewPr>
    <p:cSldViewPr snapToGrid="0">
      <p:cViewPr varScale="1">
        <p:scale>
          <a:sx n="73" d="100"/>
          <a:sy n="73" d="100"/>
        </p:scale>
        <p:origin x="4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noProof="0" smtClean="0"/>
              <a:t>Click to edit Master title style</a:t>
            </a:r>
            <a:endParaRPr lang="en-US" noProof="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smtClean="0"/>
              <a:t>Click to edit Master subtitle style</a:t>
            </a:r>
            <a:endParaRPr lang="en-US" noProof="0"/>
          </a:p>
        </p:txBody>
      </p:sp>
      <p:sp>
        <p:nvSpPr>
          <p:cNvPr id="4" name="Date Placeholder 3"/>
          <p:cNvSpPr>
            <a:spLocks noGrp="1"/>
          </p:cNvSpPr>
          <p:nvPr>
            <p:ph type="dt" sz="half" idx="10"/>
          </p:nvPr>
        </p:nvSpPr>
        <p:spPr/>
        <p:txBody>
          <a:bodyPr/>
          <a:lstStyle>
            <a:lvl1pPr>
              <a:defRPr>
                <a:solidFill>
                  <a:srgbClr val="FFFFFF"/>
                </a:solidFill>
              </a:defRPr>
            </a:lvl1pPr>
          </a:lstStyle>
          <a:p>
            <a:fld id="{9AB3A824-1A51-4B26-AD58-A6D8E14F6C04}" type="datetimeFigureOut">
              <a:rPr lang="en-US" noProof="0" smtClean="0"/>
              <a:t>6/11/2019</a:t>
            </a:fld>
            <a:endParaRPr lang="en-US" noProof="0" dirty="0"/>
          </a:p>
        </p:txBody>
      </p:sp>
      <p:sp>
        <p:nvSpPr>
          <p:cNvPr id="5" name="Footer Placeholder 4"/>
          <p:cNvSpPr>
            <a:spLocks noGrp="1"/>
          </p:cNvSpPr>
          <p:nvPr>
            <p:ph type="ftr" sz="quarter" idx="11"/>
          </p:nvPr>
        </p:nvSpPr>
        <p:spPr/>
        <p:txBody>
          <a:bodyPr/>
          <a:lstStyle>
            <a:lvl1pPr>
              <a:defRPr>
                <a:solidFill>
                  <a:srgbClr val="FFFFFF"/>
                </a:solidFill>
              </a:defRPr>
            </a:lvl1pPr>
          </a:lstStyle>
          <a:p>
            <a:r>
              <a:rPr lang="en-US" noProof="0" dirty="0"/>
              <a:t>
              </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6D22F896-40B5-4ADD-8801-0D06FADFA095}" type="slidenum">
              <a:rPr lang="en-US" noProof="0" smtClean="0"/>
              <a:t>‹#›</a:t>
            </a:fld>
            <a:endParaRPr lang="en-US" noProof="0"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787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idx="1"/>
          </p:nvPr>
        </p:nvSpPr>
        <p:spPr/>
        <p:txBody>
          <a:body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97D162C4-EDD9-4389-A98B-B87ECEA2A816}" type="datetimeFigureOut">
              <a:rPr lang="en-US" noProof="0" smtClean="0"/>
              <a:t>6/11/2019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472039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noProof="0" smtClean="0"/>
              <a:t>Click to edit Master title style</a:t>
            </a:r>
            <a:endParaRPr lang="en-US" noProof="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smtClean="0"/>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noProof="0" smtClean="0"/>
              <a:t>6/11/2019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360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Date Placeholder 4"/>
          <p:cNvSpPr>
            <a:spLocks noGrp="1"/>
          </p:cNvSpPr>
          <p:nvPr>
            <p:ph type="dt" sz="half" idx="10"/>
          </p:nvPr>
        </p:nvSpPr>
        <p:spPr/>
        <p:txBody>
          <a:bodyPr/>
          <a:lstStyle/>
          <a:p>
            <a:fld id="{CA954B2F-12DE-47F5-8894-472B206D2E1E}" type="datetimeFigureOut">
              <a:rPr lang="en-US" noProof="0" smtClean="0"/>
              <a:t>6/11/2019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81670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7" name="Date Placeholder 6"/>
          <p:cNvSpPr>
            <a:spLocks noGrp="1"/>
          </p:cNvSpPr>
          <p:nvPr>
            <p:ph type="dt" sz="half" idx="10"/>
          </p:nvPr>
        </p:nvSpPr>
        <p:spPr/>
        <p:txBody>
          <a:bodyPr/>
          <a:lstStyle/>
          <a:p>
            <a:fld id="{3CBC1C18-307B-4F68-A007-B5B542270E8D}" type="datetimeFigureOut">
              <a:rPr lang="en-US" noProof="0" smtClean="0"/>
              <a:t>6/11/2019</a:t>
            </a:fld>
            <a:endParaRPr lang="en-US" noProof="0" dirty="0"/>
          </a:p>
        </p:txBody>
      </p:sp>
      <p:sp>
        <p:nvSpPr>
          <p:cNvPr id="8" name="Footer Placeholder 7"/>
          <p:cNvSpPr>
            <a:spLocks noGrp="1"/>
          </p:cNvSpPr>
          <p:nvPr>
            <p:ph type="ftr" sz="quarter" idx="11"/>
          </p:nvPr>
        </p:nvSpPr>
        <p:spPr/>
        <p:txBody>
          <a:bodyPr/>
          <a:lstStyle/>
          <a:p>
            <a:r>
              <a:rPr lang="en-US" noProof="0" dirty="0"/>
              <a:t>
              </a:t>
            </a:r>
          </a:p>
        </p:txBody>
      </p:sp>
      <p:sp>
        <p:nvSpPr>
          <p:cNvPr id="9" name="Slide Number Placeholder 8"/>
          <p:cNvSpPr>
            <a:spLocks noGrp="1"/>
          </p:cNvSpPr>
          <p:nvPr>
            <p:ph type="sldNum" sz="quarter" idx="12"/>
          </p:nvPr>
        </p:nvSpPr>
        <p:spPr/>
        <p:txBody>
          <a:body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96335257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Date Placeholder 2"/>
          <p:cNvSpPr>
            <a:spLocks noGrp="1"/>
          </p:cNvSpPr>
          <p:nvPr>
            <p:ph type="dt" sz="half" idx="10"/>
          </p:nvPr>
        </p:nvSpPr>
        <p:spPr/>
        <p:txBody>
          <a:bodyPr/>
          <a:lstStyle/>
          <a:p>
            <a:fld id="{1FAF3416-4057-4DAA-829D-4CA07428D088}" type="datetimeFigureOut">
              <a:rPr lang="en-US" noProof="0" smtClean="0"/>
              <a:t>6/11/2019</a:t>
            </a:fld>
            <a:endParaRPr lang="en-US" noProof="0" dirty="0"/>
          </a:p>
        </p:txBody>
      </p:sp>
      <p:sp>
        <p:nvSpPr>
          <p:cNvPr id="4" name="Footer Placeholder 3"/>
          <p:cNvSpPr>
            <a:spLocks noGrp="1"/>
          </p:cNvSpPr>
          <p:nvPr>
            <p:ph type="ftr" sz="quarter" idx="11"/>
          </p:nvPr>
        </p:nvSpPr>
        <p:spPr/>
        <p:txBody>
          <a:bodyPr/>
          <a:lstStyle/>
          <a:p>
            <a:r>
              <a:rPr lang="en-US" noProof="0" dirty="0"/>
              <a:t>
              </a:t>
            </a:r>
          </a:p>
        </p:txBody>
      </p:sp>
      <p:sp>
        <p:nvSpPr>
          <p:cNvPr id="5" name="Slide Number Placeholder 4"/>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005428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1D9284-D300-4297-87F7-E791DCC15DB1}" type="datetimeFigureOut">
              <a:rPr lang="en-US" noProof="0" smtClean="0"/>
              <a:t>6/11/2019</a:t>
            </a:fld>
            <a:endParaRPr lang="en-US" noProof="0" dirty="0"/>
          </a:p>
        </p:txBody>
      </p:sp>
      <p:sp>
        <p:nvSpPr>
          <p:cNvPr id="3" name="Footer Placeholder 2"/>
          <p:cNvSpPr>
            <a:spLocks noGrp="1"/>
          </p:cNvSpPr>
          <p:nvPr>
            <p:ph type="ftr" sz="quarter" idx="11"/>
          </p:nvPr>
        </p:nvSpPr>
        <p:spPr/>
        <p:txBody>
          <a:bodyPr/>
          <a:lstStyle/>
          <a:p>
            <a:r>
              <a:rPr lang="en-US" noProof="0" dirty="0"/>
              <a:t>
              </a:t>
            </a:r>
          </a:p>
        </p:txBody>
      </p:sp>
      <p:sp>
        <p:nvSpPr>
          <p:cNvPr id="4" name="Slide Number Placeholder 3"/>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98825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noProof="0" smtClean="0"/>
              <a:t>6/11/2019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58383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smtClean="0"/>
              <a:t>Click icon to add picture</a:t>
            </a:r>
            <a:endParaRPr lang="en-US" noProof="0"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noProof="0" smtClean="0"/>
              <a:t>6/11/2019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74084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Vertical Text Placeholder 2"/>
          <p:cNvSpPr>
            <a:spLocks noGrp="1"/>
          </p:cNvSpPr>
          <p:nvPr>
            <p:ph type="body" orient="vert" idx="1"/>
          </p:nvPr>
        </p:nvSpPr>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857E33E-8B18-4087-B112-809917729534}" type="datetimeFigureOut">
              <a:rPr lang="en-US" noProof="0" smtClean="0"/>
              <a:t>6/11/2019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435526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noProof="0" smtClean="0"/>
              <a:t>Click to edit Master title style</a:t>
            </a:r>
            <a:endParaRPr lang="en-US" noProof="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3FFE419-2371-464F-8239-3959401C3561}" type="datetimeFigureOut">
              <a:rPr lang="en-US" noProof="0" smtClean="0"/>
              <a:t>6/11/2019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1994763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CBC1C18-307B-4F68-A007-B5B542270E8D}" type="datetimeFigureOut">
              <a:rPr lang="en-US" noProof="0" smtClean="0"/>
              <a:t>6/11/2019</a:t>
            </a:fld>
            <a:endParaRPr lang="en-US" noProof="0"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r>
              <a:rPr lang="en-US" noProof="0" dirty="0"/>
              <a:t>
              </a:t>
            </a: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702258854"/>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sldNum="0"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cxnSp>
        <p:nvCxnSpPr>
          <p:cNvPr id="50" name="Straight Connector 41">
            <a:extLst>
              <a:ext uri="{FF2B5EF4-FFF2-40B4-BE49-F238E27FC236}">
                <a16:creationId xmlns:a16="http://schemas.microsoft.com/office/drawing/2014/main" id="{63FED537-3AF1-4C36-9904-77B6A54D27B5}"/>
              </a:ext>
              <a:ext uri="{C183D7F6-B498-43B3-948B-1728B52AA6E4}">
                <adec:decorative xmlns=""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50E78D6-F072-48E7-8270-20EFBDD26F36}"/>
              </a:ext>
            </a:extLst>
          </p:cNvPr>
          <p:cNvSpPr>
            <a:spLocks noGrp="1"/>
          </p:cNvSpPr>
          <p:nvPr>
            <p:ph type="ctrTitle"/>
          </p:nvPr>
        </p:nvSpPr>
        <p:spPr>
          <a:xfrm>
            <a:off x="872840" y="3853615"/>
            <a:ext cx="9966960" cy="1325880"/>
          </a:xfrm>
        </p:spPr>
        <p:txBody>
          <a:bodyPr>
            <a:noAutofit/>
          </a:bodyPr>
          <a:lstStyle/>
          <a:p>
            <a:r>
              <a:rPr lang="fa-IR" sz="6500" dirty="0" smtClean="0">
                <a:cs typeface="B Nazanin" panose="00000400000000000000" pitchFamily="2" charset="-78"/>
              </a:rPr>
              <a:t>مدیریت منابع انسانی</a:t>
            </a:r>
            <a:endParaRPr lang="fa-IR" sz="6500" dirty="0">
              <a:cs typeface="B Nazanin" panose="00000400000000000000" pitchFamily="2" charset="-78"/>
            </a:endParaRPr>
          </a:p>
        </p:txBody>
      </p:sp>
      <p:sp>
        <p:nvSpPr>
          <p:cNvPr id="3" name="Subtitle 2">
            <a:extLst>
              <a:ext uri="{FF2B5EF4-FFF2-40B4-BE49-F238E27FC236}">
                <a16:creationId xmlns:a16="http://schemas.microsoft.com/office/drawing/2014/main" id="{3FC7BD98-5486-489C-BAA0-A69CEFF691B3}"/>
              </a:ext>
            </a:extLst>
          </p:cNvPr>
          <p:cNvSpPr>
            <a:spLocks noGrp="1"/>
          </p:cNvSpPr>
          <p:nvPr>
            <p:ph type="subTitle" idx="1"/>
          </p:nvPr>
        </p:nvSpPr>
        <p:spPr>
          <a:xfrm>
            <a:off x="1709530" y="5624419"/>
            <a:ext cx="8767860" cy="553690"/>
          </a:xfrm>
        </p:spPr>
        <p:txBody>
          <a:bodyPr>
            <a:normAutofit/>
          </a:bodyPr>
          <a:lstStyle/>
          <a:p>
            <a:r>
              <a:rPr lang="en-US" b="1" i="1" dirty="0"/>
              <a:t>Human Resource Management</a:t>
            </a:r>
            <a:endParaRPr lang="en-US" sz="2000" i="1" dirty="0"/>
          </a:p>
        </p:txBody>
      </p:sp>
      <p:pic>
        <p:nvPicPr>
          <p:cNvPr id="9" name="Picture 8"/>
          <p:cNvPicPr>
            <a:picLocks noChangeAspect="1"/>
          </p:cNvPicPr>
          <p:nvPr/>
        </p:nvPicPr>
        <p:blipFill>
          <a:blip r:embed="rId2">
            <a:extLst>
              <a:ext uri="{BEBA8EAE-BF5A-486C-A8C5-ECC9F3942E4B}">
                <a14:imgProps xmlns:a14="http://schemas.microsoft.com/office/drawing/2010/main">
                  <a14:imgLayer r:embed="rId3">
                    <a14:imgEffect>
                      <a14:artisticCrisscrossEtching/>
                    </a14:imgEffect>
                  </a14:imgLayer>
                </a14:imgProps>
              </a:ext>
            </a:extLst>
          </a:blip>
          <a:stretch>
            <a:fillRect/>
          </a:stretch>
        </p:blipFill>
        <p:spPr>
          <a:xfrm>
            <a:off x="2595154" y="263493"/>
            <a:ext cx="6940732" cy="3470366"/>
          </a:xfrm>
          <a:prstGeom prst="rect">
            <a:avLst/>
          </a:prstGeom>
          <a:ln>
            <a:noFill/>
          </a:ln>
          <a:effectLst>
            <a:softEdge rad="127000"/>
          </a:effectLst>
        </p:spPr>
      </p:pic>
    </p:spTree>
    <p:extLst>
      <p:ext uri="{BB962C8B-B14F-4D97-AF65-F5344CB8AC3E}">
        <p14:creationId xmlns:p14="http://schemas.microsoft.com/office/powerpoint/2010/main" val="8340504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تیلوریسم</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5" name="Picture 4"/>
          <p:cNvPicPr>
            <a:picLocks noChangeAspect="1"/>
          </p:cNvPicPr>
          <p:nvPr/>
        </p:nvPicPr>
        <p:blipFill rotWithShape="1">
          <a:blip r:embed="rId2"/>
          <a:srcRect b="17335"/>
          <a:stretch/>
        </p:blipFill>
        <p:spPr>
          <a:xfrm>
            <a:off x="9895929" y="1492294"/>
            <a:ext cx="1148716" cy="1426973"/>
          </a:xfrm>
          <a:prstGeom prst="rect">
            <a:avLst/>
          </a:prstGeom>
        </p:spPr>
      </p:pic>
      <p:sp>
        <p:nvSpPr>
          <p:cNvPr id="6" name="Rectangle 5"/>
          <p:cNvSpPr/>
          <p:nvPr/>
        </p:nvSpPr>
        <p:spPr>
          <a:xfrm>
            <a:off x="365760" y="1390190"/>
            <a:ext cx="9283858" cy="830997"/>
          </a:xfrm>
          <a:prstGeom prst="rect">
            <a:avLst/>
          </a:prstGeom>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فردیک تیلور (۱۹۱۵-۱۸۵۶) ، مهندس مکانیک بود</a:t>
            </a:r>
            <a:r>
              <a:rPr lang="fa-IR" sz="1600" dirty="0" smtClean="0">
                <a:solidFill>
                  <a:srgbClr val="000000"/>
                </a:solidFill>
                <a:latin typeface="IRANSans"/>
                <a:cs typeface="B Nazanin" panose="00000400000000000000" pitchFamily="2" charset="-78"/>
              </a:rPr>
              <a:t>. وی </a:t>
            </a:r>
            <a:r>
              <a:rPr lang="fa-IR" sz="1600" dirty="0">
                <a:solidFill>
                  <a:srgbClr val="000000"/>
                </a:solidFill>
                <a:latin typeface="IRANSans"/>
                <a:cs typeface="B Nazanin" panose="00000400000000000000" pitchFamily="2" charset="-78"/>
              </a:rPr>
              <a:t>ابتدا مدتی در یک کارگاه هیدرولیک کار کرد و سپس، به کارخانجات فولاد میدوِیل</a:t>
            </a:r>
            <a:r>
              <a:rPr lang="en-US" sz="1600" dirty="0">
                <a:solidFill>
                  <a:srgbClr val="000000"/>
                </a:solidFill>
                <a:latin typeface="IRANSans"/>
                <a:cs typeface="B Nazanin" panose="00000400000000000000" pitchFamily="2" charset="-78"/>
              </a:rPr>
              <a:t> </a:t>
            </a:r>
            <a:r>
              <a:rPr lang="fa-IR" sz="1600" dirty="0">
                <a:solidFill>
                  <a:srgbClr val="000000"/>
                </a:solidFill>
                <a:latin typeface="IRANSans"/>
                <a:cs typeface="B Nazanin" panose="00000400000000000000" pitchFamily="2" charset="-78"/>
              </a:rPr>
              <a:t>رفت</a:t>
            </a:r>
            <a:r>
              <a:rPr lang="fa-IR" sz="1600" dirty="0" smtClean="0">
                <a:solidFill>
                  <a:srgbClr val="000000"/>
                </a:solidFill>
                <a:latin typeface="IRANSans"/>
                <a:cs typeface="B Nazanin" panose="00000400000000000000" pitchFamily="2" charset="-78"/>
              </a:rPr>
              <a:t>. او </a:t>
            </a:r>
            <a:r>
              <a:rPr lang="fa-IR" sz="1600" dirty="0">
                <a:solidFill>
                  <a:srgbClr val="000000"/>
                </a:solidFill>
                <a:latin typeface="IRANSans"/>
                <a:cs typeface="B Nazanin" panose="00000400000000000000" pitchFamily="2" charset="-78"/>
              </a:rPr>
              <a:t>در آنجا به سمت سرپرست کارگاه تراشکاری منصوب شد</a:t>
            </a:r>
            <a:r>
              <a:rPr lang="en-US" sz="1600" dirty="0">
                <a:solidFill>
                  <a:srgbClr val="000000"/>
                </a:solidFill>
                <a:latin typeface="IRANSans"/>
                <a:cs typeface="B Nazanin" panose="00000400000000000000" pitchFamily="2" charset="-78"/>
              </a:rPr>
              <a:t>.</a:t>
            </a:r>
            <a:endParaRPr lang="fa-IR" sz="1600" dirty="0">
              <a:solidFill>
                <a:srgbClr val="000000"/>
              </a:solidFill>
              <a:latin typeface="IRANSans"/>
              <a:cs typeface="B Nazanin" panose="00000400000000000000" pitchFamily="2" charset="-78"/>
            </a:endParaRPr>
          </a:p>
          <a:p>
            <a:pPr marL="285750" indent="-285750" algn="r" rtl="1">
              <a:buFont typeface="Arial" panose="020B0604020202020204" pitchFamily="34" charset="0"/>
              <a:buChar char="•"/>
            </a:pPr>
            <a:endParaRPr lang="en-US" sz="1600" dirty="0">
              <a:cs typeface="B Nazanin" panose="00000400000000000000" pitchFamily="2" charset="-78"/>
            </a:endParaRPr>
          </a:p>
        </p:txBody>
      </p:sp>
      <p:sp>
        <p:nvSpPr>
          <p:cNvPr id="10" name="Rectangle 9"/>
          <p:cNvSpPr/>
          <p:nvPr/>
        </p:nvSpPr>
        <p:spPr>
          <a:xfrm>
            <a:off x="365760" y="2110930"/>
            <a:ext cx="9283857" cy="584775"/>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تیلور</a:t>
            </a:r>
            <a:r>
              <a:rPr lang="fa-IR" sz="1600" dirty="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معتقد بود کارگران میتوانند خروجی بهتری داشته باشند اما همه آنها در یک توافق نا نوشته کند کار میکنند تا میزان خروجی استاندارد و انتظار مدیران بالا نرود .  </a:t>
            </a:r>
            <a:endParaRPr lang="fa-IR" sz="1600" dirty="0">
              <a:solidFill>
                <a:srgbClr val="000000"/>
              </a:solidFill>
              <a:latin typeface="IRANSans"/>
              <a:cs typeface="B Nazanin" panose="00000400000000000000" pitchFamily="2" charset="-78"/>
            </a:endParaRPr>
          </a:p>
        </p:txBody>
      </p:sp>
      <p:sp>
        <p:nvSpPr>
          <p:cNvPr id="9" name="Rectangle 8"/>
          <p:cNvSpPr/>
          <p:nvPr/>
        </p:nvSpPr>
        <p:spPr>
          <a:xfrm>
            <a:off x="675434" y="3271282"/>
            <a:ext cx="10369211" cy="338554"/>
          </a:xfrm>
          <a:prstGeom prst="rect">
            <a:avLst/>
          </a:prstGeom>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تیلور به نتیجه رسید که اگر سرعت متوسط کارگران در گذشته را معیار خروجی تعریف کنیم، تمام تاریخ آینده‌ی بشر، قربانی تنبلی امروز انسان خواهد شد.</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376125" y="2799524"/>
            <a:ext cx="10025742" cy="338554"/>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تیلور  </a:t>
            </a:r>
            <a:r>
              <a:rPr lang="fa-IR" sz="1600" dirty="0">
                <a:solidFill>
                  <a:srgbClr val="000000"/>
                </a:solidFill>
                <a:latin typeface="IRANSans"/>
                <a:cs typeface="B Nazanin" panose="00000400000000000000" pitchFamily="2" charset="-78"/>
              </a:rPr>
              <a:t>بر این باور بود که اصل دارایی کارخانه، ماشین آلات آن هستند</a:t>
            </a:r>
            <a:r>
              <a:rPr lang="fa-IR" sz="1600" dirty="0" smtClean="0">
                <a:solidFill>
                  <a:srgbClr val="000000"/>
                </a:solidFill>
                <a:latin typeface="IRANSans"/>
                <a:cs typeface="B Nazanin" panose="00000400000000000000" pitchFamily="2" charset="-78"/>
              </a:rPr>
              <a:t>. و باید تلاش کرد تا خزوجی ماشین ها به ظرفیت اسمی آن نزدیک شود . </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675434" y="3755216"/>
            <a:ext cx="10369211" cy="584775"/>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به تدریج به مکررا ماشین ها و  دستگاه ها از کار می افتاد و کارگران </a:t>
            </a:r>
            <a:r>
              <a:rPr lang="fa-IR" sz="1600" dirty="0">
                <a:solidFill>
                  <a:srgbClr val="000000"/>
                </a:solidFill>
                <a:latin typeface="IRANSans"/>
                <a:cs typeface="B Nazanin" panose="00000400000000000000" pitchFamily="2" charset="-78"/>
              </a:rPr>
              <a:t>اصرار داشتند که دستگاه‌ها، از فشار کار زیاد خراب شده‌اند و تیلور مدام تکرار می‌کرد که این خرابی‌ها عمدی هستند. </a:t>
            </a:r>
            <a:r>
              <a:rPr lang="fa-IR" sz="1600" b="1" dirty="0">
                <a:solidFill>
                  <a:srgbClr val="050B17"/>
                </a:solidFill>
                <a:latin typeface="IRANSans"/>
                <a:cs typeface="B Nazanin" panose="00000400000000000000" pitchFamily="2" charset="-78"/>
              </a:rPr>
              <a:t>(نگرش مکانیکی به کارکنان)</a:t>
            </a:r>
            <a:endParaRPr lang="en-US" sz="1600" b="1" dirty="0">
              <a:solidFill>
                <a:srgbClr val="050B17"/>
              </a:solidFill>
              <a:latin typeface="IRANSans"/>
              <a:cs typeface="B Nazanin" panose="00000400000000000000" pitchFamily="2" charset="-78"/>
            </a:endParaRPr>
          </a:p>
        </p:txBody>
      </p:sp>
      <p:sp>
        <p:nvSpPr>
          <p:cNvPr id="13" name="Rectangle 12"/>
          <p:cNvSpPr/>
          <p:nvPr/>
        </p:nvSpPr>
        <p:spPr>
          <a:xfrm>
            <a:off x="2011681" y="4478359"/>
            <a:ext cx="9032964" cy="338554"/>
          </a:xfrm>
          <a:prstGeom prst="rect">
            <a:avLst/>
          </a:prstGeom>
          <a:solidFill>
            <a:schemeClr val="accent1">
              <a:lumMod val="40000"/>
              <a:lumOff val="60000"/>
            </a:schemeClr>
          </a:solidFill>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تیلور، حاصل تجربیات خود را در کتاب </a:t>
            </a:r>
            <a:r>
              <a:rPr lang="fa-IR" sz="1600" b="1" dirty="0">
                <a:solidFill>
                  <a:schemeClr val="accent6">
                    <a:lumMod val="50000"/>
                  </a:schemeClr>
                </a:solidFill>
                <a:latin typeface="IRANSans"/>
                <a:cs typeface="B Nazanin" panose="00000400000000000000" pitchFamily="2" charset="-78"/>
              </a:rPr>
              <a:t>مدیریت علمی</a:t>
            </a:r>
            <a:r>
              <a:rPr lang="fa-IR" sz="1600" dirty="0">
                <a:solidFill>
                  <a:srgbClr val="000000"/>
                </a:solidFill>
                <a:latin typeface="IRANSans"/>
                <a:cs typeface="B Nazanin" panose="00000400000000000000" pitchFamily="2" charset="-78"/>
              </a:rPr>
              <a:t> تالیف و منتشر کرد.</a:t>
            </a:r>
            <a:endParaRPr lang="en-US" sz="1600" dirty="0">
              <a:solidFill>
                <a:srgbClr val="000000"/>
              </a:solidFill>
              <a:latin typeface="IRANSans"/>
              <a:cs typeface="B Nazanin" panose="00000400000000000000" pitchFamily="2" charset="-78"/>
            </a:endParaRPr>
          </a:p>
        </p:txBody>
      </p:sp>
      <p:sp>
        <p:nvSpPr>
          <p:cNvPr id="14" name="Rectangle 13"/>
          <p:cNvSpPr/>
          <p:nvPr/>
        </p:nvSpPr>
        <p:spPr>
          <a:xfrm>
            <a:off x="3422469" y="5082449"/>
            <a:ext cx="7622176" cy="338554"/>
          </a:xfrm>
          <a:prstGeom prst="rect">
            <a:avLst/>
          </a:prstGeom>
        </p:spPr>
        <p:txBody>
          <a:bodyPr wrap="square">
            <a:spAutoFit/>
          </a:bodyPr>
          <a:lstStyle/>
          <a:p>
            <a:pPr marL="285750" indent="-285750" algn="r" rtl="1">
              <a:buFont typeface="Arial" panose="020B0604020202020204" pitchFamily="34" charset="0"/>
              <a:buChar char="•"/>
            </a:pPr>
            <a:r>
              <a:rPr lang="fa-IR" sz="1600" b="1" dirty="0">
                <a:solidFill>
                  <a:srgbClr val="C00000"/>
                </a:solidFill>
                <a:latin typeface="IRANSans"/>
                <a:cs typeface="B Nazanin" panose="00000400000000000000" pitchFamily="2" charset="-78"/>
              </a:rPr>
              <a:t>تیلوریسم</a:t>
            </a:r>
            <a:r>
              <a:rPr lang="fa-IR" sz="1600" dirty="0">
                <a:solidFill>
                  <a:srgbClr val="000000"/>
                </a:solidFill>
                <a:latin typeface="IRANSans"/>
                <a:cs typeface="B Nazanin" panose="00000400000000000000" pitchFamily="2" charset="-78"/>
              </a:rPr>
              <a:t> و</a:t>
            </a:r>
            <a:r>
              <a:rPr lang="fa-IR" sz="1600" b="1" dirty="0">
                <a:solidFill>
                  <a:srgbClr val="000000"/>
                </a:solidFill>
                <a:latin typeface="IRANSans"/>
                <a:cs typeface="B Nazanin" panose="00000400000000000000" pitchFamily="2" charset="-78"/>
              </a:rPr>
              <a:t> مدیریت علمی</a:t>
            </a:r>
            <a:r>
              <a:rPr lang="fa-IR" sz="1600" dirty="0">
                <a:solidFill>
                  <a:srgbClr val="000000"/>
                </a:solidFill>
                <a:latin typeface="IRANSans"/>
                <a:cs typeface="B Nazanin" panose="00000400000000000000" pitchFamily="2" charset="-78"/>
              </a:rPr>
              <a:t>، به عنوان مکتبی که انسان را نمی‌بیند و جدی نمی‌گیرد مشهور شد.</a:t>
            </a:r>
            <a:endParaRPr lang="en-US" sz="1600" dirty="0">
              <a:solidFill>
                <a:srgbClr val="000000"/>
              </a:solidFill>
              <a:latin typeface="IRANSans"/>
              <a:cs typeface="B Nazanin" panose="00000400000000000000" pitchFamily="2" charset="-78"/>
            </a:endParaRPr>
          </a:p>
        </p:txBody>
      </p:sp>
      <p:pic>
        <p:nvPicPr>
          <p:cNvPr id="15" name="Picture 14"/>
          <p:cNvPicPr>
            <a:picLocks noChangeAspect="1"/>
          </p:cNvPicPr>
          <p:nvPr/>
        </p:nvPicPr>
        <p:blipFill>
          <a:blip r:embed="rId3"/>
          <a:stretch>
            <a:fillRect/>
          </a:stretch>
        </p:blipFill>
        <p:spPr>
          <a:xfrm>
            <a:off x="623182" y="4470621"/>
            <a:ext cx="1336247" cy="2065297"/>
          </a:xfrm>
          <a:prstGeom prst="rect">
            <a:avLst/>
          </a:prstGeom>
        </p:spPr>
      </p:pic>
      <p:sp>
        <p:nvSpPr>
          <p:cNvPr id="16" name="Rectangle 15"/>
          <p:cNvSpPr/>
          <p:nvPr/>
        </p:nvSpPr>
        <p:spPr>
          <a:xfrm>
            <a:off x="2011681" y="5686539"/>
            <a:ext cx="9032964" cy="830997"/>
          </a:xfrm>
          <a:prstGeom prst="rect">
            <a:avLst/>
          </a:prstGeom>
          <a:solidFill>
            <a:schemeClr val="accent1">
              <a:lumMod val="40000"/>
              <a:lumOff val="60000"/>
            </a:schemeClr>
          </a:solidFill>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با این حال، نباید فراموش کنیم که هنوز هم هر جا از </a:t>
            </a:r>
            <a:r>
              <a:rPr lang="fa-IR" sz="1600" b="1" dirty="0">
                <a:solidFill>
                  <a:srgbClr val="C00000"/>
                </a:solidFill>
                <a:latin typeface="IRANSans"/>
                <a:cs typeface="B Nazanin" panose="00000400000000000000" pitchFamily="2" charset="-78"/>
              </a:rPr>
              <a:t>کارایی و اثربخشی</a:t>
            </a:r>
            <a:r>
              <a:rPr lang="fa-IR" sz="1600" dirty="0">
                <a:solidFill>
                  <a:srgbClr val="000000"/>
                </a:solidFill>
                <a:latin typeface="IRANSans"/>
                <a:cs typeface="B Nazanin" panose="00000400000000000000" pitchFamily="2" charset="-78"/>
              </a:rPr>
              <a:t> و بهره وری حرف می‌زنیم، در حال استفاده از دستاوردهای تیلور و تیلوریسم </a:t>
            </a:r>
            <a:r>
              <a:rPr lang="fa-IR" sz="1600" dirty="0" smtClean="0">
                <a:solidFill>
                  <a:srgbClr val="000000"/>
                </a:solidFill>
                <a:latin typeface="IRANSans"/>
                <a:cs typeface="B Nazanin" panose="00000400000000000000" pitchFamily="2" charset="-78"/>
              </a:rPr>
              <a:t>هستیم.</a:t>
            </a:r>
            <a:r>
              <a:rPr lang="en-US" sz="1600" dirty="0" smtClean="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تیلور </a:t>
            </a:r>
            <a:r>
              <a:rPr lang="fa-IR" sz="1600" dirty="0">
                <a:solidFill>
                  <a:srgbClr val="000000"/>
                </a:solidFill>
                <a:latin typeface="IRANSans"/>
                <a:cs typeface="B Nazanin" panose="00000400000000000000" pitchFamily="2" charset="-78"/>
              </a:rPr>
              <a:t>و مکتب مدیریت علمی، هرگز کنار گذاشته نشدند. بلکه مکاتب دیگری آمدند و آن را تکمیل کردند تا جنبه‌های انسانی مدیریت نیز در تولید و خلق ثروت، به فراموشی سپرده نشوند.</a:t>
            </a:r>
          </a:p>
        </p:txBody>
      </p:sp>
    </p:spTree>
    <p:extLst>
      <p:ext uri="{BB962C8B-B14F-4D97-AF65-F5344CB8AC3E}">
        <p14:creationId xmlns:p14="http://schemas.microsoft.com/office/powerpoint/2010/main" val="408470027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مدیریت منابع انسانی چیست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28" name="Rectangle 27"/>
          <p:cNvSpPr/>
          <p:nvPr/>
        </p:nvSpPr>
        <p:spPr>
          <a:xfrm>
            <a:off x="574766" y="1512448"/>
            <a:ext cx="10750731" cy="646331"/>
          </a:xfrm>
          <a:prstGeom prst="rect">
            <a:avLst/>
          </a:prstGeom>
        </p:spPr>
        <p:txBody>
          <a:bodyPr wrap="square">
            <a:spAutoFit/>
          </a:bodyPr>
          <a:lstStyle/>
          <a:p>
            <a:pPr marL="285750" indent="-285750" algn="r" rtl="1">
              <a:buFont typeface="Wingdings" panose="05000000000000000000" pitchFamily="2" charset="2"/>
              <a:buChar char="ü"/>
            </a:pPr>
            <a:r>
              <a:rPr lang="fa-IR" b="1" dirty="0">
                <a:solidFill>
                  <a:schemeClr val="bg2">
                    <a:lumMod val="25000"/>
                  </a:schemeClr>
                </a:solidFill>
                <a:cs typeface="B Nazanin" panose="00000400000000000000" pitchFamily="2" charset="-78"/>
              </a:rPr>
              <a:t>مدیریت منابع انسانی</a:t>
            </a:r>
            <a:r>
              <a:rPr lang="fa-IR" dirty="0">
                <a:cs typeface="B Nazanin" panose="00000400000000000000" pitchFamily="2" charset="-78"/>
              </a:rPr>
              <a:t> نقشی است که در هر سازمانی که </a:t>
            </a:r>
            <a:r>
              <a:rPr lang="fa-IR" b="1" dirty="0">
                <a:cs typeface="B Nazanin" panose="00000400000000000000" pitchFamily="2" charset="-78"/>
              </a:rPr>
              <a:t>بیش از یک نفر عضو </a:t>
            </a:r>
            <a:r>
              <a:rPr lang="fa-IR" dirty="0">
                <a:cs typeface="B Nazanin" panose="00000400000000000000" pitchFamily="2" charset="-78"/>
              </a:rPr>
              <a:t>داشته باشد معنا دارد. به عبارتی، حتی در یک سوپرمارکت بسیار کوچک هم همچنان بخش عمده‌ای از وظایف مدیر منابع انسانی، قابل پیگیری و اجراست.</a:t>
            </a:r>
            <a:endParaRPr lang="en-US" dirty="0">
              <a:cs typeface="B Nazanin" panose="00000400000000000000" pitchFamily="2" charset="-78"/>
            </a:endParaRPr>
          </a:p>
        </p:txBody>
      </p:sp>
      <p:sp>
        <p:nvSpPr>
          <p:cNvPr id="3" name="Rectangle 2"/>
          <p:cNvSpPr/>
          <p:nvPr/>
        </p:nvSpPr>
        <p:spPr>
          <a:xfrm>
            <a:off x="1169125" y="2946517"/>
            <a:ext cx="9588137" cy="888705"/>
          </a:xfrm>
          <a:prstGeom prst="rect">
            <a:avLst/>
          </a:prstGeom>
          <a:solidFill>
            <a:schemeClr val="accent1">
              <a:lumMod val="40000"/>
              <a:lumOff val="60000"/>
            </a:schemeClr>
          </a:solidFill>
          <a:ln>
            <a:solidFill>
              <a:schemeClr val="accent6">
                <a:lumMod val="75000"/>
              </a:schemeClr>
            </a:solidFill>
          </a:ln>
        </p:spPr>
        <p:txBody>
          <a:bodyPr wrap="square">
            <a:spAutoFit/>
          </a:bodyPr>
          <a:lstStyle/>
          <a:p>
            <a:pPr algn="r" rtl="1">
              <a:lnSpc>
                <a:spcPct val="150000"/>
              </a:lnSpc>
            </a:pPr>
            <a:r>
              <a:rPr lang="fa-IR" b="1" dirty="0">
                <a:solidFill>
                  <a:schemeClr val="bg2">
                    <a:lumMod val="25000"/>
                  </a:schemeClr>
                </a:solidFill>
                <a:cs typeface="B Nazanin" panose="00000400000000000000" pitchFamily="2" charset="-78"/>
              </a:rPr>
              <a:t>واحد مدیریت منابع انسانی قرار است </a:t>
            </a:r>
            <a:r>
              <a:rPr lang="fa-IR" b="1" dirty="0">
                <a:solidFill>
                  <a:srgbClr val="0070C0"/>
                </a:solidFill>
                <a:cs typeface="B Nazanin" panose="00000400000000000000" pitchFamily="2" charset="-78"/>
              </a:rPr>
              <a:t>کمک</a:t>
            </a:r>
            <a:r>
              <a:rPr lang="fa-IR" b="1" dirty="0">
                <a:solidFill>
                  <a:schemeClr val="bg2">
                    <a:lumMod val="25000"/>
                  </a:schemeClr>
                </a:solidFill>
                <a:cs typeface="B Nazanin" panose="00000400000000000000" pitchFamily="2" charset="-78"/>
              </a:rPr>
              <a:t> کند تا سازمان، در </a:t>
            </a:r>
            <a:r>
              <a:rPr lang="fa-IR" b="1" dirty="0">
                <a:solidFill>
                  <a:srgbClr val="FF0000"/>
                </a:solidFill>
                <a:cs typeface="B Nazanin" panose="00000400000000000000" pitchFamily="2" charset="-78"/>
              </a:rPr>
              <a:t>افق زمانی بلند مدت</a:t>
            </a:r>
            <a:r>
              <a:rPr lang="fa-IR" b="1" dirty="0">
                <a:solidFill>
                  <a:schemeClr val="bg2">
                    <a:lumMod val="25000"/>
                  </a:schemeClr>
                </a:solidFill>
                <a:cs typeface="B Nazanin" panose="00000400000000000000" pitchFamily="2" charset="-78"/>
              </a:rPr>
              <a:t>، با </a:t>
            </a:r>
            <a:r>
              <a:rPr lang="fa-IR" b="1" dirty="0">
                <a:solidFill>
                  <a:srgbClr val="C00000"/>
                </a:solidFill>
                <a:cs typeface="B Nazanin" panose="00000400000000000000" pitchFamily="2" charset="-78"/>
              </a:rPr>
              <a:t>کمترین هزینه</a:t>
            </a:r>
            <a:r>
              <a:rPr lang="fa-IR" b="1" dirty="0">
                <a:solidFill>
                  <a:schemeClr val="bg2">
                    <a:lumMod val="25000"/>
                  </a:schemeClr>
                </a:solidFill>
                <a:cs typeface="B Nazanin" panose="00000400000000000000" pitchFamily="2" charset="-78"/>
              </a:rPr>
              <a:t>، </a:t>
            </a:r>
            <a:r>
              <a:rPr lang="fa-IR" b="1" dirty="0">
                <a:solidFill>
                  <a:srgbClr val="7030A0"/>
                </a:solidFill>
                <a:cs typeface="B Nazanin" panose="00000400000000000000" pitchFamily="2" charset="-78"/>
              </a:rPr>
              <a:t>حداکثر کارایی </a:t>
            </a:r>
            <a:r>
              <a:rPr lang="fa-IR" b="1" dirty="0">
                <a:solidFill>
                  <a:schemeClr val="bg2">
                    <a:lumMod val="25000"/>
                  </a:schemeClr>
                </a:solidFill>
                <a:cs typeface="B Nazanin" panose="00000400000000000000" pitchFamily="2" charset="-78"/>
              </a:rPr>
              <a:t>را از کارکنان برای حرکت در راستای اهداف استراتژیک سازمان، کسب نماید.</a:t>
            </a:r>
            <a:endParaRPr lang="en-US" b="1" dirty="0">
              <a:solidFill>
                <a:schemeClr val="bg2">
                  <a:lumMod val="25000"/>
                </a:schemeClr>
              </a:solidFill>
              <a:cs typeface="B Nazanin" panose="00000400000000000000" pitchFamily="2" charset="-78"/>
            </a:endParaRPr>
          </a:p>
        </p:txBody>
      </p:sp>
      <p:sp>
        <p:nvSpPr>
          <p:cNvPr id="4" name="Rectangle 3"/>
          <p:cNvSpPr/>
          <p:nvPr/>
        </p:nvSpPr>
        <p:spPr>
          <a:xfrm>
            <a:off x="396239" y="2195442"/>
            <a:ext cx="4855029" cy="584775"/>
          </a:xfrm>
          <a:prstGeom prst="rect">
            <a:avLst/>
          </a:prstGeom>
        </p:spPr>
        <p:txBody>
          <a:bodyPr wrap="square">
            <a:spAutoFit/>
          </a:bodyPr>
          <a:lstStyle/>
          <a:p>
            <a:r>
              <a:rPr lang="en-US" sz="1600" dirty="0" smtClean="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اگر</a:t>
            </a:r>
            <a:r>
              <a:rPr lang="fa-IR" sz="1600" dirty="0">
                <a:solidFill>
                  <a:srgbClr val="000000"/>
                </a:solidFill>
                <a:latin typeface="IRANSans"/>
                <a:cs typeface="B Nazanin" panose="00000400000000000000" pitchFamily="2" charset="-78"/>
              </a:rPr>
              <a:t> </a:t>
            </a:r>
            <a:r>
              <a:rPr lang="fa-IR" sz="1600" b="1" dirty="0">
                <a:solidFill>
                  <a:srgbClr val="FF0000"/>
                </a:solidFill>
                <a:latin typeface="IRANSans"/>
                <a:cs typeface="B Nazanin" panose="00000400000000000000" pitchFamily="2" charset="-78"/>
              </a:rPr>
              <a:t>افق زمانی بلندمدت</a:t>
            </a:r>
            <a:r>
              <a:rPr lang="fa-IR" sz="1600" dirty="0">
                <a:solidFill>
                  <a:srgbClr val="000000"/>
                </a:solidFill>
                <a:latin typeface="IRANSans"/>
                <a:cs typeface="B Nazanin" panose="00000400000000000000" pitchFamily="2" charset="-78"/>
              </a:rPr>
              <a:t> را از تعریف </a:t>
            </a:r>
            <a:r>
              <a:rPr lang="fa-IR" sz="1600" dirty="0" smtClean="0">
                <a:solidFill>
                  <a:srgbClr val="000000"/>
                </a:solidFill>
                <a:latin typeface="IRANSans"/>
                <a:cs typeface="B Nazanin" panose="00000400000000000000" pitchFamily="2" charset="-78"/>
              </a:rPr>
              <a:t>زیر </a:t>
            </a:r>
            <a:r>
              <a:rPr lang="fa-IR" sz="1600" dirty="0">
                <a:solidFill>
                  <a:srgbClr val="000000"/>
                </a:solidFill>
                <a:latin typeface="IRANSans"/>
                <a:cs typeface="B Nazanin" panose="00000400000000000000" pitchFamily="2" charset="-78"/>
              </a:rPr>
              <a:t>حذف کنیم، عملاً نقش واحد منابع انسانی را در حد سرکارگرهای معادن </a:t>
            </a:r>
            <a:r>
              <a:rPr lang="fa-IR" sz="1600" b="1" dirty="0">
                <a:solidFill>
                  <a:srgbClr val="0070C0"/>
                </a:solidFill>
                <a:latin typeface="IRANSans"/>
                <a:cs typeface="B Nazanin" panose="00000400000000000000" pitchFamily="2" charset="-78"/>
              </a:rPr>
              <a:t>فردریک تیلور</a:t>
            </a:r>
            <a:r>
              <a:rPr lang="fa-IR" sz="1600" dirty="0">
                <a:solidFill>
                  <a:srgbClr val="000000"/>
                </a:solidFill>
                <a:latin typeface="IRANSans"/>
                <a:cs typeface="B Nazanin" panose="00000400000000000000" pitchFamily="2" charset="-78"/>
              </a:rPr>
              <a:t>، پایین آورده‌ایم.</a:t>
            </a:r>
            <a:endParaRPr lang="en-US" sz="1600" dirty="0">
              <a:cs typeface="B Nazanin" panose="00000400000000000000" pitchFamily="2" charset="-78"/>
            </a:endParaRPr>
          </a:p>
        </p:txBody>
      </p:sp>
      <p:sp>
        <p:nvSpPr>
          <p:cNvPr id="5" name="Arc 4"/>
          <p:cNvSpPr/>
          <p:nvPr/>
        </p:nvSpPr>
        <p:spPr>
          <a:xfrm rot="21118628">
            <a:off x="4311476" y="2410248"/>
            <a:ext cx="1283254" cy="895452"/>
          </a:xfrm>
          <a:prstGeom prst="arc">
            <a:avLst>
              <a:gd name="adj1" fmla="val 17993901"/>
              <a:gd name="adj2" fmla="val 2043973"/>
            </a:avLst>
          </a:prstGeom>
          <a:ln w="38100" cap="flat" cmpd="sng" algn="ctr">
            <a:solidFill>
              <a:srgbClr val="002060"/>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6" name="Rectangle 5"/>
          <p:cNvSpPr/>
          <p:nvPr/>
        </p:nvSpPr>
        <p:spPr>
          <a:xfrm>
            <a:off x="505096" y="4111372"/>
            <a:ext cx="11203578"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dirty="0">
                <a:solidFill>
                  <a:srgbClr val="000000"/>
                </a:solidFill>
                <a:latin typeface="IRANSans"/>
                <a:cs typeface="B Nazanin" panose="00000400000000000000" pitchFamily="2" charset="-78"/>
              </a:rPr>
              <a:t>امروز فضای کسب و کار </a:t>
            </a:r>
            <a:r>
              <a:rPr lang="fa-IR" b="1" dirty="0">
                <a:solidFill>
                  <a:srgbClr val="000000"/>
                </a:solidFill>
                <a:latin typeface="IRANSans"/>
                <a:cs typeface="B Nazanin" panose="00000400000000000000" pitchFamily="2" charset="-78"/>
              </a:rPr>
              <a:t>رقابتی‌تر</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یکی </a:t>
            </a:r>
            <a:r>
              <a:rPr lang="fa-IR" dirty="0">
                <a:solidFill>
                  <a:srgbClr val="000000"/>
                </a:solidFill>
                <a:latin typeface="IRANSans"/>
                <a:cs typeface="B Nazanin" panose="00000400000000000000" pitchFamily="2" charset="-78"/>
              </a:rPr>
              <a:t>از سنگین‌ترین هزینه‌های یک کسب و کار، کارکنان با تجربه‌ای هستند که به هر دلیل محیط کار را ترک می‌کنند و آموخته‌ها و تجربیات خود را به محیطی دیگر می‌برند</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امروز </a:t>
            </a:r>
            <a:r>
              <a:rPr lang="fa-IR" dirty="0">
                <a:solidFill>
                  <a:srgbClr val="000000"/>
                </a:solidFill>
                <a:latin typeface="IRANSans"/>
                <a:cs typeface="B Nazanin" panose="00000400000000000000" pitchFamily="2" charset="-78"/>
              </a:rPr>
              <a:t>صرف اینکه بتوانیم از یکی از کارکنان خود در طول یک سال، بیشترین خروجی را بگیریم، چندان ارزشمند نیست</a:t>
            </a:r>
            <a:r>
              <a:rPr lang="fa-IR" b="1" dirty="0" smtClean="0">
                <a:solidFill>
                  <a:srgbClr val="FF0000"/>
                </a:solidFill>
                <a:latin typeface="IRANSans"/>
                <a:cs typeface="B Nazanin" panose="00000400000000000000" pitchFamily="2" charset="-78"/>
              </a:rPr>
              <a:t>.</a:t>
            </a:r>
            <a:r>
              <a:rPr lang="en-US" b="1" dirty="0" smtClean="0">
                <a:solidFill>
                  <a:srgbClr val="FF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هنر </a:t>
            </a:r>
            <a:r>
              <a:rPr lang="fa-IR" b="1" dirty="0">
                <a:solidFill>
                  <a:srgbClr val="FF0000"/>
                </a:solidFill>
                <a:latin typeface="IRANSans"/>
                <a:cs typeface="B Nazanin" panose="00000400000000000000" pitchFamily="2" charset="-78"/>
              </a:rPr>
              <a:t>این است که بتوانیم در طول عمر مفید کاری او، بیشترین خروجی را کسب کنیم </a:t>
            </a:r>
            <a:r>
              <a:rPr lang="fa-IR" dirty="0">
                <a:solidFill>
                  <a:srgbClr val="000000"/>
                </a:solidFill>
                <a:latin typeface="IRANSans"/>
                <a:cs typeface="B Nazanin" panose="00000400000000000000" pitchFamily="2" charset="-78"/>
              </a:rPr>
              <a:t>و از همه ابزارهای ممکن استفاده کنیم که </a:t>
            </a:r>
            <a:r>
              <a:rPr lang="fa-IR" b="1" dirty="0">
                <a:solidFill>
                  <a:srgbClr val="0070C0"/>
                </a:solidFill>
                <a:latin typeface="IRANSans"/>
                <a:cs typeface="B Nazanin" panose="00000400000000000000" pitchFamily="2" charset="-78"/>
              </a:rPr>
              <a:t>ماندگاری</a:t>
            </a:r>
            <a:r>
              <a:rPr lang="fa-IR" dirty="0">
                <a:solidFill>
                  <a:srgbClr val="000000"/>
                </a:solidFill>
                <a:latin typeface="IRANSans"/>
                <a:cs typeface="B Nazanin" panose="00000400000000000000" pitchFamily="2" charset="-78"/>
              </a:rPr>
              <a:t> و </a:t>
            </a:r>
            <a:r>
              <a:rPr lang="fa-IR" b="1" dirty="0">
                <a:solidFill>
                  <a:srgbClr val="0070C0"/>
                </a:solidFill>
                <a:latin typeface="IRANSans"/>
                <a:cs typeface="B Nazanin" panose="00000400000000000000" pitchFamily="2" charset="-78"/>
              </a:rPr>
              <a:t>رضایت کارکنان مفید </a:t>
            </a:r>
            <a:r>
              <a:rPr lang="fa-IR" dirty="0">
                <a:solidFill>
                  <a:srgbClr val="000000"/>
                </a:solidFill>
                <a:latin typeface="IRANSans"/>
                <a:cs typeface="B Nazanin" panose="00000400000000000000" pitchFamily="2" charset="-78"/>
              </a:rPr>
              <a:t>در یک سازمان افزایش یافته و باقی ماندن کارکنان بی خاصیت و کم خاصیت در یک سازمان، به سادگی امکان پذیر نباشد.</a:t>
            </a:r>
            <a:endParaRPr lang="fa-IR" b="0" i="0" dirty="0">
              <a:solidFill>
                <a:srgbClr val="000000"/>
              </a:solidFill>
              <a:effectLst/>
              <a:latin typeface="IRANSans"/>
              <a:cs typeface="B Nazanin" panose="00000400000000000000" pitchFamily="2" charset="-78"/>
            </a:endParaRPr>
          </a:p>
        </p:txBody>
      </p:sp>
      <p:sp>
        <p:nvSpPr>
          <p:cNvPr id="7" name="Rectangle 6"/>
          <p:cNvSpPr/>
          <p:nvPr/>
        </p:nvSpPr>
        <p:spPr>
          <a:xfrm>
            <a:off x="2234836" y="5548864"/>
            <a:ext cx="7456714" cy="923330"/>
          </a:xfrm>
          <a:prstGeom prst="rect">
            <a:avLst/>
          </a:prstGeom>
          <a:solidFill>
            <a:schemeClr val="accent3">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dirty="0">
                <a:solidFill>
                  <a:srgbClr val="000000"/>
                </a:solidFill>
                <a:latin typeface="IRANSans"/>
                <a:cs typeface="B Nazanin" panose="00000400000000000000" pitchFamily="2" charset="-78"/>
              </a:rPr>
              <a:t>وقتی می‌گوییم </a:t>
            </a:r>
            <a:r>
              <a:rPr lang="fa-IR" b="1" dirty="0">
                <a:solidFill>
                  <a:srgbClr val="C00000"/>
                </a:solidFill>
                <a:latin typeface="IRANSans"/>
                <a:cs typeface="B Nazanin" panose="00000400000000000000" pitchFamily="2" charset="-78"/>
              </a:rPr>
              <a:t>کسب حداکثر خروجی</a:t>
            </a:r>
            <a:r>
              <a:rPr lang="fa-IR" dirty="0">
                <a:solidFill>
                  <a:srgbClr val="000000"/>
                </a:solidFill>
                <a:latin typeface="IRANSans"/>
                <a:cs typeface="B Nazanin" panose="00000400000000000000" pitchFamily="2" charset="-78"/>
              </a:rPr>
              <a:t> از کارکنان، </a:t>
            </a:r>
            <a:r>
              <a:rPr lang="fa-IR" b="1" dirty="0">
                <a:solidFill>
                  <a:srgbClr val="C00000"/>
                </a:solidFill>
                <a:latin typeface="IRANSans"/>
                <a:cs typeface="B Nazanin" panose="00000400000000000000" pitchFamily="2" charset="-78"/>
              </a:rPr>
              <a:t>نگاهی فیزیکی</a:t>
            </a:r>
            <a:r>
              <a:rPr lang="fa-IR" dirty="0">
                <a:solidFill>
                  <a:srgbClr val="000000"/>
                </a:solidFill>
                <a:latin typeface="IRANSans"/>
                <a:cs typeface="B Nazanin" panose="00000400000000000000" pitchFamily="2" charset="-78"/>
              </a:rPr>
              <a:t> و</a:t>
            </a:r>
            <a:r>
              <a:rPr lang="fa-IR" b="1"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غیر انسانی</a:t>
            </a:r>
            <a:r>
              <a:rPr lang="fa-IR" dirty="0">
                <a:solidFill>
                  <a:srgbClr val="000000"/>
                </a:solidFill>
                <a:latin typeface="IRANSans"/>
                <a:cs typeface="B Nazanin" panose="00000400000000000000" pitchFamily="2" charset="-78"/>
              </a:rPr>
              <a:t> به کارکنان داریم.</a:t>
            </a:r>
          </a:p>
          <a:p>
            <a:pPr algn="just" rtl="1"/>
            <a:r>
              <a:rPr lang="fa-IR" dirty="0">
                <a:solidFill>
                  <a:srgbClr val="000000"/>
                </a:solidFill>
                <a:latin typeface="IRANSans"/>
                <a:cs typeface="B Nazanin" panose="00000400000000000000" pitchFamily="2" charset="-78"/>
              </a:rPr>
              <a:t>اما وقتی می‌گوییم </a:t>
            </a:r>
            <a:r>
              <a:rPr lang="fa-IR" b="1" dirty="0">
                <a:solidFill>
                  <a:schemeClr val="accent6">
                    <a:lumMod val="75000"/>
                  </a:schemeClr>
                </a:solidFill>
                <a:latin typeface="IRANSans"/>
                <a:cs typeface="B Nazanin" panose="00000400000000000000" pitchFamily="2" charset="-78"/>
              </a:rPr>
              <a:t>ایجاد حداکثر خروجی در </a:t>
            </a:r>
            <a:r>
              <a:rPr lang="fa-IR" b="1" dirty="0">
                <a:solidFill>
                  <a:srgbClr val="00B050"/>
                </a:solidFill>
                <a:latin typeface="IRANSans"/>
                <a:cs typeface="B Nazanin" panose="00000400000000000000" pitchFamily="2" charset="-78"/>
              </a:rPr>
              <a:t>بلندمدت</a:t>
            </a:r>
            <a:r>
              <a:rPr lang="fa-IR" dirty="0">
                <a:solidFill>
                  <a:srgbClr val="000000"/>
                </a:solidFill>
                <a:latin typeface="IRANSans"/>
                <a:cs typeface="B Nazanin" panose="00000400000000000000" pitchFamily="2" charset="-78"/>
              </a:rPr>
              <a:t>، به ناچار باید جنبه‌های انسانی لحاظ شوند.</a:t>
            </a:r>
          </a:p>
          <a:p>
            <a:pPr algn="just" rtl="1"/>
            <a:r>
              <a:rPr lang="fa-IR" dirty="0">
                <a:solidFill>
                  <a:srgbClr val="000000"/>
                </a:solidFill>
                <a:latin typeface="IRANSans"/>
                <a:cs typeface="B Nazanin" panose="00000400000000000000" pitchFamily="2" charset="-78"/>
              </a:rPr>
              <a:t>بنابراین افزودن واژه‌ی </a:t>
            </a:r>
            <a:r>
              <a:rPr lang="fa-IR" b="1" dirty="0">
                <a:solidFill>
                  <a:srgbClr val="00B050"/>
                </a:solidFill>
                <a:latin typeface="IRANSans"/>
                <a:cs typeface="B Nazanin" panose="00000400000000000000" pitchFamily="2" charset="-78"/>
              </a:rPr>
              <a:t>بلندمدت</a:t>
            </a:r>
            <a:r>
              <a:rPr lang="fa-IR" dirty="0">
                <a:solidFill>
                  <a:srgbClr val="000000"/>
                </a:solidFill>
                <a:latin typeface="IRANSans"/>
                <a:cs typeface="B Nazanin" panose="00000400000000000000" pitchFamily="2" charset="-78"/>
              </a:rPr>
              <a:t>، به معنای تغییر نگرش از</a:t>
            </a:r>
            <a:r>
              <a:rPr lang="fa-IR" b="1" dirty="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فضای مکانیکی به </a:t>
            </a:r>
            <a:r>
              <a:rPr lang="fa-IR" b="1" dirty="0">
                <a:solidFill>
                  <a:srgbClr val="00B050"/>
                </a:solidFill>
                <a:latin typeface="IRANSans"/>
                <a:cs typeface="B Nazanin" panose="00000400000000000000" pitchFamily="2" charset="-78"/>
              </a:rPr>
              <a:t>فضای انسانی</a:t>
            </a:r>
            <a:r>
              <a:rPr lang="fa-IR" dirty="0">
                <a:solidFill>
                  <a:srgbClr val="000000"/>
                </a:solidFill>
                <a:latin typeface="IRANSans"/>
                <a:cs typeface="B Nazanin" panose="00000400000000000000" pitchFamily="2" charset="-78"/>
              </a:rPr>
              <a:t> است.</a:t>
            </a:r>
            <a:endParaRPr lang="fa-IR" b="0" i="0" dirty="0">
              <a:solidFill>
                <a:srgbClr val="000000"/>
              </a:solidFill>
              <a:effectLst/>
              <a:latin typeface="IRANSans"/>
              <a:cs typeface="B Nazanin" panose="00000400000000000000" pitchFamily="2" charset="-78"/>
            </a:endParaRPr>
          </a:p>
        </p:txBody>
      </p:sp>
    </p:spTree>
    <p:extLst>
      <p:ext uri="{BB962C8B-B14F-4D97-AF65-F5344CB8AC3E}">
        <p14:creationId xmlns:p14="http://schemas.microsoft.com/office/powerpoint/2010/main" val="9284743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117568" y="1977543"/>
            <a:ext cx="3207929"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مدیریت فرایند جذب نیروی انسانی</a:t>
            </a:r>
            <a:endParaRPr lang="en-US" dirty="0">
              <a:cs typeface="B Nazanin" panose="00000400000000000000" pitchFamily="2" charset="-78"/>
            </a:endParaRPr>
          </a:p>
        </p:txBody>
      </p:sp>
      <p:sp>
        <p:nvSpPr>
          <p:cNvPr id="4" name="Rectangle 3"/>
          <p:cNvSpPr/>
          <p:nvPr/>
        </p:nvSpPr>
        <p:spPr>
          <a:xfrm>
            <a:off x="362584" y="1475490"/>
            <a:ext cx="7598229" cy="1477328"/>
          </a:xfrm>
          <a:prstGeom prst="rect">
            <a:avLst/>
          </a:prstGeom>
        </p:spPr>
        <p:txBody>
          <a:bodyPr wrap="square">
            <a:spAutoFit/>
          </a:bodyPr>
          <a:lstStyle/>
          <a:p>
            <a:pPr marL="285750" indent="-285750" algn="just" rtl="1">
              <a:buFont typeface="Arial" panose="020B0604020202020204" pitchFamily="34" charset="0"/>
              <a:buChar char="•"/>
            </a:pPr>
            <a:r>
              <a:rPr lang="fa-IR" dirty="0">
                <a:solidFill>
                  <a:srgbClr val="000000"/>
                </a:solidFill>
                <a:latin typeface="IRANSans"/>
                <a:cs typeface="B Nazanin" panose="00000400000000000000" pitchFamily="2" charset="-78"/>
              </a:rPr>
              <a:t>اطلاع داشتن از </a:t>
            </a:r>
            <a:r>
              <a:rPr lang="fa-IR" b="1" dirty="0">
                <a:solidFill>
                  <a:srgbClr val="0070C0"/>
                </a:solidFill>
                <a:latin typeface="IRANSans"/>
                <a:cs typeface="B Nazanin" panose="00000400000000000000" pitchFamily="2" charset="-78"/>
              </a:rPr>
              <a:t>وضعیت بازار کار</a:t>
            </a:r>
          </a:p>
          <a:p>
            <a:pPr marL="285750" indent="-285750" algn="just" rtl="1">
              <a:buFont typeface="Arial" panose="020B0604020202020204" pitchFamily="34" charset="0"/>
              <a:buChar char="•"/>
            </a:pPr>
            <a:r>
              <a:rPr lang="fa-IR" dirty="0" smtClean="0">
                <a:solidFill>
                  <a:srgbClr val="000000"/>
                </a:solidFill>
                <a:latin typeface="IRANSans"/>
                <a:cs typeface="B Nazanin" panose="00000400000000000000" pitchFamily="2" charset="-78"/>
              </a:rPr>
              <a:t>شناخت </a:t>
            </a:r>
            <a:r>
              <a:rPr lang="fa-IR" dirty="0">
                <a:solidFill>
                  <a:srgbClr val="C00000"/>
                </a:solidFill>
                <a:latin typeface="IRANSans"/>
                <a:cs typeface="B Nazanin" panose="00000400000000000000" pitchFamily="2" charset="-78"/>
              </a:rPr>
              <a:t>موقعیت‌های شغلی </a:t>
            </a:r>
            <a:r>
              <a:rPr lang="fa-IR" dirty="0">
                <a:solidFill>
                  <a:srgbClr val="000000"/>
                </a:solidFill>
                <a:latin typeface="IRANSans"/>
                <a:cs typeface="B Nazanin" panose="00000400000000000000" pitchFamily="2" charset="-78"/>
              </a:rPr>
              <a:t>خالی در سازمان و موقعیت‌ها و فرصت‌هایی که در آینده ایجاد خواهند شد</a:t>
            </a:r>
          </a:p>
          <a:p>
            <a:pPr marL="285750" indent="-285750" algn="just" rtl="1">
              <a:buFont typeface="Arial" panose="020B0604020202020204" pitchFamily="34" charset="0"/>
              <a:buChar char="•"/>
            </a:pPr>
            <a:r>
              <a:rPr lang="fa-IR" b="1" dirty="0" smtClean="0">
                <a:solidFill>
                  <a:schemeClr val="accent3">
                    <a:lumMod val="50000"/>
                  </a:schemeClr>
                </a:solidFill>
                <a:latin typeface="IRANSans"/>
                <a:cs typeface="B Nazanin" panose="00000400000000000000" pitchFamily="2" charset="-78"/>
              </a:rPr>
              <a:t>شناخت</a:t>
            </a:r>
            <a:r>
              <a:rPr lang="fa-IR" dirty="0" smtClean="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سایر </a:t>
            </a:r>
            <a:r>
              <a:rPr lang="fa-IR" b="1" dirty="0">
                <a:solidFill>
                  <a:schemeClr val="accent3">
                    <a:lumMod val="50000"/>
                  </a:schemeClr>
                </a:solidFill>
                <a:latin typeface="IRANSans"/>
                <a:cs typeface="B Nazanin" panose="00000400000000000000" pitchFamily="2" charset="-78"/>
              </a:rPr>
              <a:t>فرصت‌ها</a:t>
            </a:r>
            <a:r>
              <a:rPr lang="fa-IR" dirty="0">
                <a:solidFill>
                  <a:srgbClr val="000000"/>
                </a:solidFill>
                <a:latin typeface="IRANSans"/>
                <a:cs typeface="B Nazanin" panose="00000400000000000000" pitchFamily="2" charset="-78"/>
              </a:rPr>
              <a:t>یی که در جامعه برای نیروی کار وجود </a:t>
            </a:r>
            <a:r>
              <a:rPr lang="fa-IR" dirty="0" smtClean="0">
                <a:solidFill>
                  <a:srgbClr val="000000"/>
                </a:solidFill>
                <a:latin typeface="IRANSans"/>
                <a:cs typeface="B Nazanin" panose="00000400000000000000" pitchFamily="2" charset="-78"/>
              </a:rPr>
              <a:t>دارد</a:t>
            </a:r>
            <a:endParaRPr lang="en-US" dirty="0" smtClean="0">
              <a:solidFill>
                <a:srgbClr val="000000"/>
              </a:solidFill>
              <a:latin typeface="IRANSans"/>
              <a:cs typeface="B Nazanin" panose="00000400000000000000" pitchFamily="2" charset="-78"/>
            </a:endParaRPr>
          </a:p>
          <a:p>
            <a:pPr marL="285750" indent="-285750" algn="just" rtl="1">
              <a:buFont typeface="Arial" panose="020B0604020202020204" pitchFamily="34" charset="0"/>
              <a:buChar char="•"/>
            </a:pPr>
            <a:r>
              <a:rPr lang="fa-IR" b="1" dirty="0" smtClean="0">
                <a:solidFill>
                  <a:srgbClr val="000000"/>
                </a:solidFill>
                <a:latin typeface="IRANSans"/>
                <a:cs typeface="B Nazanin" panose="00000400000000000000" pitchFamily="2" charset="-78"/>
              </a:rPr>
              <a:t>ابزارهای</a:t>
            </a:r>
            <a:r>
              <a:rPr lang="fa-IR" dirty="0" smtClean="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موجود برای </a:t>
            </a:r>
            <a:r>
              <a:rPr lang="fa-IR" b="1" dirty="0">
                <a:solidFill>
                  <a:srgbClr val="000000"/>
                </a:solidFill>
                <a:latin typeface="IRANSans"/>
                <a:cs typeface="B Nazanin" panose="00000400000000000000" pitchFamily="2" charset="-78"/>
              </a:rPr>
              <a:t>جستجوی نیروی کار</a:t>
            </a:r>
          </a:p>
          <a:p>
            <a:pPr marL="285750" indent="-285750" algn="just" rtl="1">
              <a:buFont typeface="Arial" panose="020B0604020202020204" pitchFamily="34" charset="0"/>
              <a:buChar char="•"/>
            </a:pPr>
            <a:r>
              <a:rPr lang="fa-IR" dirty="0" smtClean="0">
                <a:solidFill>
                  <a:srgbClr val="000000"/>
                </a:solidFill>
                <a:latin typeface="IRANSans"/>
                <a:cs typeface="B Nazanin" panose="00000400000000000000" pitchFamily="2" charset="-78"/>
              </a:rPr>
              <a:t>برگزاری </a:t>
            </a:r>
            <a:r>
              <a:rPr lang="fa-IR" b="1" dirty="0">
                <a:solidFill>
                  <a:schemeClr val="accent6">
                    <a:lumMod val="75000"/>
                  </a:schemeClr>
                </a:solidFill>
                <a:latin typeface="IRANSans"/>
                <a:cs typeface="B Nazanin" panose="00000400000000000000" pitchFamily="2" charset="-78"/>
              </a:rPr>
              <a:t>مصاحبه</a:t>
            </a:r>
            <a:r>
              <a:rPr lang="fa-IR" dirty="0">
                <a:solidFill>
                  <a:srgbClr val="000000"/>
                </a:solidFill>
                <a:latin typeface="IRANSans"/>
                <a:cs typeface="B Nazanin" panose="00000400000000000000" pitchFamily="2" charset="-78"/>
              </a:rPr>
              <a:t>‌های شغلی</a:t>
            </a:r>
            <a:endParaRPr lang="fa-IR" b="0" i="0" dirty="0">
              <a:solidFill>
                <a:srgbClr val="000000"/>
              </a:solidFill>
              <a:effectLst/>
              <a:latin typeface="IRANSans"/>
              <a:cs typeface="B Nazanin" panose="00000400000000000000" pitchFamily="2" charset="-78"/>
            </a:endParaRPr>
          </a:p>
        </p:txBody>
      </p:sp>
      <p:sp>
        <p:nvSpPr>
          <p:cNvPr id="5" name="Right Brace 4"/>
          <p:cNvSpPr/>
          <p:nvPr/>
        </p:nvSpPr>
        <p:spPr>
          <a:xfrm>
            <a:off x="7960813" y="1371600"/>
            <a:ext cx="156755" cy="1581218"/>
          </a:xfrm>
          <a:prstGeom prst="rightBrace">
            <a:avLst/>
          </a:prstGeom>
          <a:ln w="28575">
            <a:solidFill>
              <a:srgbClr val="C1382D"/>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Rectangle 5"/>
          <p:cNvSpPr/>
          <p:nvPr/>
        </p:nvSpPr>
        <p:spPr>
          <a:xfrm>
            <a:off x="8580835" y="3232186"/>
            <a:ext cx="2744662"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طراحی نظام حقوق و </a:t>
            </a:r>
            <a:r>
              <a:rPr lang="fa-IR" b="1" dirty="0" smtClean="0">
                <a:latin typeface="IRANSans"/>
                <a:cs typeface="B Nazanin" panose="00000400000000000000" pitchFamily="2" charset="-78"/>
              </a:rPr>
              <a:t>دستمزد</a:t>
            </a:r>
          </a:p>
          <a:p>
            <a:pPr algn="ctr" rtl="1"/>
            <a:r>
              <a:rPr lang="fa-IR" b="1" dirty="0" smtClean="0">
                <a:latin typeface="IRANSans"/>
                <a:cs typeface="B Nazanin" panose="00000400000000000000" pitchFamily="2" charset="-78"/>
              </a:rPr>
              <a:t> </a:t>
            </a:r>
            <a:r>
              <a:rPr lang="fa-IR" b="1" dirty="0">
                <a:latin typeface="IRANSans"/>
                <a:cs typeface="B Nazanin" panose="00000400000000000000" pitchFamily="2" charset="-78"/>
              </a:rPr>
              <a:t>و </a:t>
            </a:r>
            <a:r>
              <a:rPr lang="fa-IR" b="1" dirty="0" smtClean="0">
                <a:latin typeface="IRANSans"/>
                <a:cs typeface="B Nazanin" panose="00000400000000000000" pitchFamily="2" charset="-78"/>
              </a:rPr>
              <a:t>جبران </a:t>
            </a:r>
            <a:r>
              <a:rPr lang="fa-IR" b="1" dirty="0">
                <a:latin typeface="IRANSans"/>
                <a:cs typeface="B Nazanin" panose="00000400000000000000" pitchFamily="2" charset="-78"/>
              </a:rPr>
              <a:t>خدمت کارکنان</a:t>
            </a:r>
            <a:endParaRPr lang="en-US" b="1" dirty="0">
              <a:latin typeface="IRANSans"/>
              <a:cs typeface="B Nazanin" panose="00000400000000000000" pitchFamily="2" charset="-78"/>
            </a:endParaRPr>
          </a:p>
        </p:txBody>
      </p:sp>
      <p:sp>
        <p:nvSpPr>
          <p:cNvPr id="7" name="Rectangle 6"/>
          <p:cNvSpPr/>
          <p:nvPr/>
        </p:nvSpPr>
        <p:spPr>
          <a:xfrm>
            <a:off x="362584" y="3139853"/>
            <a:ext cx="8218251"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000000"/>
                </a:solidFill>
                <a:latin typeface="IRANSans"/>
                <a:cs typeface="B Nazanin" panose="00000400000000000000" pitchFamily="2" charset="-78"/>
              </a:rPr>
              <a:t>این مورد فقط به تعیین حقوق و کارانه و پاداش های مادی منتهی نمیشود بلکه باید مواردی مانند حق استفاده از پارکینک ، تنظیم نامه توبیخ یا تشویق ، تقدیر شدن در یک جلسه رسمی و .... میتواند به عنوان جبران خدمت کارکنان در نظر گرفته شود .   </a:t>
            </a:r>
            <a:endParaRPr lang="en-US" dirty="0"/>
          </a:p>
        </p:txBody>
      </p:sp>
      <p:sp>
        <p:nvSpPr>
          <p:cNvPr id="9" name="Rectangle 8"/>
          <p:cNvSpPr/>
          <p:nvPr/>
        </p:nvSpPr>
        <p:spPr>
          <a:xfrm>
            <a:off x="8776402" y="4594405"/>
            <a:ext cx="2549095"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تدوین شاخص‌های عملکرد</a:t>
            </a:r>
            <a:endParaRPr lang="en-US" b="1" dirty="0">
              <a:latin typeface="IRANSans"/>
              <a:cs typeface="B Nazanin" panose="00000400000000000000" pitchFamily="2" charset="-78"/>
            </a:endParaRPr>
          </a:p>
        </p:txBody>
      </p:sp>
      <p:sp>
        <p:nvSpPr>
          <p:cNvPr id="10" name="Rectangle 9"/>
          <p:cNvSpPr/>
          <p:nvPr/>
        </p:nvSpPr>
        <p:spPr>
          <a:xfrm>
            <a:off x="362583" y="4337072"/>
            <a:ext cx="8218251"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en-US" dirty="0" smtClean="0">
                <a:solidFill>
                  <a:srgbClr val="000000"/>
                </a:solidFill>
                <a:latin typeface="IRANSans"/>
                <a:cs typeface="B Nazanin" panose="00000400000000000000" pitchFamily="2" charset="-78"/>
              </a:rPr>
              <a:t>شاخص‌هایی </a:t>
            </a:r>
            <a:r>
              <a:rPr lang="en-US" dirty="0" err="1" smtClean="0">
                <a:solidFill>
                  <a:srgbClr val="000000"/>
                </a:solidFill>
                <a:latin typeface="IRANSans"/>
                <a:cs typeface="B Nazanin" panose="00000400000000000000" pitchFamily="2" charset="-78"/>
              </a:rPr>
              <a:t>نظیر</a:t>
            </a:r>
            <a:r>
              <a:rPr lang="en-US" dirty="0" smtClean="0">
                <a:solidFill>
                  <a:srgbClr val="000000"/>
                </a:solidFill>
                <a:latin typeface="IRANSans"/>
                <a:cs typeface="B Nazanin" panose="00000400000000000000" pitchFamily="2" charset="-78"/>
              </a:rPr>
              <a:t> </a:t>
            </a:r>
            <a:r>
              <a:rPr lang="en-US" b="1" dirty="0" err="1" smtClean="0">
                <a:solidFill>
                  <a:srgbClr val="002060"/>
                </a:solidFill>
                <a:latin typeface="IRANSans"/>
                <a:cs typeface="B Nazanin" panose="00000400000000000000" pitchFamily="2" charset="-78"/>
              </a:rPr>
              <a:t>رضایت</a:t>
            </a:r>
            <a:r>
              <a:rPr lang="en-US" b="1" dirty="0" smtClean="0">
                <a:solidFill>
                  <a:srgbClr val="002060"/>
                </a:solidFill>
                <a:latin typeface="IRANSans"/>
                <a:cs typeface="B Nazanin" panose="00000400000000000000" pitchFamily="2" charset="-78"/>
              </a:rPr>
              <a:t> همکاران</a:t>
            </a:r>
            <a:r>
              <a:rPr lang="en-US" dirty="0" smtClean="0">
                <a:solidFill>
                  <a:srgbClr val="000000"/>
                </a:solidFill>
                <a:latin typeface="IRANSans"/>
                <a:cs typeface="B Nazanin" panose="00000400000000000000" pitchFamily="2" charset="-78"/>
              </a:rPr>
              <a:t>، </a:t>
            </a:r>
            <a:r>
              <a:rPr lang="en-US" b="1" dirty="0" err="1" smtClean="0">
                <a:solidFill>
                  <a:srgbClr val="FF0000"/>
                </a:solidFill>
                <a:latin typeface="IRANSans"/>
                <a:cs typeface="B Nazanin" panose="00000400000000000000" pitchFamily="2" charset="-78"/>
              </a:rPr>
              <a:t>شادی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ایمنی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در</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محیط</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کار</a:t>
            </a:r>
            <a:r>
              <a:rPr lang="en-US" dirty="0" smtClean="0">
                <a:solidFill>
                  <a:srgbClr val="000000"/>
                </a:solidFill>
                <a:latin typeface="IRANSans"/>
                <a:cs typeface="B Nazanin" panose="00000400000000000000" pitchFamily="2" charset="-78"/>
              </a:rPr>
              <a:t>، </a:t>
            </a:r>
            <a:r>
              <a:rPr lang="en-US" b="1" dirty="0" err="1" smtClean="0">
                <a:solidFill>
                  <a:srgbClr val="00B050"/>
                </a:solidFill>
                <a:latin typeface="IRANSans"/>
                <a:cs typeface="B Nazanin" panose="00000400000000000000" pitchFamily="2" charset="-78"/>
              </a:rPr>
              <a:t>میزان</a:t>
            </a:r>
            <a:r>
              <a:rPr lang="en-US" b="1" dirty="0" smtClean="0">
                <a:solidFill>
                  <a:srgbClr val="00B050"/>
                </a:solidFill>
                <a:latin typeface="IRANSans"/>
                <a:cs typeface="B Nazanin" panose="00000400000000000000" pitchFamily="2" charset="-78"/>
              </a:rPr>
              <a:t> </a:t>
            </a:r>
            <a:r>
              <a:rPr lang="en-US" b="1" dirty="0" err="1" smtClean="0">
                <a:solidFill>
                  <a:srgbClr val="00B050"/>
                </a:solidFill>
                <a:latin typeface="IRANSans"/>
                <a:cs typeface="B Nazanin" panose="00000400000000000000" pitchFamily="2" charset="-78"/>
              </a:rPr>
              <a:t>رفاه</a:t>
            </a:r>
            <a:r>
              <a:rPr lang="en-US" b="1" dirty="0" smtClean="0">
                <a:solidFill>
                  <a:srgbClr val="00B05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C00000"/>
                </a:solidFill>
                <a:latin typeface="IRANSans"/>
                <a:cs typeface="B Nazanin" panose="00000400000000000000" pitchFamily="2" charset="-78"/>
              </a:rPr>
              <a:t>انگیزه</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خروجی</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مالی</a:t>
            </a:r>
            <a:r>
              <a:rPr lang="en-US" b="1" dirty="0" smtClean="0">
                <a:solidFill>
                  <a:srgbClr val="000000"/>
                </a:solidFill>
                <a:latin typeface="IRANSans"/>
                <a:cs typeface="B Nazanin" panose="00000400000000000000" pitchFamily="2" charset="-78"/>
              </a:rPr>
              <a:t> و </a:t>
            </a:r>
            <a:r>
              <a:rPr lang="en-US" b="1" dirty="0" err="1" smtClean="0">
                <a:solidFill>
                  <a:srgbClr val="000000"/>
                </a:solidFill>
                <a:latin typeface="IRANSans"/>
                <a:cs typeface="B Nazanin" panose="00000400000000000000" pitchFamily="2" charset="-78"/>
              </a:rPr>
              <a:t>کارایی</a:t>
            </a:r>
            <a:r>
              <a:rPr lang="en-US" b="1" dirty="0" smtClean="0">
                <a:solidFill>
                  <a:srgbClr val="000000"/>
                </a:solidFill>
                <a:latin typeface="IRANSans"/>
                <a:cs typeface="B Nazanin" panose="00000400000000000000" pitchFamily="2" charset="-78"/>
              </a:rPr>
              <a:t> </a:t>
            </a:r>
            <a:r>
              <a:rPr lang="en-US" dirty="0" smtClean="0">
                <a:solidFill>
                  <a:srgbClr val="000000"/>
                </a:solidFill>
                <a:latin typeface="IRANSans"/>
                <a:cs typeface="B Nazanin" panose="00000400000000000000" pitchFamily="2" charset="-78"/>
              </a:rPr>
              <a:t>و </a:t>
            </a:r>
            <a:r>
              <a:rPr lang="en-US" b="1" dirty="0" err="1" smtClean="0">
                <a:solidFill>
                  <a:srgbClr val="7030A0"/>
                </a:solidFill>
                <a:latin typeface="IRANSans"/>
                <a:cs typeface="B Nazanin" panose="00000400000000000000" pitchFamily="2" charset="-78"/>
              </a:rPr>
              <a:t>راندمان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نمونه‌هایی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از</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شاخص‌ها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هستند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باید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واحد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مدیریت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منابع</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انسانی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تعریف</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طبقه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بندی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نموده</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شیوه‌های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اندازه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گیری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نیز</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مشخص</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نماید.همچنین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واحد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منابع</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انسانی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باید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صورت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منظم</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شاخص‌ها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اندازه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گیری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کرده</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در</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حرکت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سمت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مطلوب</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همکاری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کند</a:t>
            </a:r>
            <a:r>
              <a:rPr lang="en-US"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11" name="Rectangle 10"/>
          <p:cNvSpPr/>
          <p:nvPr/>
        </p:nvSpPr>
        <p:spPr>
          <a:xfrm>
            <a:off x="9653244" y="5920968"/>
            <a:ext cx="1672253"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ارزیابی عملکرد</a:t>
            </a:r>
            <a:endParaRPr lang="en-US" b="1" dirty="0">
              <a:latin typeface="IRANSans"/>
              <a:cs typeface="B Nazanin" panose="00000400000000000000" pitchFamily="2" charset="-78"/>
            </a:endParaRPr>
          </a:p>
        </p:txBody>
      </p:sp>
      <p:sp>
        <p:nvSpPr>
          <p:cNvPr id="12" name="Rectangle 11"/>
          <p:cNvSpPr/>
          <p:nvPr/>
        </p:nvSpPr>
        <p:spPr>
          <a:xfrm>
            <a:off x="362585" y="5811291"/>
            <a:ext cx="8218250"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کسانی که در یک سازمان کار می‌کنند باید مطمئن باشند که </a:t>
            </a:r>
            <a:r>
              <a:rPr lang="fa-IR" b="1" dirty="0">
                <a:solidFill>
                  <a:srgbClr val="000000"/>
                </a:solidFill>
                <a:latin typeface="IRANSans"/>
                <a:cs typeface="B Nazanin" panose="00000400000000000000" pitchFamily="2" charset="-78"/>
              </a:rPr>
              <a:t>چشمی</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هست</a:t>
            </a:r>
            <a:r>
              <a:rPr lang="fa-IR" dirty="0">
                <a:solidFill>
                  <a:srgbClr val="000000"/>
                </a:solidFill>
                <a:latin typeface="IRANSans"/>
                <a:cs typeface="B Nazanin" panose="00000400000000000000" pitchFamily="2" charset="-78"/>
              </a:rPr>
              <a:t> که آنها را می‌بیند و زحمات آنها را درک </a:t>
            </a:r>
            <a:r>
              <a:rPr lang="fa-IR" dirty="0" smtClean="0">
                <a:solidFill>
                  <a:srgbClr val="000000"/>
                </a:solidFill>
                <a:latin typeface="IRANSans"/>
                <a:cs typeface="B Nazanin" panose="00000400000000000000" pitchFamily="2" charset="-78"/>
              </a:rPr>
              <a:t>می‌کند. همچنین </a:t>
            </a:r>
            <a:r>
              <a:rPr lang="fa-IR" b="1" dirty="0">
                <a:solidFill>
                  <a:srgbClr val="FF0000"/>
                </a:solidFill>
                <a:latin typeface="IRANSans"/>
                <a:cs typeface="B Nazanin" panose="00000400000000000000" pitchFamily="2" charset="-78"/>
              </a:rPr>
              <a:t>تفاوت</a:t>
            </a:r>
            <a:r>
              <a:rPr lang="fa-IR" dirty="0">
                <a:solidFill>
                  <a:srgbClr val="000000"/>
                </a:solidFill>
                <a:latin typeface="IRANSans"/>
                <a:cs typeface="B Nazanin" panose="00000400000000000000" pitchFamily="2" charset="-78"/>
              </a:rPr>
              <a:t> کسی که بهتر کار می‌کند با کسی که خوب کار نمی‌کند دیده و ثبت می‌شود.</a:t>
            </a:r>
          </a:p>
        </p:txBody>
      </p:sp>
    </p:spTree>
    <p:extLst>
      <p:ext uri="{BB962C8B-B14F-4D97-AF65-F5344CB8AC3E}">
        <p14:creationId xmlns:p14="http://schemas.microsoft.com/office/powerpoint/2010/main" val="84408866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437492" y="1703221"/>
            <a:ext cx="3201517"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استفاده استراتژیک از منابع انسانی</a:t>
            </a:r>
            <a:endParaRPr lang="en-US" b="1" dirty="0">
              <a:latin typeface="IRANSans"/>
              <a:cs typeface="B Nazanin" panose="00000400000000000000" pitchFamily="2" charset="-78"/>
            </a:endParaRPr>
          </a:p>
        </p:txBody>
      </p:sp>
      <p:sp>
        <p:nvSpPr>
          <p:cNvPr id="13" name="Rectangle 12"/>
          <p:cNvSpPr/>
          <p:nvPr/>
        </p:nvSpPr>
        <p:spPr>
          <a:xfrm>
            <a:off x="431074" y="1426222"/>
            <a:ext cx="8059782"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وقتی از انسان‌ها به عنوان </a:t>
            </a:r>
            <a:r>
              <a:rPr lang="fa-IR" b="1" dirty="0">
                <a:solidFill>
                  <a:srgbClr val="FF0000"/>
                </a:solidFill>
                <a:latin typeface="IRANSans"/>
                <a:cs typeface="B Nazanin" panose="00000400000000000000" pitchFamily="2" charset="-78"/>
              </a:rPr>
              <a:t>منابع</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انسانی</a:t>
            </a:r>
            <a:r>
              <a:rPr lang="fa-IR" dirty="0">
                <a:solidFill>
                  <a:srgbClr val="000000"/>
                </a:solidFill>
                <a:latin typeface="IRANSans"/>
                <a:cs typeface="B Nazanin" panose="00000400000000000000" pitchFamily="2" charset="-78"/>
              </a:rPr>
              <a:t> یاد می‌کنیم، یعنی اینکه مانند هر </a:t>
            </a:r>
            <a:r>
              <a:rPr lang="fa-IR" b="1" dirty="0">
                <a:solidFill>
                  <a:srgbClr val="FF0000"/>
                </a:solidFill>
                <a:latin typeface="IRANSans"/>
                <a:cs typeface="B Nazanin" panose="00000400000000000000" pitchFamily="2" charset="-78"/>
              </a:rPr>
              <a:t>منبع</a:t>
            </a:r>
            <a:r>
              <a:rPr lang="fa-IR" dirty="0">
                <a:solidFill>
                  <a:srgbClr val="000000"/>
                </a:solidFill>
                <a:latin typeface="IRANSans"/>
                <a:cs typeface="B Nazanin" panose="00000400000000000000" pitchFamily="2" charset="-78"/>
              </a:rPr>
              <a:t> دیگری، باید برای تولید و رشد و نگهداری آن تلاش </a:t>
            </a:r>
            <a:r>
              <a:rPr lang="fa-IR" dirty="0" smtClean="0">
                <a:solidFill>
                  <a:srgbClr val="000000"/>
                </a:solidFill>
                <a:latin typeface="IRANSans"/>
                <a:cs typeface="B Nazanin" panose="00000400000000000000" pitchFamily="2" charset="-78"/>
              </a:rPr>
              <a:t>کنیم. همچنین</a:t>
            </a:r>
            <a:r>
              <a:rPr lang="fa-IR" dirty="0">
                <a:solidFill>
                  <a:srgbClr val="000000"/>
                </a:solidFill>
                <a:latin typeface="IRANSans"/>
                <a:cs typeface="B Nazanin" panose="00000400000000000000" pitchFamily="2" charset="-78"/>
              </a:rPr>
              <a:t>، باید یادمان باشد که این منبع، چندان هم تجدیدپذیر نیست. استفاده‌ی استراتژیک هم، بحث دیگری است که همیشه وقتی از یک منبع حرف می‌زنیم، اهمیت پیدا می‌کند.</a:t>
            </a:r>
          </a:p>
        </p:txBody>
      </p:sp>
      <p:sp>
        <p:nvSpPr>
          <p:cNvPr id="4" name="Rectangle 3"/>
          <p:cNvSpPr/>
          <p:nvPr/>
        </p:nvSpPr>
        <p:spPr>
          <a:xfrm>
            <a:off x="8865493" y="3396224"/>
            <a:ext cx="2773516"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ایجاد حس امنیت شغلی برای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همکاران </a:t>
            </a:r>
            <a:r>
              <a:rPr lang="fa-IR" b="1" dirty="0">
                <a:latin typeface="IRANSans"/>
                <a:cs typeface="B Nazanin" panose="00000400000000000000" pitchFamily="2" charset="-78"/>
              </a:rPr>
              <a:t>مفید و توانمند</a:t>
            </a:r>
            <a:endParaRPr lang="en-US" b="1" dirty="0">
              <a:latin typeface="IRANSans"/>
              <a:cs typeface="B Nazanin" panose="00000400000000000000" pitchFamily="2" charset="-78"/>
            </a:endParaRPr>
          </a:p>
        </p:txBody>
      </p:sp>
      <p:sp>
        <p:nvSpPr>
          <p:cNvPr id="5" name="Rectangle 4"/>
          <p:cNvSpPr/>
          <p:nvPr/>
        </p:nvSpPr>
        <p:spPr>
          <a:xfrm>
            <a:off x="431073" y="2510906"/>
            <a:ext cx="8059783" cy="203132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امنیت شغلی باید برای کسانی </a:t>
            </a:r>
            <a:r>
              <a:rPr lang="fa-IR" dirty="0" smtClean="0">
                <a:solidFill>
                  <a:srgbClr val="000000"/>
                </a:solidFill>
                <a:latin typeface="IRANSans"/>
                <a:cs typeface="B Nazanin" panose="00000400000000000000" pitchFamily="2" charset="-78"/>
              </a:rPr>
              <a:t>باشد عنصری </a:t>
            </a:r>
            <a:r>
              <a:rPr lang="fa-IR" dirty="0">
                <a:solidFill>
                  <a:srgbClr val="000000"/>
                </a:solidFill>
                <a:latin typeface="IRANSans"/>
                <a:cs typeface="B Nazanin" panose="00000400000000000000" pitchFamily="2" charset="-78"/>
              </a:rPr>
              <a:t>مفید در سازمان تلقی می‌شوند.</a:t>
            </a:r>
          </a:p>
          <a:p>
            <a:pPr algn="justLow" rtl="1"/>
            <a:r>
              <a:rPr lang="fa-IR" b="1" dirty="0">
                <a:solidFill>
                  <a:srgbClr val="000000"/>
                </a:solidFill>
                <a:latin typeface="IRANSans"/>
                <a:cs typeface="B Nazanin" panose="00000400000000000000" pitchFamily="2" charset="-78"/>
              </a:rPr>
              <a:t>امنیت شغلی اگر برای همه‌ی افراد سازمان به یک اندازه وجود داشته باشد، فرقی با ناامنی شغلی ندارد</a:t>
            </a:r>
            <a:r>
              <a:rPr lang="fa-IR" b="1" dirty="0" smtClean="0">
                <a:solidFill>
                  <a:srgbClr val="000000"/>
                </a:solidFill>
                <a:latin typeface="IRANSans"/>
                <a:cs typeface="B Nazanin" panose="00000400000000000000" pitchFamily="2" charset="-78"/>
              </a:rPr>
              <a:t>.</a:t>
            </a:r>
          </a:p>
          <a:p>
            <a:pPr algn="justLow" rtl="1"/>
            <a:r>
              <a:rPr lang="fa-IR" b="1" dirty="0">
                <a:solidFill>
                  <a:srgbClr val="FF0000"/>
                </a:solidFill>
                <a:latin typeface="IRANSans"/>
                <a:cs typeface="B Nazanin" panose="00000400000000000000" pitchFamily="2" charset="-78"/>
              </a:rPr>
              <a:t> امنیت شغلی بر پایه قرارداد حقوقی</a:t>
            </a:r>
            <a:r>
              <a:rPr lang="fa-IR" dirty="0">
                <a:solidFill>
                  <a:srgbClr val="000000"/>
                </a:solidFill>
                <a:latin typeface="IRANSans"/>
                <a:cs typeface="B Nazanin" panose="00000400000000000000" pitchFamily="2" charset="-78"/>
              </a:rPr>
              <a:t>، ساده‌ترین و سطحی‌ترین شکل امنیت است.</a:t>
            </a:r>
          </a:p>
          <a:p>
            <a:pPr algn="justLow" rtl="1"/>
            <a:r>
              <a:rPr lang="fa-IR" dirty="0">
                <a:solidFill>
                  <a:srgbClr val="000000"/>
                </a:solidFill>
                <a:latin typeface="IRANSans"/>
                <a:cs typeface="B Nazanin" panose="00000400000000000000" pitchFamily="2" charset="-78"/>
              </a:rPr>
              <a:t>عمیق‌ترین شکل امنیت به کمک ابزارهای زیر به دست می‌آیند:</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اعطای اختیارات و واگذاری مسئولیت‌ها به همکاران (غنی سازی شغلی)</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مشارکت دادن همکاران در منافع</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توانمندسازی </a:t>
            </a:r>
            <a:r>
              <a:rPr lang="fa-IR" b="1" dirty="0" smtClean="0">
                <a:solidFill>
                  <a:srgbClr val="002060"/>
                </a:solidFill>
                <a:latin typeface="IRANSans"/>
                <a:cs typeface="B Nazanin" panose="00000400000000000000" pitchFamily="2" charset="-78"/>
              </a:rPr>
              <a:t>همکاران</a:t>
            </a:r>
            <a:endParaRPr lang="fa-IR" b="1" dirty="0">
              <a:solidFill>
                <a:srgbClr val="002060"/>
              </a:solidFill>
              <a:latin typeface="IRANSans"/>
              <a:cs typeface="B Nazanin" panose="00000400000000000000" pitchFamily="2" charset="-78"/>
            </a:endParaRPr>
          </a:p>
        </p:txBody>
      </p:sp>
      <p:sp>
        <p:nvSpPr>
          <p:cNvPr id="7" name="Rectangle 6"/>
          <p:cNvSpPr/>
          <p:nvPr/>
        </p:nvSpPr>
        <p:spPr>
          <a:xfrm>
            <a:off x="8865493" y="4858394"/>
            <a:ext cx="2755883"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همسوسازی کارکنان جدید با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سازمان </a:t>
            </a:r>
            <a:r>
              <a:rPr lang="fa-IR" b="1" dirty="0">
                <a:latin typeface="IRANSans"/>
                <a:cs typeface="B Nazanin" panose="00000400000000000000" pitchFamily="2" charset="-78"/>
              </a:rPr>
              <a:t>و فرهنگ </a:t>
            </a:r>
            <a:r>
              <a:rPr lang="fa-IR" b="1" dirty="0" smtClean="0">
                <a:latin typeface="IRANSans"/>
                <a:cs typeface="B Nazanin" panose="00000400000000000000" pitchFamily="2" charset="-78"/>
              </a:rPr>
              <a:t>سازمانی</a:t>
            </a:r>
            <a:endParaRPr lang="fa-IR" b="1" dirty="0">
              <a:latin typeface="IRANSans"/>
              <a:cs typeface="B Nazanin" panose="00000400000000000000" pitchFamily="2" charset="-78"/>
            </a:endParaRPr>
          </a:p>
        </p:txBody>
      </p:sp>
      <p:sp>
        <p:nvSpPr>
          <p:cNvPr id="9" name="Rectangle 8"/>
          <p:cNvSpPr/>
          <p:nvPr/>
        </p:nvSpPr>
        <p:spPr>
          <a:xfrm>
            <a:off x="431074" y="4719895"/>
            <a:ext cx="8059782"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هر عضو جدیدی در سازمان، به هر حال با گذشت زمان، فرهنگ و قوانین و بایدها و نبایدها و الگوهای ارزشی سازمان را فرا خواهد گرفت. اما هنر واحد مدیریت منابع انسانی در آن است که </a:t>
            </a:r>
            <a:r>
              <a:rPr lang="fa-IR" b="1" dirty="0">
                <a:solidFill>
                  <a:srgbClr val="000000"/>
                </a:solidFill>
                <a:latin typeface="IRANSans"/>
                <a:cs typeface="B Nazanin" panose="00000400000000000000" pitchFamily="2" charset="-78"/>
              </a:rPr>
              <a:t>زمان</a:t>
            </a:r>
            <a:r>
              <a:rPr lang="fa-IR" dirty="0">
                <a:solidFill>
                  <a:srgbClr val="000000"/>
                </a:solidFill>
                <a:latin typeface="IRANSans"/>
                <a:cs typeface="B Nazanin" panose="00000400000000000000" pitchFamily="2" charset="-78"/>
              </a:rPr>
              <a:t> این فراگیری، به حداقل ممکن </a:t>
            </a:r>
            <a:r>
              <a:rPr lang="fa-IR" b="1" dirty="0">
                <a:solidFill>
                  <a:srgbClr val="C00000"/>
                </a:solidFill>
                <a:latin typeface="IRANSans"/>
                <a:cs typeface="B Nazanin" panose="00000400000000000000" pitchFamily="2" charset="-78"/>
              </a:rPr>
              <a:t>کاهش</a:t>
            </a:r>
            <a:r>
              <a:rPr lang="fa-IR" dirty="0">
                <a:solidFill>
                  <a:srgbClr val="000000"/>
                </a:solidFill>
                <a:latin typeface="IRANSans"/>
                <a:cs typeface="B Nazanin" panose="00000400000000000000" pitchFamily="2" charset="-78"/>
              </a:rPr>
              <a:t> یابد.</a:t>
            </a:r>
            <a:endParaRPr lang="en-US" dirty="0">
              <a:solidFill>
                <a:srgbClr val="000000"/>
              </a:solidFill>
              <a:latin typeface="IRANSans"/>
              <a:cs typeface="B Nazanin" panose="00000400000000000000" pitchFamily="2" charset="-78"/>
            </a:endParaRPr>
          </a:p>
        </p:txBody>
      </p:sp>
      <p:sp>
        <p:nvSpPr>
          <p:cNvPr id="10" name="Rectangle 9"/>
          <p:cNvSpPr/>
          <p:nvPr/>
        </p:nvSpPr>
        <p:spPr>
          <a:xfrm>
            <a:off x="8408637" y="5926212"/>
            <a:ext cx="3212739"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شناخت و مدیریت فرهنگ </a:t>
            </a:r>
            <a:r>
              <a:rPr lang="fa-IR" b="1" dirty="0" smtClean="0">
                <a:latin typeface="IRANSans"/>
                <a:cs typeface="B Nazanin" panose="00000400000000000000" pitchFamily="2" charset="-78"/>
              </a:rPr>
              <a:t>سازمانی</a:t>
            </a:r>
            <a:endParaRPr lang="en-US" b="1" dirty="0">
              <a:latin typeface="IRANSans"/>
              <a:cs typeface="B Nazanin" panose="00000400000000000000" pitchFamily="2" charset="-78"/>
            </a:endParaRPr>
          </a:p>
        </p:txBody>
      </p:sp>
      <p:sp>
        <p:nvSpPr>
          <p:cNvPr id="11" name="Rectangle 10"/>
          <p:cNvSpPr/>
          <p:nvPr/>
        </p:nvSpPr>
        <p:spPr>
          <a:xfrm>
            <a:off x="1902995" y="5926212"/>
            <a:ext cx="4801314"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آموزش کارکنان و تلاش برای ارتقای دانش و مهارت </a:t>
            </a:r>
            <a:r>
              <a:rPr lang="fa-IR" b="1" dirty="0" smtClean="0">
                <a:latin typeface="IRANSans"/>
                <a:cs typeface="B Nazanin" panose="00000400000000000000" pitchFamily="2" charset="-78"/>
              </a:rPr>
              <a:t>آنان</a:t>
            </a:r>
            <a:endParaRPr lang="fa-IR" b="1" dirty="0">
              <a:latin typeface="IRANSans"/>
              <a:cs typeface="B Nazanin" panose="00000400000000000000" pitchFamily="2" charset="-78"/>
            </a:endParaRPr>
          </a:p>
        </p:txBody>
      </p:sp>
    </p:spTree>
    <p:extLst>
      <p:ext uri="{BB962C8B-B14F-4D97-AF65-F5344CB8AC3E}">
        <p14:creationId xmlns:p14="http://schemas.microsoft.com/office/powerpoint/2010/main" val="1834091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138407" y="1961497"/>
            <a:ext cx="3187090"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ایفای نقش رابط بین مدیریت ارشد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و </a:t>
            </a:r>
            <a:r>
              <a:rPr lang="fa-IR" b="1" dirty="0">
                <a:latin typeface="IRANSans"/>
                <a:cs typeface="B Nazanin" panose="00000400000000000000" pitchFamily="2" charset="-78"/>
              </a:rPr>
              <a:t>کارکنان </a:t>
            </a:r>
            <a:r>
              <a:rPr lang="fa-IR" b="1" dirty="0" smtClean="0">
                <a:latin typeface="IRANSans"/>
                <a:cs typeface="B Nazanin" panose="00000400000000000000" pitchFamily="2" charset="-78"/>
              </a:rPr>
              <a:t>سازمان</a:t>
            </a:r>
            <a:endParaRPr lang="fa-IR" b="1" dirty="0">
              <a:latin typeface="IRANSans"/>
              <a:cs typeface="B Nazanin" panose="00000400000000000000" pitchFamily="2" charset="-78"/>
            </a:endParaRPr>
          </a:p>
        </p:txBody>
      </p:sp>
      <p:sp>
        <p:nvSpPr>
          <p:cNvPr id="5" name="Rectangle 4"/>
          <p:cNvSpPr/>
          <p:nvPr/>
        </p:nvSpPr>
        <p:spPr>
          <a:xfrm>
            <a:off x="509451" y="1684497"/>
            <a:ext cx="7628956"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واحد منابع انسانی باید </a:t>
            </a:r>
            <a:r>
              <a:rPr lang="fa-IR" b="1" dirty="0">
                <a:solidFill>
                  <a:srgbClr val="7030A0"/>
                </a:solidFill>
                <a:latin typeface="IRANSans"/>
                <a:cs typeface="B Nazanin" panose="00000400000000000000" pitchFamily="2" charset="-78"/>
              </a:rPr>
              <a:t>تنشهای محیط کار </a:t>
            </a:r>
            <a:r>
              <a:rPr lang="fa-IR" dirty="0">
                <a:solidFill>
                  <a:srgbClr val="000000"/>
                </a:solidFill>
                <a:latin typeface="IRANSans"/>
                <a:cs typeface="B Nazanin" panose="00000400000000000000" pitchFamily="2" charset="-78"/>
              </a:rPr>
              <a:t>را درک کرده و از سوی دیگر </a:t>
            </a:r>
            <a:r>
              <a:rPr lang="fa-IR" b="1" dirty="0">
                <a:solidFill>
                  <a:srgbClr val="7030A0"/>
                </a:solidFill>
                <a:latin typeface="IRANSans"/>
                <a:cs typeface="B Nazanin" panose="00000400000000000000" pitchFamily="2" charset="-78"/>
              </a:rPr>
              <a:t>دغدغه و تنشهای مدیریت </a:t>
            </a:r>
            <a:r>
              <a:rPr lang="fa-IR" dirty="0">
                <a:solidFill>
                  <a:srgbClr val="000000"/>
                </a:solidFill>
                <a:latin typeface="IRANSans"/>
                <a:cs typeface="B Nazanin" panose="00000400000000000000" pitchFamily="2" charset="-78"/>
              </a:rPr>
              <a:t>را نیز بفهمد و تلاش کند که تعارض و تضاد ها را </a:t>
            </a:r>
            <a:r>
              <a:rPr lang="fa-IR" dirty="0" smtClean="0">
                <a:solidFill>
                  <a:srgbClr val="000000"/>
                </a:solidFill>
                <a:latin typeface="IRANSans"/>
                <a:cs typeface="B Nazanin" panose="00000400000000000000" pitchFamily="2" charset="-78"/>
              </a:rPr>
              <a:t>جذب </a:t>
            </a:r>
            <a:r>
              <a:rPr lang="fa-IR" dirty="0">
                <a:solidFill>
                  <a:srgbClr val="000000"/>
                </a:solidFill>
                <a:latin typeface="IRANSans"/>
                <a:cs typeface="B Nazanin" panose="00000400000000000000" pitchFamily="2" charset="-78"/>
              </a:rPr>
              <a:t>کند و به حداقل برساند </a:t>
            </a:r>
            <a:r>
              <a:rPr lang="fa-IR" dirty="0" smtClean="0">
                <a:solidFill>
                  <a:srgbClr val="000000"/>
                </a:solidFill>
                <a:latin typeface="IRANSans"/>
                <a:cs typeface="B Nazanin" panose="00000400000000000000" pitchFamily="2" charset="-78"/>
              </a:rPr>
              <a:t>. البته مدیریت ارشد باید زمینه را برای نقش آفرینی مدیریت منابع انسانی فراهم کند . مدیریتی که برای کنترل امور کارکنان تمایل دارد برای اعطای وام و ... همواره مستقیما مداخله کند رسما این زمین بازی را از واحد منابع انسانی گرفته است . </a:t>
            </a:r>
            <a:endParaRPr lang="fa-IR" dirty="0">
              <a:solidFill>
                <a:srgbClr val="000000"/>
              </a:solidFill>
              <a:latin typeface="IRANSans"/>
              <a:cs typeface="B Nazanin" panose="00000400000000000000" pitchFamily="2" charset="-78"/>
            </a:endParaRPr>
          </a:p>
        </p:txBody>
      </p:sp>
      <p:sp>
        <p:nvSpPr>
          <p:cNvPr id="4" name="Rectangle 3"/>
          <p:cNvSpPr/>
          <p:nvPr/>
        </p:nvSpPr>
        <p:spPr>
          <a:xfrm>
            <a:off x="509451" y="3161826"/>
            <a:ext cx="7628956"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اهمیت بحث انگیزه در حدی است که برخی منابع علمی، ترجیح می‌دهند حفظ انگیزه را نه به عنوان یکی از وظایف،‌‌ بلکه به عنوان </a:t>
            </a:r>
            <a:r>
              <a:rPr lang="fa-IR" b="1" dirty="0">
                <a:solidFill>
                  <a:srgbClr val="FF0000"/>
                </a:solidFill>
                <a:latin typeface="IRANSans"/>
                <a:cs typeface="B Nazanin" panose="00000400000000000000" pitchFamily="2" charset="-78"/>
              </a:rPr>
              <a:t>مهم‌ترین وظیفه </a:t>
            </a:r>
            <a:r>
              <a:rPr lang="fa-IR" dirty="0">
                <a:solidFill>
                  <a:srgbClr val="000000"/>
                </a:solidFill>
                <a:latin typeface="IRANSans"/>
                <a:cs typeface="B Nazanin" panose="00000400000000000000" pitchFamily="2" charset="-78"/>
              </a:rPr>
              <a:t>و گاه </a:t>
            </a:r>
            <a:r>
              <a:rPr lang="fa-IR" b="1" dirty="0">
                <a:solidFill>
                  <a:schemeClr val="accent6">
                    <a:lumMod val="75000"/>
                  </a:schemeClr>
                </a:solidFill>
                <a:latin typeface="IRANSans"/>
                <a:cs typeface="B Nazanin" panose="00000400000000000000" pitchFamily="2" charset="-78"/>
              </a:rPr>
              <a:t>ماموریت واحد منابع انسانی</a:t>
            </a:r>
            <a:r>
              <a:rPr lang="fa-IR" dirty="0">
                <a:solidFill>
                  <a:srgbClr val="000000"/>
                </a:solidFill>
                <a:latin typeface="IRANSans"/>
                <a:cs typeface="B Nazanin" panose="00000400000000000000" pitchFamily="2" charset="-78"/>
              </a:rPr>
              <a:t> مطرح کنند.</a:t>
            </a:r>
            <a:endParaRPr lang="en-US" dirty="0">
              <a:solidFill>
                <a:srgbClr val="000000"/>
              </a:solidFill>
              <a:latin typeface="IRANSans"/>
              <a:cs typeface="B Nazanin" panose="00000400000000000000" pitchFamily="2" charset="-78"/>
            </a:endParaRPr>
          </a:p>
        </p:txBody>
      </p:sp>
      <p:sp>
        <p:nvSpPr>
          <p:cNvPr id="7" name="Rectangle 6"/>
          <p:cNvSpPr/>
          <p:nvPr/>
        </p:nvSpPr>
        <p:spPr>
          <a:xfrm>
            <a:off x="9188373" y="3300325"/>
            <a:ext cx="213712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latin typeface="IRANSans"/>
                <a:cs typeface="B Nazanin" panose="00000400000000000000" pitchFamily="2" charset="-78"/>
              </a:rPr>
              <a:t>حفظ انگیزه همکاران </a:t>
            </a:r>
          </a:p>
        </p:txBody>
      </p:sp>
      <p:sp>
        <p:nvSpPr>
          <p:cNvPr id="6" name="Rectangle 5"/>
          <p:cNvSpPr/>
          <p:nvPr/>
        </p:nvSpPr>
        <p:spPr>
          <a:xfrm>
            <a:off x="8649765" y="4545034"/>
            <a:ext cx="2675732"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مدیریت فرایند ترک </a:t>
            </a:r>
            <a:r>
              <a:rPr lang="fa-IR" b="1" dirty="0" smtClean="0">
                <a:latin typeface="IRANSans"/>
                <a:cs typeface="B Nazanin" panose="00000400000000000000" pitchFamily="2" charset="-78"/>
              </a:rPr>
              <a:t>سازمان</a:t>
            </a:r>
            <a:endParaRPr lang="fa-IR" b="1" dirty="0">
              <a:latin typeface="IRANSans"/>
              <a:cs typeface="B Nazanin" panose="00000400000000000000" pitchFamily="2" charset="-78"/>
            </a:endParaRPr>
          </a:p>
        </p:txBody>
      </p:sp>
      <p:sp>
        <p:nvSpPr>
          <p:cNvPr id="9" name="Rectangle 8"/>
          <p:cNvSpPr/>
          <p:nvPr/>
        </p:nvSpPr>
        <p:spPr>
          <a:xfrm>
            <a:off x="509451" y="4141438"/>
            <a:ext cx="762895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همکار من که امروز می‌بیند من در حال تسویه مالی و جمع کردن وسایل از روی میزم هستم، احتمالاً همان لحظه خودش را در همان شرایط تصور می‌کند</a:t>
            </a:r>
            <a:r>
              <a:rPr lang="fa-IR" dirty="0" smtClean="0">
                <a:solidFill>
                  <a:srgbClr val="000000"/>
                </a:solidFill>
                <a:latin typeface="IRANSans"/>
                <a:cs typeface="B Nazanin" panose="00000400000000000000" pitchFamily="2" charset="-78"/>
              </a:rPr>
              <a:t>. او </a:t>
            </a:r>
            <a:r>
              <a:rPr lang="fa-IR" dirty="0">
                <a:solidFill>
                  <a:srgbClr val="000000"/>
                </a:solidFill>
                <a:latin typeface="IRANSans"/>
                <a:cs typeface="B Nazanin" panose="00000400000000000000" pitchFamily="2" charset="-78"/>
              </a:rPr>
              <a:t>در آینه‌ی </a:t>
            </a:r>
            <a:r>
              <a:rPr lang="fa-IR" b="1" dirty="0">
                <a:solidFill>
                  <a:srgbClr val="C00000"/>
                </a:solidFill>
                <a:latin typeface="IRANSans"/>
                <a:cs typeface="B Nazanin" panose="00000400000000000000" pitchFamily="2" charset="-78"/>
              </a:rPr>
              <a:t>برخوردی که با من می‌شود</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آینده خودش </a:t>
            </a:r>
            <a:r>
              <a:rPr lang="fa-IR" dirty="0">
                <a:solidFill>
                  <a:srgbClr val="000000"/>
                </a:solidFill>
                <a:latin typeface="IRANSans"/>
                <a:cs typeface="B Nazanin" panose="00000400000000000000" pitchFamily="2" charset="-78"/>
              </a:rPr>
              <a:t>را می‌بیند و خوشحال یا ناراحت می‌شود.</a:t>
            </a:r>
          </a:p>
        </p:txBody>
      </p:sp>
      <p:sp>
        <p:nvSpPr>
          <p:cNvPr id="10" name="Rectangle 9"/>
          <p:cNvSpPr/>
          <p:nvPr/>
        </p:nvSpPr>
        <p:spPr>
          <a:xfrm>
            <a:off x="509451" y="5156205"/>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مبلغان واقعی </a:t>
            </a:r>
            <a:r>
              <a:rPr lang="fa-IR" dirty="0">
                <a:solidFill>
                  <a:srgbClr val="000000"/>
                </a:solidFill>
                <a:latin typeface="IRANSans"/>
                <a:cs typeface="B Nazanin" panose="00000400000000000000" pitchFamily="2" charset="-78"/>
              </a:rPr>
              <a:t>برند یک مجموعه، کسانی نیستند که به تازگی به آن مجموعه ملحق شده‌اند؛ بلکه کسانی هستند که آن مجموعه را ترک کرده‌اند.</a:t>
            </a:r>
            <a:endParaRPr lang="en-US" dirty="0">
              <a:solidFill>
                <a:srgbClr val="000000"/>
              </a:solidFill>
              <a:latin typeface="IRANSans"/>
              <a:cs typeface="B Nazanin" panose="00000400000000000000" pitchFamily="2" charset="-78"/>
            </a:endParaRPr>
          </a:p>
        </p:txBody>
      </p:sp>
      <p:sp>
        <p:nvSpPr>
          <p:cNvPr id="11" name="Rectangle 10"/>
          <p:cNvSpPr/>
          <p:nvPr/>
        </p:nvSpPr>
        <p:spPr>
          <a:xfrm>
            <a:off x="509451" y="5601670"/>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a:solidFill>
                  <a:srgbClr val="000000"/>
                </a:solidFill>
                <a:latin typeface="IRANSans"/>
                <a:cs typeface="B Nazanin" panose="00000400000000000000" pitchFamily="2" charset="-78"/>
              </a:rPr>
              <a:t>هم اطلاعات بیشتر و دقیق‌تری دارند و هم احتمالاً برای بحث در مورد گذشته </a:t>
            </a:r>
            <a:r>
              <a:rPr lang="fa-IR" b="1" dirty="0">
                <a:solidFill>
                  <a:srgbClr val="C00000"/>
                </a:solidFill>
                <a:latin typeface="IRANSans"/>
                <a:cs typeface="B Nazanin" panose="00000400000000000000" pitchFamily="2" charset="-78"/>
              </a:rPr>
              <a:t>انگیزه</a:t>
            </a:r>
            <a:r>
              <a:rPr lang="fa-IR" b="1" dirty="0">
                <a:solidFill>
                  <a:srgbClr val="000000"/>
                </a:solidFill>
                <a:latin typeface="IRANSans"/>
                <a:cs typeface="B Nazanin" panose="00000400000000000000" pitchFamily="2" charset="-78"/>
              </a:rPr>
              <a:t>‌ی</a:t>
            </a:r>
            <a:r>
              <a:rPr lang="fa-IR" dirty="0">
                <a:solidFill>
                  <a:srgbClr val="000000"/>
                </a:solidFill>
                <a:latin typeface="IRANSans"/>
                <a:cs typeface="B Nazanin" panose="00000400000000000000" pitchFamily="2" charset="-78"/>
              </a:rPr>
              <a:t> بیشتری خواهند داشت.</a:t>
            </a:r>
            <a:endParaRPr lang="en-US" dirty="0">
              <a:solidFill>
                <a:srgbClr val="000000"/>
              </a:solidFill>
              <a:latin typeface="IRANSans"/>
              <a:cs typeface="B Nazanin" panose="00000400000000000000" pitchFamily="2" charset="-78"/>
            </a:endParaRPr>
          </a:p>
        </p:txBody>
      </p:sp>
      <p:sp>
        <p:nvSpPr>
          <p:cNvPr id="12" name="Rectangle 11"/>
          <p:cNvSpPr/>
          <p:nvPr/>
        </p:nvSpPr>
        <p:spPr>
          <a:xfrm>
            <a:off x="509451" y="6047135"/>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smtClean="0">
                <a:solidFill>
                  <a:srgbClr val="000000"/>
                </a:solidFill>
                <a:latin typeface="IRANSans"/>
                <a:cs typeface="B Nazanin" panose="00000400000000000000" pitchFamily="2" charset="-78"/>
              </a:rPr>
              <a:t>مصاحبه خروج ، راضی نگه داشتن کارمند قبلی ، طراحی فرآیند تسویه حساب و ... از موارد </a:t>
            </a:r>
            <a:r>
              <a:rPr lang="fa-IR" b="1" dirty="0" smtClean="0">
                <a:solidFill>
                  <a:srgbClr val="002060"/>
                </a:solidFill>
                <a:latin typeface="IRANSans"/>
                <a:cs typeface="B Nazanin" panose="00000400000000000000" pitchFamily="2" charset="-78"/>
              </a:rPr>
              <a:t>مدیریت فرآیند ترک سازمان </a:t>
            </a:r>
            <a:r>
              <a:rPr lang="fa-IR" dirty="0" smtClean="0">
                <a:solidFill>
                  <a:srgbClr val="000000"/>
                </a:solidFill>
                <a:latin typeface="IRANSans"/>
                <a:cs typeface="B Nazanin" panose="00000400000000000000" pitchFamily="2" charset="-78"/>
              </a:rPr>
              <a:t>محسوب می شود . </a:t>
            </a:r>
            <a:endParaRPr lang="en-US"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263995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شغل</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764178" y="1359961"/>
            <a:ext cx="10280467" cy="923330"/>
          </a:xfrm>
          <a:prstGeom prst="rect">
            <a:avLst/>
          </a:prstGeom>
        </p:spPr>
        <p:txBody>
          <a:bodyPr wrap="square">
            <a:spAutoFit/>
          </a:bodyPr>
          <a:lstStyle/>
          <a:p>
            <a:pPr algn="just" rtl="1"/>
            <a:r>
              <a:rPr lang="fa-IR"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پست</a:t>
            </a:r>
            <a:r>
              <a:rPr lang="fa-IR" b="1" dirty="0">
                <a:solidFill>
                  <a:srgbClr val="000000"/>
                </a:solidFill>
                <a:latin typeface="IRANSans"/>
                <a:cs typeface="B Nazanin" panose="00000400000000000000" pitchFamily="2" charset="-78"/>
              </a:rPr>
              <a:t> از یک جایگاه حرف می‌زند و </a:t>
            </a:r>
            <a:r>
              <a:rPr lang="fa-IR" b="1" dirty="0">
                <a:solidFill>
                  <a:srgbClr val="C00000"/>
                </a:solidFill>
                <a:latin typeface="IRANSans"/>
                <a:cs typeface="B Nazanin" panose="00000400000000000000" pitchFamily="2" charset="-78"/>
              </a:rPr>
              <a:t>شغل</a:t>
            </a:r>
            <a:r>
              <a:rPr lang="fa-IR" b="1" dirty="0">
                <a:solidFill>
                  <a:srgbClr val="000000"/>
                </a:solidFill>
                <a:latin typeface="IRANSans"/>
                <a:cs typeface="B Nazanin" panose="00000400000000000000" pitchFamily="2" charset="-78"/>
              </a:rPr>
              <a:t> از یک فعالیت معنادار و مفید</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اقتصادی</a:t>
            </a:r>
            <a:r>
              <a:rPr lang="fa-IR" dirty="0">
                <a:solidFill>
                  <a:srgbClr val="000000"/>
                </a:solidFill>
                <a:latin typeface="IRANSans"/>
                <a:cs typeface="B Nazanin" panose="00000400000000000000" pitchFamily="2" charset="-78"/>
              </a:rPr>
              <a:t> و این دو الزاماً یکی نیستند</a:t>
            </a:r>
            <a:r>
              <a:rPr lang="fa-IR" b="1" dirty="0">
                <a:solidFill>
                  <a:srgbClr val="000000"/>
                </a:solidFill>
                <a:latin typeface="IRANSans"/>
                <a:cs typeface="B Nazanin" panose="00000400000000000000" pitchFamily="2" charset="-78"/>
              </a:rPr>
              <a:t>.</a:t>
            </a:r>
            <a:r>
              <a:rPr lang="fa-IR" dirty="0">
                <a:solidFill>
                  <a:srgbClr val="000000"/>
                </a:solidFill>
                <a:latin typeface="IRANSans"/>
                <a:cs typeface="B Nazanin" panose="00000400000000000000" pitchFamily="2" charset="-78"/>
              </a:rPr>
              <a:t> مثلاً ممکن است برای به‌کارگیری یک فرد که با مدیر ارشد یک سازمان نزدیک است، جایگاهی در چارت در نظر گرفته شود (پست). اما او هیچ کار ویژه یا مفیدی نداشته باشد و صرفاً به فهرست حقوق‌بگیران آن مجموعه اضافه شود</a:t>
            </a:r>
            <a:r>
              <a:rPr lang="fa-IR" dirty="0" smtClean="0">
                <a:solidFill>
                  <a:srgbClr val="000000"/>
                </a:solidFill>
                <a:latin typeface="IRANSans"/>
                <a:cs typeface="B Nazanin" panose="00000400000000000000" pitchFamily="2" charset="-78"/>
              </a:rPr>
              <a:t>.</a:t>
            </a:r>
            <a:endParaRPr lang="fa-IR"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176152838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77798325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23661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DC42C2-6B58-404C-B339-2C72808A5BE1}"/>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D81407-D1A6-42DD-AE7A-4FA34ACD1317}"/>
              </a:ext>
            </a:extLst>
          </p:cNvPr>
          <p:cNvSpPr>
            <a:spLocks noGrp="1"/>
          </p:cNvSpPr>
          <p:nvPr>
            <p:ph type="title"/>
          </p:nvPr>
        </p:nvSpPr>
        <p:spPr>
          <a:xfrm>
            <a:off x="6096000" y="609600"/>
            <a:ext cx="5038844" cy="1356360"/>
          </a:xfrm>
        </p:spPr>
        <p:txBody>
          <a:bodyPr>
            <a:normAutofit/>
          </a:bodyPr>
          <a:lstStyle/>
          <a:p>
            <a:pPr algn="ctr"/>
            <a:r>
              <a:rPr lang="fa-IR" sz="8000" dirty="0" smtClean="0">
                <a:solidFill>
                  <a:srgbClr val="FFFFFF"/>
                </a:solidFill>
                <a:cs typeface="B Nazanin" panose="00000400000000000000" pitchFamily="2" charset="-78"/>
              </a:rPr>
              <a:t>پایان</a:t>
            </a:r>
            <a:endParaRPr lang="en-US" dirty="0">
              <a:solidFill>
                <a:srgbClr val="FFFFFF"/>
              </a:solidFill>
              <a:cs typeface="B Nazanin" panose="00000400000000000000" pitchFamily="2" charset="-78"/>
            </a:endParaRPr>
          </a:p>
        </p:txBody>
      </p:sp>
      <p:pic>
        <p:nvPicPr>
          <p:cNvPr id="4" name="Picture 3" descr="Two people climbing a mountain">
            <a:extLst>
              <a:ext uri="{FF2B5EF4-FFF2-40B4-BE49-F238E27FC236}">
                <a16:creationId xmlns:a16="http://schemas.microsoft.com/office/drawing/2014/main" id="{629F2A20-8FE1-4EA2-AE83-45314542A65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t="2278" b="2278"/>
          <a:stretch/>
        </p:blipFill>
        <p:spPr>
          <a:xfrm>
            <a:off x="232860" y="243840"/>
            <a:ext cx="5432443" cy="6377939"/>
          </a:xfrm>
          <a:prstGeom prst="rect">
            <a:avLst/>
          </a:prstGeom>
        </p:spPr>
      </p:pic>
      <p:sp>
        <p:nvSpPr>
          <p:cNvPr id="8" name="Content Placeholder 7">
            <a:extLst>
              <a:ext uri="{FF2B5EF4-FFF2-40B4-BE49-F238E27FC236}">
                <a16:creationId xmlns:a16="http://schemas.microsoft.com/office/drawing/2014/main" id="{41FF5D4E-7134-4EA4-BA11-FE50F4576B73}"/>
              </a:ext>
            </a:extLst>
          </p:cNvPr>
          <p:cNvSpPr>
            <a:spLocks noGrp="1"/>
          </p:cNvSpPr>
          <p:nvPr>
            <p:ph idx="1"/>
          </p:nvPr>
        </p:nvSpPr>
        <p:spPr>
          <a:xfrm>
            <a:off x="6096000" y="2057400"/>
            <a:ext cx="5038844" cy="4038600"/>
          </a:xfrm>
        </p:spPr>
        <p:txBody>
          <a:bodyPr>
            <a:normAutofit/>
          </a:bodyPr>
          <a:lstStyle/>
          <a:p>
            <a:pPr marL="45720" indent="0" algn="ctr">
              <a:buNone/>
            </a:pPr>
            <a:r>
              <a:rPr lang="en-US" dirty="0" smtClean="0">
                <a:solidFill>
                  <a:srgbClr val="FFFFFF"/>
                </a:solidFill>
              </a:rPr>
              <a:t>Afshin.Abbaspour@gmail.com</a:t>
            </a:r>
            <a:endParaRPr lang="en-US" dirty="0">
              <a:solidFill>
                <a:srgbClr val="FFFFFF"/>
              </a:solidFill>
            </a:endParaRPr>
          </a:p>
          <a:p>
            <a:pPr algn="ctr"/>
            <a:endParaRPr lang="en-US" dirty="0">
              <a:solidFill>
                <a:srgbClr val="FFFFFF"/>
              </a:solidFill>
            </a:endParaRPr>
          </a:p>
        </p:txBody>
      </p:sp>
      <p:sp>
        <p:nvSpPr>
          <p:cNvPr id="26" name="Rectangle 25">
            <a:extLst>
              <a:ext uri="{FF2B5EF4-FFF2-40B4-BE49-F238E27FC236}">
                <a16:creationId xmlns:a16="http://schemas.microsoft.com/office/drawing/2014/main" id="{FCF82941-5589-49BF-B6B1-76122B2D0EA6}"/>
              </a:ext>
              <a:ext uri="{C183D7F6-B498-43B3-948B-1728B52AA6E4}">
                <adec:decorative xmlns=""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46983618"/>
      </p:ext>
    </p:extLst>
  </p:cSld>
  <p:clrMapOvr>
    <a:masterClrMapping/>
  </p:clrMapOvr>
  <p:timing>
    <p:tnLst>
      <p:par>
        <p:cTn id="1" dur="indefinite" restart="never" nodeType="tmRoot"/>
      </p:par>
    </p:tnLst>
  </p:timing>
</p:sld>
</file>

<file path=ppt/theme/theme1.xml><?xml version="1.0" encoding="utf-8"?>
<a:theme xmlns:a="http://schemas.openxmlformats.org/drawingml/2006/main" name="Basis">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1c2eb7a32e66fb6e4260f3771546a5e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04e1f6479c48b08974ba73b5ca973489"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Props1.xml><?xml version="1.0" encoding="utf-8"?>
<ds:datastoreItem xmlns:ds="http://schemas.openxmlformats.org/officeDocument/2006/customXml" ds:itemID="{55813238-AF3D-40EB-A3A4-550AB85131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204E1485-0760-4ABF-A612-28A97B86DF09}">
  <ds:schemaRefs>
    <ds:schemaRef ds:uri="http://schemas.microsoft.com/sharepoint/v3/contenttype/forms"/>
  </ds:schemaRefs>
</ds:datastoreItem>
</file>

<file path=customXml/itemProps3.xml><?xml version="1.0" encoding="utf-8"?>
<ds:datastoreItem xmlns:ds="http://schemas.openxmlformats.org/officeDocument/2006/customXml" ds:itemID="{4965EBD3-98B5-4FD2-8FAF-5D4022A9F7F4}">
  <ds:schemaRefs>
    <ds:schemaRef ds:uri="http://purl.org/dc/elements/1.1/"/>
    <ds:schemaRef ds:uri="http://schemas.microsoft.com/office/2006/metadata/properties"/>
    <ds:schemaRef ds:uri="http://schemas.microsoft.com/office/2006/documentManagement/types"/>
    <ds:schemaRef ds:uri="http://schemas.microsoft.com/office/infopath/2007/PartnerControls"/>
    <ds:schemaRef ds:uri="http://purl.org/dc/terms/"/>
    <ds:schemaRef ds:uri="71af3243-3dd4-4a8d-8c0d-dd76da1f02a5"/>
    <ds:schemaRef ds:uri="http://schemas.openxmlformats.org/package/2006/metadata/core-properties"/>
    <ds:schemaRef ds:uri="16c05727-aa75-4e4a-9b5f-8a80a1165891"/>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Tourism Facet design</Template>
  <TotalTime>0</TotalTime>
  <Words>867</Words>
  <Application>Microsoft Office PowerPoint</Application>
  <PresentationFormat>Widescreen</PresentationFormat>
  <Paragraphs>67</Paragraphs>
  <Slides>10</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B Nazanin</vt:lpstr>
      <vt:lpstr>Corbel</vt:lpstr>
      <vt:lpstr>IRANSans</vt:lpstr>
      <vt:lpstr>Wingdings</vt:lpstr>
      <vt:lpstr>Basis</vt:lpstr>
      <vt:lpstr>مدیریت منابع انسانی</vt:lpstr>
      <vt:lpstr>تیلوریسم</vt:lpstr>
      <vt:lpstr>مدیریت منابع انسانی چیست ؟</vt:lpstr>
      <vt:lpstr>وظایف واحد مدیریت منابع انسانی</vt:lpstr>
      <vt:lpstr>وظایف واحد مدیریت منابع انسانی</vt:lpstr>
      <vt:lpstr>وظایف واحد مدیریت منابع انسانی</vt:lpstr>
      <vt:lpstr>شغل</vt:lpstr>
      <vt:lpstr>وظایف واحد مدیریت منابع انسانی</vt:lpstr>
      <vt:lpstr>وظایف واحد مدیریت منابع انسانی</vt:lpstr>
      <vt:lpstr>پایان</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2019-02-05T10:32:05Z</dcterms:created>
  <dcterms:modified xsi:type="dcterms:W3CDTF">2019-06-11T14:00:58Z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