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65" r:id="rId18"/>
    <p:sldId id="274" r:id="rId19"/>
    <p:sldId id="275" r:id="rId20"/>
    <p:sldId id="271" r:id="rId21"/>
    <p:sldId id="26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A9FB"/>
    <a:srgbClr val="4372C2"/>
    <a:srgbClr val="A6B727"/>
    <a:srgbClr val="71AB47"/>
    <a:srgbClr val="44B565"/>
    <a:srgbClr val="41BCB7"/>
    <a:srgbClr val="44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42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4/9/2019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اجتناب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>
                <a:cs typeface="B Nazanin" panose="00000400000000000000" pitchFamily="2" charset="-78"/>
              </a:rPr>
              <a:t>اجتناب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0891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بررسی توان مغز انسان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1" y="1905064"/>
            <a:ext cx="2857500" cy="1600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30889" y="1394884"/>
            <a:ext cx="8935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یکی از پر مصرف ترین بخش های بدن او و یکی از کم مصرف ترین ابزارهای محاسباتی و تحلیل در جهان می باشد 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633171" y="2104999"/>
            <a:ext cx="71331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بخشی از این برتری خود در پردازش با انرژی پایین را از ساختار نورونی سناپس ها بدست آورده ، اما بخشی از آن با قربانی کردن دقت بدست آمده . مغز ما میان بر هایی برای خود میسازد تا جواب های سرانگشتی سریعی برای مشکلات و چالشها پیدا کند و با همین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میانبر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ها و کمی از دست دادن دقت ، با  سرعت بیشتر و مصرف انرژی کمتر به جواب برسد .  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75671" y="3694627"/>
            <a:ext cx="1072178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در طول زمان، با آزمایش و خطا و دریافت اطلاعات جدید و تجربه‌های جدید، به تدریج محیط اطراف خود را کشف می‌کند.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این میان، بسیاری از قضاوت‌ها و قاعده‌های ذهنی، به جای اینکه بر اساس منطق خشک و دیجیتال شکل بگیرند، بر پایه‌ی آمار و احتمال و فراوانی تجربه‌ها شکل می‌گیرند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(</a:t>
            </a:r>
            <a:r>
              <a:rPr lang="en-US" b="1" dirty="0" smtClean="0">
                <a:solidFill>
                  <a:srgbClr val="FF0000"/>
                </a:solidFill>
              </a:rPr>
              <a:t>Heuristic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75671" y="4766393"/>
            <a:ext cx="6766577" cy="1738695"/>
            <a:chOff x="4730878" y="4726476"/>
            <a:chExt cx="6766577" cy="1738695"/>
          </a:xfrm>
        </p:grpSpPr>
        <p:sp>
          <p:nvSpPr>
            <p:cNvPr id="7" name="Rectangle 6"/>
            <p:cNvSpPr/>
            <p:nvPr/>
          </p:nvSpPr>
          <p:spPr>
            <a:xfrm>
              <a:off x="4859383" y="4807320"/>
              <a:ext cx="5166503" cy="147732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نباید فراموش کرد که مغز انسان، برای به دست آوردن این سطح بالا از عملکرد، میان‌بر‌هایی را هم آموخته و به کار گرفته </a:t>
              </a:r>
              <a:r>
                <a:rPr lang="fa-IR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است.</a:t>
              </a:r>
              <a:r>
                <a:rPr lang="en-US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</a:t>
              </a:r>
              <a:r>
                <a:rPr lang="fa-IR" b="1" dirty="0" smtClean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میان‌برهایی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ارزشمند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که اگر چه موجب بقای نسل بشر بر روی این کره‌ی خاکی شده‌اند،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اما منشاء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بسیاری از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خطاهای قضاوتی و ادراکی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ما هم بوده‌اند.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06643" y="4795806"/>
              <a:ext cx="1238428" cy="163017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4730878" y="4726476"/>
              <a:ext cx="6766577" cy="1738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370" y="4766393"/>
            <a:ext cx="1352550" cy="342900"/>
          </a:xfrm>
          <a:prstGeom prst="rect">
            <a:avLst/>
          </a:prstGeom>
        </p:spPr>
      </p:pic>
      <p:cxnSp>
        <p:nvCxnSpPr>
          <p:cNvPr id="14" name="Elbow Connector 13"/>
          <p:cNvCxnSpPr>
            <a:stCxn id="12" idx="2"/>
            <a:endCxn id="19" idx="0"/>
          </p:cNvCxnSpPr>
          <p:nvPr/>
        </p:nvCxnSpPr>
        <p:spPr>
          <a:xfrm rot="5400000">
            <a:off x="10082784" y="4876720"/>
            <a:ext cx="729288" cy="1194435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53996" y="5104605"/>
            <a:ext cx="59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معنی</a:t>
            </a:r>
            <a:endParaRPr lang="en-US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2964" y="5838581"/>
            <a:ext cx="32944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400" dirty="0">
                <a:solidFill>
                  <a:srgbClr val="454638"/>
                </a:solidFill>
                <a:latin typeface="MsYekan"/>
              </a:rPr>
              <a:t>کشف کننده، پی برنده، اکتشافی، ابتکآری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4106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نمونه هایی از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543109" y="1744286"/>
            <a:ext cx="3063238" cy="48013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انسان‌ها. احنمال مرگ با سیل و زلزله را بیشتر از آتشسوزی برای خود میدانیم . 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حالی که آمارها نشان می‌دهند، برای هر یک از ما، احتمال مرگ ناشی از آتش‌سوزی الزاماً از احتمال مرگ در اثر زلزله یا سقوط هواپیما کمتر نیست.</a:t>
            </a:r>
          </a:p>
          <a:p>
            <a:pPr algn="justLow" rtl="1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علت این نوع ارزیابی، اطلاعاتی است که در دسترس مغز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در اثر گوش دادن به خبرها و خواندن روزنامه‌ها، حجم زیادی از اخبار مربوط به سقوط و زلزله را در دسترس دارد. به همین علت بر اساس اینکه چه چیزهایی بهتر به خاطر می‌آیند، در زمینه احتمال وقوع آنها قضاوت می‌کند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به عبارتی، اطلاعاتی که سریع‌تر بازیابی می‌شوند، محتمل‌تر فرض می‌شوند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543109" y="1359961"/>
            <a:ext cx="3063238" cy="40011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خطای در محاسبه‌ی احتمالات</a:t>
            </a:r>
            <a:endParaRPr lang="en-US" sz="2000" dirty="0"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74229" y="1757349"/>
            <a:ext cx="2377440" cy="48013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برای خرید یک خودرو، هفته‌ها وقت صرف کرده و با ده‌ها نفر صحبت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کرده‌اید.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 این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تحقیق‌ها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با قطعیت به یک نتیجه‌ی مشخص رسیده‌اید.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 خرید خودرو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یک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 را می‌بینید که می‌گوید: «من همین ماشین را داشتم. روز سوم خاموش شد 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.... ».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بر تصمیم قبلی خود باقی می‌مانید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</a:p>
          <a:p>
            <a:pPr algn="justLow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واقعیت آن است که ذهن ما برای آخرین اطلاعات بدست آمده ارزش بیشتری قایل است که این مورد میتواند نتیجه درستی نداشته باشد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74229" y="1359961"/>
            <a:ext cx="2377440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200" b="1" dirty="0">
                <a:cs typeface="B Nazanin" panose="00000400000000000000" pitchFamily="2" charset="-78"/>
              </a:rPr>
              <a:t>خطای ناشی از مهم‌تر فرض کردن آخرین اخبار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78777" y="1834689"/>
            <a:ext cx="2704011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که ماشین مورد علاقه‌ی خود را انتخاب کرده‌اید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مسیر مراجعه برای خرید ماشین،‌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یکنفر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می‌بینید. سال‌هاست از او نفرت دارید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متوجه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می‌شوید که او هم از همین ماشین خریده است.</a:t>
            </a:r>
          </a:p>
          <a:p>
            <a:pPr algn="justLow" rtl="1"/>
            <a:r>
              <a:rPr lang="fa-IR" sz="20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هم، علاقه‌ی شما به آن ماشین به اندازه‌ی قبل است؟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یکی از میان‌بُرهای ذهن ما این است که صفات را از انسان به کالا و از کالا به انسان و نیز از محیط به یک جسم سرایت می‌دهد.</a:t>
            </a:r>
          </a:p>
          <a:p>
            <a:pPr algn="justLow" rtl="1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واقع اینکه بعضا با تجربه همکاری بد با یک نفر از یک شهر یا قومیت خاص ، همه افراد از آن شهر یا قومیت خاص را نا مناسب می دانیم ناشی از چنین خطای ذهنی می باشد </a:t>
            </a:r>
            <a:endParaRPr lang="fa-IR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78777" y="1373024"/>
            <a:ext cx="2704011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 smtClean="0">
                <a:cs typeface="B Nazanin" panose="00000400000000000000" pitchFamily="2" charset="-78"/>
              </a:rPr>
              <a:t>خطای ذهنی سرایت </a:t>
            </a:r>
            <a:r>
              <a:rPr lang="fa-IR" sz="2400" b="1" dirty="0" smtClean="0">
                <a:cs typeface="B Nazanin" panose="00000400000000000000" pitchFamily="2" charset="-78"/>
              </a:rPr>
              <a:t> </a:t>
            </a:r>
            <a:endParaRPr lang="en-US" sz="2400" b="1" dirty="0"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7383" y="1886941"/>
            <a:ext cx="2899953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نویسنده‌ای در یک مصاحبه‌ی تلویزیونی می‌گوید که ۱۸ سال گذشته را صرف نگارش آخرین کتابش کرده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ما با شنیدن این جمله، احساس می‌کنیم با یک کتاب وزین و ارزشمند طرف هستیم.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البته ممکن است فرض ما نادرست هم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نباشد. ممکن است نویسنده کند ذهن و تنبل بوده باشد . یا روش تحقیق مناسبلی نداشته و ... یکی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قواعد سرانگشتی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 میان‌بُرهای محاسباتی ذهن ما این است که تلاش و کوشش و زمانی را که صرف یک کار شده، با ارزش دستاورد آن کار هم‌ارز می‌گیرد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383" y="1373024"/>
            <a:ext cx="2899953" cy="52322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400" b="1" dirty="0">
                <a:cs typeface="B Nazanin" panose="00000400000000000000" pitchFamily="2" charset="-78"/>
              </a:rPr>
              <a:t>خطای ذهنی در ایجاد رابطه میان تلاش و کیفیت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7383" y="6076056"/>
            <a:ext cx="2899953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b="1" dirty="0" smtClean="0">
                <a:cs typeface="B Nazanin" panose="00000400000000000000" pitchFamily="2" charset="-78"/>
              </a:rPr>
              <a:t>و ...</a:t>
            </a:r>
            <a:endParaRPr lang="en-US" sz="32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756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340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3341914" y="1548676"/>
            <a:ext cx="7702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سوگیری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یا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بایاس 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معنای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خنثی نبودن نسبت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به یک پدیده یا رویداد یا باور یا ارزش یا … است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965EBD3-98B5-4FD2-8FAF-5D4022A9F7F4}">
  <ds:schemaRefs>
    <ds:schemaRef ds:uri="http://purl.org/dc/elements/1.1/"/>
    <ds:schemaRef ds:uri="http://schemas.openxmlformats.org/package/2006/metadata/core-properties"/>
    <ds:schemaRef ds:uri="http://www.w3.org/XML/1998/namespace"/>
    <ds:schemaRef ds:uri="16c05727-aa75-4e4a-9b5f-8a80a1165891"/>
    <ds:schemaRef ds:uri="http://schemas.microsoft.com/office/2006/documentManagement/types"/>
    <ds:schemaRef ds:uri="http://purl.org/dc/terms/"/>
    <ds:schemaRef ds:uri="http://schemas.microsoft.com/office/infopath/2007/PartnerControls"/>
    <ds:schemaRef ds:uri="71af3243-3dd4-4a8d-8c0d-dd76da1f02a5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2398</Words>
  <Application>Microsoft Office PowerPoint</Application>
  <PresentationFormat>Widescreen</PresentationFormat>
  <Paragraphs>215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B Nazanin</vt:lpstr>
      <vt:lpstr>Corbel</vt:lpstr>
      <vt:lpstr>Corbel (Body)</vt:lpstr>
      <vt:lpstr>IRANSans</vt:lpstr>
      <vt:lpstr>MsYekan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بررسی توان مغز انسان</vt:lpstr>
      <vt:lpstr>نمونه هایی از خطاهای ذهنی </vt:lpstr>
      <vt:lpstr>تصمیم گیری چیست ؟</vt:lpstr>
      <vt:lpstr>تصمیم گیری چیست ؟</vt:lpstr>
      <vt:lpstr>سوگیری (Bias)  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2019-04-09T14:34:57Z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