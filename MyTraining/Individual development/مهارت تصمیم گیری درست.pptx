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autoCompressPictures="0">
  <p:sldMasterIdLst>
    <p:sldMasterId id="2147483876" r:id="rId4"/>
  </p:sldMasterIdLst>
  <p:sldIdLst>
    <p:sldId id="256" r:id="rId5"/>
    <p:sldId id="257" r:id="rId6"/>
    <p:sldId id="262" r:id="rId7"/>
    <p:sldId id="261" r:id="rId8"/>
    <p:sldId id="263" r:id="rId9"/>
    <p:sldId id="264" r:id="rId10"/>
    <p:sldId id="266" r:id="rId11"/>
    <p:sldId id="267" r:id="rId12"/>
    <p:sldId id="268" r:id="rId13"/>
    <p:sldId id="269" r:id="rId14"/>
    <p:sldId id="270" r:id="rId15"/>
    <p:sldId id="272" r:id="rId16"/>
    <p:sldId id="273" r:id="rId17"/>
    <p:sldId id="265" r:id="rId18"/>
    <p:sldId id="274" r:id="rId19"/>
    <p:sldId id="275" r:id="rId20"/>
    <p:sldId id="277" r:id="rId21"/>
    <p:sldId id="276" r:id="rId22"/>
    <p:sldId id="278" r:id="rId23"/>
    <p:sldId id="271" r:id="rId24"/>
    <p:sldId id="280" r:id="rId25"/>
    <p:sldId id="281" r:id="rId26"/>
    <p:sldId id="282" r:id="rId27"/>
    <p:sldId id="279" r:id="rId28"/>
    <p:sldId id="260"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72C2"/>
    <a:srgbClr val="44B565"/>
    <a:srgbClr val="006181"/>
    <a:srgbClr val="44B563"/>
    <a:srgbClr val="AFA9FB"/>
    <a:srgbClr val="E8BE9F"/>
    <a:srgbClr val="E0B488"/>
    <a:srgbClr val="A6B727"/>
    <a:srgbClr val="71AB47"/>
    <a:srgbClr val="41BCB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42" autoAdjust="0"/>
    <p:restoredTop sz="94660"/>
  </p:normalViewPr>
  <p:slideViewPr>
    <p:cSldViewPr snapToGrid="0">
      <p:cViewPr varScale="1">
        <p:scale>
          <a:sx n="73" d="100"/>
          <a:sy n="73" d="100"/>
        </p:scale>
        <p:origin x="498"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presProps" Target="presProps.xml"/><Relationship Id="rId8"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en-US" noProof="0" smtClean="0"/>
              <a:t>Click to edit Master title style</a:t>
            </a:r>
            <a:endParaRPr lang="en-US" noProof="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noProof="0" smtClean="0"/>
              <a:t>Click to edit Master subtitle style</a:t>
            </a:r>
            <a:endParaRPr lang="en-US" noProof="0"/>
          </a:p>
        </p:txBody>
      </p:sp>
      <p:sp>
        <p:nvSpPr>
          <p:cNvPr id="4" name="Date Placeholder 3"/>
          <p:cNvSpPr>
            <a:spLocks noGrp="1"/>
          </p:cNvSpPr>
          <p:nvPr>
            <p:ph type="dt" sz="half" idx="10"/>
          </p:nvPr>
        </p:nvSpPr>
        <p:spPr/>
        <p:txBody>
          <a:bodyPr/>
          <a:lstStyle>
            <a:lvl1pPr>
              <a:defRPr>
                <a:solidFill>
                  <a:srgbClr val="FFFFFF"/>
                </a:solidFill>
              </a:defRPr>
            </a:lvl1pPr>
          </a:lstStyle>
          <a:p>
            <a:fld id="{9AB3A824-1A51-4B26-AD58-A6D8E14F6C04}" type="datetimeFigureOut">
              <a:rPr lang="en-US" noProof="0" smtClean="0"/>
              <a:t>5/3/2019</a:t>
            </a:fld>
            <a:endParaRPr lang="en-US" noProof="0" dirty="0"/>
          </a:p>
        </p:txBody>
      </p:sp>
      <p:sp>
        <p:nvSpPr>
          <p:cNvPr id="5" name="Footer Placeholder 4"/>
          <p:cNvSpPr>
            <a:spLocks noGrp="1"/>
          </p:cNvSpPr>
          <p:nvPr>
            <p:ph type="ftr" sz="quarter" idx="11"/>
          </p:nvPr>
        </p:nvSpPr>
        <p:spPr/>
        <p:txBody>
          <a:bodyPr/>
          <a:lstStyle>
            <a:lvl1pPr>
              <a:defRPr>
                <a:solidFill>
                  <a:srgbClr val="FFFFFF"/>
                </a:solidFill>
              </a:defRPr>
            </a:lvl1pPr>
          </a:lstStyle>
          <a:p>
            <a:r>
              <a:rPr lang="en-US" noProof="0" dirty="0"/>
              <a:t>
              </a:t>
            </a:r>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6D22F896-40B5-4ADD-8801-0D06FADFA095}" type="slidenum">
              <a:rPr lang="en-US" noProof="0" smtClean="0"/>
              <a:t>‹#›</a:t>
            </a:fld>
            <a:endParaRPr lang="en-US" noProof="0" dirty="0"/>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1787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smtClean="0"/>
              <a:t>Click to edit Master title style</a:t>
            </a:r>
            <a:endParaRPr lang="en-US" noProof="0"/>
          </a:p>
        </p:txBody>
      </p:sp>
      <p:sp>
        <p:nvSpPr>
          <p:cNvPr id="3" name="Content Placeholder 2"/>
          <p:cNvSpPr>
            <a:spLocks noGrp="1"/>
          </p:cNvSpPr>
          <p:nvPr>
            <p:ph idx="1"/>
          </p:nvPr>
        </p:nvSpPr>
        <p:spPr/>
        <p:txBody>
          <a:body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Date Placeholder 3"/>
          <p:cNvSpPr>
            <a:spLocks noGrp="1"/>
          </p:cNvSpPr>
          <p:nvPr>
            <p:ph type="dt" sz="half" idx="10"/>
          </p:nvPr>
        </p:nvSpPr>
        <p:spPr/>
        <p:txBody>
          <a:bodyPr/>
          <a:lstStyle/>
          <a:p>
            <a:fld id="{97D162C4-EDD9-4389-A98B-B87ECEA2A816}" type="datetimeFigureOut">
              <a:rPr lang="en-US" noProof="0" smtClean="0"/>
              <a:t>5/3/2019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34720390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en-US" noProof="0" smtClean="0"/>
              <a:t>Click to edit Master title style</a:t>
            </a:r>
            <a:endParaRPr lang="en-US" noProof="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smtClean="0"/>
              <a:t>Edit Master text styles</a:t>
            </a:r>
          </a:p>
        </p:txBody>
      </p:sp>
      <p:sp>
        <p:nvSpPr>
          <p:cNvPr id="4" name="Date Placeholder 3"/>
          <p:cNvSpPr>
            <a:spLocks noGrp="1"/>
          </p:cNvSpPr>
          <p:nvPr>
            <p:ph type="dt" sz="half" idx="10"/>
          </p:nvPr>
        </p:nvSpPr>
        <p:spPr/>
        <p:txBody>
          <a:bodyPr/>
          <a:lstStyle/>
          <a:p>
            <a:fld id="{3E5059C3-6A89-4494-99FF-5A4D6FFD50EB}" type="datetimeFigureOut">
              <a:rPr lang="en-US" noProof="0" smtClean="0"/>
              <a:t>5/3/2019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93603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noProof="0" smtClean="0"/>
              <a:t>Click to edit Master title style</a:t>
            </a:r>
            <a:endParaRPr lang="en-US" noProof="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5" name="Date Placeholder 4"/>
          <p:cNvSpPr>
            <a:spLocks noGrp="1"/>
          </p:cNvSpPr>
          <p:nvPr>
            <p:ph type="dt" sz="half" idx="10"/>
          </p:nvPr>
        </p:nvSpPr>
        <p:spPr/>
        <p:txBody>
          <a:bodyPr/>
          <a:lstStyle/>
          <a:p>
            <a:fld id="{CA954B2F-12DE-47F5-8894-472B206D2E1E}" type="datetimeFigureOut">
              <a:rPr lang="en-US" noProof="0" smtClean="0"/>
              <a:t>5/3/2019</a:t>
            </a:fld>
            <a:endParaRPr lang="en-US" noProof="0" dirty="0"/>
          </a:p>
        </p:txBody>
      </p:sp>
      <p:sp>
        <p:nvSpPr>
          <p:cNvPr id="6" name="Footer Placeholder 5"/>
          <p:cNvSpPr>
            <a:spLocks noGrp="1"/>
          </p:cNvSpPr>
          <p:nvPr>
            <p:ph type="ftr" sz="quarter" idx="11"/>
          </p:nvPr>
        </p:nvSpPr>
        <p:spPr/>
        <p:txBody>
          <a:bodyPr/>
          <a:lstStyle/>
          <a:p>
            <a:r>
              <a:rPr lang="en-US" noProof="0" dirty="0"/>
              <a:t>
              </a:t>
            </a:r>
          </a:p>
        </p:txBody>
      </p:sp>
      <p:sp>
        <p:nvSpPr>
          <p:cNvPr id="7" name="Slide Number Placeholder 6"/>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21816700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noProof="0" smtClean="0"/>
              <a:t>Click to edit Master title style</a:t>
            </a:r>
            <a:endParaRPr lang="en-US" noProof="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smtClean="0"/>
              <a:t>Edit Master text styles</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smtClean="0"/>
              <a:t>Edit Master text styles</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7" name="Date Placeholder 6"/>
          <p:cNvSpPr>
            <a:spLocks noGrp="1"/>
          </p:cNvSpPr>
          <p:nvPr>
            <p:ph type="dt" sz="half" idx="10"/>
          </p:nvPr>
        </p:nvSpPr>
        <p:spPr/>
        <p:txBody>
          <a:bodyPr/>
          <a:lstStyle/>
          <a:p>
            <a:fld id="{3CBC1C18-307B-4F68-A007-B5B542270E8D}" type="datetimeFigureOut">
              <a:rPr lang="en-US" noProof="0" smtClean="0"/>
              <a:t>5/3/2019</a:t>
            </a:fld>
            <a:endParaRPr lang="en-US" noProof="0" dirty="0"/>
          </a:p>
        </p:txBody>
      </p:sp>
      <p:sp>
        <p:nvSpPr>
          <p:cNvPr id="8" name="Footer Placeholder 7"/>
          <p:cNvSpPr>
            <a:spLocks noGrp="1"/>
          </p:cNvSpPr>
          <p:nvPr>
            <p:ph type="ftr" sz="quarter" idx="11"/>
          </p:nvPr>
        </p:nvSpPr>
        <p:spPr/>
        <p:txBody>
          <a:bodyPr/>
          <a:lstStyle/>
          <a:p>
            <a:r>
              <a:rPr lang="en-US" noProof="0" dirty="0"/>
              <a:t>
              </a:t>
            </a:r>
          </a:p>
        </p:txBody>
      </p:sp>
      <p:sp>
        <p:nvSpPr>
          <p:cNvPr id="9" name="Slide Number Placeholder 8"/>
          <p:cNvSpPr>
            <a:spLocks noGrp="1"/>
          </p:cNvSpPr>
          <p:nvPr>
            <p:ph type="sldNum" sz="quarter" idx="12"/>
          </p:nvPr>
        </p:nvSpPr>
        <p:spPr/>
        <p:txBody>
          <a:bodyPr/>
          <a:lstStyle/>
          <a:p>
            <a:fld id="{6D22F896-40B5-4ADD-8801-0D06FADFA095}" type="slidenum">
              <a:rPr lang="en-US" noProof="0" smtClean="0"/>
              <a:pPr/>
              <a:t>‹#›</a:t>
            </a:fld>
            <a:endParaRPr lang="en-US" noProof="0" dirty="0"/>
          </a:p>
        </p:txBody>
      </p:sp>
    </p:spTree>
    <p:extLst>
      <p:ext uri="{BB962C8B-B14F-4D97-AF65-F5344CB8AC3E}">
        <p14:creationId xmlns:p14="http://schemas.microsoft.com/office/powerpoint/2010/main" val="1963352574"/>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smtClean="0"/>
              <a:t>Click to edit Master title style</a:t>
            </a:r>
            <a:endParaRPr lang="en-US" noProof="0"/>
          </a:p>
        </p:txBody>
      </p:sp>
      <p:sp>
        <p:nvSpPr>
          <p:cNvPr id="3" name="Date Placeholder 2"/>
          <p:cNvSpPr>
            <a:spLocks noGrp="1"/>
          </p:cNvSpPr>
          <p:nvPr>
            <p:ph type="dt" sz="half" idx="10"/>
          </p:nvPr>
        </p:nvSpPr>
        <p:spPr/>
        <p:txBody>
          <a:bodyPr/>
          <a:lstStyle/>
          <a:p>
            <a:fld id="{1FAF3416-4057-4DAA-829D-4CA07428D088}" type="datetimeFigureOut">
              <a:rPr lang="en-US" noProof="0" smtClean="0"/>
              <a:t>5/3/2019</a:t>
            </a:fld>
            <a:endParaRPr lang="en-US" noProof="0" dirty="0"/>
          </a:p>
        </p:txBody>
      </p:sp>
      <p:sp>
        <p:nvSpPr>
          <p:cNvPr id="4" name="Footer Placeholder 3"/>
          <p:cNvSpPr>
            <a:spLocks noGrp="1"/>
          </p:cNvSpPr>
          <p:nvPr>
            <p:ph type="ftr" sz="quarter" idx="11"/>
          </p:nvPr>
        </p:nvSpPr>
        <p:spPr/>
        <p:txBody>
          <a:bodyPr/>
          <a:lstStyle/>
          <a:p>
            <a:r>
              <a:rPr lang="en-US" noProof="0" dirty="0"/>
              <a:t>
              </a:t>
            </a:r>
          </a:p>
        </p:txBody>
      </p:sp>
      <p:sp>
        <p:nvSpPr>
          <p:cNvPr id="5" name="Slide Number Placeholder 4"/>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30054287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21D9284-D300-4297-87F7-E791DCC15DB1}" type="datetimeFigureOut">
              <a:rPr lang="en-US" noProof="0" smtClean="0"/>
              <a:t>5/3/2019</a:t>
            </a:fld>
            <a:endParaRPr lang="en-US" noProof="0" dirty="0"/>
          </a:p>
        </p:txBody>
      </p:sp>
      <p:sp>
        <p:nvSpPr>
          <p:cNvPr id="3" name="Footer Placeholder 2"/>
          <p:cNvSpPr>
            <a:spLocks noGrp="1"/>
          </p:cNvSpPr>
          <p:nvPr>
            <p:ph type="ftr" sz="quarter" idx="11"/>
          </p:nvPr>
        </p:nvSpPr>
        <p:spPr/>
        <p:txBody>
          <a:bodyPr/>
          <a:lstStyle/>
          <a:p>
            <a:r>
              <a:rPr lang="en-US" noProof="0" dirty="0"/>
              <a:t>
              </a:t>
            </a:r>
          </a:p>
        </p:txBody>
      </p:sp>
      <p:sp>
        <p:nvSpPr>
          <p:cNvPr id="4" name="Slide Number Placeholder 3"/>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988259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noProof="0" smtClean="0"/>
              <a:t>Click to edit Master title style</a:t>
            </a:r>
            <a:endParaRPr lang="en-US" noProof="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smtClean="0"/>
              <a:t>Edit Master text styles</a:t>
            </a:r>
          </a:p>
        </p:txBody>
      </p:sp>
      <p:sp>
        <p:nvSpPr>
          <p:cNvPr id="5" name="Date Placeholder 4"/>
          <p:cNvSpPr>
            <a:spLocks noGrp="1"/>
          </p:cNvSpPr>
          <p:nvPr>
            <p:ph type="dt" sz="half" idx="10"/>
          </p:nvPr>
        </p:nvSpPr>
        <p:spPr/>
        <p:txBody>
          <a:bodyPr/>
          <a:lstStyle/>
          <a:p>
            <a:fld id="{37D525BB-DA17-4BA0-B3C8-3AC3ABC827E6}" type="datetimeFigureOut">
              <a:rPr lang="en-US" noProof="0" smtClean="0"/>
              <a:t>5/3/2019</a:t>
            </a:fld>
            <a:endParaRPr lang="en-US" noProof="0" dirty="0"/>
          </a:p>
        </p:txBody>
      </p:sp>
      <p:sp>
        <p:nvSpPr>
          <p:cNvPr id="6" name="Footer Placeholder 5"/>
          <p:cNvSpPr>
            <a:spLocks noGrp="1"/>
          </p:cNvSpPr>
          <p:nvPr>
            <p:ph type="ftr" sz="quarter" idx="11"/>
          </p:nvPr>
        </p:nvSpPr>
        <p:spPr/>
        <p:txBody>
          <a:bodyPr/>
          <a:lstStyle/>
          <a:p>
            <a:r>
              <a:rPr lang="en-US" noProof="0" dirty="0"/>
              <a:t>
              </a:t>
            </a:r>
          </a:p>
        </p:txBody>
      </p:sp>
      <p:sp>
        <p:nvSpPr>
          <p:cNvPr id="7" name="Slide Number Placeholder 6"/>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21583836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noProof="0" smtClean="0"/>
              <a:t>Click to edit Master title style</a:t>
            </a:r>
            <a:endParaRPr lang="en-US" noProof="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noProof="0" smtClean="0"/>
              <a:t>Click icon to add picture</a:t>
            </a:r>
            <a:endParaRPr lang="en-US" noProof="0"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smtClean="0"/>
              <a:t>Edit Master text styles</a:t>
            </a:r>
          </a:p>
        </p:txBody>
      </p:sp>
      <p:sp>
        <p:nvSpPr>
          <p:cNvPr id="5" name="Date Placeholder 4"/>
          <p:cNvSpPr>
            <a:spLocks noGrp="1"/>
          </p:cNvSpPr>
          <p:nvPr>
            <p:ph type="dt" sz="half" idx="10"/>
          </p:nvPr>
        </p:nvSpPr>
        <p:spPr/>
        <p:txBody>
          <a:bodyPr/>
          <a:lstStyle/>
          <a:p>
            <a:fld id="{B16C4C9A-3960-41CF-A4E9-2A8FB932454B}" type="datetimeFigureOut">
              <a:rPr lang="en-US" noProof="0" smtClean="0"/>
              <a:t>5/3/2019</a:t>
            </a:fld>
            <a:endParaRPr lang="en-US" noProof="0" dirty="0"/>
          </a:p>
        </p:txBody>
      </p:sp>
      <p:sp>
        <p:nvSpPr>
          <p:cNvPr id="6" name="Footer Placeholder 5"/>
          <p:cNvSpPr>
            <a:spLocks noGrp="1"/>
          </p:cNvSpPr>
          <p:nvPr>
            <p:ph type="ftr" sz="quarter" idx="11"/>
          </p:nvPr>
        </p:nvSpPr>
        <p:spPr/>
        <p:txBody>
          <a:bodyPr/>
          <a:lstStyle/>
          <a:p>
            <a:r>
              <a:rPr lang="en-US" noProof="0" dirty="0"/>
              <a:t>
              </a:t>
            </a:r>
          </a:p>
        </p:txBody>
      </p:sp>
      <p:sp>
        <p:nvSpPr>
          <p:cNvPr id="7" name="Slide Number Placeholder 6"/>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740848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smtClean="0"/>
              <a:t>Click to edit Master title style</a:t>
            </a:r>
            <a:endParaRPr lang="en-US" noProof="0"/>
          </a:p>
        </p:txBody>
      </p:sp>
      <p:sp>
        <p:nvSpPr>
          <p:cNvPr id="3" name="Vertical Text Placeholder 2"/>
          <p:cNvSpPr>
            <a:spLocks noGrp="1"/>
          </p:cNvSpPr>
          <p:nvPr>
            <p:ph type="body" orient="vert" idx="1"/>
          </p:nvPr>
        </p:nvSpPr>
        <p:spPr/>
        <p:txBody>
          <a:bodyPr vert="eaVert"/>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Date Placeholder 3"/>
          <p:cNvSpPr>
            <a:spLocks noGrp="1"/>
          </p:cNvSpPr>
          <p:nvPr>
            <p:ph type="dt" sz="half" idx="10"/>
          </p:nvPr>
        </p:nvSpPr>
        <p:spPr/>
        <p:txBody>
          <a:bodyPr/>
          <a:lstStyle/>
          <a:p>
            <a:fld id="{D857E33E-8B18-4087-B112-809917729534}" type="datetimeFigureOut">
              <a:rPr lang="en-US" noProof="0" smtClean="0"/>
              <a:t>5/3/2019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435526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noProof="0" smtClean="0"/>
              <a:t>Click to edit Master title style</a:t>
            </a:r>
            <a:endParaRPr lang="en-US" noProof="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Date Placeholder 3"/>
          <p:cNvSpPr>
            <a:spLocks noGrp="1"/>
          </p:cNvSpPr>
          <p:nvPr>
            <p:ph type="dt" sz="half" idx="10"/>
          </p:nvPr>
        </p:nvSpPr>
        <p:spPr/>
        <p:txBody>
          <a:bodyPr/>
          <a:lstStyle/>
          <a:p>
            <a:fld id="{D3FFE419-2371-464F-8239-3959401C3561}" type="datetimeFigureOut">
              <a:rPr lang="en-US" noProof="0" smtClean="0"/>
              <a:t>5/3/2019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19947638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en-US" noProof="0" smtClean="0"/>
              <a:t>Click to edit Master title style</a:t>
            </a:r>
            <a:endParaRPr lang="en-US" noProof="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3CBC1C18-307B-4F68-A007-B5B542270E8D}" type="datetimeFigureOut">
              <a:rPr lang="en-US" noProof="0" smtClean="0"/>
              <a:t>5/3/2019</a:t>
            </a:fld>
            <a:endParaRPr lang="en-US" noProof="0" dirty="0"/>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r>
              <a:rPr lang="en-US" noProof="0" dirty="0"/>
              <a:t>
              </a:t>
            </a:r>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6D22F896-40B5-4ADD-8801-0D06FADFA095}" type="slidenum">
              <a:rPr lang="en-US" noProof="0" smtClean="0"/>
              <a:pPr/>
              <a:t>‹#›</a:t>
            </a:fld>
            <a:endParaRPr lang="en-US" noProof="0" dirty="0"/>
          </a:p>
        </p:txBody>
      </p:sp>
    </p:spTree>
    <p:extLst>
      <p:ext uri="{BB962C8B-B14F-4D97-AF65-F5344CB8AC3E}">
        <p14:creationId xmlns:p14="http://schemas.microsoft.com/office/powerpoint/2010/main" val="1702258854"/>
      </p:ext>
    </p:extLst>
  </p:cSld>
  <p:clrMap bg1="lt1" tx1="dk1" bg2="lt2" tx2="dk2" accent1="accent1" accent2="accent2" accent3="accent3" accent4="accent4" accent5="accent5" accent6="accent6" hlink="hlink" folHlink="folHlink"/>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sldNum="0" hdr="0" ftr="0" dt="0"/>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9.gif"/><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gif"/><Relationship Id="rId1" Type="http://schemas.openxmlformats.org/officeDocument/2006/relationships/slideLayout" Target="../slideLayouts/slideLayout4.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cxnSp>
        <p:nvCxnSpPr>
          <p:cNvPr id="50" name="Straight Connector 41">
            <a:extLst>
              <a:ext uri="{FF2B5EF4-FFF2-40B4-BE49-F238E27FC236}">
                <a16:creationId xmlns:a16="http://schemas.microsoft.com/office/drawing/2014/main" id="{63FED537-3AF1-4C36-9904-77B6A54D27B5}"/>
              </a:ext>
              <a:ext uri="{C183D7F6-B498-43B3-948B-1728B52AA6E4}">
                <adec:decorative xmlns=""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5462458"/>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050E78D6-F072-48E7-8270-20EFBDD26F36}"/>
              </a:ext>
            </a:extLst>
          </p:cNvPr>
          <p:cNvSpPr>
            <a:spLocks noGrp="1"/>
          </p:cNvSpPr>
          <p:nvPr>
            <p:ph type="ctrTitle"/>
          </p:nvPr>
        </p:nvSpPr>
        <p:spPr>
          <a:xfrm>
            <a:off x="718095" y="4076095"/>
            <a:ext cx="9966960" cy="1325880"/>
          </a:xfrm>
        </p:spPr>
        <p:txBody>
          <a:bodyPr>
            <a:noAutofit/>
          </a:bodyPr>
          <a:lstStyle/>
          <a:p>
            <a:r>
              <a:rPr lang="fa-IR" sz="6500" dirty="0">
                <a:cs typeface="B Nazanin" panose="00000400000000000000" pitchFamily="2" charset="-78"/>
              </a:rPr>
              <a:t>مهارت تصمیم گیری </a:t>
            </a:r>
            <a:r>
              <a:rPr lang="fa-IR" sz="6500" dirty="0" smtClean="0">
                <a:cs typeface="B Nazanin" panose="00000400000000000000" pitchFamily="2" charset="-78"/>
              </a:rPr>
              <a:t>درست</a:t>
            </a:r>
            <a:endParaRPr lang="fa-IR" sz="6500" dirty="0">
              <a:cs typeface="B Nazanin" panose="00000400000000000000" pitchFamily="2" charset="-78"/>
            </a:endParaRPr>
          </a:p>
        </p:txBody>
      </p:sp>
      <p:sp>
        <p:nvSpPr>
          <p:cNvPr id="3" name="Subtitle 2">
            <a:extLst>
              <a:ext uri="{FF2B5EF4-FFF2-40B4-BE49-F238E27FC236}">
                <a16:creationId xmlns:a16="http://schemas.microsoft.com/office/drawing/2014/main" id="{3FC7BD98-5486-489C-BAA0-A69CEFF691B3}"/>
              </a:ext>
            </a:extLst>
          </p:cNvPr>
          <p:cNvSpPr>
            <a:spLocks noGrp="1"/>
          </p:cNvSpPr>
          <p:nvPr>
            <p:ph type="subTitle" idx="1"/>
          </p:nvPr>
        </p:nvSpPr>
        <p:spPr>
          <a:xfrm>
            <a:off x="1709530" y="5598293"/>
            <a:ext cx="8767860" cy="553690"/>
          </a:xfrm>
        </p:spPr>
        <p:txBody>
          <a:bodyPr>
            <a:normAutofit/>
          </a:bodyPr>
          <a:lstStyle/>
          <a:p>
            <a:r>
              <a:rPr lang="fa-IR" sz="2000" dirty="0">
                <a:cs typeface="B Nazanin" panose="00000400000000000000" pitchFamily="2" charset="-78"/>
              </a:rPr>
              <a:t>در مدیریت و زندگی</a:t>
            </a:r>
            <a:endParaRPr lang="en-US" sz="2000" dirty="0"/>
          </a:p>
        </p:txBody>
      </p:sp>
      <p:pic>
        <p:nvPicPr>
          <p:cNvPr id="7" name="Picture 6" descr="Man looking at landscape">
            <a:extLst>
              <a:ext uri="{FF2B5EF4-FFF2-40B4-BE49-F238E27FC236}">
                <a16:creationId xmlns:a16="http://schemas.microsoft.com/office/drawing/2014/main" id="{CD9EF39B-AB41-49AB-8163-8B5FD7D28329}"/>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243840" y="256540"/>
            <a:ext cx="11704320" cy="3764276"/>
          </a:xfrm>
          <a:prstGeom prst="rect">
            <a:avLst/>
          </a:prstGeom>
        </p:spPr>
      </p:pic>
    </p:spTree>
    <p:extLst>
      <p:ext uri="{BB962C8B-B14F-4D97-AF65-F5344CB8AC3E}">
        <p14:creationId xmlns:p14="http://schemas.microsoft.com/office/powerpoint/2010/main" val="834050406"/>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تصمیم گیری چیست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grpSp>
        <p:nvGrpSpPr>
          <p:cNvPr id="27" name="Group 26"/>
          <p:cNvGrpSpPr/>
          <p:nvPr/>
        </p:nvGrpSpPr>
        <p:grpSpPr>
          <a:xfrm>
            <a:off x="888274" y="2929010"/>
            <a:ext cx="10371909" cy="1871870"/>
            <a:chOff x="953588" y="1554480"/>
            <a:chExt cx="10371909" cy="1871870"/>
          </a:xfrm>
        </p:grpSpPr>
        <p:sp>
          <p:nvSpPr>
            <p:cNvPr id="9" name="Title 1">
              <a:extLst>
                <a:ext uri="{FF2B5EF4-FFF2-40B4-BE49-F238E27FC236}">
                  <a16:creationId xmlns:a16="http://schemas.microsoft.com/office/drawing/2014/main" id="{BB4B6193-F9F1-4C54-838F-77350B9FC5DC}"/>
                </a:ext>
              </a:extLst>
            </p:cNvPr>
            <p:cNvSpPr txBox="1">
              <a:spLocks/>
            </p:cNvSpPr>
            <p:nvPr/>
          </p:nvSpPr>
          <p:spPr>
            <a:xfrm>
              <a:off x="10058400" y="1833157"/>
              <a:ext cx="1267097" cy="70974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r"/>
              <a:r>
                <a:rPr lang="fa-IR" sz="2400" dirty="0" smtClean="0">
                  <a:solidFill>
                    <a:schemeClr val="tx1"/>
                  </a:solidFill>
                  <a:cs typeface="B Nazanin" panose="00000400000000000000" pitchFamily="2" charset="-78"/>
                </a:rPr>
                <a:t>حل مسئله </a:t>
              </a:r>
              <a:endParaRPr lang="en-US" sz="2400" dirty="0">
                <a:solidFill>
                  <a:schemeClr val="tx1"/>
                </a:solidFill>
                <a:cs typeface="B Nazanin" panose="00000400000000000000" pitchFamily="2" charset="-78"/>
              </a:endParaRPr>
            </a:p>
          </p:txBody>
        </p:sp>
        <p:cxnSp>
          <p:nvCxnSpPr>
            <p:cNvPr id="11" name="Straight Arrow Connector 10"/>
            <p:cNvCxnSpPr/>
            <p:nvPr/>
          </p:nvCxnSpPr>
          <p:spPr>
            <a:xfrm flipH="1">
              <a:off x="8934994" y="2188031"/>
              <a:ext cx="1188721" cy="0"/>
            </a:xfrm>
            <a:prstGeom prst="straightConnector1">
              <a:avLst/>
            </a:prstGeom>
            <a:ln w="76200">
              <a:tailEnd type="triangle"/>
            </a:ln>
          </p:spPr>
          <p:style>
            <a:lnRef idx="2">
              <a:schemeClr val="accent2"/>
            </a:lnRef>
            <a:fillRef idx="0">
              <a:schemeClr val="accent2"/>
            </a:fillRef>
            <a:effectRef idx="1">
              <a:schemeClr val="accent2"/>
            </a:effectRef>
            <a:fontRef idx="minor">
              <a:schemeClr val="tx1"/>
            </a:fontRef>
          </p:style>
        </p:cxnSp>
        <p:cxnSp>
          <p:nvCxnSpPr>
            <p:cNvPr id="13" name="Straight Arrow Connector 12"/>
            <p:cNvCxnSpPr/>
            <p:nvPr/>
          </p:nvCxnSpPr>
          <p:spPr>
            <a:xfrm flipH="1">
              <a:off x="5957667" y="2188031"/>
              <a:ext cx="1188721" cy="0"/>
            </a:xfrm>
            <a:prstGeom prst="straightConnector1">
              <a:avLst/>
            </a:prstGeom>
            <a:ln w="76200">
              <a:tailEnd type="triangle"/>
            </a:ln>
          </p:spPr>
          <p:style>
            <a:lnRef idx="2">
              <a:schemeClr val="accent2"/>
            </a:lnRef>
            <a:fillRef idx="0">
              <a:schemeClr val="accent2"/>
            </a:fillRef>
            <a:effectRef idx="1">
              <a:schemeClr val="accent2"/>
            </a:effectRef>
            <a:fontRef idx="minor">
              <a:schemeClr val="tx1"/>
            </a:fontRef>
          </p:style>
        </p:cxnSp>
        <p:grpSp>
          <p:nvGrpSpPr>
            <p:cNvPr id="19" name="Group 18"/>
            <p:cNvGrpSpPr/>
            <p:nvPr/>
          </p:nvGrpSpPr>
          <p:grpSpPr>
            <a:xfrm>
              <a:off x="7419702" y="1554480"/>
              <a:ext cx="1267097" cy="1667703"/>
              <a:chOff x="7289074" y="1554480"/>
              <a:chExt cx="1267097" cy="1667703"/>
            </a:xfrm>
          </p:grpSpPr>
          <p:sp>
            <p:nvSpPr>
              <p:cNvPr id="14" name="Rectangle 13"/>
              <p:cNvSpPr/>
              <p:nvPr/>
            </p:nvSpPr>
            <p:spPr>
              <a:xfrm>
                <a:off x="7289074" y="1554480"/>
                <a:ext cx="1267097" cy="27867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a-IR" sz="1200" dirty="0" smtClean="0"/>
                  <a:t>راه حل شماره 1</a:t>
                </a:r>
                <a:endParaRPr lang="en-US" sz="1200" dirty="0"/>
              </a:p>
            </p:txBody>
          </p:sp>
          <p:sp>
            <p:nvSpPr>
              <p:cNvPr id="15" name="Rectangle 14"/>
              <p:cNvSpPr/>
              <p:nvPr/>
            </p:nvSpPr>
            <p:spPr>
              <a:xfrm>
                <a:off x="7289074" y="1963785"/>
                <a:ext cx="1267097" cy="278677"/>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fa-IR" sz="1200" dirty="0" smtClean="0"/>
                  <a:t>راه حل شماره 2</a:t>
                </a:r>
                <a:endParaRPr lang="en-US" sz="1200" dirty="0"/>
              </a:p>
            </p:txBody>
          </p:sp>
          <p:sp>
            <p:nvSpPr>
              <p:cNvPr id="16" name="Rectangle 15"/>
              <p:cNvSpPr/>
              <p:nvPr/>
            </p:nvSpPr>
            <p:spPr>
              <a:xfrm>
                <a:off x="7289074" y="2355678"/>
                <a:ext cx="1267097" cy="278677"/>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fa-IR" sz="1200" dirty="0" smtClean="0"/>
                  <a:t>راه حل شماره 3</a:t>
                </a:r>
                <a:endParaRPr lang="en-US" sz="1200" dirty="0"/>
              </a:p>
            </p:txBody>
          </p:sp>
          <p:sp>
            <p:nvSpPr>
              <p:cNvPr id="17" name="Rectangle 16"/>
              <p:cNvSpPr/>
              <p:nvPr/>
            </p:nvSpPr>
            <p:spPr>
              <a:xfrm>
                <a:off x="7289074" y="2943506"/>
                <a:ext cx="1267097" cy="278677"/>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rtl="1"/>
                <a:r>
                  <a:rPr lang="fa-IR" sz="1200" dirty="0" smtClean="0"/>
                  <a:t>راه حل شماره </a:t>
                </a:r>
                <a:r>
                  <a:rPr lang="en-US" sz="1200" dirty="0"/>
                  <a:t> </a:t>
                </a:r>
                <a:r>
                  <a:rPr lang="en-US" sz="1200" dirty="0" smtClean="0"/>
                  <a:t>n</a:t>
                </a:r>
                <a:endParaRPr lang="en-US" sz="1200" dirty="0"/>
              </a:p>
            </p:txBody>
          </p:sp>
          <p:sp>
            <p:nvSpPr>
              <p:cNvPr id="18" name="Title 1">
                <a:extLst>
                  <a:ext uri="{FF2B5EF4-FFF2-40B4-BE49-F238E27FC236}">
                    <a16:creationId xmlns:a16="http://schemas.microsoft.com/office/drawing/2014/main" id="{BB4B6193-F9F1-4C54-838F-77350B9FC5DC}"/>
                  </a:ext>
                </a:extLst>
              </p:cNvPr>
              <p:cNvSpPr txBox="1">
                <a:spLocks/>
              </p:cNvSpPr>
              <p:nvPr/>
            </p:nvSpPr>
            <p:spPr>
              <a:xfrm>
                <a:off x="7576457" y="2638718"/>
                <a:ext cx="457200" cy="304788"/>
              </a:xfrm>
              <a:prstGeom prst="rect">
                <a:avLst/>
              </a:prstGeom>
            </p:spPr>
            <p:txBody>
              <a:bodyPr vert="horz" lIns="91440" tIns="45720" rIns="91440" bIns="45720" rtlCol="0" anchor="ctr">
                <a:normAutofit fontScale="75000" lnSpcReduction="200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r"/>
                <a:r>
                  <a:rPr lang="fa-IR" sz="2400" dirty="0" smtClean="0">
                    <a:solidFill>
                      <a:schemeClr val="tx1"/>
                    </a:solidFill>
                    <a:cs typeface="B Nazanin" panose="00000400000000000000" pitchFamily="2" charset="-78"/>
                  </a:rPr>
                  <a:t>...</a:t>
                </a:r>
                <a:endParaRPr lang="en-US" sz="2400" dirty="0">
                  <a:solidFill>
                    <a:schemeClr val="tx1"/>
                  </a:solidFill>
                  <a:cs typeface="B Nazanin" panose="00000400000000000000" pitchFamily="2" charset="-78"/>
                </a:endParaRPr>
              </a:p>
            </p:txBody>
          </p:sp>
        </p:grpSp>
        <p:sp>
          <p:nvSpPr>
            <p:cNvPr id="21" name="Rectangle 20"/>
            <p:cNvSpPr/>
            <p:nvPr/>
          </p:nvSpPr>
          <p:spPr>
            <a:xfrm>
              <a:off x="4516393" y="1965572"/>
              <a:ext cx="1422184" cy="433965"/>
            </a:xfrm>
            <a:prstGeom prst="rect">
              <a:avLst/>
            </a:prstGeom>
          </p:spPr>
          <p:txBody>
            <a:bodyPr vert="horz" lIns="91440" tIns="45720" rIns="91440" bIns="45720" rtlCol="0" anchor="ctr">
              <a:normAutofit fontScale="97500"/>
            </a:bodyPr>
            <a:lstStyle/>
            <a:p>
              <a:pPr algn="r" defTabSz="914400">
                <a:lnSpc>
                  <a:spcPct val="90000"/>
                </a:lnSpc>
                <a:spcBef>
                  <a:spcPct val="0"/>
                </a:spcBef>
              </a:pPr>
              <a:r>
                <a:rPr lang="fa-IR" sz="2400" dirty="0">
                  <a:latin typeface="+mj-lt"/>
                  <a:ea typeface="+mj-ea"/>
                  <a:cs typeface="B Nazanin" panose="00000400000000000000" pitchFamily="2" charset="-78"/>
                </a:rPr>
                <a:t>تصمیم گیری</a:t>
              </a:r>
              <a:endParaRPr lang="en-US" sz="2400" dirty="0">
                <a:latin typeface="+mj-lt"/>
                <a:ea typeface="+mj-ea"/>
                <a:cs typeface="B Nazanin" panose="00000400000000000000" pitchFamily="2" charset="-78"/>
              </a:endParaRPr>
            </a:p>
          </p:txBody>
        </p:sp>
        <p:cxnSp>
          <p:nvCxnSpPr>
            <p:cNvPr id="22" name="Straight Arrow Connector 21"/>
            <p:cNvCxnSpPr/>
            <p:nvPr/>
          </p:nvCxnSpPr>
          <p:spPr>
            <a:xfrm flipH="1">
              <a:off x="3249294" y="2176025"/>
              <a:ext cx="1188721" cy="0"/>
            </a:xfrm>
            <a:prstGeom prst="straightConnector1">
              <a:avLst/>
            </a:prstGeom>
            <a:ln w="76200">
              <a:tailEnd type="triangle"/>
            </a:ln>
          </p:spPr>
          <p:style>
            <a:lnRef idx="2">
              <a:schemeClr val="accent2"/>
            </a:lnRef>
            <a:fillRef idx="0">
              <a:schemeClr val="accent2"/>
            </a:fillRef>
            <a:effectRef idx="1">
              <a:schemeClr val="accent2"/>
            </a:effectRef>
            <a:fontRef idx="minor">
              <a:schemeClr val="tx1"/>
            </a:fontRef>
          </p:style>
        </p:cxnSp>
        <p:sp>
          <p:nvSpPr>
            <p:cNvPr id="23" name="Rectangle 22"/>
            <p:cNvSpPr/>
            <p:nvPr/>
          </p:nvSpPr>
          <p:spPr>
            <a:xfrm>
              <a:off x="2231512" y="1964515"/>
              <a:ext cx="731290" cy="369332"/>
            </a:xfrm>
            <a:prstGeom prst="rect">
              <a:avLst/>
            </a:prstGeom>
          </p:spPr>
          <p:txBody>
            <a:bodyPr wrap="none">
              <a:spAutoFit/>
            </a:bodyPr>
            <a:lstStyle/>
            <a:p>
              <a:r>
                <a:rPr lang="fa-IR" b="1" dirty="0">
                  <a:cs typeface="B Nazanin" panose="00000400000000000000" pitchFamily="2" charset="-78"/>
                </a:rPr>
                <a:t>انتخاب</a:t>
              </a:r>
              <a:endParaRPr lang="en-US" b="1" dirty="0"/>
            </a:p>
          </p:txBody>
        </p:sp>
        <p:sp>
          <p:nvSpPr>
            <p:cNvPr id="24" name="Rectangle 23"/>
            <p:cNvSpPr/>
            <p:nvPr/>
          </p:nvSpPr>
          <p:spPr>
            <a:xfrm>
              <a:off x="953588" y="2003704"/>
              <a:ext cx="1267097" cy="278677"/>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fa-IR" sz="1200" dirty="0" smtClean="0"/>
                <a:t>راه حل شماره 3</a:t>
              </a:r>
              <a:endParaRPr lang="en-US" sz="1200" dirty="0"/>
            </a:p>
          </p:txBody>
        </p:sp>
        <p:sp>
          <p:nvSpPr>
            <p:cNvPr id="25" name="Title 1">
              <a:extLst>
                <a:ext uri="{FF2B5EF4-FFF2-40B4-BE49-F238E27FC236}">
                  <a16:creationId xmlns:a16="http://schemas.microsoft.com/office/drawing/2014/main" id="{BB4B6193-F9F1-4C54-838F-77350B9FC5DC}"/>
                </a:ext>
              </a:extLst>
            </p:cNvPr>
            <p:cNvSpPr txBox="1">
              <a:spLocks/>
            </p:cNvSpPr>
            <p:nvPr/>
          </p:nvSpPr>
          <p:spPr>
            <a:xfrm>
              <a:off x="9442184" y="2716601"/>
              <a:ext cx="1883313" cy="709749"/>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r"/>
              <a:r>
                <a:rPr lang="fa-IR" sz="2400" dirty="0" smtClean="0">
                  <a:solidFill>
                    <a:schemeClr val="tx1"/>
                  </a:solidFill>
                  <a:cs typeface="B Nazanin" panose="00000400000000000000" pitchFamily="2" charset="-78"/>
                </a:rPr>
                <a:t>مهارت حل مسئله </a:t>
              </a:r>
              <a:endParaRPr lang="en-US" sz="2400" dirty="0">
                <a:solidFill>
                  <a:schemeClr val="tx1"/>
                </a:solidFill>
                <a:cs typeface="B Nazanin" panose="00000400000000000000" pitchFamily="2" charset="-78"/>
              </a:endParaRPr>
            </a:p>
          </p:txBody>
        </p:sp>
        <p:sp>
          <p:nvSpPr>
            <p:cNvPr id="26" name="Title 1">
              <a:extLst>
                <a:ext uri="{FF2B5EF4-FFF2-40B4-BE49-F238E27FC236}">
                  <a16:creationId xmlns:a16="http://schemas.microsoft.com/office/drawing/2014/main" id="{BB4B6193-F9F1-4C54-838F-77350B9FC5DC}"/>
                </a:ext>
              </a:extLst>
            </p:cNvPr>
            <p:cNvSpPr txBox="1">
              <a:spLocks/>
            </p:cNvSpPr>
            <p:nvPr/>
          </p:nvSpPr>
          <p:spPr>
            <a:xfrm>
              <a:off x="4211856" y="2716600"/>
              <a:ext cx="2217330" cy="709749"/>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ctr"/>
              <a:r>
                <a:rPr lang="fa-IR" sz="2400" dirty="0" smtClean="0">
                  <a:solidFill>
                    <a:schemeClr val="tx1"/>
                  </a:solidFill>
                  <a:cs typeface="B Nazanin" panose="00000400000000000000" pitchFamily="2" charset="-78"/>
                </a:rPr>
                <a:t>مهارت تصمیم گیری درست</a:t>
              </a:r>
              <a:endParaRPr lang="en-US" sz="2400" dirty="0">
                <a:solidFill>
                  <a:schemeClr val="tx1"/>
                </a:solidFill>
                <a:cs typeface="B Nazanin" panose="00000400000000000000" pitchFamily="2" charset="-78"/>
              </a:endParaRPr>
            </a:p>
          </p:txBody>
        </p:sp>
      </p:grpSp>
      <p:sp>
        <p:nvSpPr>
          <p:cNvPr id="28" name="Rectangle 27"/>
          <p:cNvSpPr/>
          <p:nvPr/>
        </p:nvSpPr>
        <p:spPr>
          <a:xfrm>
            <a:off x="574766" y="1512448"/>
            <a:ext cx="10750731" cy="646331"/>
          </a:xfrm>
          <a:prstGeom prst="rect">
            <a:avLst/>
          </a:prstGeom>
        </p:spPr>
        <p:txBody>
          <a:bodyPr wrap="square">
            <a:spAutoFit/>
          </a:bodyPr>
          <a:lstStyle/>
          <a:p>
            <a:pPr marL="285750" indent="-285750" algn="r" rtl="1">
              <a:buFont typeface="Wingdings" panose="05000000000000000000" pitchFamily="2" charset="2"/>
              <a:buChar char="ü"/>
            </a:pPr>
            <a:r>
              <a:rPr lang="fa-IR" dirty="0">
                <a:cs typeface="B Nazanin" panose="00000400000000000000" pitchFamily="2" charset="-78"/>
              </a:rPr>
              <a:t>وقتی از </a:t>
            </a:r>
            <a:r>
              <a:rPr lang="fa-IR" b="1" dirty="0">
                <a:cs typeface="B Nazanin" panose="00000400000000000000" pitchFamily="2" charset="-78"/>
              </a:rPr>
              <a:t>تصمیم گیری</a:t>
            </a:r>
            <a:r>
              <a:rPr lang="fa-IR" dirty="0">
                <a:cs typeface="B Nazanin" panose="00000400000000000000" pitchFamily="2" charset="-78"/>
              </a:rPr>
              <a:t> حرف می‌زنیم، همیشه </a:t>
            </a:r>
            <a:r>
              <a:rPr lang="fa-IR" b="1" dirty="0">
                <a:cs typeface="B Nazanin" panose="00000400000000000000" pitchFamily="2" charset="-78"/>
              </a:rPr>
              <a:t>گزینه‌ها مشخص هستند</a:t>
            </a:r>
            <a:r>
              <a:rPr lang="fa-IR" b="1" dirty="0" smtClean="0">
                <a:cs typeface="B Nazanin" panose="00000400000000000000" pitchFamily="2" charset="-78"/>
              </a:rPr>
              <a:t>. </a:t>
            </a:r>
            <a:r>
              <a:rPr lang="fa-IR" dirty="0" smtClean="0">
                <a:solidFill>
                  <a:srgbClr val="000000"/>
                </a:solidFill>
                <a:latin typeface="IRANSans"/>
                <a:cs typeface="B Nazanin" panose="00000400000000000000" pitchFamily="2" charset="-78"/>
              </a:rPr>
              <a:t>به </a:t>
            </a:r>
            <a:r>
              <a:rPr lang="fa-IR" dirty="0">
                <a:solidFill>
                  <a:srgbClr val="000000"/>
                </a:solidFill>
                <a:latin typeface="IRANSans"/>
                <a:cs typeface="B Nazanin" panose="00000400000000000000" pitchFamily="2" charset="-78"/>
              </a:rPr>
              <a:t>بیان دیگر، سوالِ </a:t>
            </a:r>
            <a:r>
              <a:rPr lang="fa-IR" b="1" dirty="0">
                <a:solidFill>
                  <a:srgbClr val="000000"/>
                </a:solidFill>
                <a:latin typeface="IRANSans"/>
                <a:cs typeface="B Nazanin" panose="00000400000000000000" pitchFamily="2" charset="-78"/>
              </a:rPr>
              <a:t>تصمیم گیری </a:t>
            </a:r>
            <a:r>
              <a:rPr lang="fa-IR" dirty="0">
                <a:solidFill>
                  <a:srgbClr val="000000"/>
                </a:solidFill>
                <a:latin typeface="IRANSans"/>
                <a:cs typeface="B Nazanin" panose="00000400000000000000" pitchFamily="2" charset="-78"/>
              </a:rPr>
              <a:t>این </a:t>
            </a:r>
            <a:r>
              <a:rPr lang="fa-IR" b="1" dirty="0">
                <a:solidFill>
                  <a:srgbClr val="FF0000"/>
                </a:solidFill>
                <a:latin typeface="IRANSans"/>
                <a:cs typeface="B Nazanin" panose="00000400000000000000" pitchFamily="2" charset="-78"/>
              </a:rPr>
              <a:t>نیست</a:t>
            </a:r>
            <a:r>
              <a:rPr lang="fa-IR" dirty="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که</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a:t>
            </a:r>
            <a:r>
              <a:rPr lang="fa-IR" dirty="0">
                <a:solidFill>
                  <a:srgbClr val="000000"/>
                </a:solidFill>
                <a:latin typeface="IRANSans"/>
                <a:cs typeface="B Nazanin" panose="00000400000000000000" pitchFamily="2" charset="-78"/>
              </a:rPr>
              <a:t> </a:t>
            </a:r>
            <a:r>
              <a:rPr lang="fa-IR" b="1" dirty="0">
                <a:solidFill>
                  <a:srgbClr val="002060"/>
                </a:solidFill>
                <a:latin typeface="IRANSans"/>
                <a:cs typeface="B Nazanin" panose="00000400000000000000" pitchFamily="2" charset="-78"/>
              </a:rPr>
              <a:t>چه گزینه‌هایی پیش روی من است</a:t>
            </a:r>
            <a:r>
              <a:rPr lang="fa-IR" b="1" dirty="0">
                <a:solidFill>
                  <a:srgbClr val="000000"/>
                </a:solidFill>
                <a:latin typeface="IRANSans"/>
                <a:cs typeface="B Nazanin" panose="00000400000000000000" pitchFamily="2" charset="-78"/>
              </a:rPr>
              <a:t>؟</a:t>
            </a:r>
            <a:endParaRPr lang="en-US" dirty="0">
              <a:cs typeface="B Nazanin" panose="00000400000000000000" pitchFamily="2" charset="-78"/>
            </a:endParaRPr>
          </a:p>
        </p:txBody>
      </p:sp>
      <p:sp>
        <p:nvSpPr>
          <p:cNvPr id="29" name="Rectangle 28"/>
          <p:cNvSpPr/>
          <p:nvPr/>
        </p:nvSpPr>
        <p:spPr>
          <a:xfrm>
            <a:off x="1397725" y="5594308"/>
            <a:ext cx="9418320" cy="646331"/>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r" rtl="1"/>
            <a:r>
              <a:rPr lang="fa-IR" dirty="0">
                <a:solidFill>
                  <a:srgbClr val="000000"/>
                </a:solidFill>
                <a:latin typeface="IRANSans"/>
                <a:cs typeface="B Nazanin" panose="00000400000000000000" pitchFamily="2" charset="-78"/>
              </a:rPr>
              <a:t>نقش </a:t>
            </a:r>
            <a:r>
              <a:rPr lang="fa-IR" b="1" dirty="0">
                <a:solidFill>
                  <a:srgbClr val="000000"/>
                </a:solidFill>
                <a:latin typeface="IRANSans"/>
                <a:cs typeface="B Nazanin" panose="00000400000000000000" pitchFamily="2" charset="-78"/>
              </a:rPr>
              <a:t>بدنه‌ی کارشناسی</a:t>
            </a:r>
            <a:r>
              <a:rPr lang="fa-IR" dirty="0">
                <a:solidFill>
                  <a:srgbClr val="000000"/>
                </a:solidFill>
                <a:latin typeface="IRANSans"/>
                <a:cs typeface="B Nazanin" panose="00000400000000000000" pitchFamily="2" charset="-78"/>
              </a:rPr>
              <a:t> در سازمان‌ها و نیز </a:t>
            </a:r>
            <a:r>
              <a:rPr lang="fa-IR" b="1" dirty="0">
                <a:solidFill>
                  <a:srgbClr val="000000"/>
                </a:solidFill>
                <a:latin typeface="IRANSans"/>
                <a:cs typeface="B Nazanin" panose="00000400000000000000" pitchFamily="2" charset="-78"/>
              </a:rPr>
              <a:t>بسیاری از مشاوران</a:t>
            </a:r>
            <a:r>
              <a:rPr lang="fa-IR" b="1" dirty="0" smtClean="0">
                <a:solidFill>
                  <a:srgbClr val="000000"/>
                </a:solidFill>
                <a:latin typeface="IRANSans"/>
                <a:cs typeface="B Nazanin" panose="00000400000000000000" pitchFamily="2" charset="-78"/>
              </a:rPr>
              <a:t>،</a:t>
            </a:r>
            <a:r>
              <a:rPr lang="en-US" b="1"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همکاری </a:t>
            </a:r>
            <a:r>
              <a:rPr lang="fa-IR" dirty="0">
                <a:solidFill>
                  <a:srgbClr val="000000"/>
                </a:solidFill>
                <a:latin typeface="IRANSans"/>
                <a:cs typeface="B Nazanin" panose="00000400000000000000" pitchFamily="2" charset="-78"/>
              </a:rPr>
              <a:t>در فازِ </a:t>
            </a:r>
            <a:r>
              <a:rPr lang="fa-IR" b="1" dirty="0">
                <a:solidFill>
                  <a:srgbClr val="000000"/>
                </a:solidFill>
                <a:latin typeface="IRANSans"/>
                <a:cs typeface="B Nazanin" panose="00000400000000000000" pitchFamily="2" charset="-78"/>
              </a:rPr>
              <a:t>حل مسئله</a:t>
            </a:r>
            <a:r>
              <a:rPr lang="fa-IR" dirty="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است.</a:t>
            </a:r>
            <a:r>
              <a:rPr lang="en-US" dirty="0" smtClean="0">
                <a:cs typeface="B Nazanin" panose="00000400000000000000" pitchFamily="2" charset="-78"/>
              </a:rPr>
              <a:t> </a:t>
            </a:r>
            <a:r>
              <a:rPr lang="fa-IR" dirty="0" smtClean="0">
                <a:solidFill>
                  <a:srgbClr val="000000"/>
                </a:solidFill>
                <a:latin typeface="IRANSans"/>
                <a:cs typeface="B Nazanin" panose="00000400000000000000" pitchFamily="2" charset="-78"/>
              </a:rPr>
              <a:t>اما </a:t>
            </a:r>
            <a:r>
              <a:rPr lang="fa-IR" dirty="0">
                <a:solidFill>
                  <a:srgbClr val="000000"/>
                </a:solidFill>
                <a:latin typeface="IRANSans"/>
                <a:cs typeface="B Nazanin" panose="00000400000000000000" pitchFamily="2" charset="-78"/>
              </a:rPr>
              <a:t>معمولاً </a:t>
            </a:r>
            <a:r>
              <a:rPr lang="fa-IR" b="1" dirty="0">
                <a:solidFill>
                  <a:srgbClr val="000000"/>
                </a:solidFill>
                <a:latin typeface="IRANSans"/>
                <a:cs typeface="B Nazanin" panose="00000400000000000000" pitchFamily="2" charset="-78"/>
              </a:rPr>
              <a:t>مدیران</a:t>
            </a:r>
            <a:r>
              <a:rPr lang="fa-IR" dirty="0">
                <a:solidFill>
                  <a:srgbClr val="000000"/>
                </a:solidFill>
                <a:latin typeface="IRANSans"/>
                <a:cs typeface="B Nazanin" panose="00000400000000000000" pitchFamily="2" charset="-78"/>
              </a:rPr>
              <a:t> هستند که وظیفه‌ی </a:t>
            </a:r>
            <a:r>
              <a:rPr lang="fa-IR" b="1" dirty="0">
                <a:solidFill>
                  <a:srgbClr val="000000"/>
                </a:solidFill>
                <a:latin typeface="IRANSans"/>
                <a:cs typeface="B Nazanin" panose="00000400000000000000" pitchFamily="2" charset="-78"/>
              </a:rPr>
              <a:t>تصمیم گیری</a:t>
            </a:r>
            <a:r>
              <a:rPr lang="fa-IR" dirty="0">
                <a:solidFill>
                  <a:srgbClr val="000000"/>
                </a:solidFill>
                <a:latin typeface="IRANSans"/>
                <a:cs typeface="B Nazanin" panose="00000400000000000000" pitchFamily="2" charset="-78"/>
              </a:rPr>
              <a:t> (انتخاب از بین گزینه‌های روی میز) را بر عهده می‌گیرند. </a:t>
            </a:r>
            <a:endParaRPr lang="en-US" dirty="0">
              <a:cs typeface="B Nazanin" panose="00000400000000000000" pitchFamily="2" charset="-78"/>
            </a:endParaRPr>
          </a:p>
        </p:txBody>
      </p:sp>
    </p:spTree>
    <p:extLst>
      <p:ext uri="{BB962C8B-B14F-4D97-AF65-F5344CB8AC3E}">
        <p14:creationId xmlns:p14="http://schemas.microsoft.com/office/powerpoint/2010/main" val="92847438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انواع تصمیم گیری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7107922" y="1767601"/>
            <a:ext cx="2899954" cy="954107"/>
          </a:xfrm>
          <a:prstGeom prst="rect">
            <a:avLst/>
          </a:prstGeom>
        </p:spPr>
        <p:txBody>
          <a:bodyPr wrap="square">
            <a:spAutoFit/>
          </a:bodyPr>
          <a:lstStyle/>
          <a:p>
            <a:pPr marL="285750" indent="-285750" algn="just" rtl="1">
              <a:buFont typeface="Arial" panose="020B0604020202020204" pitchFamily="34" charset="0"/>
              <a:buChar char="•"/>
            </a:pPr>
            <a:r>
              <a:rPr lang="en-US" sz="1400" dirty="0" smtClean="0">
                <a:solidFill>
                  <a:srgbClr val="4372C2"/>
                </a:solidFill>
                <a:latin typeface="Tahoma" panose="020B0604030504040204" pitchFamily="34" charset="0"/>
                <a:ea typeface="Tahoma" panose="020B0604030504040204" pitchFamily="34" charset="0"/>
                <a:cs typeface="Tahoma" panose="020B0604030504040204" pitchFamily="34" charset="0"/>
              </a:rPr>
              <a:t>Individual </a:t>
            </a:r>
            <a:r>
              <a:rPr lang="en-US" sz="1400" dirty="0">
                <a:solidFill>
                  <a:srgbClr val="4372C2"/>
                </a:solidFill>
                <a:latin typeface="Tahoma" panose="020B0604030504040204" pitchFamily="34" charset="0"/>
                <a:ea typeface="Tahoma" panose="020B0604030504040204" pitchFamily="34" charset="0"/>
                <a:cs typeface="Tahoma" panose="020B0604030504040204" pitchFamily="34" charset="0"/>
              </a:rPr>
              <a:t>Decision </a:t>
            </a:r>
            <a:r>
              <a:rPr lang="en-US" sz="1400" dirty="0" smtClean="0">
                <a:solidFill>
                  <a:srgbClr val="4372C2"/>
                </a:solidFill>
                <a:latin typeface="Tahoma" panose="020B0604030504040204" pitchFamily="34" charset="0"/>
                <a:ea typeface="Tahoma" panose="020B0604030504040204" pitchFamily="34" charset="0"/>
                <a:cs typeface="Tahoma" panose="020B0604030504040204" pitchFamily="34" charset="0"/>
              </a:rPr>
              <a:t>Making</a:t>
            </a:r>
          </a:p>
          <a:p>
            <a:pPr marL="285750" indent="-285750" algn="just" rtl="1">
              <a:buFont typeface="Arial" panose="020B0604020202020204" pitchFamily="34" charset="0"/>
              <a:buChar char="•"/>
            </a:pPr>
            <a:r>
              <a:rPr lang="en-US" sz="1400" dirty="0" smtClean="0">
                <a:solidFill>
                  <a:srgbClr val="41BCB7"/>
                </a:solidFill>
                <a:latin typeface="Tahoma" panose="020B0604030504040204" pitchFamily="34" charset="0"/>
                <a:ea typeface="Tahoma" panose="020B0604030504040204" pitchFamily="34" charset="0"/>
                <a:cs typeface="Tahoma" panose="020B0604030504040204" pitchFamily="34" charset="0"/>
              </a:rPr>
              <a:t>Managerial Decisions</a:t>
            </a:r>
          </a:p>
          <a:p>
            <a:pPr marL="285750" indent="-285750" algn="just" rtl="1">
              <a:buFont typeface="Arial" panose="020B0604020202020204" pitchFamily="34" charset="0"/>
              <a:buChar char="•"/>
            </a:pPr>
            <a:r>
              <a:rPr lang="en-US" sz="1400" dirty="0" smtClean="0">
                <a:solidFill>
                  <a:srgbClr val="44B565"/>
                </a:solidFill>
                <a:latin typeface="Tahoma" panose="020B0604030504040204" pitchFamily="34" charset="0"/>
                <a:ea typeface="Tahoma" panose="020B0604030504040204" pitchFamily="34" charset="0"/>
                <a:cs typeface="Tahoma" panose="020B0604030504040204" pitchFamily="34" charset="0"/>
              </a:rPr>
              <a:t>Negotiation Decisions</a:t>
            </a:r>
          </a:p>
          <a:p>
            <a:pPr marL="285750" indent="-285750" algn="just" rtl="1">
              <a:buFont typeface="Arial" panose="020B0604020202020204" pitchFamily="34" charset="0"/>
              <a:buChar char="•"/>
            </a:pPr>
            <a:r>
              <a:rPr lang="en-US" sz="1400" dirty="0">
                <a:solidFill>
                  <a:srgbClr val="71AB47"/>
                </a:solidFill>
                <a:latin typeface="Tahoma" panose="020B0604030504040204" pitchFamily="34" charset="0"/>
                <a:ea typeface="Tahoma" panose="020B0604030504040204" pitchFamily="34" charset="0"/>
                <a:cs typeface="Tahoma" panose="020B0604030504040204" pitchFamily="34" charset="0"/>
              </a:rPr>
              <a:t>Societal </a:t>
            </a:r>
            <a:r>
              <a:rPr lang="en-US" sz="1400" dirty="0" smtClean="0">
                <a:solidFill>
                  <a:srgbClr val="71AB47"/>
                </a:solidFill>
                <a:latin typeface="Tahoma" panose="020B0604030504040204" pitchFamily="34" charset="0"/>
                <a:ea typeface="Tahoma" panose="020B0604030504040204" pitchFamily="34" charset="0"/>
                <a:cs typeface="Tahoma" panose="020B0604030504040204" pitchFamily="34" charset="0"/>
              </a:rPr>
              <a:t>Decisions</a:t>
            </a:r>
            <a:endParaRPr lang="en-US" sz="1400" dirty="0">
              <a:solidFill>
                <a:srgbClr val="71AB47"/>
              </a:solidFill>
              <a:latin typeface="Tahoma" panose="020B0604030504040204" pitchFamily="34" charset="0"/>
              <a:ea typeface="Tahoma" panose="020B0604030504040204" pitchFamily="34" charset="0"/>
              <a:cs typeface="Tahoma" panose="020B0604030504040204" pitchFamily="34" charset="0"/>
            </a:endParaRPr>
          </a:p>
        </p:txBody>
      </p:sp>
      <p:pic>
        <p:nvPicPr>
          <p:cNvPr id="4" name="Picture 3"/>
          <p:cNvPicPr>
            <a:picLocks noChangeAspect="1"/>
          </p:cNvPicPr>
          <p:nvPr/>
        </p:nvPicPr>
        <p:blipFill>
          <a:blip r:embed="rId2"/>
          <a:stretch>
            <a:fillRect/>
          </a:stretch>
        </p:blipFill>
        <p:spPr>
          <a:xfrm>
            <a:off x="3654703" y="1978669"/>
            <a:ext cx="3714750" cy="3676650"/>
          </a:xfrm>
          <a:prstGeom prst="rect">
            <a:avLst/>
          </a:prstGeom>
        </p:spPr>
      </p:pic>
      <p:sp>
        <p:nvSpPr>
          <p:cNvPr id="5" name="Rectangle 4"/>
          <p:cNvSpPr/>
          <p:nvPr/>
        </p:nvSpPr>
        <p:spPr>
          <a:xfrm>
            <a:off x="9746344" y="1963896"/>
            <a:ext cx="2155372" cy="523220"/>
          </a:xfrm>
          <a:prstGeom prst="rect">
            <a:avLst/>
          </a:prstGeom>
        </p:spPr>
        <p:txBody>
          <a:bodyPr wrap="square">
            <a:spAutoFit/>
          </a:bodyPr>
          <a:lstStyle/>
          <a:p>
            <a:pPr algn="ctr"/>
            <a:r>
              <a:rPr lang="fa-IR" sz="1400" dirty="0">
                <a:solidFill>
                  <a:srgbClr val="000000"/>
                </a:solidFill>
                <a:latin typeface="IRANSans"/>
                <a:cs typeface="B Nazanin" panose="00000400000000000000" pitchFamily="2" charset="-78"/>
              </a:rPr>
              <a:t>بر </a:t>
            </a:r>
            <a:r>
              <a:rPr lang="fa-IR" sz="1400" dirty="0" smtClean="0">
                <a:solidFill>
                  <a:srgbClr val="000000"/>
                </a:solidFill>
                <a:latin typeface="IRANSans"/>
                <a:cs typeface="B Nazanin" panose="00000400000000000000" pitchFamily="2" charset="-78"/>
              </a:rPr>
              <a:t>اساس</a:t>
            </a:r>
            <a:endParaRPr lang="en-US" sz="1400" dirty="0" smtClean="0">
              <a:solidFill>
                <a:srgbClr val="000000"/>
              </a:solidFill>
              <a:latin typeface="IRANSans"/>
              <a:cs typeface="B Nazanin" panose="00000400000000000000" pitchFamily="2" charset="-78"/>
            </a:endParaRPr>
          </a:p>
          <a:p>
            <a:pPr algn="ctr"/>
            <a:r>
              <a:rPr lang="fa-IR" sz="1400" dirty="0">
                <a:solidFill>
                  <a:srgbClr val="000000"/>
                </a:solidFill>
                <a:latin typeface="IRANSans"/>
                <a:cs typeface="B Nazanin" panose="00000400000000000000" pitchFamily="2" charset="-78"/>
              </a:rPr>
              <a:t> </a:t>
            </a:r>
            <a:r>
              <a:rPr lang="fa-IR" sz="1400" b="1" dirty="0">
                <a:solidFill>
                  <a:srgbClr val="000000"/>
                </a:solidFill>
                <a:latin typeface="IRANSans"/>
                <a:cs typeface="B Nazanin" panose="00000400000000000000" pitchFamily="2" charset="-78"/>
              </a:rPr>
              <a:t>نقش تصمیم گیرنده</a:t>
            </a:r>
            <a:endParaRPr lang="en-US" sz="1400" dirty="0">
              <a:cs typeface="B Nazanin" panose="00000400000000000000" pitchFamily="2" charset="-78"/>
            </a:endParaRPr>
          </a:p>
        </p:txBody>
      </p:sp>
      <p:sp>
        <p:nvSpPr>
          <p:cNvPr id="6" name="Rectangle 5"/>
          <p:cNvSpPr/>
          <p:nvPr/>
        </p:nvSpPr>
        <p:spPr>
          <a:xfrm>
            <a:off x="441369" y="1691901"/>
            <a:ext cx="4508001" cy="954107"/>
          </a:xfrm>
          <a:prstGeom prst="rect">
            <a:avLst/>
          </a:prstGeom>
          <a:ln w="28575">
            <a:solidFill>
              <a:srgbClr val="4372C2"/>
            </a:solidFill>
          </a:ln>
        </p:spPr>
        <p:txBody>
          <a:bodyPr wrap="square">
            <a:spAutoFit/>
          </a:bodyPr>
          <a:lstStyle/>
          <a:p>
            <a:pPr marL="171450" indent="-171450" algn="justLow" rtl="1">
              <a:buFont typeface="Wingdings" panose="05000000000000000000" pitchFamily="2" charset="2"/>
              <a:buChar char="ü"/>
            </a:pPr>
            <a:r>
              <a:rPr lang="fa-IR" sz="1400" b="1" dirty="0" smtClean="0">
                <a:solidFill>
                  <a:srgbClr val="C00000"/>
                </a:solidFill>
                <a:latin typeface="IRANSans"/>
                <a:cs typeface="B Nazanin" panose="00000400000000000000" pitchFamily="2" charset="-78"/>
              </a:rPr>
              <a:t>محوریت تصمیم </a:t>
            </a:r>
            <a:r>
              <a:rPr lang="fa-IR" sz="1400" dirty="0" smtClean="0">
                <a:solidFill>
                  <a:srgbClr val="000000"/>
                </a:solidFill>
                <a:latin typeface="IRANSans"/>
                <a:cs typeface="B Nazanin" panose="00000400000000000000" pitchFamily="2" charset="-78"/>
              </a:rPr>
              <a:t>فرد است و بیشترین اثر تصمیم بر روی خود فرد می باشد . </a:t>
            </a:r>
          </a:p>
          <a:p>
            <a:pPr marL="171450" indent="-171450" algn="justLow"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مسائلی </a:t>
            </a:r>
            <a:r>
              <a:rPr lang="fa-IR" sz="1400" dirty="0">
                <a:solidFill>
                  <a:srgbClr val="000000"/>
                </a:solidFill>
                <a:latin typeface="IRANSans"/>
                <a:cs typeface="B Nazanin" panose="00000400000000000000" pitchFamily="2" charset="-78"/>
              </a:rPr>
              <a:t>مانند </a:t>
            </a:r>
            <a:r>
              <a:rPr lang="fa-IR" sz="1400" b="1" dirty="0">
                <a:solidFill>
                  <a:srgbClr val="4372C2"/>
                </a:solidFill>
                <a:latin typeface="IRANSans"/>
                <a:cs typeface="B Nazanin" panose="00000400000000000000" pitchFamily="2" charset="-78"/>
              </a:rPr>
              <a:t>انتخاب بر اساس احساس</a:t>
            </a:r>
            <a:r>
              <a:rPr lang="fa-IR" sz="1400" dirty="0">
                <a:solidFill>
                  <a:srgbClr val="000000"/>
                </a:solidFill>
                <a:latin typeface="IRANSans"/>
                <a:cs typeface="B Nazanin" panose="00000400000000000000" pitchFamily="2" charset="-78"/>
              </a:rPr>
              <a:t>، </a:t>
            </a:r>
            <a:r>
              <a:rPr lang="fa-IR" sz="1400" b="1" dirty="0">
                <a:solidFill>
                  <a:schemeClr val="accent5">
                    <a:lumMod val="50000"/>
                  </a:schemeClr>
                </a:solidFill>
                <a:latin typeface="IRANSans"/>
                <a:cs typeface="B Nazanin" panose="00000400000000000000" pitchFamily="2" charset="-78"/>
              </a:rPr>
              <a:t>تصمیم گیری‌های شهودی</a:t>
            </a:r>
            <a:r>
              <a:rPr lang="fa-IR" sz="1400" dirty="0">
                <a:solidFill>
                  <a:srgbClr val="000000"/>
                </a:solidFill>
                <a:latin typeface="IRANSans"/>
                <a:cs typeface="B Nazanin" panose="00000400000000000000" pitchFamily="2" charset="-78"/>
              </a:rPr>
              <a:t>، </a:t>
            </a:r>
            <a:r>
              <a:rPr lang="fa-IR" sz="1400" b="1" dirty="0">
                <a:solidFill>
                  <a:srgbClr val="C00000"/>
                </a:solidFill>
                <a:latin typeface="IRANSans"/>
                <a:cs typeface="B Nazanin" panose="00000400000000000000" pitchFamily="2" charset="-78"/>
              </a:rPr>
              <a:t>خطاهای شناختی</a:t>
            </a:r>
            <a:r>
              <a:rPr lang="fa-IR" sz="1400" dirty="0">
                <a:solidFill>
                  <a:srgbClr val="000000"/>
                </a:solidFill>
                <a:latin typeface="IRANSans"/>
                <a:cs typeface="B Nazanin" panose="00000400000000000000" pitchFamily="2" charset="-78"/>
              </a:rPr>
              <a:t> و </a:t>
            </a:r>
            <a:r>
              <a:rPr lang="fa-IR" sz="1400" dirty="0" smtClean="0">
                <a:solidFill>
                  <a:srgbClr val="000000"/>
                </a:solidFill>
                <a:latin typeface="IRANSans"/>
                <a:cs typeface="B Nazanin" panose="00000400000000000000" pitchFamily="2" charset="-78"/>
              </a:rPr>
              <a:t>... </a:t>
            </a:r>
            <a:r>
              <a:rPr lang="fa-IR" sz="1400" dirty="0">
                <a:solidFill>
                  <a:srgbClr val="000000"/>
                </a:solidFill>
                <a:latin typeface="IRANSans"/>
                <a:cs typeface="B Nazanin" panose="00000400000000000000" pitchFamily="2" charset="-78"/>
              </a:rPr>
              <a:t>از جمله موضوعاتی هستند که در این نوع تصمیم گیری‌ها مورد توجه قرار می‌گیرند.</a:t>
            </a:r>
            <a:endParaRPr lang="en-US" sz="1400" dirty="0">
              <a:cs typeface="B Nazanin" panose="00000400000000000000" pitchFamily="2" charset="-78"/>
            </a:endParaRPr>
          </a:p>
        </p:txBody>
      </p:sp>
      <p:sp>
        <p:nvSpPr>
          <p:cNvPr id="7" name="Rectangle 6"/>
          <p:cNvSpPr/>
          <p:nvPr/>
        </p:nvSpPr>
        <p:spPr>
          <a:xfrm>
            <a:off x="7458410" y="3606297"/>
            <a:ext cx="4165602" cy="1169551"/>
          </a:xfrm>
          <a:prstGeom prst="rect">
            <a:avLst/>
          </a:prstGeom>
          <a:ln w="28575">
            <a:solidFill>
              <a:srgbClr val="41BCB7"/>
            </a:solidFill>
          </a:ln>
        </p:spPr>
        <p:style>
          <a:lnRef idx="2">
            <a:schemeClr val="accent1"/>
          </a:lnRef>
          <a:fillRef idx="1">
            <a:schemeClr val="lt1"/>
          </a:fillRef>
          <a:effectRef idx="0">
            <a:schemeClr val="accent1"/>
          </a:effectRef>
          <a:fontRef idx="minor">
            <a:schemeClr val="dk1"/>
          </a:fontRef>
        </p:style>
        <p:txBody>
          <a:bodyPr wrap="square">
            <a:spAutoFit/>
          </a:bodyPr>
          <a:lstStyle/>
          <a:p>
            <a:pPr marL="171450" indent="-171450" algn="justLow"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برای این تصمیمات باید با مدیران بالادستی و </a:t>
            </a:r>
            <a:r>
              <a:rPr lang="fa-IR" sz="1400" b="1" dirty="0" smtClean="0">
                <a:solidFill>
                  <a:srgbClr val="0070C0"/>
                </a:solidFill>
                <a:latin typeface="IRANSans"/>
                <a:cs typeface="B Nazanin" panose="00000400000000000000" pitchFamily="2" charset="-78"/>
              </a:rPr>
              <a:t>سازمان هماهنگی </a:t>
            </a:r>
            <a:r>
              <a:rPr lang="fa-IR" sz="1400" dirty="0" smtClean="0">
                <a:solidFill>
                  <a:srgbClr val="000000"/>
                </a:solidFill>
                <a:latin typeface="IRANSans"/>
                <a:cs typeface="B Nazanin" panose="00000400000000000000" pitchFamily="2" charset="-78"/>
              </a:rPr>
              <a:t>صورت پذیرد . </a:t>
            </a:r>
          </a:p>
          <a:p>
            <a:pPr marL="171450" indent="-171450" algn="justLow"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کسانی </a:t>
            </a:r>
            <a:r>
              <a:rPr lang="fa-IR" sz="1400" dirty="0">
                <a:solidFill>
                  <a:srgbClr val="000000"/>
                </a:solidFill>
                <a:latin typeface="IRANSans"/>
                <a:cs typeface="B Nazanin" panose="00000400000000000000" pitchFamily="2" charset="-78"/>
              </a:rPr>
              <a:t>که با تصمیم‌های مدیریتی مواجه می‌شوند، معمولاً ترجیح می‌دهند از </a:t>
            </a:r>
            <a:r>
              <a:rPr lang="fa-IR" sz="1400" b="1" dirty="0">
                <a:solidFill>
                  <a:srgbClr val="000000"/>
                </a:solidFill>
                <a:latin typeface="IRANSans"/>
                <a:cs typeface="B Nazanin" panose="00000400000000000000" pitchFamily="2" charset="-78"/>
              </a:rPr>
              <a:t>الگوها و ابزارها </a:t>
            </a:r>
            <a:r>
              <a:rPr lang="fa-IR" sz="1400" dirty="0">
                <a:solidFill>
                  <a:srgbClr val="000000"/>
                </a:solidFill>
                <a:latin typeface="IRANSans"/>
                <a:cs typeface="B Nazanin" panose="00000400000000000000" pitchFamily="2" charset="-78"/>
              </a:rPr>
              <a:t>و مدل‌های شناخته شده برای تصمیم گیری استفاده کنند تا بعداً بتوانند از تصمیم‌های خود بهتر دفاع کنند.</a:t>
            </a:r>
            <a:endParaRPr lang="en-US" sz="1400" dirty="0">
              <a:solidFill>
                <a:srgbClr val="000000"/>
              </a:solidFill>
              <a:latin typeface="IRANSans"/>
              <a:cs typeface="B Nazanin" panose="00000400000000000000" pitchFamily="2" charset="-78"/>
            </a:endParaRPr>
          </a:p>
        </p:txBody>
      </p:sp>
      <p:sp>
        <p:nvSpPr>
          <p:cNvPr id="10" name="Rectangle 9"/>
          <p:cNvSpPr/>
          <p:nvPr/>
        </p:nvSpPr>
        <p:spPr>
          <a:xfrm>
            <a:off x="5937068" y="5338761"/>
            <a:ext cx="4948646" cy="1169551"/>
          </a:xfrm>
          <a:prstGeom prst="rect">
            <a:avLst/>
          </a:prstGeom>
          <a:ln w="28575">
            <a:solidFill>
              <a:srgbClr val="44B563"/>
            </a:solidFill>
          </a:ln>
        </p:spPr>
        <p:txBody>
          <a:bodyPr wrap="square">
            <a:spAutoFit/>
          </a:bodyPr>
          <a:lstStyle/>
          <a:p>
            <a:pPr marL="171450" indent="-171450" algn="r" rtl="1">
              <a:buFont typeface="Wingdings" panose="05000000000000000000" pitchFamily="2" charset="2"/>
              <a:buChar char="ü"/>
            </a:pPr>
            <a:r>
              <a:rPr lang="fa-IR" sz="1400" dirty="0">
                <a:solidFill>
                  <a:srgbClr val="000000"/>
                </a:solidFill>
                <a:latin typeface="IRANSans"/>
                <a:cs typeface="B Nazanin" panose="00000400000000000000" pitchFamily="2" charset="-78"/>
              </a:rPr>
              <a:t>بجای یک تصمیم، با یک </a:t>
            </a:r>
            <a:r>
              <a:rPr lang="fa-IR" sz="1400" b="1" dirty="0">
                <a:solidFill>
                  <a:srgbClr val="FF0000"/>
                </a:solidFill>
                <a:latin typeface="IRANSans"/>
                <a:cs typeface="B Nazanin" panose="00000400000000000000" pitchFamily="2" charset="-78"/>
              </a:rPr>
              <a:t>زنجیره از تصمیم‌ها</a:t>
            </a:r>
            <a:r>
              <a:rPr lang="fa-IR" sz="1400" dirty="0">
                <a:solidFill>
                  <a:srgbClr val="000000"/>
                </a:solidFill>
                <a:latin typeface="IRANSans"/>
                <a:cs typeface="B Nazanin" panose="00000400000000000000" pitchFamily="2" charset="-78"/>
              </a:rPr>
              <a:t> مواجه هستید</a:t>
            </a:r>
          </a:p>
          <a:p>
            <a:pPr marL="171450" indent="-171450" algn="r" rtl="1">
              <a:buFont typeface="Wingdings" panose="05000000000000000000" pitchFamily="2" charset="2"/>
              <a:buChar char="ü"/>
            </a:pPr>
            <a:r>
              <a:rPr lang="fa-IR" sz="1400" b="1" dirty="0">
                <a:solidFill>
                  <a:srgbClr val="000000"/>
                </a:solidFill>
                <a:latin typeface="IRANSans"/>
                <a:cs typeface="B Nazanin" panose="00000400000000000000" pitchFamily="2" charset="-78"/>
              </a:rPr>
              <a:t>پارامتر‌های تصمیم گیری طرف مقابل </a:t>
            </a:r>
            <a:r>
              <a:rPr lang="fa-IR" sz="1400" dirty="0">
                <a:solidFill>
                  <a:srgbClr val="000000"/>
                </a:solidFill>
                <a:latin typeface="IRANSans"/>
                <a:cs typeface="B Nazanin" panose="00000400000000000000" pitchFamily="2" charset="-78"/>
              </a:rPr>
              <a:t>هم برای ما جهت تصمیم گیری اهمیت </a:t>
            </a:r>
            <a:r>
              <a:rPr lang="fa-IR" sz="1400" dirty="0" smtClean="0">
                <a:solidFill>
                  <a:srgbClr val="000000"/>
                </a:solidFill>
                <a:latin typeface="IRANSans"/>
                <a:cs typeface="B Nazanin" panose="00000400000000000000" pitchFamily="2" charset="-78"/>
              </a:rPr>
              <a:t>دارد.</a:t>
            </a:r>
          </a:p>
          <a:p>
            <a:pPr marL="171450" indent="-171450" algn="r" rtl="1">
              <a:buFont typeface="Wingdings" panose="05000000000000000000" pitchFamily="2" charset="2"/>
              <a:buChar char="ü"/>
            </a:pPr>
            <a:r>
              <a:rPr lang="fa-IR" sz="1400" dirty="0">
                <a:solidFill>
                  <a:srgbClr val="000000"/>
                </a:solidFill>
                <a:latin typeface="IRANSans"/>
                <a:cs typeface="B Nazanin" panose="00000400000000000000" pitchFamily="2" charset="-78"/>
              </a:rPr>
              <a:t>تصمیم‌های مذاکره‌ای را در بسیاری از موارد نمی‌توان به تعویق انداخت. </a:t>
            </a:r>
            <a:endParaRPr lang="fa-IR" sz="1400" dirty="0" smtClean="0">
              <a:solidFill>
                <a:srgbClr val="000000"/>
              </a:solidFill>
              <a:latin typeface="IRANSans"/>
              <a:cs typeface="B Nazanin" panose="00000400000000000000" pitchFamily="2" charset="-78"/>
            </a:endParaRPr>
          </a:p>
          <a:p>
            <a:pPr marL="171450" indent="-171450" algn="r"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چاره‌ای </a:t>
            </a:r>
            <a:r>
              <a:rPr lang="fa-IR" sz="1400" dirty="0">
                <a:solidFill>
                  <a:srgbClr val="000000"/>
                </a:solidFill>
                <a:latin typeface="IRANSans"/>
                <a:cs typeface="B Nazanin" panose="00000400000000000000" pitchFamily="2" charset="-78"/>
              </a:rPr>
              <a:t>ندارید جز اینکه در همان زمان، گزینه‌ی مناسب را انتخاب کنید. </a:t>
            </a:r>
            <a:endParaRPr lang="fa-IR" sz="1400" dirty="0" smtClean="0">
              <a:solidFill>
                <a:srgbClr val="000000"/>
              </a:solidFill>
              <a:latin typeface="IRANSans"/>
              <a:cs typeface="B Nazanin" panose="00000400000000000000" pitchFamily="2" charset="-78"/>
            </a:endParaRPr>
          </a:p>
          <a:p>
            <a:pPr algn="r" rtl="1"/>
            <a:r>
              <a:rPr lang="fa-IR" sz="1400" b="1" dirty="0" smtClean="0">
                <a:solidFill>
                  <a:srgbClr val="4372C2"/>
                </a:solidFill>
                <a:latin typeface="IRANSans"/>
                <a:cs typeface="B Nazanin" panose="00000400000000000000" pitchFamily="2" charset="-78"/>
              </a:rPr>
              <a:t>( تصمیم گیری سریع )</a:t>
            </a:r>
            <a:endParaRPr lang="en-US" sz="1400" b="1" dirty="0">
              <a:solidFill>
                <a:srgbClr val="4372C2"/>
              </a:solidFill>
              <a:latin typeface="IRANSans"/>
              <a:cs typeface="B Nazanin" panose="00000400000000000000" pitchFamily="2" charset="-78"/>
            </a:endParaRPr>
          </a:p>
        </p:txBody>
      </p:sp>
      <p:sp>
        <p:nvSpPr>
          <p:cNvPr id="30" name="Rectangle 29"/>
          <p:cNvSpPr/>
          <p:nvPr/>
        </p:nvSpPr>
        <p:spPr>
          <a:xfrm>
            <a:off x="441370" y="4471738"/>
            <a:ext cx="4264436" cy="738664"/>
          </a:xfrm>
          <a:prstGeom prst="rect">
            <a:avLst/>
          </a:prstGeom>
          <a:ln w="28575">
            <a:solidFill>
              <a:srgbClr val="71AB47"/>
            </a:solidFill>
          </a:ln>
        </p:spPr>
        <p:txBody>
          <a:bodyPr wrap="square">
            <a:spAutoFit/>
          </a:bodyPr>
          <a:lstStyle/>
          <a:p>
            <a:pPr marL="171450" indent="-171450" algn="justLow"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یکی از </a:t>
            </a:r>
            <a:r>
              <a:rPr lang="fa-IR" sz="1400" dirty="0">
                <a:solidFill>
                  <a:srgbClr val="000000"/>
                </a:solidFill>
                <a:latin typeface="IRANSans"/>
                <a:cs typeface="B Nazanin" panose="00000400000000000000" pitchFamily="2" charset="-78"/>
              </a:rPr>
              <a:t>اهداف </a:t>
            </a:r>
            <a:r>
              <a:rPr lang="fa-IR" sz="1400" b="1" dirty="0">
                <a:solidFill>
                  <a:schemeClr val="accent2"/>
                </a:solidFill>
                <a:latin typeface="IRANSans"/>
                <a:cs typeface="B Nazanin" panose="00000400000000000000" pitchFamily="2" charset="-78"/>
              </a:rPr>
              <a:t>تفکر سیستمی </a:t>
            </a:r>
            <a:r>
              <a:rPr lang="fa-IR" sz="1400" dirty="0">
                <a:solidFill>
                  <a:srgbClr val="000000"/>
                </a:solidFill>
                <a:latin typeface="IRANSans"/>
                <a:cs typeface="B Nazanin" panose="00000400000000000000" pitchFamily="2" charset="-78"/>
              </a:rPr>
              <a:t>بهبود این نوع تصمیم ها می باشد . </a:t>
            </a:r>
          </a:p>
          <a:p>
            <a:pPr marL="171450" indent="-171450" algn="justLow"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استفاده </a:t>
            </a:r>
            <a:r>
              <a:rPr lang="fa-IR" sz="1400" dirty="0">
                <a:solidFill>
                  <a:srgbClr val="000000"/>
                </a:solidFill>
                <a:latin typeface="IRANSans"/>
                <a:cs typeface="B Nazanin" panose="00000400000000000000" pitchFamily="2" charset="-78"/>
              </a:rPr>
              <a:t>از کیسه زباله پلاستیکی یا کاغذی، خاموش کردن یا نکردن یک </a:t>
            </a:r>
            <a:r>
              <a:rPr lang="fa-IR" sz="1400" dirty="0" smtClean="0">
                <a:solidFill>
                  <a:srgbClr val="000000"/>
                </a:solidFill>
                <a:latin typeface="IRANSans"/>
                <a:cs typeface="B Nazanin" panose="00000400000000000000" pitchFamily="2" charset="-78"/>
              </a:rPr>
              <a:t>لامپ</a:t>
            </a:r>
            <a:r>
              <a:rPr lang="en-US" sz="1400" dirty="0" smtClean="0">
                <a:solidFill>
                  <a:srgbClr val="000000"/>
                </a:solidFill>
                <a:latin typeface="IRANSans"/>
                <a:cs typeface="B Nazanin" panose="00000400000000000000" pitchFamily="2" charset="-78"/>
              </a:rPr>
              <a:t>، </a:t>
            </a:r>
            <a:r>
              <a:rPr lang="fa-IR" sz="1400" dirty="0">
                <a:solidFill>
                  <a:srgbClr val="000000"/>
                </a:solidFill>
                <a:latin typeface="IRANSans"/>
                <a:cs typeface="B Nazanin" panose="00000400000000000000" pitchFamily="2" charset="-78"/>
              </a:rPr>
              <a:t>تنظیم کردن </a:t>
            </a:r>
            <a:r>
              <a:rPr lang="fa-IR" sz="1400" dirty="0" smtClean="0">
                <a:solidFill>
                  <a:srgbClr val="000000"/>
                </a:solidFill>
                <a:latin typeface="IRANSans"/>
                <a:cs typeface="B Nazanin" panose="00000400000000000000" pitchFamily="2" charset="-78"/>
              </a:rPr>
              <a:t>موتور و ... از این نوع تصمیم گیری ها    می باشند . </a:t>
            </a:r>
            <a:endParaRPr lang="en-US" sz="1400" dirty="0">
              <a:solidFill>
                <a:srgbClr val="000000"/>
              </a:solidFill>
              <a:latin typeface="IRANSans"/>
              <a:cs typeface="B Nazanin" panose="00000400000000000000" pitchFamily="2" charset="-78"/>
            </a:endParaRPr>
          </a:p>
        </p:txBody>
      </p:sp>
    </p:spTree>
    <p:extLst>
      <p:ext uri="{BB962C8B-B14F-4D97-AF65-F5344CB8AC3E}">
        <p14:creationId xmlns:p14="http://schemas.microsoft.com/office/powerpoint/2010/main" val="14387637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مهارت تصمیم گیری</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0" name="Title 1">
            <a:extLst>
              <a:ext uri="{FF2B5EF4-FFF2-40B4-BE49-F238E27FC236}">
                <a16:creationId xmlns:a16="http://schemas.microsoft.com/office/drawing/2014/main" id="{BB4B6193-F9F1-4C54-838F-77350B9FC5DC}"/>
              </a:ext>
            </a:extLst>
          </p:cNvPr>
          <p:cNvSpPr txBox="1">
            <a:spLocks/>
          </p:cNvSpPr>
          <p:nvPr/>
        </p:nvSpPr>
        <p:spPr>
          <a:xfrm>
            <a:off x="1802674" y="1359961"/>
            <a:ext cx="9522823" cy="573719"/>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l" rtl="1"/>
            <a:r>
              <a:rPr lang="fa-IR" sz="2400" dirty="0" smtClean="0">
                <a:solidFill>
                  <a:schemeClr val="tx1"/>
                </a:solidFill>
                <a:cs typeface="B Nazanin" panose="00000400000000000000" pitchFamily="2" charset="-78"/>
              </a:rPr>
              <a:t>تصمیم گیری یک </a:t>
            </a:r>
            <a:r>
              <a:rPr lang="fa-IR" sz="2400" b="1" dirty="0" smtClean="0">
                <a:solidFill>
                  <a:srgbClr val="FF0000"/>
                </a:solidFill>
                <a:cs typeface="B Nazanin" panose="00000400000000000000" pitchFamily="2" charset="-78"/>
              </a:rPr>
              <a:t>مهارت</a:t>
            </a:r>
            <a:r>
              <a:rPr lang="fa-IR" sz="2400" dirty="0" smtClean="0">
                <a:solidFill>
                  <a:schemeClr val="tx1"/>
                </a:solidFill>
                <a:cs typeface="B Nazanin" panose="00000400000000000000" pitchFamily="2" charset="-78"/>
              </a:rPr>
              <a:t> است . ما با تجربه و تمرین و توجه</a:t>
            </a:r>
            <a:r>
              <a:rPr lang="en-US" sz="2400" dirty="0" smtClean="0">
                <a:solidFill>
                  <a:schemeClr val="tx1"/>
                </a:solidFill>
                <a:cs typeface="B Nazanin" panose="00000400000000000000" pitchFamily="2" charset="-78"/>
              </a:rPr>
              <a:t> </a:t>
            </a:r>
            <a:r>
              <a:rPr lang="fa-IR" sz="2400" dirty="0" smtClean="0">
                <a:solidFill>
                  <a:schemeClr val="tx1"/>
                </a:solidFill>
                <a:cs typeface="B Nazanin" panose="00000400000000000000" pitchFamily="2" charset="-78"/>
              </a:rPr>
              <a:t>، تصمیم گیری هایمان بهبود پیدا میکند .  </a:t>
            </a:r>
            <a:endParaRPr lang="en-US" sz="2400" dirty="0">
              <a:solidFill>
                <a:schemeClr val="tx1"/>
              </a:solidFill>
              <a:cs typeface="B Nazanin" panose="00000400000000000000" pitchFamily="2" charset="-78"/>
            </a:endParaRPr>
          </a:p>
        </p:txBody>
      </p:sp>
      <p:pic>
        <p:nvPicPr>
          <p:cNvPr id="3" name="Picture 2"/>
          <p:cNvPicPr>
            <a:picLocks noChangeAspect="1"/>
          </p:cNvPicPr>
          <p:nvPr/>
        </p:nvPicPr>
        <p:blipFill>
          <a:blip r:embed="rId2"/>
          <a:stretch>
            <a:fillRect/>
          </a:stretch>
        </p:blipFill>
        <p:spPr>
          <a:xfrm>
            <a:off x="10834959" y="2872816"/>
            <a:ext cx="981075" cy="1524000"/>
          </a:xfrm>
          <a:prstGeom prst="rect">
            <a:avLst/>
          </a:prstGeom>
        </p:spPr>
      </p:pic>
      <p:sp>
        <p:nvSpPr>
          <p:cNvPr id="31" name="Title 1">
            <a:extLst>
              <a:ext uri="{FF2B5EF4-FFF2-40B4-BE49-F238E27FC236}">
                <a16:creationId xmlns:a16="http://schemas.microsoft.com/office/drawing/2014/main" id="{BB4B6193-F9F1-4C54-838F-77350B9FC5DC}"/>
              </a:ext>
            </a:extLst>
          </p:cNvPr>
          <p:cNvSpPr txBox="1">
            <a:spLocks/>
          </p:cNvSpPr>
          <p:nvPr/>
        </p:nvSpPr>
        <p:spPr>
          <a:xfrm>
            <a:off x="1033662" y="1923087"/>
            <a:ext cx="7842340" cy="505095"/>
          </a:xfrm>
          <a:prstGeom prst="rect">
            <a:avLst/>
          </a:prstGeom>
        </p:spPr>
        <p:txBody>
          <a:bodyPr vert="horz" lIns="91440" tIns="45720" rIns="91440" bIns="45720" rtlCol="0" anchor="ctr">
            <a:normAutofit fontScale="900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r"/>
            <a:r>
              <a:rPr lang="fa-IR" sz="1800" dirty="0" smtClean="0">
                <a:solidFill>
                  <a:schemeClr val="accent4">
                    <a:lumMod val="75000"/>
                  </a:schemeClr>
                </a:solidFill>
                <a:cs typeface="B Nazanin" panose="00000400000000000000" pitchFamily="2" charset="-78"/>
              </a:rPr>
              <a:t>تصمیماتی که </a:t>
            </a:r>
            <a:r>
              <a:rPr lang="fa-IR" sz="1800" b="1" dirty="0" smtClean="0">
                <a:solidFill>
                  <a:schemeClr val="accent4">
                    <a:lumMod val="75000"/>
                  </a:schemeClr>
                </a:solidFill>
                <a:cs typeface="B Nazanin" panose="00000400000000000000" pitchFamily="2" charset="-78"/>
              </a:rPr>
              <a:t>قادر به بیان آنها نیستیم (سخت بیان میکنیم ) </a:t>
            </a:r>
            <a:r>
              <a:rPr lang="fa-IR" sz="1800" dirty="0" smtClean="0">
                <a:solidFill>
                  <a:schemeClr val="accent4">
                    <a:lumMod val="75000"/>
                  </a:schemeClr>
                </a:solidFill>
                <a:cs typeface="B Nazanin" panose="00000400000000000000" pitchFamily="2" charset="-78"/>
              </a:rPr>
              <a:t>/ </a:t>
            </a:r>
            <a:r>
              <a:rPr lang="fa-IR" sz="1800" b="1" dirty="0" smtClean="0">
                <a:solidFill>
                  <a:schemeClr val="accent4">
                    <a:lumMod val="75000"/>
                  </a:schemeClr>
                </a:solidFill>
                <a:cs typeface="B Nazanin" panose="00000400000000000000" pitchFamily="2" charset="-78"/>
              </a:rPr>
              <a:t>شهودی</a:t>
            </a:r>
            <a:r>
              <a:rPr lang="fa-IR" sz="1800" dirty="0" smtClean="0">
                <a:solidFill>
                  <a:schemeClr val="accent4">
                    <a:lumMod val="75000"/>
                  </a:schemeClr>
                </a:solidFill>
                <a:cs typeface="B Nazanin" panose="00000400000000000000" pitchFamily="2" charset="-78"/>
              </a:rPr>
              <a:t> هستند / از ما زمان و انرژی </a:t>
            </a:r>
            <a:r>
              <a:rPr lang="fa-IR" sz="1800" dirty="0">
                <a:solidFill>
                  <a:schemeClr val="accent4">
                    <a:lumMod val="75000"/>
                  </a:schemeClr>
                </a:solidFill>
                <a:cs typeface="B Nazanin" panose="00000400000000000000" pitchFamily="2" charset="-78"/>
              </a:rPr>
              <a:t>نمیگیرند</a:t>
            </a:r>
            <a:r>
              <a:rPr lang="fa-IR" sz="1800" dirty="0" smtClean="0">
                <a:solidFill>
                  <a:schemeClr val="accent4">
                    <a:lumMod val="75000"/>
                  </a:schemeClr>
                </a:solidFill>
                <a:cs typeface="B Nazanin" panose="00000400000000000000" pitchFamily="2" charset="-78"/>
              </a:rPr>
              <a:t>  </a:t>
            </a:r>
            <a:endParaRPr lang="en-US" sz="1800" dirty="0">
              <a:solidFill>
                <a:schemeClr val="accent4">
                  <a:lumMod val="75000"/>
                </a:schemeClr>
              </a:solidFill>
              <a:cs typeface="B Nazanin" panose="00000400000000000000" pitchFamily="2" charset="-78"/>
            </a:endParaRPr>
          </a:p>
        </p:txBody>
      </p:sp>
      <p:pic>
        <p:nvPicPr>
          <p:cNvPr id="4" name="Picture 3"/>
          <p:cNvPicPr>
            <a:picLocks noChangeAspect="1"/>
          </p:cNvPicPr>
          <p:nvPr/>
        </p:nvPicPr>
        <p:blipFill>
          <a:blip r:embed="rId3"/>
          <a:stretch>
            <a:fillRect/>
          </a:stretch>
        </p:blipFill>
        <p:spPr>
          <a:xfrm>
            <a:off x="9362934" y="3083619"/>
            <a:ext cx="1352550" cy="1066800"/>
          </a:xfrm>
          <a:prstGeom prst="rect">
            <a:avLst/>
          </a:prstGeom>
        </p:spPr>
      </p:pic>
      <p:sp>
        <p:nvSpPr>
          <p:cNvPr id="5" name="Rectangle 4"/>
          <p:cNvSpPr/>
          <p:nvPr/>
        </p:nvSpPr>
        <p:spPr>
          <a:xfrm rot="16200000">
            <a:off x="8617653" y="2692392"/>
            <a:ext cx="981359" cy="307777"/>
          </a:xfrm>
          <a:prstGeom prst="rect">
            <a:avLst/>
          </a:prstGeom>
        </p:spPr>
        <p:style>
          <a:lnRef idx="1">
            <a:schemeClr val="accent3"/>
          </a:lnRef>
          <a:fillRef idx="3">
            <a:schemeClr val="accent3"/>
          </a:fillRef>
          <a:effectRef idx="2">
            <a:schemeClr val="accent3"/>
          </a:effectRef>
          <a:fontRef idx="minor">
            <a:schemeClr val="lt1"/>
          </a:fontRef>
        </p:style>
        <p:txBody>
          <a:bodyPr wrap="none">
            <a:spAutoFit/>
          </a:bodyPr>
          <a:lstStyle/>
          <a:p>
            <a:r>
              <a:rPr lang="en-US" sz="1400" dirty="0">
                <a:latin typeface="Tahoma" panose="020B0604030504040204" pitchFamily="34" charset="0"/>
                <a:ea typeface="Tahoma" panose="020B0604030504040204" pitchFamily="34" charset="0"/>
                <a:cs typeface="Tahoma" panose="020B0604030504040204" pitchFamily="34" charset="0"/>
              </a:rPr>
              <a:t>System 1 </a:t>
            </a:r>
          </a:p>
        </p:txBody>
      </p:sp>
      <p:sp>
        <p:nvSpPr>
          <p:cNvPr id="32" name="Rectangle 31"/>
          <p:cNvSpPr/>
          <p:nvPr/>
        </p:nvSpPr>
        <p:spPr>
          <a:xfrm rot="16200000">
            <a:off x="8625347" y="4219650"/>
            <a:ext cx="965970" cy="307777"/>
          </a:xfrm>
          <a:prstGeom prst="rect">
            <a:avLst/>
          </a:prstGeom>
        </p:spPr>
        <p:style>
          <a:lnRef idx="1">
            <a:schemeClr val="accent4"/>
          </a:lnRef>
          <a:fillRef idx="3">
            <a:schemeClr val="accent4"/>
          </a:fillRef>
          <a:effectRef idx="2">
            <a:schemeClr val="accent4"/>
          </a:effectRef>
          <a:fontRef idx="minor">
            <a:schemeClr val="lt1"/>
          </a:fontRef>
        </p:style>
        <p:txBody>
          <a:bodyPr wrap="none">
            <a:spAutoFit/>
          </a:bodyPr>
          <a:lstStyle/>
          <a:p>
            <a:r>
              <a:rPr lang="en-US" sz="1400" dirty="0" smtClean="0">
                <a:latin typeface="Tahoma" panose="020B0604030504040204" pitchFamily="34" charset="0"/>
                <a:ea typeface="Tahoma" panose="020B0604030504040204" pitchFamily="34" charset="0"/>
                <a:cs typeface="Tahoma" panose="020B0604030504040204" pitchFamily="34" charset="0"/>
              </a:rPr>
              <a:t>System 2 </a:t>
            </a:r>
            <a:endParaRPr lang="en-US" sz="1400" dirty="0">
              <a:latin typeface="Tahoma" panose="020B0604030504040204" pitchFamily="34" charset="0"/>
              <a:ea typeface="Tahoma" panose="020B0604030504040204" pitchFamily="34" charset="0"/>
              <a:cs typeface="Tahoma" panose="020B0604030504040204" pitchFamily="34" charset="0"/>
            </a:endParaRPr>
          </a:p>
        </p:txBody>
      </p:sp>
      <p:sp>
        <p:nvSpPr>
          <p:cNvPr id="33" name="Title 1">
            <a:extLst>
              <a:ext uri="{FF2B5EF4-FFF2-40B4-BE49-F238E27FC236}">
                <a16:creationId xmlns:a16="http://schemas.microsoft.com/office/drawing/2014/main" id="{BB4B6193-F9F1-4C54-838F-77350B9FC5DC}"/>
              </a:ext>
            </a:extLst>
          </p:cNvPr>
          <p:cNvSpPr txBox="1">
            <a:spLocks/>
          </p:cNvSpPr>
          <p:nvPr/>
        </p:nvSpPr>
        <p:spPr>
          <a:xfrm>
            <a:off x="956982" y="2355528"/>
            <a:ext cx="7842340" cy="127156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این دفعه کدان طعم بستنی رو برای خوردن انتخاب کنم؟</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هر روز صبح : امروز سر کار بروم یا نه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برای رفتن به سر کار از این کوچه بگذرم یا از اون کوچه عبور کنم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در رانندگی : الان ترمز بکنم یا نکنم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برای یک متخصص حرفه ای نرم افزار : معماری سیستم رو قبل از پیاده سازی تعیین بکنم یا نکنم ؟ </a:t>
            </a:r>
            <a:endParaRPr lang="en-US" sz="1600" dirty="0">
              <a:solidFill>
                <a:schemeClr val="tx1"/>
              </a:solidFill>
              <a:cs typeface="B Nazanin" panose="00000400000000000000" pitchFamily="2" charset="-78"/>
            </a:endParaRPr>
          </a:p>
        </p:txBody>
      </p:sp>
      <p:sp>
        <p:nvSpPr>
          <p:cNvPr id="34" name="Title 1">
            <a:extLst>
              <a:ext uri="{FF2B5EF4-FFF2-40B4-BE49-F238E27FC236}">
                <a16:creationId xmlns:a16="http://schemas.microsoft.com/office/drawing/2014/main" id="{BB4B6193-F9F1-4C54-838F-77350B9FC5DC}"/>
              </a:ext>
            </a:extLst>
          </p:cNvPr>
          <p:cNvSpPr txBox="1">
            <a:spLocks/>
          </p:cNvSpPr>
          <p:nvPr/>
        </p:nvSpPr>
        <p:spPr>
          <a:xfrm>
            <a:off x="956982" y="3660358"/>
            <a:ext cx="7842340" cy="505095"/>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r"/>
            <a:r>
              <a:rPr lang="fa-IR" sz="1800" dirty="0" smtClean="0">
                <a:solidFill>
                  <a:schemeClr val="accent4">
                    <a:lumMod val="75000"/>
                  </a:schemeClr>
                </a:solidFill>
                <a:cs typeface="B Nazanin" panose="00000400000000000000" pitchFamily="2" charset="-78"/>
              </a:rPr>
              <a:t>تصمیماتی که </a:t>
            </a:r>
            <a:r>
              <a:rPr lang="fa-IR" sz="1800" b="1" dirty="0" smtClean="0">
                <a:solidFill>
                  <a:schemeClr val="accent4">
                    <a:lumMod val="75000"/>
                  </a:schemeClr>
                </a:solidFill>
                <a:cs typeface="B Nazanin" panose="00000400000000000000" pitchFamily="2" charset="-78"/>
              </a:rPr>
              <a:t>دلایل آن را مشخصا میدانیم و بیان میکنیم </a:t>
            </a:r>
            <a:r>
              <a:rPr lang="fa-IR" sz="1800" dirty="0" smtClean="0">
                <a:solidFill>
                  <a:schemeClr val="accent4">
                    <a:lumMod val="75000"/>
                  </a:schemeClr>
                </a:solidFill>
                <a:cs typeface="B Nazanin" panose="00000400000000000000" pitchFamily="2" charset="-78"/>
              </a:rPr>
              <a:t>/ از ما زمان و انرژی زیاد میگیرند   </a:t>
            </a:r>
            <a:endParaRPr lang="en-US" sz="1800" dirty="0">
              <a:solidFill>
                <a:schemeClr val="accent4">
                  <a:lumMod val="75000"/>
                </a:schemeClr>
              </a:solidFill>
              <a:cs typeface="B Nazanin" panose="00000400000000000000" pitchFamily="2" charset="-78"/>
            </a:endParaRPr>
          </a:p>
        </p:txBody>
      </p:sp>
      <p:sp>
        <p:nvSpPr>
          <p:cNvPr id="35" name="Title 1">
            <a:extLst>
              <a:ext uri="{FF2B5EF4-FFF2-40B4-BE49-F238E27FC236}">
                <a16:creationId xmlns:a16="http://schemas.microsoft.com/office/drawing/2014/main" id="{BB4B6193-F9F1-4C54-838F-77350B9FC5DC}"/>
              </a:ext>
            </a:extLst>
          </p:cNvPr>
          <p:cNvSpPr txBox="1">
            <a:spLocks/>
          </p:cNvSpPr>
          <p:nvPr/>
        </p:nvSpPr>
        <p:spPr>
          <a:xfrm>
            <a:off x="956982" y="4128441"/>
            <a:ext cx="7842340" cy="1271560"/>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چرا این رشته دانشگاهی رو انتخاب کردم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دلایل انتخاب همسرم چه بوده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چرا امروز تصمیم گرفتم سر کار نروم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کدوم معماری نرم افزار برای سیستم من مناسب است ؟ </a:t>
            </a:r>
          </a:p>
          <a:p>
            <a:pPr marL="285750" indent="-285750" algn="r" rtl="1">
              <a:buFont typeface="Arial" panose="020B0604020202020204" pitchFamily="34" charset="0"/>
              <a:buChar char="•"/>
            </a:pPr>
            <a:r>
              <a:rPr lang="fa-IR" sz="1600" dirty="0" smtClean="0">
                <a:solidFill>
                  <a:schemeClr val="tx1"/>
                </a:solidFill>
                <a:cs typeface="B Nazanin" panose="00000400000000000000" pitchFamily="2" charset="-78"/>
              </a:rPr>
              <a:t>برای یک متخصص کم تجربه : آیا باید زمان خودم رو برای تعیین معماری سیستم صرف کنم ؟ </a:t>
            </a:r>
            <a:endParaRPr lang="en-US" sz="1600" dirty="0">
              <a:solidFill>
                <a:schemeClr val="tx1"/>
              </a:solidFill>
              <a:cs typeface="B Nazanin" panose="00000400000000000000" pitchFamily="2" charset="-78"/>
            </a:endParaRPr>
          </a:p>
        </p:txBody>
      </p:sp>
      <p:sp>
        <p:nvSpPr>
          <p:cNvPr id="36" name="Title 1">
            <a:extLst>
              <a:ext uri="{FF2B5EF4-FFF2-40B4-BE49-F238E27FC236}">
                <a16:creationId xmlns:a16="http://schemas.microsoft.com/office/drawing/2014/main" id="{BB4B6193-F9F1-4C54-838F-77350B9FC5DC}"/>
              </a:ext>
            </a:extLst>
          </p:cNvPr>
          <p:cNvSpPr txBox="1">
            <a:spLocks/>
          </p:cNvSpPr>
          <p:nvPr/>
        </p:nvSpPr>
        <p:spPr>
          <a:xfrm>
            <a:off x="147086" y="5561175"/>
            <a:ext cx="11511513" cy="515917"/>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marL="285750" indent="-285750" algn="r" rtl="1">
              <a:buFont typeface="Wingdings" panose="05000000000000000000" pitchFamily="2" charset="2"/>
              <a:buChar char="ü"/>
            </a:pPr>
            <a:r>
              <a:rPr lang="fa-IR" sz="1800" dirty="0" smtClean="0">
                <a:solidFill>
                  <a:schemeClr val="tx1"/>
                </a:solidFill>
                <a:cs typeface="B Nazanin" panose="00000400000000000000" pitchFamily="2" charset="-78"/>
              </a:rPr>
              <a:t>ما بعضا مواردی رو که باید از </a:t>
            </a:r>
            <a:r>
              <a:rPr lang="en-US" sz="1800" dirty="0" smtClean="0">
                <a:solidFill>
                  <a:schemeClr val="tx1"/>
                </a:solidFill>
                <a:cs typeface="B Nazanin" panose="00000400000000000000" pitchFamily="2" charset="-78"/>
              </a:rPr>
              <a:t>System  2 </a:t>
            </a:r>
            <a:r>
              <a:rPr lang="fa-IR" sz="1800" dirty="0" smtClean="0">
                <a:solidFill>
                  <a:schemeClr val="tx1"/>
                </a:solidFill>
                <a:cs typeface="B Nazanin" panose="00000400000000000000" pitchFamily="2" charset="-78"/>
              </a:rPr>
              <a:t> مغز استفاده کنیم از </a:t>
            </a:r>
            <a:r>
              <a:rPr lang="en-US" sz="1800" dirty="0" smtClean="0">
                <a:solidFill>
                  <a:schemeClr val="tx1"/>
                </a:solidFill>
                <a:cs typeface="B Nazanin" panose="00000400000000000000" pitchFamily="2" charset="-78"/>
              </a:rPr>
              <a:t>System 1 </a:t>
            </a:r>
            <a:r>
              <a:rPr lang="fa-IR" sz="1800" dirty="0" smtClean="0">
                <a:solidFill>
                  <a:schemeClr val="tx1"/>
                </a:solidFill>
                <a:cs typeface="B Nazanin" panose="00000400000000000000" pitchFamily="2" charset="-78"/>
              </a:rPr>
              <a:t> استفاده میکنیم و بعدا براش دلیل میتراشیم .  </a:t>
            </a:r>
            <a:endParaRPr lang="en-US" sz="1800" dirty="0">
              <a:solidFill>
                <a:schemeClr val="tx1"/>
              </a:solidFill>
              <a:cs typeface="B Nazanin" panose="00000400000000000000" pitchFamily="2" charset="-78"/>
            </a:endParaRPr>
          </a:p>
        </p:txBody>
      </p:sp>
      <p:sp>
        <p:nvSpPr>
          <p:cNvPr id="37" name="Title 1">
            <a:extLst>
              <a:ext uri="{FF2B5EF4-FFF2-40B4-BE49-F238E27FC236}">
                <a16:creationId xmlns:a16="http://schemas.microsoft.com/office/drawing/2014/main" id="{BB4B6193-F9F1-4C54-838F-77350B9FC5DC}"/>
              </a:ext>
            </a:extLst>
          </p:cNvPr>
          <p:cNvSpPr txBox="1">
            <a:spLocks/>
          </p:cNvSpPr>
          <p:nvPr/>
        </p:nvSpPr>
        <p:spPr>
          <a:xfrm>
            <a:off x="147085" y="6048338"/>
            <a:ext cx="11511513" cy="515917"/>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marL="285750" indent="-285750" algn="r" rtl="1">
              <a:buFont typeface="Wingdings" panose="05000000000000000000" pitchFamily="2" charset="2"/>
              <a:buChar char="ü"/>
            </a:pPr>
            <a:r>
              <a:rPr lang="fa-IR" sz="1800" dirty="0" smtClean="0">
                <a:solidFill>
                  <a:schemeClr val="tx1"/>
                </a:solidFill>
                <a:cs typeface="B Nazanin" panose="00000400000000000000" pitchFamily="2" charset="-78"/>
              </a:rPr>
              <a:t>بعضی موارد تصمیم گیری فقط برای افراد با تجربه بالا از جنس </a:t>
            </a:r>
            <a:r>
              <a:rPr lang="en-US" sz="1800" dirty="0" smtClean="0">
                <a:solidFill>
                  <a:schemeClr val="tx1"/>
                </a:solidFill>
                <a:cs typeface="B Nazanin" panose="00000400000000000000" pitchFamily="2" charset="-78"/>
              </a:rPr>
              <a:t> System 1</a:t>
            </a:r>
            <a:r>
              <a:rPr lang="fa-IR" sz="1800" dirty="0" smtClean="0">
                <a:solidFill>
                  <a:schemeClr val="tx1"/>
                </a:solidFill>
                <a:cs typeface="B Nazanin" panose="00000400000000000000" pitchFamily="2" charset="-78"/>
              </a:rPr>
              <a:t> است. (</a:t>
            </a:r>
            <a:r>
              <a:rPr lang="fa-IR" sz="1800" b="1" dirty="0">
                <a:solidFill>
                  <a:schemeClr val="tx1"/>
                </a:solidFill>
                <a:cs typeface="B Nazanin" panose="00000400000000000000" pitchFamily="2" charset="-78"/>
              </a:rPr>
              <a:t>آنچه جوان در آینه بیند ....  پیر در خشت خام بیند</a:t>
            </a:r>
            <a:r>
              <a:rPr lang="fa-IR" sz="1800" dirty="0" smtClean="0">
                <a:solidFill>
                  <a:schemeClr val="tx1"/>
                </a:solidFill>
                <a:cs typeface="B Nazanin" panose="00000400000000000000" pitchFamily="2" charset="-78"/>
              </a:rPr>
              <a:t> )</a:t>
            </a:r>
            <a:endParaRPr lang="en-US" sz="1800" b="1" dirty="0">
              <a:solidFill>
                <a:schemeClr val="tx1"/>
              </a:solidFill>
              <a:cs typeface="B Nazanin" panose="00000400000000000000" pitchFamily="2" charset="-78"/>
            </a:endParaRPr>
          </a:p>
        </p:txBody>
      </p:sp>
    </p:spTree>
    <p:extLst>
      <p:ext uri="{BB962C8B-B14F-4D97-AF65-F5344CB8AC3E}">
        <p14:creationId xmlns:p14="http://schemas.microsoft.com/office/powerpoint/2010/main" val="219691264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تصمیم درست / نتیجه نامطلوب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4034244" y="1581835"/>
            <a:ext cx="7503886" cy="369332"/>
          </a:xfrm>
          <a:prstGeom prst="rect">
            <a:avLst/>
          </a:prstGeom>
        </p:spPr>
        <p:txBody>
          <a:bodyPr wrap="square">
            <a:spAutoFit/>
          </a:bodyPr>
          <a:lstStyle/>
          <a:p>
            <a:pPr marL="285750" indent="-285750" algn="r" rtl="1">
              <a:buFont typeface="Wingdings" panose="05000000000000000000" pitchFamily="2" charset="2"/>
              <a:buChar char="ü"/>
            </a:pPr>
            <a:r>
              <a:rPr lang="fa-IR" dirty="0">
                <a:cs typeface="B Nazanin" panose="00000400000000000000" pitchFamily="2" charset="-78"/>
              </a:rPr>
              <a:t>یکی از اشتباهات ذهنی ما انسان‌ها این است که </a:t>
            </a:r>
            <a:r>
              <a:rPr lang="fa-IR" b="1" dirty="0">
                <a:cs typeface="B Nazanin" panose="00000400000000000000" pitchFamily="2" charset="-78"/>
              </a:rPr>
              <a:t>فرایند تصمیم </a:t>
            </a:r>
            <a:r>
              <a:rPr lang="fa-IR" dirty="0">
                <a:cs typeface="B Nazanin" panose="00000400000000000000" pitchFamily="2" charset="-78"/>
              </a:rPr>
              <a:t>را با </a:t>
            </a:r>
            <a:r>
              <a:rPr lang="fa-IR" b="1" dirty="0">
                <a:cs typeface="B Nazanin" panose="00000400000000000000" pitchFamily="2" charset="-78"/>
              </a:rPr>
              <a:t>نتیجه تصمیم </a:t>
            </a:r>
            <a:r>
              <a:rPr lang="fa-IR" dirty="0">
                <a:cs typeface="B Nazanin" panose="00000400000000000000" pitchFamily="2" charset="-78"/>
              </a:rPr>
              <a:t>اشتباه می‌گیریم</a:t>
            </a:r>
            <a:endParaRPr lang="en-US" dirty="0">
              <a:cs typeface="B Nazanin" panose="00000400000000000000" pitchFamily="2" charset="-78"/>
            </a:endParaRPr>
          </a:p>
        </p:txBody>
      </p:sp>
      <p:grpSp>
        <p:nvGrpSpPr>
          <p:cNvPr id="10" name="Group 9"/>
          <p:cNvGrpSpPr/>
          <p:nvPr/>
        </p:nvGrpSpPr>
        <p:grpSpPr>
          <a:xfrm>
            <a:off x="391438" y="1479397"/>
            <a:ext cx="3642807" cy="520030"/>
            <a:chOff x="391438" y="1531283"/>
            <a:chExt cx="3642807" cy="446332"/>
          </a:xfrm>
        </p:grpSpPr>
        <p:sp>
          <p:nvSpPr>
            <p:cNvPr id="7" name="Rectangle 6"/>
            <p:cNvSpPr/>
            <p:nvPr/>
          </p:nvSpPr>
          <p:spPr>
            <a:xfrm>
              <a:off x="391887" y="1531283"/>
              <a:ext cx="3642358" cy="44633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391438" y="1639891"/>
              <a:ext cx="1632178" cy="276999"/>
            </a:xfrm>
            <a:prstGeom prst="rect">
              <a:avLst/>
            </a:prstGeom>
          </p:spPr>
          <p:txBody>
            <a:bodyPr wrap="none">
              <a:spAutoFit/>
            </a:bodyPr>
            <a:lstStyle/>
            <a:p>
              <a:r>
                <a:rPr lang="fa-IR" sz="1200" b="1" dirty="0">
                  <a:cs typeface="B Nazanin" panose="00000400000000000000" pitchFamily="2" charset="-78"/>
                </a:rPr>
                <a:t>نتیجه </a:t>
              </a:r>
              <a:r>
                <a:rPr lang="fa-IR" sz="1200" b="1" dirty="0" smtClean="0">
                  <a:cs typeface="B Nazanin" panose="00000400000000000000" pitchFamily="2" charset="-78"/>
                </a:rPr>
                <a:t>مطلوب تصمیم گیری </a:t>
              </a:r>
              <a:endParaRPr lang="en-US" sz="1200" dirty="0"/>
            </a:p>
          </p:txBody>
        </p:sp>
        <p:sp>
          <p:nvSpPr>
            <p:cNvPr id="5" name="Rectangle 4"/>
            <p:cNvSpPr/>
            <p:nvPr/>
          </p:nvSpPr>
          <p:spPr>
            <a:xfrm>
              <a:off x="2367192" y="1647539"/>
              <a:ext cx="1665841" cy="276999"/>
            </a:xfrm>
            <a:prstGeom prst="rect">
              <a:avLst/>
            </a:prstGeom>
          </p:spPr>
          <p:txBody>
            <a:bodyPr wrap="none">
              <a:spAutoFit/>
            </a:bodyPr>
            <a:lstStyle/>
            <a:p>
              <a:r>
                <a:rPr lang="fa-IR" sz="1200" b="1" dirty="0" smtClean="0">
                  <a:cs typeface="B Nazanin" panose="00000400000000000000" pitchFamily="2" charset="-78"/>
                </a:rPr>
                <a:t>فرایند درست  تصمیم گیری </a:t>
              </a:r>
              <a:endParaRPr lang="en-US" sz="1200" dirty="0"/>
            </a:p>
          </p:txBody>
        </p:sp>
        <p:pic>
          <p:nvPicPr>
            <p:cNvPr id="6" name="Picture 5"/>
            <p:cNvPicPr>
              <a:picLocks noChangeAspect="1"/>
            </p:cNvPicPr>
            <p:nvPr/>
          </p:nvPicPr>
          <p:blipFill rotWithShape="1">
            <a:blip r:embed="rId2">
              <a:clrChange>
                <a:clrFrom>
                  <a:srgbClr val="FFFFFF"/>
                </a:clrFrom>
                <a:clrTo>
                  <a:srgbClr val="FFFFFF">
                    <a:alpha val="0"/>
                  </a:srgbClr>
                </a:clrTo>
              </a:clrChange>
            </a:blip>
            <a:srcRect l="20895" t="7747" r="17893" b="11115"/>
            <a:stretch/>
          </p:blipFill>
          <p:spPr>
            <a:xfrm>
              <a:off x="2049048" y="1651559"/>
              <a:ext cx="319314" cy="265277"/>
            </a:xfrm>
            <a:prstGeom prst="rect">
              <a:avLst/>
            </a:prstGeom>
          </p:spPr>
        </p:pic>
      </p:grpSp>
      <p:sp>
        <p:nvSpPr>
          <p:cNvPr id="9" name="Rectangle 8"/>
          <p:cNvSpPr/>
          <p:nvPr/>
        </p:nvSpPr>
        <p:spPr>
          <a:xfrm>
            <a:off x="1393371" y="2079786"/>
            <a:ext cx="10144759" cy="369332"/>
          </a:xfrm>
          <a:prstGeom prst="rect">
            <a:avLst/>
          </a:prstGeom>
        </p:spPr>
        <p:txBody>
          <a:bodyPr wrap="square">
            <a:spAutoFit/>
          </a:bodyPr>
          <a:lstStyle/>
          <a:p>
            <a:pPr marL="285750" indent="-285750" algn="r" rtl="1">
              <a:buFont typeface="Wingdings" panose="05000000000000000000" pitchFamily="2" charset="2"/>
              <a:buChar char="ü"/>
            </a:pPr>
            <a:r>
              <a:rPr lang="fa-IR" dirty="0" smtClean="0">
                <a:cs typeface="B Nazanin" panose="00000400000000000000" pitchFamily="2" charset="-78"/>
              </a:rPr>
              <a:t>هیچ تظمینی وجود ندارد که طی کردن درست فرآیند تصمیم گیری به نتیجه مطلوب و دوست داشتنی ما منتهی شود !</a:t>
            </a:r>
            <a:endParaRPr lang="en-US" dirty="0">
              <a:cs typeface="B Nazanin" panose="00000400000000000000" pitchFamily="2" charset="-78"/>
            </a:endParaRPr>
          </a:p>
        </p:txBody>
      </p:sp>
      <p:sp>
        <p:nvSpPr>
          <p:cNvPr id="12" name="Rectangle 11"/>
          <p:cNvSpPr/>
          <p:nvPr/>
        </p:nvSpPr>
        <p:spPr>
          <a:xfrm>
            <a:off x="391438" y="2694637"/>
            <a:ext cx="10963087"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r" rtl="1"/>
            <a:r>
              <a:rPr lang="fa-IR" dirty="0">
                <a:cs typeface="B Nazanin" panose="00000400000000000000" pitchFamily="2" charset="-78"/>
              </a:rPr>
              <a:t>در سه حالت ممکن است </a:t>
            </a:r>
            <a:r>
              <a:rPr lang="fa-IR" b="1" dirty="0">
                <a:cs typeface="B Nazanin" panose="00000400000000000000" pitchFamily="2" charset="-78"/>
              </a:rPr>
              <a:t>نتیجه تصمیم درست، برای ما مطلوب و دوست‌داشتنی </a:t>
            </a:r>
            <a:r>
              <a:rPr lang="fa-IR" b="1" dirty="0" smtClean="0">
                <a:cs typeface="B Nazanin" panose="00000400000000000000" pitchFamily="2" charset="-78"/>
              </a:rPr>
              <a:t>نباشد . </a:t>
            </a:r>
            <a:endParaRPr lang="en-US" b="1" dirty="0">
              <a:cs typeface="B Nazanin" panose="00000400000000000000" pitchFamily="2" charset="-78"/>
            </a:endParaRPr>
          </a:p>
        </p:txBody>
      </p:sp>
      <p:sp>
        <p:nvSpPr>
          <p:cNvPr id="13" name="Rectangle 12"/>
          <p:cNvSpPr/>
          <p:nvPr/>
        </p:nvSpPr>
        <p:spPr>
          <a:xfrm>
            <a:off x="3465286" y="2974090"/>
            <a:ext cx="7985760" cy="2065950"/>
          </a:xfrm>
          <a:prstGeom prst="rect">
            <a:avLst/>
          </a:prstGeom>
        </p:spPr>
        <p:txBody>
          <a:bodyPr wrap="square">
            <a:spAutoFit/>
          </a:bodyPr>
          <a:lstStyle/>
          <a:p>
            <a:pPr marL="285750" indent="-285750" algn="r" rtl="1">
              <a:lnSpc>
                <a:spcPct val="250000"/>
              </a:lnSpc>
              <a:buFont typeface="Wingdings" panose="05000000000000000000" pitchFamily="2" charset="2"/>
              <a:buChar char="v"/>
            </a:pPr>
            <a:r>
              <a:rPr lang="fa-IR" b="1" dirty="0">
                <a:solidFill>
                  <a:srgbClr val="111111"/>
                </a:solidFill>
                <a:latin typeface="IRANSans"/>
                <a:cs typeface="B Nazanin" panose="00000400000000000000" pitchFamily="2" charset="-78"/>
              </a:rPr>
              <a:t>هیچ‌یک از گزینه‌ها مطلوب ما </a:t>
            </a:r>
            <a:r>
              <a:rPr lang="fa-IR" b="1" dirty="0" smtClean="0">
                <a:solidFill>
                  <a:srgbClr val="111111"/>
                </a:solidFill>
                <a:latin typeface="IRANSans"/>
                <a:cs typeface="B Nazanin" panose="00000400000000000000" pitchFamily="2" charset="-78"/>
              </a:rPr>
              <a:t>نیستند</a:t>
            </a:r>
            <a:endParaRPr lang="fa-IR" b="1" dirty="0">
              <a:solidFill>
                <a:srgbClr val="111111"/>
              </a:solidFill>
              <a:latin typeface="IRANSans"/>
              <a:cs typeface="B Nazanin" panose="00000400000000000000" pitchFamily="2" charset="-78"/>
            </a:endParaRPr>
          </a:p>
          <a:p>
            <a:pPr marL="285750" indent="-285750" algn="r" rtl="1">
              <a:lnSpc>
                <a:spcPct val="250000"/>
              </a:lnSpc>
              <a:buFont typeface="Wingdings" panose="05000000000000000000" pitchFamily="2" charset="2"/>
              <a:buChar char="v"/>
            </a:pPr>
            <a:r>
              <a:rPr lang="fa-IR" b="1" dirty="0">
                <a:cs typeface="B Nazanin" panose="00000400000000000000" pitchFamily="2" charset="-78"/>
              </a:rPr>
              <a:t>عوامل پیش‌بینی‌ناپذیر </a:t>
            </a:r>
            <a:r>
              <a:rPr lang="fa-IR" b="1" dirty="0" smtClean="0">
                <a:cs typeface="B Nazanin" panose="00000400000000000000" pitchFamily="2" charset="-78"/>
              </a:rPr>
              <a:t>محیطی </a:t>
            </a:r>
          </a:p>
          <a:p>
            <a:pPr marL="285750" indent="-285750" algn="r" rtl="1">
              <a:lnSpc>
                <a:spcPct val="250000"/>
              </a:lnSpc>
              <a:buFont typeface="Wingdings" panose="05000000000000000000" pitchFamily="2" charset="2"/>
              <a:buChar char="v"/>
            </a:pPr>
            <a:r>
              <a:rPr lang="fa-IR" b="1" dirty="0">
                <a:cs typeface="B Nazanin" panose="00000400000000000000" pitchFamily="2" charset="-78"/>
              </a:rPr>
              <a:t>وقتی یکی از سناریوهای نامطلوبِ محتملِ پیش‌بینی شده رخ </a:t>
            </a:r>
            <a:r>
              <a:rPr lang="fa-IR" b="1" dirty="0" smtClean="0">
                <a:cs typeface="B Nazanin" panose="00000400000000000000" pitchFamily="2" charset="-78"/>
              </a:rPr>
              <a:t>می‌دهند</a:t>
            </a:r>
            <a:endParaRPr lang="fa-IR" b="1" dirty="0">
              <a:cs typeface="B Nazanin" panose="00000400000000000000" pitchFamily="2" charset="-78"/>
            </a:endParaRPr>
          </a:p>
        </p:txBody>
      </p:sp>
      <p:sp>
        <p:nvSpPr>
          <p:cNvPr id="14" name="Rectangle 13"/>
          <p:cNvSpPr/>
          <p:nvPr/>
        </p:nvSpPr>
        <p:spPr>
          <a:xfrm>
            <a:off x="1764729" y="3957487"/>
            <a:ext cx="6388287" cy="369332"/>
          </a:xfrm>
          <a:prstGeom prst="rect">
            <a:avLst/>
          </a:prstGeom>
        </p:spPr>
        <p:txBody>
          <a:bodyPr wrap="none">
            <a:spAutoFit/>
          </a:bodyPr>
          <a:lstStyle/>
          <a:p>
            <a:pPr algn="r" rtl="1"/>
            <a:r>
              <a:rPr lang="fa-IR" dirty="0" smtClean="0">
                <a:cs typeface="B Nazanin" panose="00000400000000000000" pitchFamily="2" charset="-78"/>
              </a:rPr>
              <a:t>مثال :  بررسی بیشتر جهت خرید یک مدل لپ تاپ و ناگهان نایاب شدن آن مدل خاص   </a:t>
            </a:r>
            <a:endParaRPr lang="en-US" dirty="0"/>
          </a:p>
        </p:txBody>
      </p:sp>
      <p:sp>
        <p:nvSpPr>
          <p:cNvPr id="15" name="Rectangle 14"/>
          <p:cNvSpPr/>
          <p:nvPr/>
        </p:nvSpPr>
        <p:spPr>
          <a:xfrm>
            <a:off x="3843680" y="3244266"/>
            <a:ext cx="4272323" cy="369332"/>
          </a:xfrm>
          <a:prstGeom prst="rect">
            <a:avLst/>
          </a:prstGeom>
        </p:spPr>
        <p:txBody>
          <a:bodyPr wrap="none">
            <a:spAutoFit/>
          </a:bodyPr>
          <a:lstStyle/>
          <a:p>
            <a:pPr algn="r" rtl="1"/>
            <a:r>
              <a:rPr lang="fa-IR" dirty="0" smtClean="0">
                <a:cs typeface="B Nazanin" panose="00000400000000000000" pitchFamily="2" charset="-78"/>
              </a:rPr>
              <a:t>مثال :  انتخاب یکی از دو استاد که هر دو رو دوست نداریم </a:t>
            </a:r>
            <a:endParaRPr lang="en-US" dirty="0"/>
          </a:p>
        </p:txBody>
      </p:sp>
      <p:sp>
        <p:nvSpPr>
          <p:cNvPr id="16" name="Rectangle 15"/>
          <p:cNvSpPr/>
          <p:nvPr/>
        </p:nvSpPr>
        <p:spPr>
          <a:xfrm>
            <a:off x="1928390" y="3311486"/>
            <a:ext cx="1850186" cy="369332"/>
          </a:xfrm>
          <a:prstGeom prst="rect">
            <a:avLst/>
          </a:prstGeom>
        </p:spPr>
        <p:style>
          <a:lnRef idx="2">
            <a:schemeClr val="accent4"/>
          </a:lnRef>
          <a:fillRef idx="1">
            <a:schemeClr val="lt1"/>
          </a:fillRef>
          <a:effectRef idx="0">
            <a:schemeClr val="accent4"/>
          </a:effectRef>
          <a:fontRef idx="minor">
            <a:schemeClr val="dk1"/>
          </a:fontRef>
        </p:style>
        <p:txBody>
          <a:bodyPr wrap="none">
            <a:spAutoFit/>
          </a:bodyPr>
          <a:lstStyle/>
          <a:p>
            <a:r>
              <a:rPr lang="fa-IR" b="1" dirty="0" smtClean="0">
                <a:solidFill>
                  <a:srgbClr val="4372C2"/>
                </a:solidFill>
                <a:cs typeface="B Nazanin" panose="00000400000000000000" pitchFamily="2" charset="-78"/>
              </a:rPr>
              <a:t>انتخاب بین بد و بدتر </a:t>
            </a:r>
            <a:endParaRPr lang="en-US" b="1" dirty="0">
              <a:solidFill>
                <a:srgbClr val="4372C2"/>
              </a:solidFill>
            </a:endParaRPr>
          </a:p>
        </p:txBody>
      </p:sp>
      <p:sp>
        <p:nvSpPr>
          <p:cNvPr id="17" name="Rectangle 16"/>
          <p:cNvSpPr/>
          <p:nvPr/>
        </p:nvSpPr>
        <p:spPr>
          <a:xfrm>
            <a:off x="391438" y="4510826"/>
            <a:ext cx="5142687" cy="923330"/>
          </a:xfrm>
          <a:prstGeom prst="rect">
            <a:avLst/>
          </a:prstGeom>
        </p:spPr>
        <p:txBody>
          <a:bodyPr wrap="square">
            <a:spAutoFit/>
          </a:bodyPr>
          <a:lstStyle/>
          <a:p>
            <a:pPr algn="r" rtl="1"/>
            <a:r>
              <a:rPr lang="fa-IR" dirty="0" smtClean="0">
                <a:cs typeface="B Nazanin" panose="00000400000000000000" pitchFamily="2" charset="-78"/>
              </a:rPr>
              <a:t>مثال :  مربی بانجی جامپینگ به شما میگوید از بیست هزار پرش در سال اخیر فقط یک نفر فوت شده و شما هم خیلی دوست دارید که لذت پرش و هیجان آن را تجربه کنید . </a:t>
            </a:r>
            <a:endParaRPr lang="en-US" dirty="0"/>
          </a:p>
        </p:txBody>
      </p:sp>
      <p:sp>
        <p:nvSpPr>
          <p:cNvPr id="18" name="Rectangle 17"/>
          <p:cNvSpPr/>
          <p:nvPr/>
        </p:nvSpPr>
        <p:spPr>
          <a:xfrm>
            <a:off x="275771" y="5647191"/>
            <a:ext cx="11644309" cy="923330"/>
          </a:xfrm>
          <a:prstGeom prst="rect">
            <a:avLst/>
          </a:prstGeom>
        </p:spPr>
        <p:txBody>
          <a:bodyPr wrap="square">
            <a:spAutoFit/>
          </a:bodyPr>
          <a:lstStyle/>
          <a:p>
            <a:pPr marL="285750" indent="-285750" algn="r" rtl="1">
              <a:buFont typeface="Arial" panose="020B0604020202020204" pitchFamily="34" charset="0"/>
              <a:buChar char="•"/>
            </a:pPr>
            <a:r>
              <a:rPr lang="fa-IR" dirty="0">
                <a:cs typeface="B Nazanin" panose="00000400000000000000" pitchFamily="2" charset="-78"/>
              </a:rPr>
              <a:t>شما لذت این پرش را با ریسک حاصل از آن مقایسه می‌کنید و می‌پرید. حتی اگر فوت شوید، با وجود نتیجه‌ی نامطلوب، فرایند </a:t>
            </a:r>
            <a:r>
              <a:rPr lang="fa-IR" sz="1600" b="1" dirty="0">
                <a:solidFill>
                  <a:schemeClr val="accent2"/>
                </a:solidFill>
                <a:cs typeface="B Nazanin" panose="00000400000000000000" pitchFamily="2" charset="-78"/>
              </a:rPr>
              <a:t>تصمیم گیری‌تان درست بوده </a:t>
            </a:r>
            <a:r>
              <a:rPr lang="fa-IR" dirty="0">
                <a:cs typeface="B Nazanin" panose="00000400000000000000" pitchFamily="2" charset="-78"/>
              </a:rPr>
              <a:t>است.</a:t>
            </a:r>
          </a:p>
          <a:p>
            <a:pPr marL="285750" indent="-285750" algn="r" rtl="1">
              <a:buFont typeface="Arial" panose="020B0604020202020204" pitchFamily="34" charset="0"/>
              <a:buChar char="•"/>
            </a:pPr>
            <a:r>
              <a:rPr lang="fa-IR" dirty="0">
                <a:cs typeface="B Nazanin" panose="00000400000000000000" pitchFamily="2" charset="-78"/>
              </a:rPr>
              <a:t>تنها در صورتی می‌توان گفت تصمیم شما نادرست بوده است که احتمال یک در بیست‌هزار با صفر هم‌ارز گرفته‌ باشید و به </a:t>
            </a:r>
            <a:r>
              <a:rPr lang="fa-IR" dirty="0">
                <a:solidFill>
                  <a:srgbClr val="4372C2"/>
                </a:solidFill>
                <a:cs typeface="B Nazanin" panose="00000400000000000000" pitchFamily="2" charset="-78"/>
              </a:rPr>
              <a:t>فرض اطمینان مطلق پریده باشید</a:t>
            </a:r>
            <a:r>
              <a:rPr lang="fa-IR" dirty="0">
                <a:cs typeface="B Nazanin" panose="00000400000000000000" pitchFamily="2" charset="-78"/>
              </a:rPr>
              <a:t>. در این حالت، علاوه بر نتیجه‌ی نامطلوب، فرایند </a:t>
            </a:r>
            <a:r>
              <a:rPr lang="fa-IR" dirty="0">
                <a:solidFill>
                  <a:srgbClr val="4372C2"/>
                </a:solidFill>
                <a:cs typeface="B Nazanin" panose="00000400000000000000" pitchFamily="2" charset="-78"/>
              </a:rPr>
              <a:t>تصمیم گیری شما هم نادرست بوده </a:t>
            </a:r>
            <a:r>
              <a:rPr lang="fa-IR" dirty="0">
                <a:cs typeface="B Nazanin" panose="00000400000000000000" pitchFamily="2" charset="-78"/>
              </a:rPr>
              <a:t>است.</a:t>
            </a:r>
          </a:p>
        </p:txBody>
      </p:sp>
      <p:cxnSp>
        <p:nvCxnSpPr>
          <p:cNvPr id="20" name="Straight Connector 19"/>
          <p:cNvCxnSpPr/>
          <p:nvPr/>
        </p:nvCxnSpPr>
        <p:spPr>
          <a:xfrm flipV="1">
            <a:off x="1764729" y="5526101"/>
            <a:ext cx="9100457" cy="30317"/>
          </a:xfrm>
          <a:prstGeom prst="line">
            <a:avLst/>
          </a:prstGeom>
          <a:ln>
            <a:prstDash val="lgDash"/>
          </a:ln>
        </p:spPr>
        <p:style>
          <a:lnRef idx="2">
            <a:schemeClr val="accent2"/>
          </a:lnRef>
          <a:fillRef idx="0">
            <a:schemeClr val="accent2"/>
          </a:fillRef>
          <a:effectRef idx="1">
            <a:schemeClr val="accent2"/>
          </a:effectRef>
          <a:fontRef idx="minor">
            <a:schemeClr val="tx1"/>
          </a:fontRef>
        </p:style>
      </p:cxnSp>
      <p:sp>
        <p:nvSpPr>
          <p:cNvPr id="23" name="Right Brace 22"/>
          <p:cNvSpPr/>
          <p:nvPr/>
        </p:nvSpPr>
        <p:spPr>
          <a:xfrm>
            <a:off x="11362083" y="3270846"/>
            <a:ext cx="351245" cy="1742613"/>
          </a:xfrm>
          <a:prstGeom prst="rightBrace">
            <a:avLst>
              <a:gd name="adj1" fmla="val 8333"/>
              <a:gd name="adj2" fmla="val 49167"/>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5" name="Straight Connector 24"/>
          <p:cNvCxnSpPr/>
          <p:nvPr/>
        </p:nvCxnSpPr>
        <p:spPr>
          <a:xfrm>
            <a:off x="11640756" y="4127638"/>
            <a:ext cx="206041"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flipV="1">
            <a:off x="11843536" y="2884459"/>
            <a:ext cx="3261" cy="1257695"/>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11362083" y="2893928"/>
            <a:ext cx="481453" cy="1"/>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126463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اهمیت </a:t>
            </a:r>
            <a:r>
              <a:rPr lang="fa-IR" sz="4800" dirty="0">
                <a:cs typeface="B Nazanin" panose="00000400000000000000" pitchFamily="2" charset="-78"/>
              </a:rPr>
              <a:t>تصمیم </a:t>
            </a:r>
            <a:r>
              <a:rPr lang="fa-IR" sz="4800" dirty="0" smtClean="0">
                <a:cs typeface="B Nazanin" panose="00000400000000000000" pitchFamily="2" charset="-78"/>
              </a:rPr>
              <a:t>سازی</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10" name="Rectangle 9"/>
          <p:cNvSpPr/>
          <p:nvPr/>
        </p:nvSpPr>
        <p:spPr>
          <a:xfrm>
            <a:off x="3230880" y="1987619"/>
            <a:ext cx="8094617" cy="369332"/>
          </a:xfrm>
          <a:prstGeom prst="rect">
            <a:avLst/>
          </a:prstGeom>
        </p:spPr>
        <p:txBody>
          <a:bodyPr wrap="square">
            <a:spAutoFit/>
          </a:bodyPr>
          <a:lstStyle/>
          <a:p>
            <a:pPr marL="285750" indent="-285750" algn="just" rtl="1">
              <a:buFont typeface="Wingdings" panose="05000000000000000000" pitchFamily="2" charset="2"/>
              <a:buChar char="ü"/>
            </a:pPr>
            <a:r>
              <a:rPr lang="fa-IR" dirty="0">
                <a:solidFill>
                  <a:srgbClr val="000000"/>
                </a:solidFill>
                <a:latin typeface="IRANSans"/>
                <a:cs typeface="B Nazanin" panose="00000400000000000000" pitchFamily="2" charset="-78"/>
              </a:rPr>
              <a:t>کسانی که تا قبل از مرحله‌ی انتخاب نهایی، در تصمیم گیری نقش ایفا می‌کنند، </a:t>
            </a:r>
            <a:r>
              <a:rPr lang="fa-IR" b="1" dirty="0">
                <a:solidFill>
                  <a:srgbClr val="000000"/>
                </a:solidFill>
                <a:latin typeface="IRANSans"/>
                <a:cs typeface="B Nazanin" panose="00000400000000000000" pitchFamily="2" charset="-78"/>
              </a:rPr>
              <a:t>تصمیم ساز</a:t>
            </a:r>
            <a:r>
              <a:rPr lang="fa-IR" dirty="0">
                <a:solidFill>
                  <a:srgbClr val="000000"/>
                </a:solidFill>
                <a:latin typeface="IRANSans"/>
                <a:cs typeface="B Nazanin" panose="00000400000000000000" pitchFamily="2" charset="-78"/>
              </a:rPr>
              <a:t> نامیده می‌شوند</a:t>
            </a:r>
            <a:r>
              <a:rPr lang="fa-IR" dirty="0" smtClean="0">
                <a:solidFill>
                  <a:srgbClr val="000000"/>
                </a:solidFill>
                <a:latin typeface="IRANSans"/>
                <a:cs typeface="B Nazanin" panose="00000400000000000000" pitchFamily="2" charset="-78"/>
              </a:rPr>
              <a:t>.</a:t>
            </a:r>
            <a:endParaRPr lang="fa-IR" dirty="0">
              <a:solidFill>
                <a:srgbClr val="000000"/>
              </a:solidFill>
              <a:latin typeface="IRANSans"/>
              <a:cs typeface="B Nazanin" panose="00000400000000000000" pitchFamily="2" charset="-78"/>
            </a:endParaRPr>
          </a:p>
        </p:txBody>
      </p:sp>
      <p:sp>
        <p:nvSpPr>
          <p:cNvPr id="11" name="Rectangle 10"/>
          <p:cNvSpPr/>
          <p:nvPr/>
        </p:nvSpPr>
        <p:spPr>
          <a:xfrm>
            <a:off x="2338253" y="2461733"/>
            <a:ext cx="8987244" cy="369332"/>
          </a:xfrm>
          <a:prstGeom prst="rect">
            <a:avLst/>
          </a:prstGeom>
        </p:spPr>
        <p:txBody>
          <a:bodyPr wrap="square">
            <a:spAutoFit/>
          </a:bodyPr>
          <a:lstStyle/>
          <a:p>
            <a:pPr marL="285750" indent="-285750" algn="just" rtl="1">
              <a:buFont typeface="Wingdings" panose="05000000000000000000" pitchFamily="2" charset="2"/>
              <a:buChar char="ü"/>
            </a:pPr>
            <a:r>
              <a:rPr lang="fa-IR" dirty="0" smtClean="0">
                <a:solidFill>
                  <a:srgbClr val="000000"/>
                </a:solidFill>
                <a:latin typeface="IRANSans"/>
                <a:cs typeface="B Nazanin" panose="00000400000000000000" pitchFamily="2" charset="-78"/>
              </a:rPr>
              <a:t>کسانی که با ارائه داده های مختلف به تصمیم گیرنده کمک میکنند که تصمیم صحیح را اتخاذ کند </a:t>
            </a:r>
            <a:r>
              <a:rPr lang="fa-IR" b="1" dirty="0" smtClean="0">
                <a:solidFill>
                  <a:srgbClr val="000000"/>
                </a:solidFill>
                <a:latin typeface="IRANSans"/>
                <a:cs typeface="B Nazanin" panose="00000400000000000000" pitchFamily="2" charset="-78"/>
              </a:rPr>
              <a:t>تصمیم یار </a:t>
            </a:r>
            <a:r>
              <a:rPr lang="fa-IR" dirty="0" smtClean="0">
                <a:solidFill>
                  <a:srgbClr val="000000"/>
                </a:solidFill>
                <a:latin typeface="IRANSans"/>
                <a:cs typeface="B Nazanin" panose="00000400000000000000" pitchFamily="2" charset="-78"/>
              </a:rPr>
              <a:t>میگویند . </a:t>
            </a:r>
            <a:endParaRPr lang="fa-IR" dirty="0">
              <a:solidFill>
                <a:srgbClr val="000000"/>
              </a:solidFill>
              <a:latin typeface="IRANSans"/>
              <a:cs typeface="B Nazanin" panose="00000400000000000000" pitchFamily="2" charset="-78"/>
            </a:endParaRPr>
          </a:p>
        </p:txBody>
      </p:sp>
      <p:sp>
        <p:nvSpPr>
          <p:cNvPr id="12" name="Rectangle 11"/>
          <p:cNvSpPr/>
          <p:nvPr/>
        </p:nvSpPr>
        <p:spPr>
          <a:xfrm>
            <a:off x="2338253" y="2935847"/>
            <a:ext cx="8987244" cy="369332"/>
          </a:xfrm>
          <a:prstGeom prst="rect">
            <a:avLst/>
          </a:prstGeom>
        </p:spPr>
        <p:txBody>
          <a:bodyPr wrap="square">
            <a:spAutoFit/>
          </a:bodyPr>
          <a:lstStyle/>
          <a:p>
            <a:pPr marL="285750" indent="-285750" algn="just" rtl="1">
              <a:buFont typeface="Wingdings" panose="05000000000000000000" pitchFamily="2" charset="2"/>
              <a:buChar char="ü"/>
            </a:pPr>
            <a:r>
              <a:rPr lang="fa-IR" dirty="0" smtClean="0">
                <a:solidFill>
                  <a:srgbClr val="000000"/>
                </a:solidFill>
                <a:latin typeface="IRANSans"/>
                <a:cs typeface="B Nazanin" panose="00000400000000000000" pitchFamily="2" charset="-78"/>
              </a:rPr>
              <a:t>کسی که از بین گزینه های مختلف بدست آمده تصمیم نهایی را اتخاذ میکند </a:t>
            </a:r>
            <a:r>
              <a:rPr lang="fa-IR" b="1" dirty="0" smtClean="0">
                <a:solidFill>
                  <a:srgbClr val="000000"/>
                </a:solidFill>
                <a:latin typeface="IRANSans"/>
                <a:cs typeface="B Nazanin" panose="00000400000000000000" pitchFamily="2" charset="-78"/>
              </a:rPr>
              <a:t>تصمیم گیر </a:t>
            </a:r>
            <a:r>
              <a:rPr lang="fa-IR" dirty="0" smtClean="0">
                <a:solidFill>
                  <a:srgbClr val="000000"/>
                </a:solidFill>
                <a:latin typeface="IRANSans"/>
                <a:cs typeface="B Nazanin" panose="00000400000000000000" pitchFamily="2" charset="-78"/>
              </a:rPr>
              <a:t>می باشد .  </a:t>
            </a:r>
            <a:endParaRPr lang="fa-IR" dirty="0">
              <a:solidFill>
                <a:srgbClr val="000000"/>
              </a:solidFill>
              <a:latin typeface="IRANSans"/>
              <a:cs typeface="B Nazanin" panose="00000400000000000000" pitchFamily="2" charset="-78"/>
            </a:endParaRPr>
          </a:p>
        </p:txBody>
      </p:sp>
      <p:grpSp>
        <p:nvGrpSpPr>
          <p:cNvPr id="16" name="Group 15"/>
          <p:cNvGrpSpPr/>
          <p:nvPr/>
        </p:nvGrpSpPr>
        <p:grpSpPr>
          <a:xfrm>
            <a:off x="4011599" y="1254036"/>
            <a:ext cx="4190571" cy="707886"/>
            <a:chOff x="2254986" y="3297707"/>
            <a:chExt cx="4190571" cy="707886"/>
          </a:xfrm>
        </p:grpSpPr>
        <p:grpSp>
          <p:nvGrpSpPr>
            <p:cNvPr id="9" name="Group 8"/>
            <p:cNvGrpSpPr/>
            <p:nvPr/>
          </p:nvGrpSpPr>
          <p:grpSpPr>
            <a:xfrm>
              <a:off x="2254986" y="3297707"/>
              <a:ext cx="4190571" cy="707886"/>
              <a:chOff x="8120208" y="1520037"/>
              <a:chExt cx="4190571" cy="707886"/>
            </a:xfrm>
          </p:grpSpPr>
          <p:sp>
            <p:nvSpPr>
              <p:cNvPr id="3" name="Rectangle 2"/>
              <p:cNvSpPr/>
              <p:nvPr/>
            </p:nvSpPr>
            <p:spPr>
              <a:xfrm>
                <a:off x="8120208" y="1520037"/>
                <a:ext cx="4190571" cy="707886"/>
              </a:xfrm>
              <a:prstGeom prst="rect">
                <a:avLst/>
              </a:prstGeom>
            </p:spPr>
            <p:txBody>
              <a:bodyPr wrap="none">
                <a:spAutoFit/>
              </a:bodyPr>
              <a:lstStyle/>
              <a:p>
                <a:r>
                  <a:rPr lang="fa-IR" sz="2000" dirty="0" smtClean="0">
                    <a:cs typeface="B Nazanin" panose="00000400000000000000" pitchFamily="2" charset="-78"/>
                  </a:rPr>
                  <a:t>   تصمیم گیری </a:t>
                </a:r>
                <a:r>
                  <a:rPr lang="fa-IR" sz="3600" dirty="0" smtClean="0">
                    <a:cs typeface="B Nazanin" panose="00000400000000000000" pitchFamily="2" charset="-78"/>
                  </a:rPr>
                  <a:t>= </a:t>
                </a:r>
                <a:r>
                  <a:rPr lang="fa-IR" sz="2000" dirty="0" smtClean="0">
                    <a:cs typeface="B Nazanin" panose="00000400000000000000" pitchFamily="2" charset="-78"/>
                  </a:rPr>
                  <a:t> </a:t>
                </a:r>
                <a:r>
                  <a:rPr lang="fa-IR" sz="2000" dirty="0" smtClean="0">
                    <a:solidFill>
                      <a:srgbClr val="FF0000"/>
                    </a:solidFill>
                    <a:cs typeface="B Nazanin" panose="00000400000000000000" pitchFamily="2" charset="-78"/>
                  </a:rPr>
                  <a:t>تصمیم سازی </a:t>
                </a:r>
                <a:r>
                  <a:rPr lang="fa-IR" sz="4000" dirty="0">
                    <a:cs typeface="B Nazanin" panose="00000400000000000000" pitchFamily="2" charset="-78"/>
                  </a:rPr>
                  <a:t>=</a:t>
                </a:r>
                <a:r>
                  <a:rPr lang="fa-IR" sz="2000" dirty="0" smtClean="0">
                    <a:cs typeface="B Nazanin" panose="00000400000000000000" pitchFamily="2" charset="-78"/>
                  </a:rPr>
                  <a:t> تصمیم یاری</a:t>
                </a:r>
                <a:r>
                  <a:rPr lang="fa-IR" sz="2000" dirty="0" smtClean="0">
                    <a:solidFill>
                      <a:srgbClr val="FF0000"/>
                    </a:solidFill>
                    <a:cs typeface="B Nazanin" panose="00000400000000000000" pitchFamily="2" charset="-78"/>
                  </a:rPr>
                  <a:t> </a:t>
                </a:r>
                <a:endParaRPr lang="en-US" sz="2000" dirty="0">
                  <a:solidFill>
                    <a:srgbClr val="FF0000"/>
                  </a:solidFill>
                </a:endParaRPr>
              </a:p>
            </p:txBody>
          </p:sp>
          <p:cxnSp>
            <p:nvCxnSpPr>
              <p:cNvPr id="6" name="Straight Connector 5"/>
              <p:cNvCxnSpPr/>
              <p:nvPr/>
            </p:nvCxnSpPr>
            <p:spPr>
              <a:xfrm flipH="1">
                <a:off x="9353825" y="1804013"/>
                <a:ext cx="65314" cy="130628"/>
              </a:xfrm>
              <a:prstGeom prst="line">
                <a:avLst/>
              </a:prstGeom>
            </p:spPr>
            <p:style>
              <a:lnRef idx="1">
                <a:schemeClr val="dk1"/>
              </a:lnRef>
              <a:fillRef idx="0">
                <a:schemeClr val="dk1"/>
              </a:fillRef>
              <a:effectRef idx="0">
                <a:schemeClr val="dk1"/>
              </a:effectRef>
              <a:fontRef idx="minor">
                <a:schemeClr val="tx1"/>
              </a:fontRef>
            </p:style>
          </p:cxnSp>
        </p:grpSp>
        <p:cxnSp>
          <p:nvCxnSpPr>
            <p:cNvPr id="14" name="Straight Connector 13"/>
            <p:cNvCxnSpPr/>
            <p:nvPr/>
          </p:nvCxnSpPr>
          <p:spPr>
            <a:xfrm flipH="1">
              <a:off x="4927693" y="3592681"/>
              <a:ext cx="65314" cy="130628"/>
            </a:xfrm>
            <a:prstGeom prst="line">
              <a:avLst/>
            </a:prstGeom>
          </p:spPr>
          <p:style>
            <a:lnRef idx="1">
              <a:schemeClr val="dk1"/>
            </a:lnRef>
            <a:fillRef idx="0">
              <a:schemeClr val="dk1"/>
            </a:fillRef>
            <a:effectRef idx="0">
              <a:schemeClr val="dk1"/>
            </a:effectRef>
            <a:fontRef idx="minor">
              <a:schemeClr val="tx1"/>
            </a:fontRef>
          </p:style>
        </p:cxnSp>
      </p:grpSp>
      <p:sp>
        <p:nvSpPr>
          <p:cNvPr id="17" name="Rectangle 16"/>
          <p:cNvSpPr/>
          <p:nvPr/>
        </p:nvSpPr>
        <p:spPr>
          <a:xfrm>
            <a:off x="1557744" y="3581111"/>
            <a:ext cx="9098280" cy="1338828"/>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lgn="justLow" rtl="1">
              <a:lnSpc>
                <a:spcPct val="150000"/>
              </a:lnSpc>
            </a:pPr>
            <a:r>
              <a:rPr lang="fa-IR" b="1" dirty="0">
                <a:solidFill>
                  <a:srgbClr val="111111"/>
                </a:solidFill>
                <a:latin typeface="IRANSans"/>
                <a:cs typeface="B Nazanin" panose="00000400000000000000" pitchFamily="2" charset="-78"/>
              </a:rPr>
              <a:t>کارشناسان</a:t>
            </a:r>
            <a:r>
              <a:rPr lang="fa-IR" dirty="0">
                <a:solidFill>
                  <a:srgbClr val="111111"/>
                </a:solidFill>
                <a:latin typeface="IRANSans"/>
                <a:cs typeface="B Nazanin" panose="00000400000000000000" pitchFamily="2" charset="-78"/>
              </a:rPr>
              <a:t> در بسیاری از سازمان‌ها، نقش </a:t>
            </a:r>
            <a:r>
              <a:rPr lang="fa-IR" b="1" dirty="0">
                <a:solidFill>
                  <a:srgbClr val="111111"/>
                </a:solidFill>
                <a:latin typeface="IRANSans"/>
                <a:cs typeface="B Nazanin" panose="00000400000000000000" pitchFamily="2" charset="-78"/>
              </a:rPr>
              <a:t>تصمیم ساز</a:t>
            </a:r>
            <a:r>
              <a:rPr lang="fa-IR" dirty="0">
                <a:solidFill>
                  <a:srgbClr val="111111"/>
                </a:solidFill>
                <a:latin typeface="IRANSans"/>
                <a:cs typeface="B Nazanin" panose="00000400000000000000" pitchFamily="2" charset="-78"/>
              </a:rPr>
              <a:t> را به شکل رسمی برعهده دارند. به همین علت می‌شنویم که مدیران می‌گویند ما بر اساس </a:t>
            </a:r>
            <a:r>
              <a:rPr lang="fa-IR" b="1" dirty="0">
                <a:solidFill>
                  <a:srgbClr val="111111"/>
                </a:solidFill>
                <a:latin typeface="IRANSans"/>
                <a:cs typeface="B Nazanin" panose="00000400000000000000" pitchFamily="2" charset="-78"/>
              </a:rPr>
              <a:t>کارِ کارشناسی</a:t>
            </a:r>
            <a:r>
              <a:rPr lang="fa-IR" dirty="0">
                <a:solidFill>
                  <a:srgbClr val="111111"/>
                </a:solidFill>
                <a:latin typeface="IRANSans"/>
                <a:cs typeface="B Nazanin" panose="00000400000000000000" pitchFamily="2" charset="-78"/>
              </a:rPr>
              <a:t> یا </a:t>
            </a:r>
            <a:r>
              <a:rPr lang="fa-IR" b="1" dirty="0">
                <a:solidFill>
                  <a:srgbClr val="111111"/>
                </a:solidFill>
                <a:latin typeface="IRANSans"/>
                <a:cs typeface="B Nazanin" panose="00000400000000000000" pitchFamily="2" charset="-78"/>
              </a:rPr>
              <a:t>گزارش کارشناسان</a:t>
            </a:r>
            <a:r>
              <a:rPr lang="fa-IR" dirty="0">
                <a:solidFill>
                  <a:srgbClr val="111111"/>
                </a:solidFill>
                <a:latin typeface="IRANSans"/>
                <a:cs typeface="B Nazanin" panose="00000400000000000000" pitchFamily="2" charset="-78"/>
              </a:rPr>
              <a:t>، این یا آن تصمیم را گرفته‌ایم. گزارش کارشناسی، گزینه‌های محتمل و تحلیل آن‌ها را در اختیار مدیر قرار می‌دهد و نهایتاً این مدیر است که حکم نهایی (انتخاب آخر)‌ را اعلام </a:t>
            </a:r>
            <a:r>
              <a:rPr lang="fa-IR" dirty="0" smtClean="0">
                <a:solidFill>
                  <a:srgbClr val="111111"/>
                </a:solidFill>
                <a:latin typeface="IRANSans"/>
                <a:cs typeface="B Nazanin" panose="00000400000000000000" pitchFamily="2" charset="-78"/>
              </a:rPr>
              <a:t>می‌کند</a:t>
            </a:r>
            <a:r>
              <a:rPr lang="en-US" dirty="0" smtClean="0">
                <a:solidFill>
                  <a:srgbClr val="111111"/>
                </a:solidFill>
                <a:latin typeface="IRANSans"/>
                <a:cs typeface="B Nazanin" panose="00000400000000000000" pitchFamily="2" charset="-78"/>
              </a:rPr>
              <a:t>.</a:t>
            </a:r>
            <a:endParaRPr lang="en-US" dirty="0">
              <a:cs typeface="B Nazanin" panose="00000400000000000000" pitchFamily="2" charset="-78"/>
            </a:endParaRPr>
          </a:p>
        </p:txBody>
      </p:sp>
      <p:sp>
        <p:nvSpPr>
          <p:cNvPr id="18" name="Rectangle 17"/>
          <p:cNvSpPr/>
          <p:nvPr/>
        </p:nvSpPr>
        <p:spPr>
          <a:xfrm>
            <a:off x="1557744" y="5078304"/>
            <a:ext cx="9098280" cy="1338828"/>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lgn="justLow" rtl="1">
              <a:lnSpc>
                <a:spcPct val="150000"/>
              </a:lnSpc>
            </a:pPr>
            <a:r>
              <a:rPr lang="fa-IR" dirty="0">
                <a:solidFill>
                  <a:srgbClr val="111111"/>
                </a:solidFill>
                <a:latin typeface="IRANSans"/>
                <a:cs typeface="B Nazanin" panose="00000400000000000000" pitchFamily="2" charset="-78"/>
              </a:rPr>
              <a:t>در سازمان‌ها و کسب و کارها، گاهی اوقات این نقش را </a:t>
            </a:r>
            <a:r>
              <a:rPr lang="fa-IR" b="1" dirty="0">
                <a:solidFill>
                  <a:schemeClr val="accent2">
                    <a:lumMod val="75000"/>
                  </a:schemeClr>
                </a:solidFill>
                <a:latin typeface="IRANSans"/>
                <a:cs typeface="B Nazanin" panose="00000400000000000000" pitchFamily="2" charset="-78"/>
              </a:rPr>
              <a:t>مسئول دفتر</a:t>
            </a:r>
            <a:r>
              <a:rPr lang="fa-IR" dirty="0">
                <a:solidFill>
                  <a:srgbClr val="111111"/>
                </a:solidFill>
                <a:latin typeface="IRANSans"/>
                <a:cs typeface="B Nazanin" panose="00000400000000000000" pitchFamily="2" charset="-78"/>
              </a:rPr>
              <a:t> یک مدیر، ایفا می‌کند. او با انتخاب تماس‌هایی که برقرار می‌شوند (یا نمی‌شوند) و تأثیرگذاری بر پیام‌هایی که می‌توانند به دست مدیر برسند (یا محدود می‌شوند)، روی تصمیم مدیر تأثیر می‌گذارند.</a:t>
            </a:r>
          </a:p>
        </p:txBody>
      </p:sp>
    </p:spTree>
    <p:extLst>
      <p:ext uri="{BB962C8B-B14F-4D97-AF65-F5344CB8AC3E}">
        <p14:creationId xmlns:p14="http://schemas.microsoft.com/office/powerpoint/2010/main" val="263995498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خرده مهارت های مرتبط با تصمیم گیری درست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3" name="Picture 2"/>
          <p:cNvPicPr>
            <a:picLocks noChangeAspect="1"/>
          </p:cNvPicPr>
          <p:nvPr/>
        </p:nvPicPr>
        <p:blipFill>
          <a:blip r:embed="rId2"/>
          <a:stretch>
            <a:fillRect/>
          </a:stretch>
        </p:blipFill>
        <p:spPr>
          <a:xfrm>
            <a:off x="10212024" y="2316681"/>
            <a:ext cx="1589180" cy="2367330"/>
          </a:xfrm>
          <a:prstGeom prst="rect">
            <a:avLst/>
          </a:prstGeom>
        </p:spPr>
      </p:pic>
      <p:sp>
        <p:nvSpPr>
          <p:cNvPr id="4" name="Rectangle 3"/>
          <p:cNvSpPr/>
          <p:nvPr/>
        </p:nvSpPr>
        <p:spPr>
          <a:xfrm>
            <a:off x="8191484" y="1017746"/>
            <a:ext cx="2070118" cy="5632311"/>
          </a:xfrm>
          <a:prstGeom prst="rect">
            <a:avLst/>
          </a:prstGeom>
        </p:spPr>
        <p:txBody>
          <a:bodyPr wrap="none">
            <a:spAutoFit/>
          </a:bodyPr>
          <a:lstStyle/>
          <a:p>
            <a:pPr marL="285750" indent="-285750">
              <a:lnSpc>
                <a:spcPct val="250000"/>
              </a:lnSpc>
              <a:buFont typeface="Arial" panose="020B0604020202020204" pitchFamily="34" charset="0"/>
              <a:buChar char="•"/>
            </a:pPr>
            <a:r>
              <a:rPr lang="en-US" dirty="0" smtClean="0">
                <a:solidFill>
                  <a:srgbClr val="FF0000"/>
                </a:solidFill>
                <a:latin typeface="IRANSans"/>
              </a:rPr>
              <a:t>Pr</a:t>
            </a:r>
            <a:r>
              <a:rPr lang="en-US" dirty="0" smtClean="0">
                <a:solidFill>
                  <a:srgbClr val="000000"/>
                </a:solidFill>
                <a:latin typeface="IRANSans"/>
              </a:rPr>
              <a:t>oblem</a:t>
            </a:r>
            <a:endParaRPr lang="fa-IR" dirty="0" smtClean="0">
              <a:solidFill>
                <a:srgbClr val="000000"/>
              </a:solidFill>
              <a:latin typeface="IRANSans"/>
            </a:endParaRPr>
          </a:p>
          <a:p>
            <a:pPr marL="285750" indent="-285750">
              <a:lnSpc>
                <a:spcPct val="250000"/>
              </a:lnSpc>
              <a:buFont typeface="Arial" panose="020B0604020202020204" pitchFamily="34" charset="0"/>
              <a:buChar char="•"/>
            </a:pPr>
            <a:r>
              <a:rPr lang="en-US" dirty="0" smtClean="0">
                <a:solidFill>
                  <a:srgbClr val="FF0000"/>
                </a:solidFill>
              </a:rPr>
              <a:t>O</a:t>
            </a:r>
            <a:r>
              <a:rPr lang="en-US" dirty="0" smtClean="0"/>
              <a:t>bjectives</a:t>
            </a:r>
            <a:endParaRPr lang="fa-IR" dirty="0" smtClean="0"/>
          </a:p>
          <a:p>
            <a:pPr marL="285750" indent="-285750">
              <a:lnSpc>
                <a:spcPct val="250000"/>
              </a:lnSpc>
              <a:buFont typeface="Arial" panose="020B0604020202020204" pitchFamily="34" charset="0"/>
              <a:buChar char="•"/>
            </a:pPr>
            <a:r>
              <a:rPr lang="en-US" dirty="0" smtClean="0">
                <a:solidFill>
                  <a:srgbClr val="FF0000"/>
                </a:solidFill>
              </a:rPr>
              <a:t>A</a:t>
            </a:r>
            <a:r>
              <a:rPr lang="en-US" dirty="0" smtClean="0"/>
              <a:t>lternatives</a:t>
            </a:r>
            <a:endParaRPr lang="fa-IR" dirty="0" smtClean="0"/>
          </a:p>
          <a:p>
            <a:pPr marL="285750" indent="-285750">
              <a:lnSpc>
                <a:spcPct val="250000"/>
              </a:lnSpc>
              <a:buFont typeface="Arial" panose="020B0604020202020204" pitchFamily="34" charset="0"/>
              <a:buChar char="•"/>
            </a:pPr>
            <a:r>
              <a:rPr lang="en-US" dirty="0" smtClean="0">
                <a:solidFill>
                  <a:srgbClr val="FF0000"/>
                </a:solidFill>
              </a:rPr>
              <a:t>C</a:t>
            </a:r>
            <a:r>
              <a:rPr lang="en-US" dirty="0" smtClean="0"/>
              <a:t>onsequences</a:t>
            </a:r>
            <a:endParaRPr lang="fa-IR" dirty="0" smtClean="0"/>
          </a:p>
          <a:p>
            <a:pPr marL="285750" indent="-285750">
              <a:lnSpc>
                <a:spcPct val="250000"/>
              </a:lnSpc>
              <a:buFont typeface="Arial" panose="020B0604020202020204" pitchFamily="34" charset="0"/>
              <a:buChar char="•"/>
            </a:pPr>
            <a:r>
              <a:rPr lang="en-US" dirty="0" smtClean="0">
                <a:solidFill>
                  <a:srgbClr val="FF0000"/>
                </a:solidFill>
              </a:rPr>
              <a:t>T</a:t>
            </a:r>
            <a:r>
              <a:rPr lang="en-US" dirty="0" smtClean="0"/>
              <a:t>radeoffs</a:t>
            </a:r>
            <a:endParaRPr lang="fa-IR" dirty="0" smtClean="0"/>
          </a:p>
          <a:p>
            <a:pPr marL="285750" indent="-285750">
              <a:lnSpc>
                <a:spcPct val="250000"/>
              </a:lnSpc>
              <a:buFont typeface="Arial" panose="020B0604020202020204" pitchFamily="34" charset="0"/>
              <a:buChar char="•"/>
            </a:pPr>
            <a:r>
              <a:rPr lang="en-US" dirty="0" smtClean="0"/>
              <a:t>Uncertainties</a:t>
            </a:r>
            <a:endParaRPr lang="fa-IR" dirty="0" smtClean="0"/>
          </a:p>
          <a:p>
            <a:pPr marL="285750" indent="-285750">
              <a:lnSpc>
                <a:spcPct val="250000"/>
              </a:lnSpc>
              <a:buFont typeface="Arial" panose="020B0604020202020204" pitchFamily="34" charset="0"/>
              <a:buChar char="•"/>
            </a:pPr>
            <a:r>
              <a:rPr lang="en-US" dirty="0"/>
              <a:t>Risk </a:t>
            </a:r>
            <a:r>
              <a:rPr lang="en-US" dirty="0" smtClean="0"/>
              <a:t>Tolerance</a:t>
            </a:r>
            <a:endParaRPr lang="fa-IR" dirty="0" smtClean="0"/>
          </a:p>
          <a:p>
            <a:pPr marL="285750" indent="-285750">
              <a:lnSpc>
                <a:spcPct val="250000"/>
              </a:lnSpc>
              <a:buFont typeface="Arial" panose="020B0604020202020204" pitchFamily="34" charset="0"/>
              <a:buChar char="•"/>
            </a:pPr>
            <a:r>
              <a:rPr lang="en-US" dirty="0"/>
              <a:t>Linked Decisions</a:t>
            </a:r>
          </a:p>
        </p:txBody>
      </p:sp>
      <p:sp>
        <p:nvSpPr>
          <p:cNvPr id="5" name="Rectangle 4"/>
          <p:cNvSpPr/>
          <p:nvPr/>
        </p:nvSpPr>
        <p:spPr>
          <a:xfrm>
            <a:off x="5908017" y="1260508"/>
            <a:ext cx="2167581"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مسئله را درست تشخیص بدهیم</a:t>
            </a:r>
            <a:endParaRPr lang="en-US" sz="1600" dirty="0">
              <a:cs typeface="B Nazanin" panose="00000400000000000000" pitchFamily="2" charset="-78"/>
            </a:endParaRPr>
          </a:p>
        </p:txBody>
      </p:sp>
      <p:sp>
        <p:nvSpPr>
          <p:cNvPr id="6" name="Rectangle 5"/>
          <p:cNvSpPr/>
          <p:nvPr/>
        </p:nvSpPr>
        <p:spPr>
          <a:xfrm>
            <a:off x="5087532" y="1906518"/>
            <a:ext cx="2985113"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خروجی مورد انتظار ما از این تصمیم چیست؟</a:t>
            </a:r>
            <a:endParaRPr lang="en-US" sz="1600" dirty="0">
              <a:solidFill>
                <a:srgbClr val="000000"/>
              </a:solidFill>
              <a:latin typeface="IRANSans"/>
              <a:cs typeface="B Nazanin" panose="00000400000000000000" pitchFamily="2" charset="-78"/>
            </a:endParaRPr>
          </a:p>
        </p:txBody>
      </p:sp>
      <p:sp>
        <p:nvSpPr>
          <p:cNvPr id="7" name="Rectangle 6"/>
          <p:cNvSpPr/>
          <p:nvPr/>
        </p:nvSpPr>
        <p:spPr>
          <a:xfrm>
            <a:off x="5341586" y="2595200"/>
            <a:ext cx="2727029"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چه گزینه‌هایی پیش روی من وجود دارد؟</a:t>
            </a:r>
            <a:endParaRPr lang="en-US" sz="1600" dirty="0">
              <a:solidFill>
                <a:srgbClr val="000000"/>
              </a:solidFill>
              <a:latin typeface="IRANSans"/>
              <a:cs typeface="B Nazanin" panose="00000400000000000000" pitchFamily="2" charset="-78"/>
            </a:endParaRPr>
          </a:p>
        </p:txBody>
      </p:sp>
      <p:sp>
        <p:nvSpPr>
          <p:cNvPr id="9" name="Rectangle 8"/>
          <p:cNvSpPr/>
          <p:nvPr/>
        </p:nvSpPr>
        <p:spPr>
          <a:xfrm>
            <a:off x="5298997" y="3347577"/>
            <a:ext cx="2783134"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 هر گزینه به چه نتیجه‌ای منتهی می‌شود؟</a:t>
            </a:r>
            <a:endParaRPr lang="en-US" sz="1600" dirty="0">
              <a:solidFill>
                <a:srgbClr val="000000"/>
              </a:solidFill>
              <a:latin typeface="IRANSans"/>
              <a:cs typeface="B Nazanin" panose="00000400000000000000" pitchFamily="2" charset="-78"/>
            </a:endParaRPr>
          </a:p>
        </p:txBody>
      </p:sp>
      <p:sp>
        <p:nvSpPr>
          <p:cNvPr id="10" name="Rectangle 9"/>
          <p:cNvSpPr/>
          <p:nvPr/>
        </p:nvSpPr>
        <p:spPr>
          <a:xfrm>
            <a:off x="3764152" y="3937109"/>
            <a:ext cx="4325223"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برای به دست آوردن هر چیزی، چه چیزهایی را باید از دست بدهم؟</a:t>
            </a:r>
            <a:endParaRPr lang="en-US" sz="1600" dirty="0">
              <a:solidFill>
                <a:srgbClr val="000000"/>
              </a:solidFill>
              <a:latin typeface="IRANSans"/>
              <a:cs typeface="B Nazanin" panose="00000400000000000000" pitchFamily="2" charset="-78"/>
            </a:endParaRPr>
          </a:p>
        </p:txBody>
      </p:sp>
      <p:sp>
        <p:nvSpPr>
          <p:cNvPr id="11" name="Rectangle 10"/>
          <p:cNvSpPr/>
          <p:nvPr/>
        </p:nvSpPr>
        <p:spPr>
          <a:xfrm>
            <a:off x="4380822" y="4759275"/>
            <a:ext cx="3720890"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چه چیزهایی را نمی‌دانم؟ چه چیزهایی را نمی‌توانم بدانم؟</a:t>
            </a:r>
            <a:endParaRPr lang="en-US" sz="1600" dirty="0">
              <a:solidFill>
                <a:srgbClr val="000000"/>
              </a:solidFill>
              <a:latin typeface="IRANSans"/>
              <a:cs typeface="B Nazanin" panose="00000400000000000000" pitchFamily="2" charset="-78"/>
            </a:endParaRPr>
          </a:p>
        </p:txBody>
      </p:sp>
      <p:sp>
        <p:nvSpPr>
          <p:cNvPr id="12" name="Rectangle 11"/>
          <p:cNvSpPr/>
          <p:nvPr/>
        </p:nvSpPr>
        <p:spPr>
          <a:xfrm>
            <a:off x="6037861" y="5425370"/>
            <a:ext cx="2037737"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تحمل ریسک من چقدر است؟</a:t>
            </a:r>
            <a:endParaRPr lang="en-US" sz="1600" dirty="0">
              <a:solidFill>
                <a:srgbClr val="000000"/>
              </a:solidFill>
              <a:latin typeface="IRANSans"/>
              <a:cs typeface="B Nazanin" panose="00000400000000000000" pitchFamily="2" charset="-78"/>
            </a:endParaRPr>
          </a:p>
        </p:txBody>
      </p:sp>
      <p:sp>
        <p:nvSpPr>
          <p:cNvPr id="13" name="Rectangle 12"/>
          <p:cNvSpPr/>
          <p:nvPr/>
        </p:nvSpPr>
        <p:spPr>
          <a:xfrm>
            <a:off x="5111791" y="6079274"/>
            <a:ext cx="2989921" cy="338554"/>
          </a:xfrm>
          <a:prstGeom prst="rect">
            <a:avLst/>
          </a:prstGeom>
        </p:spPr>
        <p:txBody>
          <a:bodyPr wrap="none">
            <a:spAutoFit/>
          </a:bodyPr>
          <a:lstStyle/>
          <a:p>
            <a:r>
              <a:rPr lang="fa-IR" sz="1600" dirty="0">
                <a:solidFill>
                  <a:srgbClr val="000000"/>
                </a:solidFill>
                <a:latin typeface="IRANSans"/>
                <a:cs typeface="B Nazanin" panose="00000400000000000000" pitchFamily="2" charset="-78"/>
              </a:rPr>
              <a:t>تصمیم‌های مرتبط با این تصمیم، چه هستند؟</a:t>
            </a:r>
            <a:endParaRPr lang="en-US" sz="1600" dirty="0">
              <a:solidFill>
                <a:srgbClr val="000000"/>
              </a:solidFill>
              <a:latin typeface="IRANSans"/>
              <a:cs typeface="B Nazanin" panose="00000400000000000000" pitchFamily="2" charset="-78"/>
            </a:endParaRPr>
          </a:p>
        </p:txBody>
      </p:sp>
      <p:pic>
        <p:nvPicPr>
          <p:cNvPr id="14" name="Picture 13"/>
          <p:cNvPicPr>
            <a:picLocks noChangeAspect="1"/>
          </p:cNvPicPr>
          <p:nvPr/>
        </p:nvPicPr>
        <p:blipFill>
          <a:blip r:embed="rId3"/>
          <a:stretch>
            <a:fillRect/>
          </a:stretch>
        </p:blipFill>
        <p:spPr>
          <a:xfrm>
            <a:off x="10253528" y="2366599"/>
            <a:ext cx="1555750" cy="2338548"/>
          </a:xfrm>
          <a:prstGeom prst="rect">
            <a:avLst/>
          </a:prstGeom>
          <a:ln>
            <a:solidFill>
              <a:schemeClr val="tx1"/>
            </a:solidFill>
          </a:ln>
        </p:spPr>
      </p:pic>
      <p:sp>
        <p:nvSpPr>
          <p:cNvPr id="15" name="Rectangle 14"/>
          <p:cNvSpPr/>
          <p:nvPr/>
        </p:nvSpPr>
        <p:spPr>
          <a:xfrm>
            <a:off x="736600" y="1583291"/>
            <a:ext cx="6885766" cy="276999"/>
          </a:xfrm>
          <a:prstGeom prst="rect">
            <a:avLst/>
          </a:prstGeom>
        </p:spPr>
        <p:txBody>
          <a:bodyPr wrap="square">
            <a:spAutoFit/>
          </a:bodyPr>
          <a:lstStyle/>
          <a:p>
            <a:pPr marL="171450" indent="-171450" algn="r" rtl="1">
              <a:buFont typeface="Arial" panose="020B0604020202020204" pitchFamily="34" charset="0"/>
              <a:buChar char="•"/>
            </a:pPr>
            <a:r>
              <a:rPr lang="fa-IR" sz="1200" b="1" dirty="0">
                <a:solidFill>
                  <a:srgbClr val="FF0000"/>
                </a:solidFill>
                <a:latin typeface="IRANSans"/>
                <a:cs typeface="B Nazanin" panose="00000400000000000000" pitchFamily="2" charset="-78"/>
              </a:rPr>
              <a:t>آیا واقعاً الان بحث سر این است که باید کنکور پزشکی بدهم یا مهندسی؟ یا ماجرای اصلی این است که اصلاً کنکور بدهم یا نه.</a:t>
            </a:r>
            <a:endParaRPr lang="en-US" sz="1200" b="1" dirty="0">
              <a:solidFill>
                <a:srgbClr val="FF0000"/>
              </a:solidFill>
              <a:cs typeface="B Nazanin" panose="00000400000000000000" pitchFamily="2" charset="-78"/>
            </a:endParaRPr>
          </a:p>
        </p:txBody>
      </p:sp>
      <p:sp>
        <p:nvSpPr>
          <p:cNvPr id="16" name="Rectangle 15"/>
          <p:cNvSpPr/>
          <p:nvPr/>
        </p:nvSpPr>
        <p:spPr>
          <a:xfrm>
            <a:off x="330200" y="2256986"/>
            <a:ext cx="7292166" cy="461665"/>
          </a:xfrm>
          <a:prstGeom prst="rect">
            <a:avLst/>
          </a:prstGeom>
        </p:spPr>
        <p:txBody>
          <a:bodyPr wrap="square">
            <a:spAutoFit/>
          </a:bodyPr>
          <a:lstStyle/>
          <a:p>
            <a:pPr marL="171450" indent="-171450" algn="r" rtl="1">
              <a:buFont typeface="Arial" panose="020B0604020202020204" pitchFamily="34" charset="0"/>
              <a:buChar char="•"/>
            </a:pPr>
            <a:r>
              <a:rPr lang="fa-IR" sz="1200" b="1" dirty="0">
                <a:solidFill>
                  <a:srgbClr val="FF0000"/>
                </a:solidFill>
                <a:latin typeface="IRANSans"/>
                <a:cs typeface="B Nazanin" panose="00000400000000000000" pitchFamily="2" charset="-78"/>
              </a:rPr>
              <a:t>اگر می‌خواهم در مورد مهاجرت تصمیم بگیرم، هدف نهایی و خروجی مورد انتظارم چیست؟ به دنبال رفاه مادی هستم؟ زندگی در محیطی کم‌تنش‌تر؟ </a:t>
            </a:r>
            <a:endParaRPr lang="en-US" sz="1200" b="1" dirty="0">
              <a:solidFill>
                <a:srgbClr val="FF0000"/>
              </a:solidFill>
              <a:latin typeface="IRANSans"/>
              <a:cs typeface="B Nazanin" panose="00000400000000000000" pitchFamily="2" charset="-78"/>
            </a:endParaRPr>
          </a:p>
        </p:txBody>
      </p:sp>
      <p:sp>
        <p:nvSpPr>
          <p:cNvPr id="17" name="Rectangle 16"/>
          <p:cNvSpPr/>
          <p:nvPr/>
        </p:nvSpPr>
        <p:spPr>
          <a:xfrm>
            <a:off x="228600" y="2900745"/>
            <a:ext cx="7846998" cy="461665"/>
          </a:xfrm>
          <a:prstGeom prst="rect">
            <a:avLst/>
          </a:prstGeom>
        </p:spPr>
        <p:txBody>
          <a:bodyPr wrap="square">
            <a:spAutoFit/>
          </a:bodyPr>
          <a:lstStyle/>
          <a:p>
            <a:pPr marL="171450" indent="-171450" algn="r" rtl="1">
              <a:buFont typeface="Wingdings" panose="05000000000000000000" pitchFamily="2" charset="2"/>
              <a:buChar char="ü"/>
            </a:pPr>
            <a:r>
              <a:rPr lang="fa-IR" sz="1200" b="1" dirty="0">
                <a:solidFill>
                  <a:srgbClr val="4372C2"/>
                </a:solidFill>
                <a:latin typeface="IRANSans"/>
                <a:cs typeface="B Nazanin" panose="00000400000000000000" pitchFamily="2" charset="-78"/>
              </a:rPr>
              <a:t>گاهی اوقات، ما تنها یک راه پیش رو داریم. اما متوقف می‌شویم و احساس می‌کنیم که با یک تصمیم </a:t>
            </a:r>
            <a:r>
              <a:rPr lang="fa-IR" sz="1200" b="1" dirty="0" smtClean="0">
                <a:solidFill>
                  <a:srgbClr val="4372C2"/>
                </a:solidFill>
                <a:latin typeface="IRANSans"/>
                <a:cs typeface="B Nazanin" panose="00000400000000000000" pitchFamily="2" charset="-78"/>
              </a:rPr>
              <a:t>مواجهیم</a:t>
            </a:r>
            <a:r>
              <a:rPr lang="fa-IR" sz="1200" b="1" dirty="0">
                <a:solidFill>
                  <a:srgbClr val="4372C2"/>
                </a:solidFill>
                <a:latin typeface="IRANSans"/>
                <a:cs typeface="B Nazanin" panose="00000400000000000000" pitchFamily="2" charset="-78"/>
              </a:rPr>
              <a:t> </a:t>
            </a:r>
            <a:r>
              <a:rPr lang="fa-IR" sz="1200" b="1" dirty="0" smtClean="0">
                <a:solidFill>
                  <a:srgbClr val="4372C2"/>
                </a:solidFill>
                <a:latin typeface="IRANSans"/>
                <a:cs typeface="B Nazanin" panose="00000400000000000000" pitchFamily="2" charset="-78"/>
              </a:rPr>
              <a:t>و در مقابل </a:t>
            </a:r>
            <a:r>
              <a:rPr lang="en-US" sz="1200" b="1" dirty="0" smtClean="0">
                <a:solidFill>
                  <a:srgbClr val="4372C2"/>
                </a:solidFill>
                <a:latin typeface="IRANSans"/>
                <a:cs typeface="B Nazanin" panose="00000400000000000000" pitchFamily="2" charset="-78"/>
              </a:rPr>
              <a:t> </a:t>
            </a:r>
            <a:r>
              <a:rPr lang="fa-IR" sz="1200" b="1" dirty="0">
                <a:solidFill>
                  <a:srgbClr val="4372C2"/>
                </a:solidFill>
                <a:latin typeface="IRANSans"/>
                <a:cs typeface="B Nazanin" panose="00000400000000000000" pitchFamily="2" charset="-78"/>
              </a:rPr>
              <a:t>بعضی وقت‌ها، واقعاً گزینه‌های متعددی می‌توانند وجود داشته باشند. اما ذهن ما از دیدن گزینه‌ها یا خلق گزینه‌ها ناتوان است</a:t>
            </a:r>
            <a:endParaRPr lang="en-US" sz="1200" b="1" dirty="0">
              <a:solidFill>
                <a:srgbClr val="4372C2"/>
              </a:solidFill>
              <a:latin typeface="IRANSans"/>
              <a:cs typeface="B Nazanin" panose="00000400000000000000" pitchFamily="2" charset="-78"/>
            </a:endParaRPr>
          </a:p>
        </p:txBody>
      </p:sp>
      <p:sp>
        <p:nvSpPr>
          <p:cNvPr id="18" name="Rectangle 17"/>
          <p:cNvSpPr/>
          <p:nvPr/>
        </p:nvSpPr>
        <p:spPr>
          <a:xfrm>
            <a:off x="1332822" y="3631903"/>
            <a:ext cx="6289544" cy="276999"/>
          </a:xfrm>
          <a:prstGeom prst="rect">
            <a:avLst/>
          </a:prstGeom>
        </p:spPr>
        <p:txBody>
          <a:bodyPr wrap="square">
            <a:spAutoFit/>
          </a:bodyPr>
          <a:lstStyle/>
          <a:p>
            <a:pPr marL="171450" indent="-171450" algn="r" rtl="1">
              <a:buFont typeface="Arial" panose="020B0604020202020204" pitchFamily="34" charset="0"/>
              <a:buChar char="•"/>
            </a:pPr>
            <a:r>
              <a:rPr lang="fa-IR" sz="1200" b="1" dirty="0">
                <a:solidFill>
                  <a:srgbClr val="FF0000"/>
                </a:solidFill>
                <a:latin typeface="IRANSans"/>
                <a:cs typeface="B Nazanin" panose="00000400000000000000" pitchFamily="2" charset="-78"/>
              </a:rPr>
              <a:t>اگر امروز به عنوان اعتراض در جلسه‌ی شرکت حاضر نشوم، فردا چه اتفاقی خواهد افتاد؟</a:t>
            </a:r>
            <a:endParaRPr lang="en-US" sz="1200" b="1" dirty="0">
              <a:solidFill>
                <a:srgbClr val="FF0000"/>
              </a:solidFill>
              <a:latin typeface="IRANSans"/>
              <a:cs typeface="B Nazanin" panose="00000400000000000000" pitchFamily="2" charset="-78"/>
            </a:endParaRPr>
          </a:p>
        </p:txBody>
      </p:sp>
      <p:sp>
        <p:nvSpPr>
          <p:cNvPr id="19" name="Rectangle 18"/>
          <p:cNvSpPr/>
          <p:nvPr/>
        </p:nvSpPr>
        <p:spPr>
          <a:xfrm>
            <a:off x="228601" y="4265751"/>
            <a:ext cx="7840014" cy="461665"/>
          </a:xfrm>
          <a:prstGeom prst="rect">
            <a:avLst/>
          </a:prstGeom>
        </p:spPr>
        <p:txBody>
          <a:bodyPr wrap="square">
            <a:spAutoFit/>
          </a:bodyPr>
          <a:lstStyle/>
          <a:p>
            <a:pPr marL="171450" indent="-171450" algn="r" rtl="1">
              <a:buFont typeface="Wingdings" panose="05000000000000000000" pitchFamily="2" charset="2"/>
              <a:buChar char="ü"/>
            </a:pPr>
            <a:r>
              <a:rPr lang="fa-IR" sz="1200" b="1" dirty="0">
                <a:solidFill>
                  <a:srgbClr val="4372C2"/>
                </a:solidFill>
                <a:latin typeface="IRANSans"/>
                <a:cs typeface="B Nazanin" panose="00000400000000000000" pitchFamily="2" charset="-78"/>
              </a:rPr>
              <a:t>هر به دست آوردنی، با از دست دادنی همراه است و مهم است که من، به همان اندازه که به دستاوردهای هر انتخاب فکر می‌کنم، با خودم بیندیشم که هر انتخاب، من را از چه فرصت‌ها و هدف‌هایی دور می‌کند و کدامیک از داشته‌هایم را از من می‌گیرد.</a:t>
            </a:r>
            <a:endParaRPr lang="en-US" sz="1200" b="1" dirty="0">
              <a:solidFill>
                <a:srgbClr val="4372C2"/>
              </a:solidFill>
              <a:latin typeface="IRANSans"/>
              <a:cs typeface="B Nazanin" panose="00000400000000000000" pitchFamily="2" charset="-78"/>
            </a:endParaRPr>
          </a:p>
        </p:txBody>
      </p:sp>
      <p:sp>
        <p:nvSpPr>
          <p:cNvPr id="20" name="Rectangle 19"/>
          <p:cNvSpPr/>
          <p:nvPr/>
        </p:nvSpPr>
        <p:spPr>
          <a:xfrm>
            <a:off x="127000" y="5027295"/>
            <a:ext cx="7941614" cy="461665"/>
          </a:xfrm>
          <a:prstGeom prst="rect">
            <a:avLst/>
          </a:prstGeom>
        </p:spPr>
        <p:txBody>
          <a:bodyPr wrap="square">
            <a:spAutoFit/>
          </a:bodyPr>
          <a:lstStyle/>
          <a:p>
            <a:pPr marL="171450" indent="-171450" algn="r" rtl="1">
              <a:buFont typeface="Wingdings" panose="05000000000000000000" pitchFamily="2" charset="2"/>
              <a:buChar char="ü"/>
            </a:pPr>
            <a:r>
              <a:rPr lang="en-US" sz="1200" b="1" dirty="0" err="1">
                <a:solidFill>
                  <a:srgbClr val="4372C2"/>
                </a:solidFill>
                <a:latin typeface="IRANSans"/>
                <a:cs typeface="B Nazanin" panose="00000400000000000000" pitchFamily="2" charset="-78"/>
              </a:rPr>
              <a:t>بعضی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چیزها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را</a:t>
            </a:r>
            <a:r>
              <a:rPr lang="en-US" sz="1200" b="1" dirty="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نمی</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دانیم</a:t>
            </a:r>
            <a:r>
              <a:rPr lang="en-US" sz="1200" b="1" dirty="0" smtClean="0">
                <a:solidFill>
                  <a:srgbClr val="4372C2"/>
                </a:solidFill>
                <a:latin typeface="IRANSans"/>
                <a:cs typeface="B Nazanin" panose="00000400000000000000" pitchFamily="2" charset="-78"/>
              </a:rPr>
              <a:t> </a:t>
            </a:r>
            <a:r>
              <a:rPr lang="en-US" sz="1200" b="1" dirty="0">
                <a:solidFill>
                  <a:srgbClr val="4372C2"/>
                </a:solidFill>
                <a:latin typeface="IRANSans"/>
                <a:cs typeface="B Nazanin" panose="00000400000000000000" pitchFamily="2" charset="-78"/>
              </a:rPr>
              <a:t>و </a:t>
            </a:r>
            <a:r>
              <a:rPr lang="en-US" sz="1200" b="1" dirty="0" err="1">
                <a:solidFill>
                  <a:srgbClr val="4372C2"/>
                </a:solidFill>
                <a:latin typeface="IRANSans"/>
                <a:cs typeface="B Nazanin" panose="00000400000000000000" pitchFamily="2" charset="-78"/>
              </a:rPr>
              <a:t>بعضی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چیزها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را</a:t>
            </a:r>
            <a:r>
              <a:rPr lang="en-US" sz="1200" b="1" dirty="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نمی</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توانیم</a:t>
            </a:r>
            <a:r>
              <a:rPr lang="en-US" sz="1200" b="1" dirty="0" smtClean="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بدانیم</a:t>
            </a:r>
            <a:r>
              <a:rPr lang="en-US" sz="1200" b="1" dirty="0">
                <a:solidFill>
                  <a:srgbClr val="4372C2"/>
                </a:solidFill>
                <a:latin typeface="IRANSans"/>
                <a:cs typeface="B Nazanin" panose="00000400000000000000" pitchFamily="2" charset="-78"/>
              </a:rPr>
              <a:t> . </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این</a:t>
            </a:r>
            <a:r>
              <a:rPr lang="en-US" sz="1200" b="1" dirty="0" smtClean="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دو</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نباید</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هم</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اشتباه</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گرفت</a:t>
            </a:r>
            <a:r>
              <a:rPr lang="en-US" sz="1200" b="1" dirty="0">
                <a:solidFill>
                  <a:srgbClr val="4372C2"/>
                </a:solidFill>
                <a:latin typeface="IRANSans"/>
                <a:cs typeface="B Nazanin" panose="00000400000000000000" pitchFamily="2" charset="-78"/>
              </a:rPr>
              <a:t> . </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آنچه</a:t>
            </a:r>
            <a:r>
              <a:rPr lang="en-US"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نمی</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دانیم</a:t>
            </a:r>
            <a:r>
              <a:rPr lang="en-US" sz="1200" b="1" dirty="0" smtClean="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در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اثر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بررسی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مشخص</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میشود</a:t>
            </a:r>
            <a:r>
              <a:rPr lang="en-US" sz="1200" b="1" dirty="0">
                <a:solidFill>
                  <a:srgbClr val="4372C2"/>
                </a:solidFill>
                <a:latin typeface="IRANSans"/>
                <a:cs typeface="B Nazanin" panose="00000400000000000000" pitchFamily="2" charset="-78"/>
              </a:rPr>
              <a:t> و </a:t>
            </a:r>
            <a:r>
              <a:rPr lang="en-US" sz="1200" b="1" dirty="0" err="1">
                <a:solidFill>
                  <a:srgbClr val="4372C2"/>
                </a:solidFill>
                <a:latin typeface="IRANSans"/>
                <a:cs typeface="B Nazanin" panose="00000400000000000000" pitchFamily="2" charset="-78"/>
              </a:rPr>
              <a:t>انچه</a:t>
            </a:r>
            <a:r>
              <a:rPr lang="en-US" sz="1200" b="1" dirty="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نمی</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توانیم</a:t>
            </a:r>
            <a:r>
              <a:rPr lang="en-US" sz="1200" b="1" dirty="0" smtClean="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بدانیم</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ابهام</a:t>
            </a:r>
            <a:r>
              <a:rPr lang="en-US" sz="1200" b="1" dirty="0">
                <a:solidFill>
                  <a:srgbClr val="4372C2"/>
                </a:solidFill>
                <a:latin typeface="IRANSans"/>
                <a:cs typeface="B Nazanin" panose="00000400000000000000" pitchFamily="2" charset="-78"/>
              </a:rPr>
              <a:t> اجتناب </a:t>
            </a:r>
            <a:r>
              <a:rPr lang="en-US" sz="1200" b="1" dirty="0" err="1">
                <a:solidFill>
                  <a:srgbClr val="4372C2"/>
                </a:solidFill>
                <a:latin typeface="IRANSans"/>
                <a:cs typeface="B Nazanin" panose="00000400000000000000" pitchFamily="2" charset="-78"/>
              </a:rPr>
              <a:t>ناپذیر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است</a:t>
            </a:r>
            <a:r>
              <a:rPr lang="en-US" sz="1200" b="1" dirty="0">
                <a:solidFill>
                  <a:srgbClr val="4372C2"/>
                </a:solidFill>
                <a:latin typeface="IRANSans"/>
                <a:cs typeface="B Nazanin" panose="00000400000000000000" pitchFamily="2" charset="-78"/>
              </a:rPr>
              <a:t> . </a:t>
            </a:r>
            <a:r>
              <a:rPr lang="fa-IR" sz="1200" b="1" dirty="0" smtClean="0">
                <a:solidFill>
                  <a:srgbClr val="4372C2"/>
                </a:solidFill>
                <a:latin typeface="IRANSans"/>
                <a:cs typeface="B Nazanin" panose="00000400000000000000" pitchFamily="2" charset="-78"/>
              </a:rPr>
              <a:t> </a:t>
            </a:r>
            <a:r>
              <a:rPr lang="en-US" sz="1200" b="1" dirty="0" err="1" smtClean="0">
                <a:solidFill>
                  <a:srgbClr val="4372C2"/>
                </a:solidFill>
                <a:latin typeface="IRANSans"/>
                <a:cs typeface="B Nazanin" panose="00000400000000000000" pitchFamily="2" charset="-78"/>
              </a:rPr>
              <a:t>ابهامی</a:t>
            </a:r>
            <a:r>
              <a:rPr lang="en-US" sz="1200" b="1" dirty="0" smtClean="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که</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فقط</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پس</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از</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انتخاب</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رفع</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شود</a:t>
            </a:r>
            <a:r>
              <a:rPr lang="en-US" sz="1200" b="1" dirty="0">
                <a:solidFill>
                  <a:srgbClr val="4372C2"/>
                </a:solidFill>
                <a:latin typeface="IRANSans"/>
                <a:cs typeface="B Nazanin" panose="00000400000000000000" pitchFamily="2" charset="-78"/>
              </a:rPr>
              <a:t> .</a:t>
            </a:r>
          </a:p>
        </p:txBody>
      </p:sp>
      <p:sp>
        <p:nvSpPr>
          <p:cNvPr id="21" name="Rectangle 20"/>
          <p:cNvSpPr/>
          <p:nvPr/>
        </p:nvSpPr>
        <p:spPr>
          <a:xfrm>
            <a:off x="228600" y="5681557"/>
            <a:ext cx="7840014" cy="461665"/>
          </a:xfrm>
          <a:prstGeom prst="rect">
            <a:avLst/>
          </a:prstGeom>
        </p:spPr>
        <p:txBody>
          <a:bodyPr wrap="square">
            <a:spAutoFit/>
          </a:bodyPr>
          <a:lstStyle/>
          <a:p>
            <a:pPr marL="171450" indent="-171450" algn="r" rtl="1">
              <a:buFont typeface="Wingdings" panose="05000000000000000000" pitchFamily="2" charset="2"/>
              <a:buChar char="ü"/>
            </a:pPr>
            <a:r>
              <a:rPr lang="en-US" sz="1200" b="1" dirty="0" err="1">
                <a:solidFill>
                  <a:srgbClr val="4372C2"/>
                </a:solidFill>
                <a:latin typeface="IRANSans"/>
                <a:cs typeface="B Nazanin" panose="00000400000000000000" pitchFamily="2" charset="-78"/>
              </a:rPr>
              <a:t>ما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انسان‌ها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از</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نظر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میزان</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تحمل</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ریسک</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یکدیگر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تفاوت</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داریم</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گاهی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اوقات</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دو</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فرد</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متفاوت</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در</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شرایط</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کاملا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یکسان</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باید</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گزینه</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های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متفاوتی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انتخاب</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کنند</a:t>
            </a:r>
            <a:r>
              <a:rPr lang="en-US" sz="1200" b="1" dirty="0">
                <a:solidFill>
                  <a:srgbClr val="4372C2"/>
                </a:solidFill>
                <a:latin typeface="IRANSans"/>
                <a:cs typeface="B Nazanin" panose="00000400000000000000" pitchFamily="2" charset="-78"/>
              </a:rPr>
              <a:t> . </a:t>
            </a:r>
            <a:r>
              <a:rPr lang="en-US" sz="1200" b="1" dirty="0" err="1">
                <a:solidFill>
                  <a:srgbClr val="4372C2"/>
                </a:solidFill>
                <a:latin typeface="IRANSans"/>
                <a:cs typeface="B Nazanin" panose="00000400000000000000" pitchFamily="2" charset="-78"/>
              </a:rPr>
              <a:t>گون</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سطح</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ریسک</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پذیری</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آنها</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متفاوت</a:t>
            </a:r>
            <a:r>
              <a:rPr lang="en-US" sz="1200" b="1" dirty="0">
                <a:solidFill>
                  <a:srgbClr val="4372C2"/>
                </a:solidFill>
                <a:latin typeface="IRANSans"/>
                <a:cs typeface="B Nazanin" panose="00000400000000000000" pitchFamily="2" charset="-78"/>
              </a:rPr>
              <a:t> </a:t>
            </a:r>
            <a:r>
              <a:rPr lang="en-US" sz="1200" b="1" dirty="0" err="1">
                <a:solidFill>
                  <a:srgbClr val="4372C2"/>
                </a:solidFill>
                <a:latin typeface="IRANSans"/>
                <a:cs typeface="B Nazanin" panose="00000400000000000000" pitchFamily="2" charset="-78"/>
              </a:rPr>
              <a:t>است</a:t>
            </a:r>
            <a:r>
              <a:rPr lang="en-US" sz="1200" b="1" dirty="0">
                <a:solidFill>
                  <a:srgbClr val="4372C2"/>
                </a:solidFill>
                <a:latin typeface="IRANSans"/>
                <a:cs typeface="B Nazanin" panose="00000400000000000000" pitchFamily="2" charset="-78"/>
              </a:rPr>
              <a:t> . </a:t>
            </a:r>
          </a:p>
        </p:txBody>
      </p:sp>
      <p:sp>
        <p:nvSpPr>
          <p:cNvPr id="22" name="Rectangle 21"/>
          <p:cNvSpPr/>
          <p:nvPr/>
        </p:nvSpPr>
        <p:spPr>
          <a:xfrm>
            <a:off x="1526366" y="6331906"/>
            <a:ext cx="6096000" cy="276999"/>
          </a:xfrm>
          <a:prstGeom prst="rect">
            <a:avLst/>
          </a:prstGeom>
        </p:spPr>
        <p:txBody>
          <a:bodyPr wrap="square">
            <a:spAutoFit/>
          </a:bodyPr>
          <a:lstStyle/>
          <a:p>
            <a:pPr marL="171450" indent="-171450" algn="r" rtl="1">
              <a:buFont typeface="Arial" panose="020B0604020202020204" pitchFamily="34" charset="0"/>
              <a:buChar char="•"/>
            </a:pPr>
            <a:r>
              <a:rPr lang="fa-IR" sz="1200" b="1" dirty="0" smtClean="0">
                <a:solidFill>
                  <a:srgbClr val="FF0000"/>
                </a:solidFill>
                <a:latin typeface="IRANSans"/>
                <a:cs typeface="B Nazanin" panose="00000400000000000000" pitchFamily="2" charset="-78"/>
              </a:rPr>
              <a:t>اگر تصمیم بگیرم که به دانشگاه برم ، چه تصمیمات دیگری را باید بگیرم ؟ چه تصمیماتی حذف می شود ؟ </a:t>
            </a:r>
            <a:endParaRPr lang="en-US" sz="1200" b="1" dirty="0">
              <a:solidFill>
                <a:srgbClr val="FF0000"/>
              </a:solidFill>
              <a:latin typeface="IRANSans"/>
              <a:cs typeface="B Nazanin" panose="00000400000000000000" pitchFamily="2" charset="-78"/>
            </a:endParaRPr>
          </a:p>
        </p:txBody>
      </p:sp>
    </p:spTree>
    <p:extLst>
      <p:ext uri="{BB962C8B-B14F-4D97-AF65-F5344CB8AC3E}">
        <p14:creationId xmlns:p14="http://schemas.microsoft.com/office/powerpoint/2010/main" val="9153868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فوبیای تصمیم گیری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3" name="Picture 2"/>
          <p:cNvPicPr>
            <a:picLocks noChangeAspect="1"/>
          </p:cNvPicPr>
          <p:nvPr/>
        </p:nvPicPr>
        <p:blipFill rotWithShape="1">
          <a:blip r:embed="rId2"/>
          <a:srcRect b="16781"/>
          <a:stretch/>
        </p:blipFill>
        <p:spPr>
          <a:xfrm>
            <a:off x="478563" y="1307709"/>
            <a:ext cx="2143125" cy="1783489"/>
          </a:xfrm>
          <a:prstGeom prst="rect">
            <a:avLst/>
          </a:prstGeom>
        </p:spPr>
      </p:pic>
      <p:sp>
        <p:nvSpPr>
          <p:cNvPr id="4" name="Rectangle 3"/>
          <p:cNvSpPr/>
          <p:nvPr/>
        </p:nvSpPr>
        <p:spPr>
          <a:xfrm>
            <a:off x="2621688" y="1685536"/>
            <a:ext cx="9065623" cy="923330"/>
          </a:xfrm>
          <a:prstGeom prst="rect">
            <a:avLst/>
          </a:prstGeom>
        </p:spPr>
        <p:txBody>
          <a:bodyPr wrap="square">
            <a:spAutoFit/>
          </a:bodyPr>
          <a:lstStyle/>
          <a:p>
            <a:pPr marL="285750" indent="-285750" algn="just" rtl="1">
              <a:buFont typeface="Wingdings" panose="05000000000000000000" pitchFamily="2" charset="2"/>
              <a:buChar char="ü"/>
            </a:pPr>
            <a:r>
              <a:rPr lang="fa-IR" dirty="0">
                <a:solidFill>
                  <a:srgbClr val="000000"/>
                </a:solidFill>
                <a:latin typeface="IRANSans"/>
                <a:cs typeface="B Nazanin" panose="00000400000000000000" pitchFamily="2" charset="-78"/>
              </a:rPr>
              <a:t>همه‌ی مشکلات ما در تصمیم گیری،‌ الزاماً به علت ضعف در مهارت تصمیم گیری </a:t>
            </a:r>
            <a:r>
              <a:rPr lang="fa-IR" dirty="0" smtClean="0">
                <a:solidFill>
                  <a:srgbClr val="000000"/>
                </a:solidFill>
                <a:latin typeface="IRANSans"/>
                <a:cs typeface="B Nazanin" panose="00000400000000000000" pitchFamily="2" charset="-78"/>
              </a:rPr>
              <a:t>نیستند. گاهی</a:t>
            </a:r>
            <a:r>
              <a:rPr lang="fa-IR" dirty="0">
                <a:solidFill>
                  <a:srgbClr val="000000"/>
                </a:solidFill>
                <a:latin typeface="IRANSans"/>
                <a:cs typeface="B Nazanin" panose="00000400000000000000" pitchFamily="2" charset="-78"/>
              </a:rPr>
              <a:t> </a:t>
            </a:r>
            <a:r>
              <a:rPr lang="fa-IR" b="1" dirty="0">
                <a:solidFill>
                  <a:srgbClr val="FF0000"/>
                </a:solidFill>
                <a:latin typeface="IRANSans"/>
                <a:cs typeface="B Nazanin" panose="00000400000000000000" pitchFamily="2" charset="-78"/>
              </a:rPr>
              <a:t>ترس از تصمیم گیری</a:t>
            </a:r>
            <a:r>
              <a:rPr lang="fa-IR" dirty="0">
                <a:solidFill>
                  <a:srgbClr val="000000"/>
                </a:solidFill>
                <a:latin typeface="IRANSans"/>
                <a:cs typeface="B Nazanin" panose="00000400000000000000" pitchFamily="2" charset="-78"/>
              </a:rPr>
              <a:t> است که ما را به سوی انتخاب‌های اشتباه سوق </a:t>
            </a:r>
            <a:r>
              <a:rPr lang="fa-IR" dirty="0" smtClean="0">
                <a:solidFill>
                  <a:srgbClr val="000000"/>
                </a:solidFill>
                <a:latin typeface="IRANSans"/>
                <a:cs typeface="B Nazanin" panose="00000400000000000000" pitchFamily="2" charset="-78"/>
              </a:rPr>
              <a:t>می‌دهد </a:t>
            </a:r>
            <a:r>
              <a:rPr lang="fa-IR" dirty="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این ترس </a:t>
            </a:r>
            <a:r>
              <a:rPr lang="fa-IR" dirty="0">
                <a:solidFill>
                  <a:srgbClr val="000000"/>
                </a:solidFill>
                <a:latin typeface="IRANSans"/>
                <a:cs typeface="B Nazanin" panose="00000400000000000000" pitchFamily="2" charset="-78"/>
              </a:rPr>
              <a:t>از تصمیم گیری به حدی جدی است که برای آن یک نام اختصاصی هم در نظر گرفته شده است: </a:t>
            </a:r>
            <a:r>
              <a:rPr lang="fa-IR" dirty="0" smtClean="0">
                <a:solidFill>
                  <a:srgbClr val="000000"/>
                </a:solidFill>
                <a:latin typeface="IRANSans"/>
                <a:cs typeface="B Nazanin" panose="00000400000000000000" pitchFamily="2" charset="-78"/>
              </a:rPr>
              <a:t>  </a:t>
            </a:r>
            <a:r>
              <a:rPr lang="en-US" b="1" dirty="0" err="1" smtClean="0">
                <a:solidFill>
                  <a:srgbClr val="FF0000"/>
                </a:solidFill>
                <a:latin typeface="IRANSans"/>
                <a:cs typeface="B Nazanin" panose="00000400000000000000" pitchFamily="2" charset="-78"/>
              </a:rPr>
              <a:t>Decidophobia</a:t>
            </a:r>
            <a:r>
              <a:rPr lang="fa-IR" dirty="0" smtClean="0">
                <a:solidFill>
                  <a:srgbClr val="000000"/>
                </a:solidFill>
                <a:latin typeface="IRANSans"/>
                <a:cs typeface="B Nazanin" panose="00000400000000000000" pitchFamily="2" charset="-78"/>
              </a:rPr>
              <a:t> </a:t>
            </a:r>
            <a:endParaRPr lang="fa-IR" dirty="0">
              <a:solidFill>
                <a:srgbClr val="000000"/>
              </a:solidFill>
              <a:latin typeface="IRANSans"/>
              <a:cs typeface="B Nazanin" panose="00000400000000000000" pitchFamily="2" charset="-78"/>
            </a:endParaRPr>
          </a:p>
        </p:txBody>
      </p:sp>
      <p:sp>
        <p:nvSpPr>
          <p:cNvPr id="5" name="Rectangle 4"/>
          <p:cNvSpPr/>
          <p:nvPr/>
        </p:nvSpPr>
        <p:spPr>
          <a:xfrm>
            <a:off x="478563" y="3330162"/>
            <a:ext cx="11169559" cy="646331"/>
          </a:xfrm>
          <a:prstGeom prst="rect">
            <a:avLst/>
          </a:prstGeom>
        </p:spPr>
        <p:txBody>
          <a:bodyPr wrap="square">
            <a:spAutoFit/>
          </a:bodyPr>
          <a:lstStyle/>
          <a:p>
            <a:pPr marL="285750" indent="-285750" algn="just" rtl="1">
              <a:buFont typeface="Wingdings" panose="05000000000000000000" pitchFamily="2" charset="2"/>
              <a:buChar char="ü"/>
            </a:pPr>
            <a:r>
              <a:rPr lang="fa-IR" dirty="0">
                <a:solidFill>
                  <a:srgbClr val="000000"/>
                </a:solidFill>
                <a:latin typeface="IRANSans"/>
                <a:cs typeface="B Nazanin" panose="00000400000000000000" pitchFamily="2" charset="-78"/>
              </a:rPr>
              <a:t>به </a:t>
            </a:r>
            <a:r>
              <a:rPr lang="fa-IR" dirty="0" smtClean="0">
                <a:solidFill>
                  <a:srgbClr val="000000"/>
                </a:solidFill>
                <a:latin typeface="IRANSans"/>
                <a:cs typeface="B Nazanin" panose="00000400000000000000" pitchFamily="2" charset="-78"/>
              </a:rPr>
              <a:t>دلیل</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همین ترس از تصمیم گیری </a:t>
            </a:r>
            <a:r>
              <a:rPr lang="fa-IR" dirty="0">
                <a:solidFill>
                  <a:srgbClr val="000000"/>
                </a:solidFill>
                <a:latin typeface="IRANSans"/>
                <a:cs typeface="B Nazanin" panose="00000400000000000000" pitchFamily="2" charset="-78"/>
              </a:rPr>
              <a:t>است که ما گاهی از تصمیم های </a:t>
            </a:r>
            <a:r>
              <a:rPr lang="fa-IR" b="1" dirty="0" smtClean="0">
                <a:solidFill>
                  <a:srgbClr val="000000"/>
                </a:solidFill>
                <a:latin typeface="IRANSans"/>
                <a:cs typeface="B Nazanin" panose="00000400000000000000" pitchFamily="2" charset="-78"/>
              </a:rPr>
              <a:t>ماکروسکوپیک</a:t>
            </a:r>
            <a:r>
              <a:rPr lang="fa-IR" dirty="0">
                <a:solidFill>
                  <a:srgbClr val="000000"/>
                </a:solidFill>
                <a:latin typeface="IRANSans"/>
                <a:cs typeface="B Nazanin" panose="00000400000000000000" pitchFamily="2" charset="-78"/>
              </a:rPr>
              <a:t> (</a:t>
            </a:r>
            <a:r>
              <a:rPr lang="fa-IR" dirty="0">
                <a:solidFill>
                  <a:srgbClr val="0070C0"/>
                </a:solidFill>
                <a:latin typeface="IRANSans"/>
                <a:cs typeface="B Nazanin" panose="00000400000000000000" pitchFamily="2" charset="-78"/>
              </a:rPr>
              <a:t>این رابطه را قطع کنم یا ادامه بدهم؟</a:t>
            </a:r>
            <a:r>
              <a:rPr lang="fa-IR" dirty="0">
                <a:solidFill>
                  <a:srgbClr val="000000"/>
                </a:solidFill>
                <a:latin typeface="IRANSans"/>
                <a:cs typeface="B Nazanin" panose="00000400000000000000" pitchFamily="2" charset="-78"/>
              </a:rPr>
              <a:t>) به تصمیم های </a:t>
            </a:r>
            <a:r>
              <a:rPr lang="fa-IR" b="1" dirty="0">
                <a:solidFill>
                  <a:srgbClr val="000000"/>
                </a:solidFill>
                <a:latin typeface="IRANSans"/>
                <a:cs typeface="B Nazanin" panose="00000400000000000000" pitchFamily="2" charset="-78"/>
              </a:rPr>
              <a:t>میکروسکوپیک</a:t>
            </a:r>
            <a:r>
              <a:rPr lang="fa-IR" dirty="0">
                <a:solidFill>
                  <a:srgbClr val="000000"/>
                </a:solidFill>
                <a:latin typeface="IRANSans"/>
                <a:cs typeface="B Nazanin" panose="00000400000000000000" pitchFamily="2" charset="-78"/>
              </a:rPr>
              <a:t> (</a:t>
            </a:r>
            <a:r>
              <a:rPr lang="fa-IR" dirty="0">
                <a:solidFill>
                  <a:srgbClr val="0070C0"/>
                </a:solidFill>
                <a:latin typeface="IRANSans"/>
                <a:cs typeface="B Nazanin" panose="00000400000000000000" pitchFamily="2" charset="-78"/>
              </a:rPr>
              <a:t>آیا این رابطه را می‌شود فعلاً برای چند ماه ادامه داد؟)</a:t>
            </a:r>
            <a:r>
              <a:rPr lang="fa-IR" dirty="0">
                <a:solidFill>
                  <a:srgbClr val="000000"/>
                </a:solidFill>
                <a:latin typeface="IRANSans"/>
                <a:cs typeface="B Nazanin" panose="00000400000000000000" pitchFamily="2" charset="-78"/>
              </a:rPr>
              <a:t> فرار می‌کنیم</a:t>
            </a:r>
            <a:r>
              <a:rPr lang="fa-IR" dirty="0" smtClean="0">
                <a:solidFill>
                  <a:srgbClr val="000000"/>
                </a:solidFill>
                <a:latin typeface="IRANSans"/>
                <a:cs typeface="B Nazanin" panose="00000400000000000000" pitchFamily="2" charset="-78"/>
              </a:rPr>
              <a:t>.</a:t>
            </a:r>
            <a:endParaRPr lang="en-US" dirty="0">
              <a:solidFill>
                <a:srgbClr val="000000"/>
              </a:solidFill>
              <a:latin typeface="IRANSans"/>
              <a:cs typeface="B Nazanin" panose="00000400000000000000" pitchFamily="2" charset="-78"/>
            </a:endParaRPr>
          </a:p>
        </p:txBody>
      </p:sp>
      <p:sp>
        <p:nvSpPr>
          <p:cNvPr id="7" name="Rectangle 6"/>
          <p:cNvSpPr/>
          <p:nvPr/>
        </p:nvSpPr>
        <p:spPr>
          <a:xfrm>
            <a:off x="2272937" y="4053143"/>
            <a:ext cx="8089856" cy="369332"/>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fa-IR" b="1" dirty="0">
                <a:solidFill>
                  <a:srgbClr val="000000"/>
                </a:solidFill>
                <a:latin typeface="IRANSans"/>
                <a:cs typeface="B Nazanin" panose="00000400000000000000" pitchFamily="2" charset="-78"/>
              </a:rPr>
              <a:t>با تقسیم یک گاو به دو قسمت، دو گوساله نخواهیم داشت. بلکه یک گاو مرده خواهیم داشت</a:t>
            </a:r>
            <a:r>
              <a:rPr lang="fa-IR" b="1" dirty="0" smtClean="0">
                <a:solidFill>
                  <a:srgbClr val="000000"/>
                </a:solidFill>
                <a:latin typeface="IRANSans"/>
                <a:cs typeface="B Nazanin" panose="00000400000000000000" pitchFamily="2" charset="-78"/>
              </a:rPr>
              <a:t>.</a:t>
            </a:r>
            <a:endParaRPr lang="fa-IR" dirty="0">
              <a:solidFill>
                <a:srgbClr val="000000"/>
              </a:solidFill>
              <a:latin typeface="IRANSans"/>
              <a:cs typeface="B Nazanin" panose="00000400000000000000" pitchFamily="2" charset="-78"/>
            </a:endParaRPr>
          </a:p>
        </p:txBody>
      </p:sp>
      <p:sp>
        <p:nvSpPr>
          <p:cNvPr id="10" name="Rectangle 9"/>
          <p:cNvSpPr/>
          <p:nvPr/>
        </p:nvSpPr>
        <p:spPr>
          <a:xfrm>
            <a:off x="2272937" y="4605747"/>
            <a:ext cx="8771708" cy="338554"/>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fa-IR" sz="1600" b="1" dirty="0">
                <a:solidFill>
                  <a:srgbClr val="000000"/>
                </a:solidFill>
                <a:latin typeface="IRANSans"/>
                <a:cs typeface="B Nazanin" panose="00000400000000000000" pitchFamily="2" charset="-78"/>
              </a:rPr>
              <a:t>ما با خرد کردن یک تصمیم به تصمیمهای کوچک‌تر، عملاً اصل آن تصمیم را کنار گذاشته و سرگرم انتخابهای دیگری شده ایم.</a:t>
            </a:r>
          </a:p>
        </p:txBody>
      </p:sp>
      <p:sp>
        <p:nvSpPr>
          <p:cNvPr id="11" name="Rectangle 10"/>
          <p:cNvSpPr/>
          <p:nvPr/>
        </p:nvSpPr>
        <p:spPr>
          <a:xfrm>
            <a:off x="1300613" y="3779538"/>
            <a:ext cx="865942" cy="307777"/>
          </a:xfrm>
          <a:prstGeom prst="rect">
            <a:avLst/>
          </a:prstGeom>
        </p:spPr>
        <p:txBody>
          <a:bodyPr wrap="none">
            <a:spAutoFit/>
          </a:bodyPr>
          <a:lstStyle/>
          <a:p>
            <a:pPr algn="r" rtl="1"/>
            <a:r>
              <a:rPr lang="fa-IR" sz="1400" b="1" dirty="0">
                <a:solidFill>
                  <a:srgbClr val="000000"/>
                </a:solidFill>
                <a:latin typeface="IRANSans"/>
                <a:cs typeface="B Nazanin" panose="00000400000000000000" pitchFamily="2" charset="-78"/>
              </a:rPr>
              <a:t> </a:t>
            </a:r>
            <a:r>
              <a:rPr lang="fa-IR" sz="1400" b="1" dirty="0">
                <a:solidFill>
                  <a:srgbClr val="C4161C"/>
                </a:solidFill>
                <a:latin typeface="IRANSans"/>
                <a:cs typeface="B Nazanin" panose="00000400000000000000" pitchFamily="2" charset="-78"/>
              </a:rPr>
              <a:t>پیتر سنگه</a:t>
            </a:r>
            <a:endParaRPr lang="en-US" sz="1400" b="1" dirty="0">
              <a:cs typeface="B Nazanin" panose="00000400000000000000" pitchFamily="2" charset="-78"/>
            </a:endParaRPr>
          </a:p>
        </p:txBody>
      </p:sp>
      <p:sp>
        <p:nvSpPr>
          <p:cNvPr id="12" name="Rectangle 11"/>
          <p:cNvSpPr/>
          <p:nvPr/>
        </p:nvSpPr>
        <p:spPr>
          <a:xfrm>
            <a:off x="451335" y="4067698"/>
            <a:ext cx="1678665" cy="307777"/>
          </a:xfrm>
          <a:prstGeom prst="rect">
            <a:avLst/>
          </a:prstGeom>
        </p:spPr>
        <p:txBody>
          <a:bodyPr wrap="none">
            <a:spAutoFit/>
          </a:bodyPr>
          <a:lstStyle/>
          <a:p>
            <a:pPr algn="r" rtl="1"/>
            <a:r>
              <a:rPr lang="en-US" sz="1400" b="1" dirty="0" smtClean="0">
                <a:solidFill>
                  <a:srgbClr val="000000"/>
                </a:solidFill>
                <a:latin typeface="IRANSans"/>
                <a:cs typeface="B Nazanin" panose="00000400000000000000" pitchFamily="2" charset="-78"/>
              </a:rPr>
              <a:t>#</a:t>
            </a:r>
            <a:r>
              <a:rPr lang="fa-IR" sz="1400" b="1" dirty="0" smtClean="0">
                <a:solidFill>
                  <a:srgbClr val="000000"/>
                </a:solidFill>
                <a:latin typeface="IRANSans"/>
                <a:cs typeface="B Nazanin" panose="00000400000000000000" pitchFamily="2" charset="-78"/>
              </a:rPr>
              <a:t>کتاب</a:t>
            </a:r>
            <a:r>
              <a:rPr lang="en-US" sz="1400" b="1" dirty="0" smtClean="0">
                <a:solidFill>
                  <a:srgbClr val="000000"/>
                </a:solidFill>
                <a:latin typeface="IRANSans"/>
                <a:cs typeface="B Nazanin" panose="00000400000000000000" pitchFamily="2" charset="-78"/>
              </a:rPr>
              <a:t>_</a:t>
            </a:r>
            <a:r>
              <a:rPr lang="fa-IR" sz="1400" b="1" dirty="0" smtClean="0">
                <a:solidFill>
                  <a:srgbClr val="000000"/>
                </a:solidFill>
                <a:latin typeface="IRANSans"/>
                <a:cs typeface="B Nazanin" panose="00000400000000000000" pitchFamily="2" charset="-78"/>
              </a:rPr>
              <a:t>پنجمین</a:t>
            </a:r>
            <a:r>
              <a:rPr lang="en-US" sz="1400" b="1" dirty="0" smtClean="0">
                <a:solidFill>
                  <a:srgbClr val="000000"/>
                </a:solidFill>
                <a:latin typeface="IRANSans"/>
                <a:cs typeface="B Nazanin" panose="00000400000000000000" pitchFamily="2" charset="-78"/>
              </a:rPr>
              <a:t>_</a:t>
            </a:r>
            <a:r>
              <a:rPr lang="fa-IR" sz="1400" b="1" dirty="0" smtClean="0">
                <a:solidFill>
                  <a:srgbClr val="000000"/>
                </a:solidFill>
                <a:latin typeface="IRANSans"/>
                <a:cs typeface="B Nazanin" panose="00000400000000000000" pitchFamily="2" charset="-78"/>
              </a:rPr>
              <a:t>فرمان </a:t>
            </a:r>
            <a:endParaRPr lang="en-US" sz="1400" b="1" dirty="0">
              <a:cs typeface="B Nazanin" panose="00000400000000000000" pitchFamily="2" charset="-78"/>
            </a:endParaRPr>
          </a:p>
        </p:txBody>
      </p:sp>
      <p:sp>
        <p:nvSpPr>
          <p:cNvPr id="13" name="Rectangle 12"/>
          <p:cNvSpPr/>
          <p:nvPr/>
        </p:nvSpPr>
        <p:spPr>
          <a:xfrm>
            <a:off x="918297" y="4379792"/>
            <a:ext cx="1220206" cy="307777"/>
          </a:xfrm>
          <a:prstGeom prst="rect">
            <a:avLst/>
          </a:prstGeom>
        </p:spPr>
        <p:txBody>
          <a:bodyPr wrap="none">
            <a:spAutoFit/>
          </a:bodyPr>
          <a:lstStyle/>
          <a:p>
            <a:pPr algn="r" rtl="1"/>
            <a:r>
              <a:rPr lang="fa-IR" sz="1400" b="1" dirty="0" smtClean="0">
                <a:solidFill>
                  <a:srgbClr val="000000"/>
                </a:solidFill>
                <a:latin typeface="IRANSans"/>
                <a:cs typeface="B Nazanin" panose="00000400000000000000" pitchFamily="2" charset="-78"/>
              </a:rPr>
              <a:t>#تفکر_سیستمی</a:t>
            </a:r>
            <a:endParaRPr lang="en-US" sz="1400" b="1" dirty="0">
              <a:cs typeface="B Nazanin" panose="00000400000000000000" pitchFamily="2" charset="-78"/>
            </a:endParaRPr>
          </a:p>
        </p:txBody>
      </p:sp>
      <p:sp>
        <p:nvSpPr>
          <p:cNvPr id="14" name="Rectangle 13"/>
          <p:cNvSpPr/>
          <p:nvPr/>
        </p:nvSpPr>
        <p:spPr>
          <a:xfrm>
            <a:off x="222069" y="4810695"/>
            <a:ext cx="11582807" cy="1754326"/>
          </a:xfrm>
          <a:prstGeom prst="rect">
            <a:avLst/>
          </a:prstGeom>
        </p:spPr>
        <p:txBody>
          <a:bodyPr wrap="square">
            <a:spAutoFit/>
          </a:bodyPr>
          <a:lstStyle/>
          <a:p>
            <a:pPr marL="285750" indent="-285750" algn="just" rtl="1">
              <a:lnSpc>
                <a:spcPct val="200000"/>
              </a:lnSpc>
              <a:buFont typeface="Wingdings" panose="05000000000000000000" pitchFamily="2" charset="2"/>
              <a:buChar char="v"/>
            </a:pPr>
            <a:r>
              <a:rPr lang="fa-IR" b="1" dirty="0">
                <a:solidFill>
                  <a:srgbClr val="000000"/>
                </a:solidFill>
                <a:latin typeface="IRANSans"/>
                <a:cs typeface="B Nazanin" panose="00000400000000000000" pitchFamily="2" charset="-78"/>
              </a:rPr>
              <a:t>فعلاً اولویت من نیست</a:t>
            </a:r>
          </a:p>
          <a:p>
            <a:pPr marL="285750" indent="-285750" algn="r" rtl="1">
              <a:lnSpc>
                <a:spcPct val="200000"/>
              </a:lnSpc>
              <a:buFont typeface="Wingdings" panose="05000000000000000000" pitchFamily="2" charset="2"/>
              <a:buChar char="v"/>
            </a:pPr>
            <a:r>
              <a:rPr lang="fa-IR" b="1" dirty="0">
                <a:cs typeface="B Nazanin" panose="00000400000000000000" pitchFamily="2" charset="-78"/>
              </a:rPr>
              <a:t>باید از یک مشاور کمک </a:t>
            </a:r>
            <a:r>
              <a:rPr lang="fa-IR" b="1" dirty="0" smtClean="0">
                <a:cs typeface="B Nazanin" panose="00000400000000000000" pitchFamily="2" charset="-78"/>
              </a:rPr>
              <a:t>بگیرم</a:t>
            </a:r>
            <a:endParaRPr lang="en-US" b="1" dirty="0" smtClean="0">
              <a:cs typeface="B Nazanin" panose="00000400000000000000" pitchFamily="2" charset="-78"/>
            </a:endParaRPr>
          </a:p>
          <a:p>
            <a:pPr marL="285750" indent="-285750" algn="r" rtl="1">
              <a:lnSpc>
                <a:spcPct val="200000"/>
              </a:lnSpc>
              <a:buFont typeface="Wingdings" panose="05000000000000000000" pitchFamily="2" charset="2"/>
              <a:buChar char="v"/>
            </a:pPr>
            <a:r>
              <a:rPr lang="fa-IR" b="1" dirty="0" smtClean="0">
                <a:cs typeface="B Nazanin" panose="00000400000000000000" pitchFamily="2" charset="-78"/>
              </a:rPr>
              <a:t>به </a:t>
            </a:r>
            <a:r>
              <a:rPr lang="fa-IR" b="1" dirty="0">
                <a:cs typeface="B Nazanin" panose="00000400000000000000" pitchFamily="2" charset="-78"/>
              </a:rPr>
              <a:t>اطلاعات بیشتری نیاز </a:t>
            </a:r>
            <a:r>
              <a:rPr lang="fa-IR" b="1" dirty="0" smtClean="0">
                <a:cs typeface="B Nazanin" panose="00000400000000000000" pitchFamily="2" charset="-78"/>
              </a:rPr>
              <a:t>دارم</a:t>
            </a:r>
          </a:p>
        </p:txBody>
      </p:sp>
      <p:sp>
        <p:nvSpPr>
          <p:cNvPr id="15" name="Rectangle 14"/>
          <p:cNvSpPr/>
          <p:nvPr/>
        </p:nvSpPr>
        <p:spPr>
          <a:xfrm>
            <a:off x="8229600" y="2708546"/>
            <a:ext cx="3575276" cy="473206"/>
          </a:xfrm>
          <a:prstGeom prst="rect">
            <a:avLst/>
          </a:prstGeom>
        </p:spPr>
        <p:txBody>
          <a:bodyPr wrap="square">
            <a:spAutoFit/>
          </a:bodyPr>
          <a:lstStyle/>
          <a:p>
            <a:pPr marL="285750" indent="-285750" algn="just" rtl="1">
              <a:lnSpc>
                <a:spcPct val="150000"/>
              </a:lnSpc>
              <a:buFont typeface="Wingdings" panose="05000000000000000000" pitchFamily="2" charset="2"/>
              <a:buChar char="v"/>
            </a:pPr>
            <a:r>
              <a:rPr lang="fa-IR" b="1" dirty="0">
                <a:solidFill>
                  <a:srgbClr val="000000"/>
                </a:solidFill>
                <a:latin typeface="IRANSans"/>
                <a:cs typeface="B Nazanin" panose="00000400000000000000" pitchFamily="2" charset="-78"/>
              </a:rPr>
              <a:t>قانع شدن به یک تغییر </a:t>
            </a:r>
            <a:r>
              <a:rPr lang="fa-IR" b="1" dirty="0" smtClean="0">
                <a:solidFill>
                  <a:srgbClr val="000000"/>
                </a:solidFill>
                <a:latin typeface="IRANSans"/>
                <a:cs typeface="B Nazanin" panose="00000400000000000000" pitchFamily="2" charset="-78"/>
              </a:rPr>
              <a:t>کوچک</a:t>
            </a:r>
            <a:r>
              <a:rPr lang="en-US" b="1" dirty="0" smtClean="0">
                <a:solidFill>
                  <a:srgbClr val="000000"/>
                </a:solidFill>
                <a:latin typeface="IRANSans"/>
                <a:cs typeface="B Nazanin" panose="00000400000000000000" pitchFamily="2" charset="-78"/>
              </a:rPr>
              <a:t> </a:t>
            </a:r>
            <a:r>
              <a:rPr lang="fa-IR" b="1" dirty="0" smtClean="0">
                <a:solidFill>
                  <a:srgbClr val="000000"/>
                </a:solidFill>
                <a:latin typeface="IRANSans"/>
                <a:cs typeface="B Nazanin" panose="00000400000000000000" pitchFamily="2" charset="-78"/>
              </a:rPr>
              <a:t>تر</a:t>
            </a:r>
            <a:endParaRPr lang="fa-IR" b="1" dirty="0">
              <a:solidFill>
                <a:srgbClr val="000000"/>
              </a:solidFill>
              <a:latin typeface="IRANSans"/>
              <a:cs typeface="B Nazanin" panose="00000400000000000000" pitchFamily="2" charset="-78"/>
            </a:endParaRPr>
          </a:p>
        </p:txBody>
      </p:sp>
      <p:sp>
        <p:nvSpPr>
          <p:cNvPr id="16" name="Rectangle 15"/>
          <p:cNvSpPr/>
          <p:nvPr/>
        </p:nvSpPr>
        <p:spPr>
          <a:xfrm>
            <a:off x="400185" y="5094068"/>
            <a:ext cx="9190685" cy="338554"/>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fa-IR" sz="1600" b="1" dirty="0" smtClean="0">
                <a:solidFill>
                  <a:srgbClr val="000000"/>
                </a:solidFill>
                <a:latin typeface="IRANSans"/>
                <a:cs typeface="B Nazanin" panose="00000400000000000000" pitchFamily="2" charset="-78"/>
              </a:rPr>
              <a:t>تصمیم نگرفتن خود یک تصمیم است . اگر تصمیم گرفته ام فردا به استعفا فکر کنم در واقع تصمیم گرفته ام که امروز استعفا ندهم . </a:t>
            </a:r>
            <a:endParaRPr lang="fa-IR" sz="1600" dirty="0">
              <a:solidFill>
                <a:srgbClr val="000000"/>
              </a:solidFill>
              <a:latin typeface="IRANSans"/>
              <a:cs typeface="B Nazanin" panose="00000400000000000000" pitchFamily="2" charset="-78"/>
            </a:endParaRPr>
          </a:p>
        </p:txBody>
      </p:sp>
      <p:sp>
        <p:nvSpPr>
          <p:cNvPr id="17" name="Rectangle 16"/>
          <p:cNvSpPr/>
          <p:nvPr/>
        </p:nvSpPr>
        <p:spPr>
          <a:xfrm>
            <a:off x="400185" y="5590604"/>
            <a:ext cx="8639311" cy="338554"/>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fa-IR" sz="1600" b="1" dirty="0" smtClean="0">
                <a:solidFill>
                  <a:srgbClr val="000000"/>
                </a:solidFill>
                <a:latin typeface="IRANSans"/>
                <a:cs typeface="B Nazanin" panose="00000400000000000000" pitchFamily="2" charset="-78"/>
              </a:rPr>
              <a:t> </a:t>
            </a:r>
            <a:r>
              <a:rPr lang="fa-IR" sz="1600" b="1" dirty="0">
                <a:solidFill>
                  <a:srgbClr val="FF0000"/>
                </a:solidFill>
                <a:latin typeface="IRANSans"/>
                <a:cs typeface="B Nazanin" panose="00000400000000000000" pitchFamily="2" charset="-78"/>
              </a:rPr>
              <a:t>اگر</a:t>
            </a:r>
            <a:r>
              <a:rPr lang="fa-IR" sz="1600" b="1" dirty="0">
                <a:solidFill>
                  <a:srgbClr val="000000"/>
                </a:solidFill>
                <a:latin typeface="IRANSans"/>
                <a:cs typeface="B Nazanin" panose="00000400000000000000" pitchFamily="2" charset="-78"/>
              </a:rPr>
              <a:t> </a:t>
            </a:r>
            <a:r>
              <a:rPr lang="fa-IR" sz="1600" b="1" dirty="0" smtClean="0">
                <a:solidFill>
                  <a:srgbClr val="000000"/>
                </a:solidFill>
                <a:latin typeface="IRANSans"/>
                <a:cs typeface="B Nazanin" panose="00000400000000000000" pitchFamily="2" charset="-78"/>
              </a:rPr>
              <a:t>ما پاسخ </a:t>
            </a:r>
            <a:r>
              <a:rPr lang="fa-IR" sz="1600" b="1" dirty="0">
                <a:solidFill>
                  <a:srgbClr val="000000"/>
                </a:solidFill>
                <a:latin typeface="IRANSans"/>
                <a:cs typeface="B Nazanin" panose="00000400000000000000" pitchFamily="2" charset="-78"/>
              </a:rPr>
              <a:t>را – تقریباً با قطعیت – می‌دانیم، </a:t>
            </a:r>
            <a:r>
              <a:rPr lang="fa-IR" sz="1600" b="1" dirty="0" smtClean="0">
                <a:solidFill>
                  <a:srgbClr val="000000"/>
                </a:solidFill>
                <a:latin typeface="IRANSans"/>
                <a:cs typeface="B Nazanin" panose="00000400000000000000" pitchFamily="2" charset="-78"/>
              </a:rPr>
              <a:t>احتمالا، </a:t>
            </a:r>
            <a:r>
              <a:rPr lang="fa-IR" sz="1600" b="1" dirty="0">
                <a:solidFill>
                  <a:srgbClr val="000000"/>
                </a:solidFill>
                <a:latin typeface="IRANSans"/>
                <a:cs typeface="B Nazanin" panose="00000400000000000000" pitchFamily="2" charset="-78"/>
              </a:rPr>
              <a:t>مشورت گرفتن یکی از مکانیزمهای ما برای فرار از تصمیم گیری است.</a:t>
            </a:r>
            <a:endParaRPr lang="en-US" sz="1600" b="1" dirty="0">
              <a:solidFill>
                <a:srgbClr val="000000"/>
              </a:solidFill>
              <a:latin typeface="IRANSans"/>
              <a:cs typeface="B Nazanin" panose="00000400000000000000" pitchFamily="2" charset="-78"/>
            </a:endParaRPr>
          </a:p>
        </p:txBody>
      </p:sp>
      <p:sp>
        <p:nvSpPr>
          <p:cNvPr id="18" name="Rectangle 17"/>
          <p:cNvSpPr/>
          <p:nvPr/>
        </p:nvSpPr>
        <p:spPr>
          <a:xfrm>
            <a:off x="400185" y="6111126"/>
            <a:ext cx="8012295" cy="338554"/>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r"/>
            <a:r>
              <a:rPr lang="fa-IR" sz="1600" b="1" dirty="0" smtClean="0">
                <a:solidFill>
                  <a:srgbClr val="000000"/>
                </a:solidFill>
                <a:latin typeface="IRANSans"/>
                <a:cs typeface="B Nazanin" panose="00000400000000000000" pitchFamily="2" charset="-78"/>
              </a:rPr>
              <a:t>  بخاطر داشته باشیم </a:t>
            </a:r>
            <a:r>
              <a:rPr lang="fa-IR" sz="1600" b="1" dirty="0" smtClean="0">
                <a:solidFill>
                  <a:srgbClr val="FF0000"/>
                </a:solidFill>
                <a:latin typeface="IRANSans"/>
                <a:cs typeface="B Nazanin" panose="00000400000000000000" pitchFamily="2" charset="-78"/>
              </a:rPr>
              <a:t>گاهی</a:t>
            </a:r>
            <a:r>
              <a:rPr lang="fa-IR" sz="1600" b="1" dirty="0" smtClean="0">
                <a:solidFill>
                  <a:srgbClr val="000000"/>
                </a:solidFill>
                <a:latin typeface="IRANSans"/>
                <a:cs typeface="B Nazanin" panose="00000400000000000000" pitchFamily="2" charset="-78"/>
              </a:rPr>
              <a:t> !!!  هزینه های تصمیم نگرفتن بیشتر از هزینه های یک تصمیم  غلط می باشد . </a:t>
            </a:r>
            <a:endParaRPr lang="en-US" sz="1600" b="1" dirty="0">
              <a:solidFill>
                <a:srgbClr val="000000"/>
              </a:solidFill>
              <a:latin typeface="IRANSans"/>
              <a:cs typeface="B Nazanin" panose="00000400000000000000" pitchFamily="2" charset="-78"/>
            </a:endParaRPr>
          </a:p>
        </p:txBody>
      </p:sp>
      <p:sp>
        <p:nvSpPr>
          <p:cNvPr id="20" name="Rectangle 19"/>
          <p:cNvSpPr/>
          <p:nvPr/>
        </p:nvSpPr>
        <p:spPr>
          <a:xfrm>
            <a:off x="3675306" y="657874"/>
            <a:ext cx="3768981" cy="369332"/>
          </a:xfrm>
          <a:prstGeom prst="rect">
            <a:avLst/>
          </a:prstGeom>
        </p:spPr>
        <p:txBody>
          <a:bodyPr wrap="none">
            <a:spAutoFit/>
          </a:bodyPr>
          <a:lstStyle/>
          <a:p>
            <a:pPr algn="r"/>
            <a:r>
              <a:rPr lang="fa-IR" b="1" dirty="0">
                <a:solidFill>
                  <a:srgbClr val="A6B727"/>
                </a:solidFill>
                <a:cs typeface="B Nazanin" panose="00000400000000000000" pitchFamily="2" charset="-78"/>
              </a:rPr>
              <a:t>برای فرار از تصمیم گیری معمولا چه میکنیم ؟ </a:t>
            </a:r>
            <a:endParaRPr lang="en-US" b="1" dirty="0">
              <a:solidFill>
                <a:srgbClr val="A6B727"/>
              </a:solidFill>
              <a:cs typeface="B Nazanin" panose="00000400000000000000" pitchFamily="2" charset="-78"/>
            </a:endParaRPr>
          </a:p>
        </p:txBody>
      </p:sp>
    </p:spTree>
    <p:extLst>
      <p:ext uri="{BB962C8B-B14F-4D97-AF65-F5344CB8AC3E}">
        <p14:creationId xmlns:p14="http://schemas.microsoft.com/office/powerpoint/2010/main" val="322504944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اولویت بندی ارزشها در تصمیم گیری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grpSp>
        <p:nvGrpSpPr>
          <p:cNvPr id="6" name="Group 5"/>
          <p:cNvGrpSpPr/>
          <p:nvPr/>
        </p:nvGrpSpPr>
        <p:grpSpPr>
          <a:xfrm>
            <a:off x="3873137" y="1359961"/>
            <a:ext cx="3977641" cy="2643081"/>
            <a:chOff x="659674" y="1359961"/>
            <a:chExt cx="3977641" cy="2643081"/>
          </a:xfrm>
        </p:grpSpPr>
        <p:pic>
          <p:nvPicPr>
            <p:cNvPr id="1026" name="Picture 2" descr="https://motamem.org/wp-content/uploads/2015/09/value-vs-criteria.gif"/>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9674" y="1359961"/>
              <a:ext cx="3977641" cy="2643081"/>
            </a:xfrm>
            <a:prstGeom prst="rect">
              <a:avLst/>
            </a:prstGeom>
            <a:noFill/>
            <a:extLst>
              <a:ext uri="{909E8E84-426E-40DD-AFC4-6F175D3DCCD1}">
                <a14:hiddenFill xmlns:a14="http://schemas.microsoft.com/office/drawing/2010/main">
                  <a:solidFill>
                    <a:srgbClr val="FFFFFF"/>
                  </a:solidFill>
                </a14:hiddenFill>
              </a:ext>
            </a:extLst>
          </p:spPr>
        </p:pic>
        <p:sp>
          <p:nvSpPr>
            <p:cNvPr id="5" name="Oval 4"/>
            <p:cNvSpPr/>
            <p:nvPr/>
          </p:nvSpPr>
          <p:spPr>
            <a:xfrm>
              <a:off x="1903911" y="3663408"/>
              <a:ext cx="757646" cy="339634"/>
            </a:xfrm>
            <a:prstGeom prst="ellipse">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cxnSp>
        <p:nvCxnSpPr>
          <p:cNvPr id="9" name="Straight Arrow Connector 8"/>
          <p:cNvCxnSpPr/>
          <p:nvPr/>
        </p:nvCxnSpPr>
        <p:spPr>
          <a:xfrm>
            <a:off x="7811589" y="2521133"/>
            <a:ext cx="548640" cy="0"/>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2" name="Straight Arrow Connector 11"/>
          <p:cNvCxnSpPr/>
          <p:nvPr/>
        </p:nvCxnSpPr>
        <p:spPr>
          <a:xfrm flipH="1">
            <a:off x="3363686" y="2547259"/>
            <a:ext cx="568235" cy="0"/>
          </a:xfrm>
          <a:prstGeom prst="straightConnector1">
            <a:avLst/>
          </a:prstGeom>
          <a:ln w="57150" cap="flat" cmpd="sng" algn="ctr">
            <a:solidFill>
              <a:srgbClr val="4372C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p:cNvSpPr txBox="1"/>
          <p:nvPr/>
        </p:nvSpPr>
        <p:spPr>
          <a:xfrm>
            <a:off x="1300650" y="1392755"/>
            <a:ext cx="1067921" cy="461665"/>
          </a:xfrm>
          <a:prstGeom prst="rect">
            <a:avLst/>
          </a:prstGeom>
          <a:noFill/>
        </p:spPr>
        <p:txBody>
          <a:bodyPr wrap="none" rtlCol="0">
            <a:spAutoFit/>
          </a:bodyPr>
          <a:lstStyle>
            <a:defPPr>
              <a:defRPr lang="en-US"/>
            </a:defPPr>
            <a:lvl1pPr>
              <a:defRPr sz="2800" b="1">
                <a:cs typeface="B Nazanin" panose="00000400000000000000" pitchFamily="2" charset="-78"/>
              </a:defRPr>
            </a:lvl1pPr>
          </a:lstStyle>
          <a:p>
            <a:r>
              <a:rPr lang="fa-IR" sz="2400" dirty="0">
                <a:solidFill>
                  <a:srgbClr val="4372C2"/>
                </a:solidFill>
              </a:rPr>
              <a:t>معیار ها </a:t>
            </a:r>
            <a:endParaRPr lang="en-US" sz="2400" dirty="0">
              <a:solidFill>
                <a:srgbClr val="4372C2"/>
              </a:solidFill>
            </a:endParaRPr>
          </a:p>
        </p:txBody>
      </p:sp>
      <p:sp>
        <p:nvSpPr>
          <p:cNvPr id="16" name="TextBox 15"/>
          <p:cNvSpPr txBox="1"/>
          <p:nvPr/>
        </p:nvSpPr>
        <p:spPr>
          <a:xfrm>
            <a:off x="9204662" y="1387998"/>
            <a:ext cx="1112805" cy="461665"/>
          </a:xfrm>
          <a:prstGeom prst="rect">
            <a:avLst/>
          </a:prstGeom>
          <a:noFill/>
        </p:spPr>
        <p:txBody>
          <a:bodyPr wrap="none" rtlCol="0">
            <a:spAutoFit/>
          </a:bodyPr>
          <a:lstStyle/>
          <a:p>
            <a:r>
              <a:rPr lang="fa-IR" sz="2400" b="1" dirty="0" smtClean="0">
                <a:solidFill>
                  <a:srgbClr val="C00000"/>
                </a:solidFill>
                <a:cs typeface="B Nazanin" panose="00000400000000000000" pitchFamily="2" charset="-78"/>
              </a:rPr>
              <a:t>ارزش ها </a:t>
            </a:r>
            <a:endParaRPr lang="en-US" sz="2400" b="1" dirty="0">
              <a:solidFill>
                <a:srgbClr val="C00000"/>
              </a:solidFill>
              <a:cs typeface="B Nazanin" panose="00000400000000000000" pitchFamily="2" charset="-78"/>
            </a:endParaRPr>
          </a:p>
        </p:txBody>
      </p:sp>
      <p:cxnSp>
        <p:nvCxnSpPr>
          <p:cNvPr id="17" name="Straight Connector 16"/>
          <p:cNvCxnSpPr/>
          <p:nvPr/>
        </p:nvCxnSpPr>
        <p:spPr>
          <a:xfrm>
            <a:off x="1058092" y="1860387"/>
            <a:ext cx="1802674"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a:xfrm>
            <a:off x="9017454" y="1886513"/>
            <a:ext cx="1802674"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210461" y="1975111"/>
            <a:ext cx="3616957" cy="276999"/>
          </a:xfrm>
          <a:prstGeom prst="rect">
            <a:avLst/>
          </a:prstGeom>
        </p:spPr>
        <p:txBody>
          <a:bodyPr wrap="square">
            <a:spAutoFit/>
          </a:bodyPr>
          <a:lstStyle/>
          <a:p>
            <a:pPr marL="171450" indent="-171450" algn="l" rtl="1">
              <a:buFont typeface="Wingdings" panose="05000000000000000000" pitchFamily="2" charset="2"/>
              <a:buChar char="ü"/>
            </a:pPr>
            <a:r>
              <a:rPr lang="fa-IR" sz="1200" b="1" dirty="0">
                <a:solidFill>
                  <a:srgbClr val="000000"/>
                </a:solidFill>
                <a:latin typeface="IRANSans"/>
                <a:cs typeface="B Nazanin" panose="00000400000000000000" pitchFamily="2" charset="-78"/>
              </a:rPr>
              <a:t>ما معمولاً در تعیین و بررسی معیارها، مشکل چندانی نداریم.</a:t>
            </a:r>
            <a:endParaRPr lang="en-US" sz="1200" dirty="0">
              <a:cs typeface="B Nazanin" panose="00000400000000000000" pitchFamily="2" charset="-78"/>
            </a:endParaRPr>
          </a:p>
        </p:txBody>
      </p:sp>
      <p:sp>
        <p:nvSpPr>
          <p:cNvPr id="22" name="Rectangle 21"/>
          <p:cNvSpPr/>
          <p:nvPr/>
        </p:nvSpPr>
        <p:spPr>
          <a:xfrm>
            <a:off x="8438608" y="1975616"/>
            <a:ext cx="3082834" cy="276999"/>
          </a:xfrm>
          <a:prstGeom prst="rect">
            <a:avLst/>
          </a:prstGeom>
        </p:spPr>
        <p:txBody>
          <a:bodyPr wrap="square">
            <a:spAutoFit/>
          </a:bodyPr>
          <a:lstStyle/>
          <a:p>
            <a:pPr marL="171450" indent="-171450" algn="r" rtl="1">
              <a:buFont typeface="Wingdings" panose="05000000000000000000" pitchFamily="2" charset="2"/>
              <a:buChar char="ü"/>
            </a:pPr>
            <a:r>
              <a:rPr lang="fa-IR" sz="1200" b="1" dirty="0" smtClean="0">
                <a:solidFill>
                  <a:srgbClr val="000000"/>
                </a:solidFill>
                <a:latin typeface="IRANSans"/>
                <a:cs typeface="B Nazanin" panose="00000400000000000000" pitchFamily="2" charset="-78"/>
              </a:rPr>
              <a:t>تعیین ارزشها کار چندان دشواری نیست </a:t>
            </a:r>
            <a:endParaRPr lang="en-US" sz="1200" dirty="0">
              <a:cs typeface="B Nazanin" panose="00000400000000000000" pitchFamily="2" charset="-78"/>
            </a:endParaRPr>
          </a:p>
        </p:txBody>
      </p:sp>
      <p:sp>
        <p:nvSpPr>
          <p:cNvPr id="23" name="Rectangle 22"/>
          <p:cNvSpPr/>
          <p:nvPr/>
        </p:nvSpPr>
        <p:spPr>
          <a:xfrm>
            <a:off x="8334104" y="2471503"/>
            <a:ext cx="3187337" cy="461665"/>
          </a:xfrm>
          <a:prstGeom prst="rect">
            <a:avLst/>
          </a:prstGeom>
        </p:spPr>
        <p:txBody>
          <a:bodyPr wrap="square">
            <a:spAutoFit/>
          </a:bodyPr>
          <a:lstStyle/>
          <a:p>
            <a:pPr marL="171450" indent="-171450" algn="r" rtl="1">
              <a:buFont typeface="Wingdings" panose="05000000000000000000" pitchFamily="2" charset="2"/>
              <a:buChar char="ü"/>
            </a:pPr>
            <a:r>
              <a:rPr lang="fa-IR" sz="1200" b="1" dirty="0" smtClean="0">
                <a:solidFill>
                  <a:srgbClr val="000000"/>
                </a:solidFill>
                <a:latin typeface="IRANSans"/>
                <a:cs typeface="B Nazanin" panose="00000400000000000000" pitchFamily="2" charset="-78"/>
              </a:rPr>
              <a:t>اولویت بندی ارزشها میتواند یک چالش مهم تاثیر گذار در تصمیم گیری باشد . </a:t>
            </a:r>
            <a:endParaRPr lang="en-US" sz="1200" dirty="0">
              <a:cs typeface="B Nazanin" panose="00000400000000000000" pitchFamily="2" charset="-78"/>
            </a:endParaRPr>
          </a:p>
        </p:txBody>
      </p:sp>
      <p:sp>
        <p:nvSpPr>
          <p:cNvPr id="21" name="Rectangle 20"/>
          <p:cNvSpPr/>
          <p:nvPr/>
        </p:nvSpPr>
        <p:spPr>
          <a:xfrm>
            <a:off x="181070" y="2824477"/>
            <a:ext cx="3437342" cy="646331"/>
          </a:xfrm>
          <a:prstGeom prst="rect">
            <a:avLst/>
          </a:prstGeom>
        </p:spPr>
        <p:txBody>
          <a:bodyPr wrap="square">
            <a:spAutoFit/>
          </a:bodyPr>
          <a:lstStyle/>
          <a:p>
            <a:pPr marL="171450" indent="-171450" algn="r" rtl="1">
              <a:buFont typeface="Wingdings" panose="05000000000000000000" pitchFamily="2" charset="2"/>
              <a:buChar char="ü"/>
            </a:pPr>
            <a:r>
              <a:rPr lang="fa-IR" sz="1200" b="1" dirty="0">
                <a:solidFill>
                  <a:srgbClr val="000000"/>
                </a:solidFill>
                <a:latin typeface="IRANSans"/>
                <a:cs typeface="B Nazanin" panose="00000400000000000000" pitchFamily="2" charset="-78"/>
              </a:rPr>
              <a:t>در تعریفی بسیار ساده، هر پارامتری که وجود یا عدم وجود آن در گزینه‌ی نهایی شما حائز اهمیت است، یک معیار محسوب می‌شود.</a:t>
            </a:r>
            <a:endParaRPr lang="en-US" sz="1200" b="1" dirty="0">
              <a:solidFill>
                <a:srgbClr val="000000"/>
              </a:solidFill>
              <a:latin typeface="IRANSans"/>
              <a:cs typeface="B Nazanin" panose="00000400000000000000" pitchFamily="2" charset="-78"/>
            </a:endParaRPr>
          </a:p>
        </p:txBody>
      </p:sp>
      <p:sp>
        <p:nvSpPr>
          <p:cNvPr id="25" name="Rectangle 24"/>
          <p:cNvSpPr/>
          <p:nvPr/>
        </p:nvSpPr>
        <p:spPr>
          <a:xfrm>
            <a:off x="8325122" y="3067158"/>
            <a:ext cx="3187337" cy="461665"/>
          </a:xfrm>
          <a:prstGeom prst="rect">
            <a:avLst/>
          </a:prstGeom>
        </p:spPr>
        <p:txBody>
          <a:bodyPr wrap="square">
            <a:spAutoFit/>
          </a:bodyPr>
          <a:lstStyle/>
          <a:p>
            <a:pPr marL="171450" indent="-171450" algn="r" rtl="1">
              <a:buFont typeface="Wingdings" panose="05000000000000000000" pitchFamily="2" charset="2"/>
              <a:buChar char="ü"/>
            </a:pPr>
            <a:r>
              <a:rPr lang="fa-IR" sz="1200" b="1" dirty="0" smtClean="0">
                <a:solidFill>
                  <a:srgbClr val="000000"/>
                </a:solidFill>
                <a:latin typeface="IRANSans"/>
                <a:cs typeface="B Nazanin" panose="00000400000000000000" pitchFamily="2" charset="-78"/>
              </a:rPr>
              <a:t>اولویت بندی ارزشها، در اولویت بندی معیار ها نیز موثر است که مبنای تصمیم گیری و انتخاب می باشد . </a:t>
            </a:r>
            <a:endParaRPr lang="en-US" sz="1200" dirty="0">
              <a:cs typeface="B Nazanin" panose="00000400000000000000" pitchFamily="2" charset="-78"/>
            </a:endParaRPr>
          </a:p>
        </p:txBody>
      </p:sp>
      <p:sp>
        <p:nvSpPr>
          <p:cNvPr id="24" name="Rectangle 23"/>
          <p:cNvSpPr/>
          <p:nvPr/>
        </p:nvSpPr>
        <p:spPr>
          <a:xfrm>
            <a:off x="741316" y="4189961"/>
            <a:ext cx="10731137" cy="584775"/>
          </a:xfrm>
          <a:prstGeom prst="rect">
            <a:avLst/>
          </a:prstGeom>
          <a:solidFill>
            <a:schemeClr val="accent3">
              <a:lumMod val="40000"/>
              <a:lumOff val="60000"/>
            </a:schemeClr>
          </a:solidFill>
        </p:spPr>
        <p:style>
          <a:lnRef idx="2">
            <a:schemeClr val="accent3">
              <a:shade val="50000"/>
            </a:schemeClr>
          </a:lnRef>
          <a:fillRef idx="1">
            <a:schemeClr val="accent3"/>
          </a:fillRef>
          <a:effectRef idx="0">
            <a:schemeClr val="accent3"/>
          </a:effectRef>
          <a:fontRef idx="minor">
            <a:schemeClr val="lt1"/>
          </a:fontRef>
        </p:style>
        <p:txBody>
          <a:bodyPr wrap="square">
            <a:spAutoFit/>
          </a:bodyPr>
          <a:lstStyle/>
          <a:p>
            <a:pPr algn="r" rtl="1"/>
            <a:r>
              <a:rPr lang="fa-IR" sz="1600" dirty="0">
                <a:solidFill>
                  <a:srgbClr val="000000"/>
                </a:solidFill>
                <a:latin typeface="IRANSans"/>
                <a:cs typeface="B Nazanin" panose="00000400000000000000" pitchFamily="2" charset="-78"/>
              </a:rPr>
              <a:t>هر زمان که در مقایسه‌ی دو </a:t>
            </a:r>
            <a:r>
              <a:rPr lang="fa-IR" sz="1600" b="1" dirty="0">
                <a:solidFill>
                  <a:srgbClr val="C00000"/>
                </a:solidFill>
                <a:latin typeface="IRANSans"/>
                <a:cs typeface="B Nazanin" panose="00000400000000000000" pitchFamily="2" charset="-78"/>
              </a:rPr>
              <a:t>ارزش</a:t>
            </a:r>
            <a:r>
              <a:rPr lang="fa-IR" sz="1600" dirty="0">
                <a:solidFill>
                  <a:srgbClr val="000000"/>
                </a:solidFill>
                <a:latin typeface="IRANSans"/>
                <a:cs typeface="B Nazanin" panose="00000400000000000000" pitchFamily="2" charset="-78"/>
              </a:rPr>
              <a:t> یا دو </a:t>
            </a:r>
            <a:r>
              <a:rPr lang="fa-IR" sz="1600" b="1" dirty="0">
                <a:solidFill>
                  <a:srgbClr val="4372C2"/>
                </a:solidFill>
                <a:latin typeface="IRANSans"/>
                <a:cs typeface="B Nazanin" panose="00000400000000000000" pitchFamily="2" charset="-78"/>
              </a:rPr>
              <a:t>معیار</a:t>
            </a:r>
            <a:r>
              <a:rPr lang="fa-IR" sz="1600" dirty="0">
                <a:solidFill>
                  <a:srgbClr val="000000"/>
                </a:solidFill>
                <a:latin typeface="IRANSans"/>
                <a:cs typeface="B Nazanin" panose="00000400000000000000" pitchFamily="2" charset="-78"/>
              </a:rPr>
              <a:t> مختلف </a:t>
            </a:r>
            <a:r>
              <a:rPr lang="en-US" sz="1600" dirty="0" smtClean="0">
                <a:solidFill>
                  <a:srgbClr val="000000"/>
                </a:solidFill>
                <a:latin typeface="IRANSans"/>
                <a:cs typeface="B Nazanin" panose="00000400000000000000" pitchFamily="2" charset="-78"/>
              </a:rPr>
              <a:t> X </a:t>
            </a:r>
            <a:r>
              <a:rPr lang="fa-IR" sz="1600" dirty="0">
                <a:solidFill>
                  <a:srgbClr val="000000"/>
                </a:solidFill>
                <a:latin typeface="IRANSans"/>
                <a:cs typeface="B Nazanin" panose="00000400000000000000" pitchFamily="2" charset="-78"/>
              </a:rPr>
              <a:t>و </a:t>
            </a:r>
            <a:r>
              <a:rPr lang="en-US" sz="1600" dirty="0" smtClean="0">
                <a:solidFill>
                  <a:srgbClr val="000000"/>
                </a:solidFill>
                <a:latin typeface="IRANSans"/>
                <a:cs typeface="B Nazanin" panose="00000400000000000000" pitchFamily="2" charset="-78"/>
              </a:rPr>
              <a:t> Y </a:t>
            </a:r>
            <a:r>
              <a:rPr lang="fa-IR" sz="1600" dirty="0">
                <a:solidFill>
                  <a:srgbClr val="000000"/>
                </a:solidFill>
                <a:latin typeface="IRANSans"/>
                <a:cs typeface="B Nazanin" panose="00000400000000000000" pitchFamily="2" charset="-78"/>
              </a:rPr>
              <a:t>دچار تردید شدید، می‌توانید دو سناریوی ذهنی طراحی کنید که در یکی از آنها </a:t>
            </a:r>
            <a:r>
              <a:rPr lang="en-US" sz="1600" dirty="0" smtClean="0">
                <a:solidFill>
                  <a:srgbClr val="000000"/>
                </a:solidFill>
                <a:latin typeface="IRANSans"/>
                <a:cs typeface="B Nazanin" panose="00000400000000000000" pitchFamily="2" charset="-78"/>
              </a:rPr>
              <a:t>  X </a:t>
            </a:r>
            <a:r>
              <a:rPr lang="fa-IR" sz="1600" dirty="0" smtClean="0">
                <a:solidFill>
                  <a:srgbClr val="000000"/>
                </a:solidFill>
                <a:latin typeface="IRANSans"/>
                <a:cs typeface="B Nazanin" panose="00000400000000000000" pitchFamily="2" charset="-78"/>
              </a:rPr>
              <a:t>به </a:t>
            </a:r>
            <a:r>
              <a:rPr lang="fa-IR" sz="1600" dirty="0">
                <a:solidFill>
                  <a:srgbClr val="000000"/>
                </a:solidFill>
                <a:latin typeface="IRANSans"/>
                <a:cs typeface="B Nazanin" panose="00000400000000000000" pitchFamily="2" charset="-78"/>
              </a:rPr>
              <a:t>صورت کامل تامین شده و </a:t>
            </a:r>
            <a:r>
              <a:rPr lang="en-US" sz="1600" dirty="0" smtClean="0">
                <a:solidFill>
                  <a:srgbClr val="000000"/>
                </a:solidFill>
                <a:latin typeface="IRANSans"/>
                <a:cs typeface="B Nazanin" panose="00000400000000000000" pitchFamily="2" charset="-78"/>
              </a:rPr>
              <a:t> Y  </a:t>
            </a:r>
            <a:r>
              <a:rPr lang="fa-IR" sz="1600" dirty="0" smtClean="0">
                <a:solidFill>
                  <a:srgbClr val="000000"/>
                </a:solidFill>
                <a:latin typeface="IRANSans"/>
                <a:cs typeface="B Nazanin" panose="00000400000000000000" pitchFamily="2" charset="-78"/>
              </a:rPr>
              <a:t>به </a:t>
            </a:r>
            <a:r>
              <a:rPr lang="fa-IR" sz="1600" dirty="0">
                <a:solidFill>
                  <a:srgbClr val="000000"/>
                </a:solidFill>
                <a:latin typeface="IRANSans"/>
                <a:cs typeface="B Nazanin" panose="00000400000000000000" pitchFamily="2" charset="-78"/>
              </a:rPr>
              <a:t>هیچ وجه تامین نشده است. در سناریوی دوم، </a:t>
            </a:r>
            <a:r>
              <a:rPr lang="en-US" sz="1600" dirty="0" smtClean="0">
                <a:solidFill>
                  <a:srgbClr val="000000"/>
                </a:solidFill>
                <a:latin typeface="IRANSans"/>
                <a:cs typeface="B Nazanin" panose="00000400000000000000" pitchFamily="2" charset="-78"/>
              </a:rPr>
              <a:t> Y </a:t>
            </a:r>
            <a:r>
              <a:rPr lang="fa-IR" sz="1600" dirty="0" smtClean="0">
                <a:solidFill>
                  <a:srgbClr val="000000"/>
                </a:solidFill>
                <a:latin typeface="IRANSans"/>
                <a:cs typeface="B Nazanin" panose="00000400000000000000" pitchFamily="2" charset="-78"/>
              </a:rPr>
              <a:t>به </a:t>
            </a:r>
            <a:r>
              <a:rPr lang="fa-IR" sz="1600" dirty="0">
                <a:solidFill>
                  <a:srgbClr val="000000"/>
                </a:solidFill>
                <a:latin typeface="IRANSans"/>
                <a:cs typeface="B Nazanin" panose="00000400000000000000" pitchFamily="2" charset="-78"/>
              </a:rPr>
              <a:t>صورت کامل تامین شده و </a:t>
            </a:r>
            <a:r>
              <a:rPr lang="en-US" sz="1600" dirty="0" smtClean="0">
                <a:solidFill>
                  <a:srgbClr val="000000"/>
                </a:solidFill>
                <a:latin typeface="IRANSans"/>
                <a:cs typeface="B Nazanin" panose="00000400000000000000" pitchFamily="2" charset="-78"/>
              </a:rPr>
              <a:t> X </a:t>
            </a:r>
            <a:r>
              <a:rPr lang="fa-IR" sz="1600" dirty="0">
                <a:solidFill>
                  <a:srgbClr val="000000"/>
                </a:solidFill>
                <a:latin typeface="IRANSans"/>
                <a:cs typeface="B Nazanin" panose="00000400000000000000" pitchFamily="2" charset="-78"/>
              </a:rPr>
              <a:t>تامین نشده است. در این حالت، احتمالاً‌ انتخاب شما راحت‌تر خواهد بود.</a:t>
            </a:r>
            <a:endParaRPr lang="en-US" sz="1600" dirty="0">
              <a:cs typeface="B Nazanin" panose="00000400000000000000" pitchFamily="2" charset="-78"/>
            </a:endParaRPr>
          </a:p>
        </p:txBody>
      </p:sp>
      <p:sp>
        <p:nvSpPr>
          <p:cNvPr id="26" name="Rectangle 25"/>
          <p:cNvSpPr/>
          <p:nvPr/>
        </p:nvSpPr>
        <p:spPr>
          <a:xfrm>
            <a:off x="1058092" y="5081757"/>
            <a:ext cx="10128068" cy="1384995"/>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 rtl="1"/>
            <a:r>
              <a:rPr lang="fa-IR" sz="1400" dirty="0">
                <a:solidFill>
                  <a:srgbClr val="000000"/>
                </a:solidFill>
                <a:latin typeface="IRANSans"/>
                <a:cs typeface="B Nazanin" panose="00000400000000000000" pitchFamily="2" charset="-78"/>
              </a:rPr>
              <a:t>فرض کنیم در حال انتخاب یک همکار برای شرکت هستیم.</a:t>
            </a:r>
          </a:p>
          <a:p>
            <a:pPr algn="just" rtl="1"/>
            <a:r>
              <a:rPr lang="fa-IR" sz="1400" dirty="0">
                <a:solidFill>
                  <a:srgbClr val="000000"/>
                </a:solidFill>
                <a:latin typeface="IRANSans"/>
                <a:cs typeface="B Nazanin" panose="00000400000000000000" pitchFamily="2" charset="-78"/>
              </a:rPr>
              <a:t>قاعدتاً ارزش‌های سازمانی در نهایت به چند معیار منتهی شده‌اند که </a:t>
            </a:r>
            <a:r>
              <a:rPr lang="fa-IR" sz="1400" b="1" dirty="0">
                <a:solidFill>
                  <a:srgbClr val="000000"/>
                </a:solidFill>
                <a:latin typeface="IRANSans"/>
                <a:cs typeface="B Nazanin" panose="00000400000000000000" pitchFamily="2" charset="-78"/>
              </a:rPr>
              <a:t>صداقت</a:t>
            </a:r>
            <a:r>
              <a:rPr lang="fa-IR" sz="1400" dirty="0">
                <a:solidFill>
                  <a:srgbClr val="000000"/>
                </a:solidFill>
                <a:latin typeface="IRANSans"/>
                <a:cs typeface="B Nazanin" panose="00000400000000000000" pitchFamily="2" charset="-78"/>
              </a:rPr>
              <a:t> و </a:t>
            </a:r>
            <a:r>
              <a:rPr lang="fa-IR" sz="1400" b="1" dirty="0">
                <a:solidFill>
                  <a:srgbClr val="000000"/>
                </a:solidFill>
                <a:latin typeface="IRANSans"/>
                <a:cs typeface="B Nazanin" panose="00000400000000000000" pitchFamily="2" charset="-78"/>
              </a:rPr>
              <a:t>هوش</a:t>
            </a:r>
            <a:r>
              <a:rPr lang="fa-IR" sz="1400" dirty="0">
                <a:solidFill>
                  <a:srgbClr val="000000"/>
                </a:solidFill>
                <a:latin typeface="IRANSans"/>
                <a:cs typeface="B Nazanin" panose="00000400000000000000" pitchFamily="2" charset="-78"/>
              </a:rPr>
              <a:t>، دو مورد از آنهاست.</a:t>
            </a:r>
          </a:p>
          <a:p>
            <a:pPr algn="just" rtl="1"/>
            <a:r>
              <a:rPr lang="fa-IR" sz="1400" dirty="0">
                <a:solidFill>
                  <a:srgbClr val="000000"/>
                </a:solidFill>
                <a:latin typeface="IRANSans"/>
                <a:cs typeface="B Nazanin" panose="00000400000000000000" pitchFamily="2" charset="-78"/>
              </a:rPr>
              <a:t>اما نمی‌دانیم کدامیک مهم‌تر است (هر چه فکر می‌کنیم به جمع‌بندی نهایی نمی‌رسیم).</a:t>
            </a:r>
          </a:p>
          <a:p>
            <a:pPr algn="just" rtl="1"/>
            <a:r>
              <a:rPr lang="fa-IR" sz="1400" dirty="0">
                <a:solidFill>
                  <a:srgbClr val="000000"/>
                </a:solidFill>
                <a:latin typeface="IRANSans"/>
                <a:cs typeface="B Nazanin" panose="00000400000000000000" pitchFamily="2" charset="-78"/>
              </a:rPr>
              <a:t>برای مقایسه صداقت و هوش در انتخاب یک همکار جدید (یا حتی شریک عاطفی)، یک </a:t>
            </a:r>
            <a:r>
              <a:rPr lang="fa-IR" sz="1400" b="1" dirty="0">
                <a:solidFill>
                  <a:srgbClr val="000000"/>
                </a:solidFill>
                <a:latin typeface="IRANSans"/>
                <a:cs typeface="B Nazanin" panose="00000400000000000000" pitchFamily="2" charset="-78"/>
              </a:rPr>
              <a:t>فرد تیزهوش</a:t>
            </a:r>
            <a:r>
              <a:rPr lang="fa-IR" sz="1400" dirty="0">
                <a:solidFill>
                  <a:srgbClr val="000000"/>
                </a:solidFill>
                <a:latin typeface="IRANSans"/>
                <a:cs typeface="B Nazanin" panose="00000400000000000000" pitchFamily="2" charset="-78"/>
              </a:rPr>
              <a:t> را در نظر بگیرید که حتی یک جمله‌ی راست هم از دهانش در نمی‌آید.</a:t>
            </a:r>
          </a:p>
          <a:p>
            <a:pPr algn="just" rtl="1"/>
            <a:r>
              <a:rPr lang="fa-IR" sz="1400" dirty="0">
                <a:solidFill>
                  <a:srgbClr val="000000"/>
                </a:solidFill>
                <a:latin typeface="IRANSans"/>
                <a:cs typeface="B Nazanin" panose="00000400000000000000" pitchFamily="2" charset="-78"/>
              </a:rPr>
              <a:t>حالا او را با یک </a:t>
            </a:r>
            <a:r>
              <a:rPr lang="fa-IR" sz="1400" b="1" dirty="0">
                <a:solidFill>
                  <a:srgbClr val="000000"/>
                </a:solidFill>
                <a:latin typeface="IRANSans"/>
                <a:cs typeface="B Nazanin" panose="00000400000000000000" pitchFamily="2" charset="-78"/>
              </a:rPr>
              <a:t>فرد بسیار کم استعداد و با درک ضعیف</a:t>
            </a:r>
            <a:r>
              <a:rPr lang="fa-IR" sz="1400" dirty="0">
                <a:solidFill>
                  <a:srgbClr val="000000"/>
                </a:solidFill>
                <a:latin typeface="IRANSans"/>
                <a:cs typeface="B Nazanin" panose="00000400000000000000" pitchFamily="2" charset="-78"/>
              </a:rPr>
              <a:t> مقایسه کنید که یک حرف دروغ هم از دهانش در نمی‌آید.</a:t>
            </a:r>
          </a:p>
          <a:p>
            <a:pPr algn="just" rtl="1"/>
            <a:r>
              <a:rPr lang="fa-IR" sz="1400" dirty="0">
                <a:solidFill>
                  <a:srgbClr val="000000"/>
                </a:solidFill>
                <a:latin typeface="IRANSans"/>
                <a:cs typeface="B Nazanin" panose="00000400000000000000" pitchFamily="2" charset="-78"/>
              </a:rPr>
              <a:t>حالا تصمیم بگیرید که در صورت اجبار به انتخاب بین این دو، کدام را به عنوان یک همکار (یا شریک عاطفی) ترجیح می‌دهید.</a:t>
            </a:r>
          </a:p>
        </p:txBody>
      </p:sp>
    </p:spTree>
    <p:extLst>
      <p:ext uri="{BB962C8B-B14F-4D97-AF65-F5344CB8AC3E}">
        <p14:creationId xmlns:p14="http://schemas.microsoft.com/office/powerpoint/2010/main" val="225902200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600200" y="397568"/>
            <a:ext cx="9875520" cy="709749"/>
          </a:xfrm>
        </p:spPr>
        <p:txBody>
          <a:bodyPr>
            <a:normAutofit/>
          </a:bodyPr>
          <a:lstStyle/>
          <a:p>
            <a:pPr algn="r"/>
            <a:r>
              <a:rPr lang="fa-IR" sz="4000" dirty="0" smtClean="0">
                <a:cs typeface="B Nazanin" panose="00000400000000000000" pitchFamily="2" charset="-78"/>
              </a:rPr>
              <a:t>چالش اخلاق و فرهنگ در تصمیم گیری </a:t>
            </a:r>
            <a:endParaRPr lang="en-US" sz="4000" dirty="0">
              <a:cs typeface="B Nazanin" panose="00000400000000000000" pitchFamily="2" charset="-78"/>
            </a:endParaRPr>
          </a:p>
        </p:txBody>
      </p:sp>
      <p:cxnSp>
        <p:nvCxnSpPr>
          <p:cNvPr id="8" name="Straight Connector 7"/>
          <p:cNvCxnSpPr/>
          <p:nvPr/>
        </p:nvCxnSpPr>
        <p:spPr>
          <a:xfrm>
            <a:off x="888274" y="1175658"/>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2050" name="Picture 2" descr="ÙØ³Ø¦ÙÙ ØªØ±Ø§ÙÙØ§ - ÙÙÙÙÙâØ§Û Ø§Ø² Ø§Ø®ÙØ§Ù ÙÙØ´ ÙØµÙÙØ¹Û"/>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2277" y="1396620"/>
            <a:ext cx="3772523" cy="128753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948197" y="2094071"/>
            <a:ext cx="1148071" cy="307777"/>
          </a:xfrm>
          <a:prstGeom prst="rect">
            <a:avLst/>
          </a:prstGeom>
          <a:noFill/>
        </p:spPr>
        <p:txBody>
          <a:bodyPr wrap="none" rtlCol="0">
            <a:spAutoFit/>
          </a:bodyPr>
          <a:lstStyle>
            <a:defPPr>
              <a:defRPr lang="en-US"/>
            </a:defPPr>
            <a:lvl1pPr>
              <a:defRPr b="1">
                <a:cs typeface="B Nazanin" panose="00000400000000000000" pitchFamily="2" charset="-78"/>
              </a:defRPr>
            </a:lvl1pPr>
          </a:lstStyle>
          <a:p>
            <a:r>
              <a:rPr lang="fa-IR" sz="1400" dirty="0">
                <a:solidFill>
                  <a:srgbClr val="FF0000"/>
                </a:solidFill>
              </a:rPr>
              <a:t>فرد قانون مدار  </a:t>
            </a:r>
            <a:endParaRPr lang="en-US" sz="1400" dirty="0">
              <a:solidFill>
                <a:srgbClr val="FF0000"/>
              </a:solidFill>
            </a:endParaRPr>
          </a:p>
        </p:txBody>
      </p:sp>
      <p:sp>
        <p:nvSpPr>
          <p:cNvPr id="6" name="TextBox 5"/>
          <p:cNvSpPr txBox="1"/>
          <p:nvPr/>
        </p:nvSpPr>
        <p:spPr>
          <a:xfrm>
            <a:off x="3948197" y="1547027"/>
            <a:ext cx="1452642" cy="307777"/>
          </a:xfrm>
          <a:prstGeom prst="rect">
            <a:avLst/>
          </a:prstGeom>
          <a:noFill/>
        </p:spPr>
        <p:txBody>
          <a:bodyPr wrap="none" rtlCol="0">
            <a:spAutoFit/>
          </a:bodyPr>
          <a:lstStyle/>
          <a:p>
            <a:r>
              <a:rPr lang="fa-IR" sz="1400" b="1" dirty="0" smtClean="0">
                <a:solidFill>
                  <a:srgbClr val="4372C2"/>
                </a:solidFill>
                <a:cs typeface="B Nazanin" panose="00000400000000000000" pitchFamily="2" charset="-78"/>
              </a:rPr>
              <a:t>افراد متخلف از قانون</a:t>
            </a:r>
            <a:endParaRPr lang="en-US" sz="1400" b="1" dirty="0">
              <a:solidFill>
                <a:srgbClr val="4372C2"/>
              </a:solidFill>
              <a:cs typeface="B Nazanin" panose="00000400000000000000" pitchFamily="2" charset="-78"/>
            </a:endParaRPr>
          </a:p>
        </p:txBody>
      </p:sp>
      <p:sp>
        <p:nvSpPr>
          <p:cNvPr id="7" name="TextBox 6"/>
          <p:cNvSpPr txBox="1"/>
          <p:nvPr/>
        </p:nvSpPr>
        <p:spPr>
          <a:xfrm>
            <a:off x="1813869" y="1201784"/>
            <a:ext cx="1342034" cy="369332"/>
          </a:xfrm>
          <a:prstGeom prst="rect">
            <a:avLst/>
          </a:prstGeom>
          <a:noFill/>
        </p:spPr>
        <p:txBody>
          <a:bodyPr wrap="none" rtlCol="0">
            <a:spAutoFit/>
          </a:bodyPr>
          <a:lstStyle>
            <a:defPPr>
              <a:defRPr lang="en-US"/>
            </a:defPPr>
            <a:lvl1pPr>
              <a:defRPr b="1">
                <a:cs typeface="B Nazanin" panose="00000400000000000000" pitchFamily="2" charset="-78"/>
              </a:defRPr>
            </a:lvl1pPr>
          </a:lstStyle>
          <a:p>
            <a:r>
              <a:rPr lang="fa-IR" dirty="0" smtClean="0">
                <a:solidFill>
                  <a:srgbClr val="00B050"/>
                </a:solidFill>
              </a:rPr>
              <a:t>تصمیم گیرنده </a:t>
            </a:r>
            <a:endParaRPr lang="en-US" dirty="0">
              <a:solidFill>
                <a:srgbClr val="00B050"/>
              </a:solidFill>
            </a:endParaRPr>
          </a:p>
        </p:txBody>
      </p:sp>
      <p:sp>
        <p:nvSpPr>
          <p:cNvPr id="9" name="TextBox 8"/>
          <p:cNvSpPr txBox="1"/>
          <p:nvPr/>
        </p:nvSpPr>
        <p:spPr>
          <a:xfrm>
            <a:off x="7700198" y="1625018"/>
            <a:ext cx="3972562" cy="369332"/>
          </a:xfrm>
          <a:prstGeom prst="rect">
            <a:avLst/>
          </a:prstGeom>
          <a:noFill/>
        </p:spPr>
        <p:txBody>
          <a:bodyPr wrap="none" rtlCol="0">
            <a:spAutoFit/>
          </a:bodyPr>
          <a:lstStyle>
            <a:defPPr>
              <a:defRPr lang="en-US"/>
            </a:defPPr>
            <a:lvl1pPr>
              <a:defRPr b="1">
                <a:cs typeface="B Nazanin" panose="00000400000000000000" pitchFamily="2" charset="-78"/>
              </a:defRPr>
            </a:lvl1pPr>
          </a:lstStyle>
          <a:p>
            <a:r>
              <a:rPr lang="fa-IR" dirty="0" smtClean="0">
                <a:solidFill>
                  <a:schemeClr val="accent2">
                    <a:lumMod val="75000"/>
                  </a:schemeClr>
                </a:solidFill>
              </a:rPr>
              <a:t>مثال کلاسیک قطار و سوزن بان در تصمیم گیری </a:t>
            </a:r>
            <a:endParaRPr lang="en-US" dirty="0">
              <a:solidFill>
                <a:schemeClr val="accent2">
                  <a:lumMod val="75000"/>
                </a:schemeClr>
              </a:solidFill>
            </a:endParaRPr>
          </a:p>
        </p:txBody>
      </p:sp>
      <p:sp>
        <p:nvSpPr>
          <p:cNvPr id="4" name="Rectangle 3"/>
          <p:cNvSpPr/>
          <p:nvPr/>
        </p:nvSpPr>
        <p:spPr>
          <a:xfrm>
            <a:off x="5756056" y="1625018"/>
            <a:ext cx="2132956" cy="369332"/>
          </a:xfrm>
          <a:prstGeom prst="rect">
            <a:avLst/>
          </a:prstGeom>
        </p:spPr>
        <p:txBody>
          <a:bodyPr wrap="none">
            <a:spAutoFit/>
          </a:bodyPr>
          <a:lstStyle/>
          <a:p>
            <a:r>
              <a:rPr lang="fa-IR" b="1" i="1" dirty="0">
                <a:latin typeface="Corbel (Body)"/>
              </a:rPr>
              <a:t>)</a:t>
            </a:r>
            <a:r>
              <a:rPr lang="en-US" b="1" i="1" dirty="0">
                <a:latin typeface="Corbel (Body)"/>
              </a:rPr>
              <a:t>Trolley </a:t>
            </a:r>
            <a:r>
              <a:rPr lang="en-US" b="1" i="1" dirty="0" smtClean="0">
                <a:latin typeface="Corbel (Body)"/>
              </a:rPr>
              <a:t>Problem</a:t>
            </a:r>
            <a:r>
              <a:rPr lang="fa-IR" b="1" i="1" dirty="0" smtClean="0">
                <a:latin typeface="Corbel (Body)"/>
              </a:rPr>
              <a:t>(</a:t>
            </a:r>
            <a:endParaRPr lang="en-US" b="1" i="1" dirty="0">
              <a:latin typeface="Corbel (Body)"/>
            </a:endParaRPr>
          </a:p>
        </p:txBody>
      </p:sp>
      <p:pic>
        <p:nvPicPr>
          <p:cNvPr id="10" name="Picture 9"/>
          <p:cNvPicPr>
            <a:picLocks noChangeAspect="1"/>
          </p:cNvPicPr>
          <p:nvPr/>
        </p:nvPicPr>
        <p:blipFill>
          <a:blip r:embed="rId3"/>
          <a:stretch>
            <a:fillRect/>
          </a:stretch>
        </p:blipFill>
        <p:spPr>
          <a:xfrm>
            <a:off x="3612608" y="2760154"/>
            <a:ext cx="5149570" cy="1998846"/>
          </a:xfrm>
          <a:prstGeom prst="rect">
            <a:avLst/>
          </a:prstGeom>
        </p:spPr>
      </p:pic>
      <p:pic>
        <p:nvPicPr>
          <p:cNvPr id="11" name="Picture 10"/>
          <p:cNvPicPr>
            <a:picLocks noChangeAspect="1"/>
          </p:cNvPicPr>
          <p:nvPr/>
        </p:nvPicPr>
        <p:blipFill>
          <a:blip r:embed="rId4"/>
          <a:stretch>
            <a:fillRect/>
          </a:stretch>
        </p:blipFill>
        <p:spPr>
          <a:xfrm>
            <a:off x="238710" y="3008396"/>
            <a:ext cx="3357371" cy="2359731"/>
          </a:xfrm>
          <a:prstGeom prst="rect">
            <a:avLst/>
          </a:prstGeom>
        </p:spPr>
      </p:pic>
      <p:pic>
        <p:nvPicPr>
          <p:cNvPr id="12" name="Picture 11"/>
          <p:cNvPicPr>
            <a:picLocks noChangeAspect="1"/>
          </p:cNvPicPr>
          <p:nvPr/>
        </p:nvPicPr>
        <p:blipFill rotWithShape="1">
          <a:blip r:embed="rId5"/>
          <a:srcRect b="8497"/>
          <a:stretch/>
        </p:blipFill>
        <p:spPr>
          <a:xfrm>
            <a:off x="8857085" y="2799343"/>
            <a:ext cx="3045156" cy="3788070"/>
          </a:xfrm>
          <a:prstGeom prst="rect">
            <a:avLst/>
          </a:prstGeom>
          <a:ln>
            <a:solidFill>
              <a:srgbClr val="00B050"/>
            </a:solidFill>
          </a:ln>
        </p:spPr>
      </p:pic>
      <p:pic>
        <p:nvPicPr>
          <p:cNvPr id="13" name="Picture 12"/>
          <p:cNvPicPr>
            <a:picLocks noChangeAspect="1"/>
          </p:cNvPicPr>
          <p:nvPr/>
        </p:nvPicPr>
        <p:blipFill>
          <a:blip r:embed="rId6"/>
          <a:stretch>
            <a:fillRect/>
          </a:stretch>
        </p:blipFill>
        <p:spPr>
          <a:xfrm>
            <a:off x="3631536" y="4842030"/>
            <a:ext cx="5085589" cy="1745383"/>
          </a:xfrm>
          <a:prstGeom prst="rect">
            <a:avLst/>
          </a:prstGeom>
        </p:spPr>
      </p:pic>
      <p:sp>
        <p:nvSpPr>
          <p:cNvPr id="14" name="Rectangle 13"/>
          <p:cNvSpPr/>
          <p:nvPr/>
        </p:nvSpPr>
        <p:spPr>
          <a:xfrm>
            <a:off x="404801" y="5368127"/>
            <a:ext cx="3081293" cy="369332"/>
          </a:xfrm>
          <a:prstGeom prst="rect">
            <a:avLst/>
          </a:prstGeom>
        </p:spPr>
        <p:txBody>
          <a:bodyPr wrap="none">
            <a:spAutoFit/>
          </a:bodyPr>
          <a:lstStyle/>
          <a:p>
            <a:r>
              <a:rPr lang="en-US" dirty="0">
                <a:solidFill>
                  <a:srgbClr val="0070C0"/>
                </a:solidFill>
              </a:rPr>
              <a:t>http://</a:t>
            </a:r>
            <a:r>
              <a:rPr lang="en-US" b="1" dirty="0">
                <a:solidFill>
                  <a:srgbClr val="0070C0"/>
                </a:solidFill>
              </a:rPr>
              <a:t>moralmachine</a:t>
            </a:r>
            <a:r>
              <a:rPr lang="en-US" dirty="0">
                <a:solidFill>
                  <a:srgbClr val="0070C0"/>
                </a:solidFill>
              </a:rPr>
              <a:t>.mit.edu/</a:t>
            </a:r>
          </a:p>
        </p:txBody>
      </p:sp>
      <p:sp>
        <p:nvSpPr>
          <p:cNvPr id="15" name="Rectangle 14"/>
          <p:cNvSpPr/>
          <p:nvPr/>
        </p:nvSpPr>
        <p:spPr>
          <a:xfrm>
            <a:off x="626442" y="5830780"/>
            <a:ext cx="2247731" cy="646331"/>
          </a:xfrm>
          <a:prstGeom prst="rect">
            <a:avLst/>
          </a:prstGeom>
        </p:spPr>
        <p:style>
          <a:lnRef idx="2">
            <a:schemeClr val="accent2"/>
          </a:lnRef>
          <a:fillRef idx="1">
            <a:schemeClr val="lt1"/>
          </a:fillRef>
          <a:effectRef idx="0">
            <a:schemeClr val="accent2"/>
          </a:effectRef>
          <a:fontRef idx="minor">
            <a:schemeClr val="dk1"/>
          </a:fontRef>
        </p:style>
        <p:txBody>
          <a:bodyPr wrap="none">
            <a:spAutoFit/>
          </a:bodyPr>
          <a:lstStyle/>
          <a:p>
            <a:pPr algn="ctr" rtl="1"/>
            <a:r>
              <a:rPr lang="fa-IR" b="1" dirty="0" smtClean="0">
                <a:solidFill>
                  <a:srgbClr val="FF0000"/>
                </a:solidFill>
                <a:latin typeface="IRANSans"/>
                <a:cs typeface="B Nazanin" panose="00000400000000000000" pitchFamily="2" charset="-78"/>
              </a:rPr>
              <a:t>بررسی ۴۰ </a:t>
            </a:r>
            <a:r>
              <a:rPr lang="fa-IR" b="1" dirty="0">
                <a:solidFill>
                  <a:srgbClr val="FF0000"/>
                </a:solidFill>
                <a:latin typeface="IRANSans"/>
                <a:cs typeface="B Nazanin" panose="00000400000000000000" pitchFamily="2" charset="-78"/>
              </a:rPr>
              <a:t>میلیون تصمیم </a:t>
            </a:r>
            <a:r>
              <a:rPr lang="fa-IR" b="1" dirty="0" smtClean="0">
                <a:solidFill>
                  <a:srgbClr val="FF0000"/>
                </a:solidFill>
                <a:latin typeface="IRANSans"/>
                <a:cs typeface="B Nazanin" panose="00000400000000000000" pitchFamily="2" charset="-78"/>
              </a:rPr>
              <a:t> </a:t>
            </a:r>
          </a:p>
          <a:p>
            <a:pPr algn="ctr" rtl="1"/>
            <a:r>
              <a:rPr lang="fa-IR" b="1" dirty="0" smtClean="0">
                <a:solidFill>
                  <a:srgbClr val="FF0000"/>
                </a:solidFill>
                <a:latin typeface="IRANSans"/>
                <a:cs typeface="B Nazanin" panose="00000400000000000000" pitchFamily="2" charset="-78"/>
              </a:rPr>
              <a:t>در ۲۳۳</a:t>
            </a:r>
            <a:r>
              <a:rPr lang="en-US" b="1" dirty="0" smtClean="0">
                <a:solidFill>
                  <a:srgbClr val="FF0000"/>
                </a:solidFill>
                <a:latin typeface="IRANSans"/>
                <a:cs typeface="B Nazanin" panose="00000400000000000000" pitchFamily="2" charset="-78"/>
              </a:rPr>
              <a:t> </a:t>
            </a:r>
            <a:r>
              <a:rPr lang="fa-IR" b="1" dirty="0" smtClean="0">
                <a:solidFill>
                  <a:srgbClr val="FF0000"/>
                </a:solidFill>
                <a:latin typeface="IRANSans"/>
                <a:cs typeface="B Nazanin" panose="00000400000000000000" pitchFamily="2" charset="-78"/>
              </a:rPr>
              <a:t>فرهنگ (کشو</a:t>
            </a:r>
            <a:r>
              <a:rPr lang="fa-IR" b="1" dirty="0">
                <a:solidFill>
                  <a:srgbClr val="FF0000"/>
                </a:solidFill>
                <a:latin typeface="IRANSans"/>
                <a:cs typeface="B Nazanin" panose="00000400000000000000" pitchFamily="2" charset="-78"/>
              </a:rPr>
              <a:t>ر</a:t>
            </a:r>
            <a:r>
              <a:rPr lang="fa-IR" b="1" dirty="0" smtClean="0">
                <a:solidFill>
                  <a:srgbClr val="FF0000"/>
                </a:solidFill>
                <a:latin typeface="IRANSans"/>
                <a:cs typeface="B Nazanin" panose="00000400000000000000" pitchFamily="2" charset="-78"/>
              </a:rPr>
              <a:t>)</a:t>
            </a:r>
            <a:endParaRPr lang="en-US" b="1" dirty="0">
              <a:solidFill>
                <a:srgbClr val="FF0000"/>
              </a:solidFill>
              <a:cs typeface="B Nazanin" panose="00000400000000000000" pitchFamily="2" charset="-78"/>
            </a:endParaRPr>
          </a:p>
        </p:txBody>
      </p:sp>
      <p:sp>
        <p:nvSpPr>
          <p:cNvPr id="16" name="Rectangle 15"/>
          <p:cNvSpPr/>
          <p:nvPr/>
        </p:nvSpPr>
        <p:spPr>
          <a:xfrm>
            <a:off x="4903538" y="2692735"/>
            <a:ext cx="2518638" cy="369332"/>
          </a:xfrm>
          <a:prstGeom prst="rect">
            <a:avLst/>
          </a:prstGeom>
        </p:spPr>
        <p:txBody>
          <a:bodyPr wrap="none">
            <a:spAutoFit/>
          </a:bodyPr>
          <a:lstStyle/>
          <a:p>
            <a:r>
              <a:rPr lang="fa-IR" b="1" dirty="0">
                <a:solidFill>
                  <a:srgbClr val="0070C0"/>
                </a:solidFill>
                <a:cs typeface="B Nazanin" panose="00000400000000000000" pitchFamily="2" charset="-78"/>
              </a:rPr>
              <a:t>ترجیح به حفظ جان جوان‌تر‌ها</a:t>
            </a:r>
            <a:endParaRPr lang="en-US" dirty="0">
              <a:solidFill>
                <a:srgbClr val="0070C0"/>
              </a:solidFill>
              <a:cs typeface="B Nazanin" panose="00000400000000000000" pitchFamily="2" charset="-78"/>
            </a:endParaRPr>
          </a:p>
        </p:txBody>
      </p:sp>
      <p:sp>
        <p:nvSpPr>
          <p:cNvPr id="18" name="Rectangle 17"/>
          <p:cNvSpPr/>
          <p:nvPr/>
        </p:nvSpPr>
        <p:spPr>
          <a:xfrm>
            <a:off x="4952611" y="4828967"/>
            <a:ext cx="2382383" cy="369332"/>
          </a:xfrm>
          <a:prstGeom prst="rect">
            <a:avLst/>
          </a:prstGeom>
        </p:spPr>
        <p:txBody>
          <a:bodyPr wrap="none">
            <a:spAutoFit/>
          </a:bodyPr>
          <a:lstStyle/>
          <a:p>
            <a:r>
              <a:rPr lang="fa-IR" b="1" dirty="0">
                <a:solidFill>
                  <a:srgbClr val="0070C0"/>
                </a:solidFill>
                <a:cs typeface="B Nazanin" panose="00000400000000000000" pitchFamily="2" charset="-78"/>
              </a:rPr>
              <a:t>ترجیح به حفظ جان </a:t>
            </a:r>
            <a:r>
              <a:rPr lang="fa-IR" b="1" dirty="0" smtClean="0">
                <a:solidFill>
                  <a:srgbClr val="0070C0"/>
                </a:solidFill>
                <a:cs typeface="B Nazanin" panose="00000400000000000000" pitchFamily="2" charset="-78"/>
              </a:rPr>
              <a:t>پیاده ها</a:t>
            </a:r>
            <a:endParaRPr lang="en-US" dirty="0">
              <a:solidFill>
                <a:srgbClr val="0070C0"/>
              </a:solidFill>
              <a:cs typeface="B Nazanin" panose="00000400000000000000" pitchFamily="2" charset="-78"/>
            </a:endParaRPr>
          </a:p>
        </p:txBody>
      </p:sp>
      <p:sp>
        <p:nvSpPr>
          <p:cNvPr id="19" name="Rectangle 18"/>
          <p:cNvSpPr/>
          <p:nvPr/>
        </p:nvSpPr>
        <p:spPr>
          <a:xfrm>
            <a:off x="9134955" y="2432984"/>
            <a:ext cx="2629246" cy="369332"/>
          </a:xfrm>
          <a:prstGeom prst="rect">
            <a:avLst/>
          </a:prstGeom>
        </p:spPr>
        <p:txBody>
          <a:bodyPr wrap="none">
            <a:spAutoFit/>
          </a:bodyPr>
          <a:lstStyle/>
          <a:p>
            <a:r>
              <a:rPr lang="fa-IR" b="1" dirty="0">
                <a:solidFill>
                  <a:srgbClr val="0070C0"/>
                </a:solidFill>
                <a:cs typeface="B Nazanin" panose="00000400000000000000" pitchFamily="2" charset="-78"/>
              </a:rPr>
              <a:t>ترجیح به حفظ جان </a:t>
            </a:r>
            <a:r>
              <a:rPr lang="fa-IR" b="1" dirty="0" smtClean="0">
                <a:solidFill>
                  <a:srgbClr val="0070C0"/>
                </a:solidFill>
                <a:cs typeface="B Nazanin" panose="00000400000000000000" pitchFamily="2" charset="-78"/>
              </a:rPr>
              <a:t>موارد دیگر</a:t>
            </a:r>
            <a:endParaRPr lang="en-US" dirty="0">
              <a:solidFill>
                <a:srgbClr val="0070C0"/>
              </a:solidFill>
              <a:cs typeface="B Nazanin" panose="00000400000000000000" pitchFamily="2" charset="-78"/>
            </a:endParaRPr>
          </a:p>
        </p:txBody>
      </p:sp>
      <p:cxnSp>
        <p:nvCxnSpPr>
          <p:cNvPr id="20" name="Straight Connector 19"/>
          <p:cNvCxnSpPr/>
          <p:nvPr/>
        </p:nvCxnSpPr>
        <p:spPr>
          <a:xfrm>
            <a:off x="256489" y="2691859"/>
            <a:ext cx="8609796" cy="4565"/>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3" name="Straight Connector 22"/>
          <p:cNvCxnSpPr/>
          <p:nvPr/>
        </p:nvCxnSpPr>
        <p:spPr>
          <a:xfrm>
            <a:off x="3713128" y="4759398"/>
            <a:ext cx="5101302" cy="37206"/>
          </a:xfrm>
          <a:prstGeom prst="line">
            <a:avLst/>
          </a:prstGeom>
          <a:ln w="9525"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 name="Rectangle 4"/>
          <p:cNvSpPr/>
          <p:nvPr/>
        </p:nvSpPr>
        <p:spPr>
          <a:xfrm>
            <a:off x="1112151" y="2667744"/>
            <a:ext cx="1096775" cy="369332"/>
          </a:xfrm>
          <a:prstGeom prst="rect">
            <a:avLst/>
          </a:prstGeom>
          <a:noFill/>
        </p:spPr>
        <p:txBody>
          <a:bodyPr wrap="none" rtlCol="0">
            <a:spAutoFit/>
          </a:bodyPr>
          <a:lstStyle/>
          <a:p>
            <a:r>
              <a:rPr lang="fa-IR" b="1" dirty="0" smtClean="0">
                <a:solidFill>
                  <a:schemeClr val="accent2">
                    <a:lumMod val="75000"/>
                  </a:schemeClr>
                </a:solidFill>
                <a:cs typeface="B Nazanin" panose="00000400000000000000" pitchFamily="2" charset="-78"/>
              </a:rPr>
              <a:t>مثالی دیگر </a:t>
            </a:r>
            <a:endParaRPr lang="en-US" b="1" dirty="0">
              <a:solidFill>
                <a:schemeClr val="accent2">
                  <a:lumMod val="75000"/>
                </a:schemeClr>
              </a:solidFill>
              <a:cs typeface="B Nazanin" panose="00000400000000000000" pitchFamily="2" charset="-78"/>
            </a:endParaRPr>
          </a:p>
        </p:txBody>
      </p:sp>
    </p:spTree>
    <p:extLst>
      <p:ext uri="{BB962C8B-B14F-4D97-AF65-F5344CB8AC3E}">
        <p14:creationId xmlns:p14="http://schemas.microsoft.com/office/powerpoint/2010/main" val="403288912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vert="horz" lIns="91440" tIns="45720" rIns="91440" bIns="45720" rtlCol="0" anchor="ctr">
            <a:normAutofit fontScale="90000"/>
          </a:bodyPr>
          <a:lstStyle/>
          <a:p>
            <a:pPr algn="r"/>
            <a:r>
              <a:rPr lang="fa-IR" sz="4800" dirty="0">
                <a:cs typeface="B Nazanin" panose="00000400000000000000" pitchFamily="2" charset="-78"/>
              </a:rPr>
              <a:t> ثبت و مرور تصمیمها</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5" name="Rectangle 4"/>
          <p:cNvSpPr/>
          <p:nvPr/>
        </p:nvSpPr>
        <p:spPr>
          <a:xfrm>
            <a:off x="561702" y="1411742"/>
            <a:ext cx="10672355" cy="646331"/>
          </a:xfrm>
          <a:prstGeom prst="rect">
            <a:avLst/>
          </a:prstGeom>
          <a:noFill/>
        </p:spPr>
        <p:txBody>
          <a:bodyPr wrap="square" rtlCol="0">
            <a:spAutoFit/>
          </a:bodyPr>
          <a:lstStyle/>
          <a:p>
            <a:pPr algn="r" rtl="1"/>
            <a:r>
              <a:rPr lang="fa-IR" b="1" dirty="0">
                <a:cs typeface="B Nazanin" panose="00000400000000000000" pitchFamily="2" charset="-78"/>
              </a:rPr>
              <a:t>مدیرانی که بعد از ده یا بیست سال تجربه، همچنان تصمیمهای بدیهی را اشتباه می‌گیرند، مشکلی در تجربه تصمیم گیری </a:t>
            </a:r>
            <a:r>
              <a:rPr lang="fa-IR" b="1" dirty="0" smtClean="0">
                <a:cs typeface="B Nazanin" panose="00000400000000000000" pitchFamily="2" charset="-78"/>
              </a:rPr>
              <a:t>ندارند. بلکه </a:t>
            </a:r>
            <a:r>
              <a:rPr lang="fa-IR" b="1" dirty="0">
                <a:cs typeface="B Nazanin" panose="00000400000000000000" pitchFamily="2" charset="-78"/>
              </a:rPr>
              <a:t>ضعف آنها در </a:t>
            </a:r>
            <a:r>
              <a:rPr lang="fa-IR" b="1" dirty="0">
                <a:solidFill>
                  <a:srgbClr val="C00000"/>
                </a:solidFill>
                <a:cs typeface="B Nazanin" panose="00000400000000000000" pitchFamily="2" charset="-78"/>
              </a:rPr>
              <a:t>یادگیری از تصمیم های قبلی</a:t>
            </a:r>
            <a:r>
              <a:rPr lang="fa-IR" b="1" dirty="0">
                <a:cs typeface="B Nazanin" panose="00000400000000000000" pitchFamily="2" charset="-78"/>
              </a:rPr>
              <a:t> است</a:t>
            </a:r>
            <a:r>
              <a:rPr lang="fa-IR" b="1" dirty="0" smtClean="0">
                <a:cs typeface="B Nazanin" panose="00000400000000000000" pitchFamily="2" charset="-78"/>
              </a:rPr>
              <a:t>. </a:t>
            </a:r>
            <a:endParaRPr lang="fa-IR" b="1" dirty="0">
              <a:cs typeface="B Nazanin" panose="00000400000000000000" pitchFamily="2" charset="-78"/>
            </a:endParaRPr>
          </a:p>
        </p:txBody>
      </p:sp>
      <p:sp>
        <p:nvSpPr>
          <p:cNvPr id="6" name="Rectangle 5"/>
          <p:cNvSpPr/>
          <p:nvPr/>
        </p:nvSpPr>
        <p:spPr>
          <a:xfrm>
            <a:off x="692331" y="2228842"/>
            <a:ext cx="10633166" cy="923330"/>
          </a:xfrm>
          <a:prstGeom prst="rect">
            <a:avLst/>
          </a:prstGeom>
          <a:solidFill>
            <a:schemeClr val="accent1">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rtlCol="0">
            <a:spAutoFit/>
          </a:bodyPr>
          <a:lstStyle/>
          <a:p>
            <a:pPr algn="justLow" rtl="1"/>
            <a:r>
              <a:rPr lang="fa-IR" dirty="0">
                <a:cs typeface="B Nazanin" panose="00000400000000000000" pitchFamily="2" charset="-78"/>
              </a:rPr>
              <a:t>حافظه، ابزار مطمئنی برای مرور تصمیم‌ها نیست. ذهن ما به </a:t>
            </a:r>
            <a:r>
              <a:rPr lang="fa-IR" b="1" dirty="0">
                <a:solidFill>
                  <a:srgbClr val="4372C2"/>
                </a:solidFill>
                <a:cs typeface="B Nazanin" panose="00000400000000000000" pitchFamily="2" charset="-78"/>
              </a:rPr>
              <a:t>خطاهای شناختی </a:t>
            </a:r>
            <a:r>
              <a:rPr lang="fa-IR" dirty="0">
                <a:cs typeface="B Nazanin" panose="00000400000000000000" pitchFamily="2" charset="-78"/>
              </a:rPr>
              <a:t>متعددی گرفتار است و حافظه هم معمولاً بیش از آنکه در خدمت منطقِ ما باشد، در تسخیرخطاهای شناختی است</a:t>
            </a:r>
            <a:r>
              <a:rPr lang="fa-IR" dirty="0" smtClean="0">
                <a:cs typeface="B Nazanin" panose="00000400000000000000" pitchFamily="2" charset="-78"/>
              </a:rPr>
              <a:t>. متاسفانه </a:t>
            </a:r>
            <a:r>
              <a:rPr lang="fa-IR" dirty="0">
                <a:cs typeface="B Nazanin" panose="00000400000000000000" pitchFamily="2" charset="-78"/>
              </a:rPr>
              <a:t> ذهن ما خاطرات را به تدریج </a:t>
            </a:r>
            <a:r>
              <a:rPr lang="fa-IR" b="1" dirty="0">
                <a:cs typeface="B Nazanin" panose="00000400000000000000" pitchFamily="2" charset="-78"/>
              </a:rPr>
              <a:t>تحریف</a:t>
            </a:r>
            <a:r>
              <a:rPr lang="fa-IR" dirty="0">
                <a:cs typeface="B Nazanin" panose="00000400000000000000" pitchFamily="2" charset="-78"/>
              </a:rPr>
              <a:t> می‌کند و آنچه ما امروز درباره شرایط تصمیم گیری به خاطر می‌آوریم، الزاماً با آنچه واقعاً در آن زمان وجود داشته یکسان نیست.</a:t>
            </a:r>
            <a:endParaRPr lang="en-US" dirty="0">
              <a:cs typeface="B Nazanin" panose="00000400000000000000" pitchFamily="2" charset="-78"/>
            </a:endParaRPr>
          </a:p>
        </p:txBody>
      </p:sp>
      <p:sp>
        <p:nvSpPr>
          <p:cNvPr id="9" name="Rectangle 8"/>
          <p:cNvSpPr/>
          <p:nvPr/>
        </p:nvSpPr>
        <p:spPr>
          <a:xfrm>
            <a:off x="561703" y="3296815"/>
            <a:ext cx="10763794" cy="923330"/>
          </a:xfrm>
          <a:prstGeom prst="rect">
            <a:avLst/>
          </a:prstGeom>
          <a:noFill/>
        </p:spPr>
        <p:txBody>
          <a:bodyPr wrap="square" rtlCol="0">
            <a:spAutoFit/>
          </a:bodyPr>
          <a:lstStyle/>
          <a:p>
            <a:pPr marL="285750" indent="-285750" algn="r" rtl="1">
              <a:buFont typeface="Wingdings" panose="05000000000000000000" pitchFamily="2" charset="2"/>
              <a:buChar char="ü"/>
            </a:pPr>
            <a:r>
              <a:rPr lang="fa-IR" b="1" dirty="0">
                <a:solidFill>
                  <a:srgbClr val="002060"/>
                </a:solidFill>
                <a:cs typeface="B Nazanin" panose="00000400000000000000" pitchFamily="2" charset="-78"/>
              </a:rPr>
              <a:t>یکی از بهترین روش‌ها برای بهبود کیفیت تصمیم گیری، ثبت تصمیم‌هاست</a:t>
            </a:r>
            <a:r>
              <a:rPr lang="fa-IR" b="1" dirty="0" smtClean="0">
                <a:solidFill>
                  <a:srgbClr val="002060"/>
                </a:solidFill>
                <a:cs typeface="B Nazanin" panose="00000400000000000000" pitchFamily="2" charset="-78"/>
              </a:rPr>
              <a:t>.  ( </a:t>
            </a:r>
            <a:r>
              <a:rPr lang="fa-IR" b="1" i="1" dirty="0" smtClean="0">
                <a:solidFill>
                  <a:srgbClr val="002060"/>
                </a:solidFill>
                <a:cs typeface="B Nazanin" panose="00000400000000000000" pitchFamily="2" charset="-78"/>
              </a:rPr>
              <a:t>به همراه شرایط ، معیارها و پارامتر های تصمیم گیری در آن زمان </a:t>
            </a:r>
            <a:r>
              <a:rPr lang="fa-IR" b="1" dirty="0" smtClean="0">
                <a:solidFill>
                  <a:srgbClr val="002060"/>
                </a:solidFill>
                <a:cs typeface="B Nazanin" panose="00000400000000000000" pitchFamily="2" charset="-78"/>
              </a:rPr>
              <a:t>) مثال : </a:t>
            </a:r>
            <a:r>
              <a:rPr lang="fa-IR" dirty="0">
                <a:solidFill>
                  <a:srgbClr val="002060"/>
                </a:solidFill>
                <a:cs typeface="B Nazanin" panose="00000400000000000000" pitchFamily="2" charset="-78"/>
              </a:rPr>
              <a:t>چه گزینه‌هایی پیش روی من بود؟</a:t>
            </a:r>
            <a:r>
              <a:rPr lang="en-US" dirty="0">
                <a:solidFill>
                  <a:srgbClr val="002060"/>
                </a:solidFill>
                <a:cs typeface="B Nazanin" panose="00000400000000000000" pitchFamily="2" charset="-78"/>
              </a:rPr>
              <a:t> </a:t>
            </a:r>
            <a:r>
              <a:rPr lang="fa-IR" dirty="0">
                <a:solidFill>
                  <a:srgbClr val="002060"/>
                </a:solidFill>
                <a:cs typeface="B Nazanin" panose="00000400000000000000" pitchFamily="2" charset="-78"/>
              </a:rPr>
              <a:t>چقدر به انتخاب خودم مطمئنم؟</a:t>
            </a:r>
            <a:r>
              <a:rPr lang="en-US" dirty="0">
                <a:solidFill>
                  <a:srgbClr val="002060"/>
                </a:solidFill>
                <a:cs typeface="B Nazanin" panose="00000400000000000000" pitchFamily="2" charset="-78"/>
              </a:rPr>
              <a:t>  </a:t>
            </a:r>
            <a:r>
              <a:rPr lang="fa-IR" dirty="0">
                <a:solidFill>
                  <a:srgbClr val="002060"/>
                </a:solidFill>
                <a:cs typeface="B Nazanin" panose="00000400000000000000" pitchFamily="2" charset="-78"/>
              </a:rPr>
              <a:t>افراد موافق و مخالف با </a:t>
            </a:r>
            <a:r>
              <a:rPr lang="fa-IR" dirty="0" smtClean="0">
                <a:solidFill>
                  <a:srgbClr val="002060"/>
                </a:solidFill>
                <a:cs typeface="B Nazanin" panose="00000400000000000000" pitchFamily="2" charset="-78"/>
              </a:rPr>
              <a:t>انتخاب من </a:t>
            </a:r>
            <a:r>
              <a:rPr lang="fa-IR" dirty="0">
                <a:solidFill>
                  <a:srgbClr val="002060"/>
                </a:solidFill>
                <a:cs typeface="B Nazanin" panose="00000400000000000000" pitchFamily="2" charset="-78"/>
              </a:rPr>
              <a:t>و دلایل آنها چیست </a:t>
            </a:r>
            <a:r>
              <a:rPr lang="fa-IR" dirty="0" smtClean="0">
                <a:solidFill>
                  <a:srgbClr val="002060"/>
                </a:solidFill>
                <a:cs typeface="B Nazanin" panose="00000400000000000000" pitchFamily="2" charset="-78"/>
              </a:rPr>
              <a:t>؟ چه مواردی الان برام قطعی است و چه مواردی رو حدس میزنم ؟ چقدر برای این تصمیم زمان دارم ؟ چقدر عجله دارم ؟ و ..... </a:t>
            </a:r>
            <a:endParaRPr lang="en-US" dirty="0">
              <a:solidFill>
                <a:srgbClr val="002060"/>
              </a:solidFill>
              <a:cs typeface="B Nazanin" panose="00000400000000000000" pitchFamily="2" charset="-78"/>
            </a:endParaRPr>
          </a:p>
        </p:txBody>
      </p:sp>
      <p:sp>
        <p:nvSpPr>
          <p:cNvPr id="10" name="Rectangle 9"/>
          <p:cNvSpPr/>
          <p:nvPr/>
        </p:nvSpPr>
        <p:spPr>
          <a:xfrm>
            <a:off x="6540213" y="4423007"/>
            <a:ext cx="4785284" cy="369332"/>
          </a:xfrm>
          <a:prstGeom prst="rect">
            <a:avLst/>
          </a:prstGeom>
        </p:spPr>
        <p:txBody>
          <a:bodyPr wrap="none">
            <a:spAutoFit/>
          </a:bodyPr>
          <a:lstStyle/>
          <a:p>
            <a:pPr marL="285750" indent="-285750" algn="r" rtl="1">
              <a:buFont typeface="Wingdings" panose="05000000000000000000" pitchFamily="2" charset="2"/>
              <a:buChar char="v"/>
            </a:pPr>
            <a:r>
              <a:rPr lang="fa-IR" b="1" dirty="0" smtClean="0">
                <a:solidFill>
                  <a:srgbClr val="C00000"/>
                </a:solidFill>
                <a:cs typeface="B Nazanin" panose="00000400000000000000" pitchFamily="2" charset="-78"/>
              </a:rPr>
              <a:t>هرگز نمیتوان و نباید همه تصمیمهای خود را ثبت کنید .</a:t>
            </a:r>
            <a:endParaRPr lang="en-US" dirty="0">
              <a:solidFill>
                <a:srgbClr val="C00000"/>
              </a:solidFill>
            </a:endParaRPr>
          </a:p>
        </p:txBody>
      </p:sp>
      <p:sp>
        <p:nvSpPr>
          <p:cNvPr id="11" name="Rectangle 10"/>
          <p:cNvSpPr/>
          <p:nvPr/>
        </p:nvSpPr>
        <p:spPr>
          <a:xfrm>
            <a:off x="2897718" y="4753150"/>
            <a:ext cx="7869462" cy="369332"/>
          </a:xfrm>
          <a:prstGeom prst="rect">
            <a:avLst/>
          </a:prstGeom>
        </p:spPr>
        <p:txBody>
          <a:bodyPr wrap="none">
            <a:spAutoFit/>
          </a:bodyPr>
          <a:lstStyle/>
          <a:p>
            <a:pPr algn="r" rtl="1"/>
            <a:r>
              <a:rPr lang="fa-IR" dirty="0" smtClean="0">
                <a:cs typeface="B Nazanin" panose="00000400000000000000" pitchFamily="2" charset="-78"/>
              </a:rPr>
              <a:t>برای ثبت تصمیم ها موضوع ، استراتژی و ... مشخص کنید ! (مثلا تصمیمات مهم در مورد جذب منابع انسانی)  </a:t>
            </a:r>
            <a:endParaRPr lang="en-US" dirty="0"/>
          </a:p>
        </p:txBody>
      </p:sp>
      <p:sp>
        <p:nvSpPr>
          <p:cNvPr id="12" name="Rectangle 11"/>
          <p:cNvSpPr/>
          <p:nvPr/>
        </p:nvSpPr>
        <p:spPr>
          <a:xfrm>
            <a:off x="3744576" y="5127852"/>
            <a:ext cx="7580921" cy="369332"/>
          </a:xfrm>
          <a:prstGeom prst="rect">
            <a:avLst/>
          </a:prstGeom>
        </p:spPr>
        <p:txBody>
          <a:bodyPr wrap="none">
            <a:spAutoFit/>
          </a:bodyPr>
          <a:lstStyle/>
          <a:p>
            <a:pPr marL="285750" indent="-285750" algn="r" rtl="1">
              <a:buFont typeface="Wingdings" panose="05000000000000000000" pitchFamily="2" charset="2"/>
              <a:buChar char="v"/>
            </a:pPr>
            <a:r>
              <a:rPr lang="fa-IR" b="1" dirty="0" smtClean="0">
                <a:solidFill>
                  <a:srgbClr val="C00000"/>
                </a:solidFill>
                <a:cs typeface="B Nazanin" panose="00000400000000000000" pitchFamily="2" charset="-78"/>
              </a:rPr>
              <a:t>الزاما در مورد همه تصمیمات نمی توانید به همه سوالات مشخص شده به یکباره پاسخ دهید. </a:t>
            </a:r>
            <a:endParaRPr lang="en-US" dirty="0">
              <a:solidFill>
                <a:srgbClr val="C00000"/>
              </a:solidFill>
            </a:endParaRPr>
          </a:p>
        </p:txBody>
      </p:sp>
      <p:sp>
        <p:nvSpPr>
          <p:cNvPr id="13" name="Rectangle 12"/>
          <p:cNvSpPr/>
          <p:nvPr/>
        </p:nvSpPr>
        <p:spPr>
          <a:xfrm>
            <a:off x="2141101" y="5452625"/>
            <a:ext cx="8626079" cy="369332"/>
          </a:xfrm>
          <a:prstGeom prst="rect">
            <a:avLst/>
          </a:prstGeom>
        </p:spPr>
        <p:txBody>
          <a:bodyPr wrap="none">
            <a:spAutoFit/>
          </a:bodyPr>
          <a:lstStyle/>
          <a:p>
            <a:pPr algn="r" rtl="1"/>
            <a:r>
              <a:rPr lang="fa-IR" dirty="0">
                <a:cs typeface="B Nazanin" panose="00000400000000000000" pitchFamily="2" charset="-78"/>
              </a:rPr>
              <a:t>هر از چند گاهی سوالات را مرور و تکمیل </a:t>
            </a:r>
            <a:r>
              <a:rPr lang="fa-IR" dirty="0" smtClean="0">
                <a:cs typeface="B Nazanin" panose="00000400000000000000" pitchFamily="2" charset="-78"/>
              </a:rPr>
              <a:t>کنید و در مورد هر تصمیم مشخص کنید که چه سوالاتی را ثبت خواهید کرد .  </a:t>
            </a:r>
            <a:endParaRPr lang="en-US" dirty="0">
              <a:cs typeface="B Nazanin" panose="00000400000000000000" pitchFamily="2" charset="-78"/>
            </a:endParaRPr>
          </a:p>
        </p:txBody>
      </p:sp>
      <p:sp>
        <p:nvSpPr>
          <p:cNvPr id="14" name="Rectangle 13"/>
          <p:cNvSpPr/>
          <p:nvPr/>
        </p:nvSpPr>
        <p:spPr>
          <a:xfrm>
            <a:off x="6703719" y="5821957"/>
            <a:ext cx="4621778" cy="369332"/>
          </a:xfrm>
          <a:prstGeom prst="rect">
            <a:avLst/>
          </a:prstGeom>
        </p:spPr>
        <p:txBody>
          <a:bodyPr wrap="none">
            <a:spAutoFit/>
          </a:bodyPr>
          <a:lstStyle/>
          <a:p>
            <a:pPr marL="285750" indent="-285750" algn="r" rtl="1">
              <a:buFont typeface="Wingdings" panose="05000000000000000000" pitchFamily="2" charset="2"/>
              <a:buChar char="v"/>
            </a:pPr>
            <a:r>
              <a:rPr lang="fa-IR" b="1" dirty="0">
                <a:solidFill>
                  <a:srgbClr val="C00000"/>
                </a:solidFill>
                <a:cs typeface="B Nazanin" panose="00000400000000000000" pitchFamily="2" charset="-78"/>
              </a:rPr>
              <a:t> ارزش اصلی این نوع ثبت کردن در مرور تصمیم است.</a:t>
            </a:r>
            <a:endParaRPr lang="en-US" b="1" dirty="0">
              <a:solidFill>
                <a:srgbClr val="C00000"/>
              </a:solidFill>
              <a:cs typeface="B Nazanin" panose="00000400000000000000" pitchFamily="2" charset="-78"/>
            </a:endParaRPr>
          </a:p>
        </p:txBody>
      </p:sp>
      <p:sp>
        <p:nvSpPr>
          <p:cNvPr id="15" name="Rectangle 14"/>
          <p:cNvSpPr/>
          <p:nvPr/>
        </p:nvSpPr>
        <p:spPr>
          <a:xfrm>
            <a:off x="2365520" y="6184546"/>
            <a:ext cx="8401660" cy="369332"/>
          </a:xfrm>
          <a:prstGeom prst="rect">
            <a:avLst/>
          </a:prstGeom>
        </p:spPr>
        <p:txBody>
          <a:bodyPr wrap="none">
            <a:spAutoFit/>
          </a:bodyPr>
          <a:lstStyle/>
          <a:p>
            <a:pPr algn="r" rtl="1"/>
            <a:r>
              <a:rPr lang="fa-IR" dirty="0" smtClean="0">
                <a:cs typeface="B Nazanin" panose="00000400000000000000" pitchFamily="2" charset="-78"/>
              </a:rPr>
              <a:t>همین </a:t>
            </a:r>
            <a:r>
              <a:rPr lang="fa-IR" dirty="0">
                <a:cs typeface="B Nazanin" panose="00000400000000000000" pitchFamily="2" charset="-78"/>
              </a:rPr>
              <a:t>که گزارش امروز خود را بعداً بخوانید قطعاً مفید و آموزنده است و برای شما تداعی‌های بسیاری ایجاد خواهد کرد.</a:t>
            </a:r>
            <a:endParaRPr lang="en-US" dirty="0">
              <a:cs typeface="B Nazanin" panose="00000400000000000000" pitchFamily="2" charset="-78"/>
            </a:endParaRPr>
          </a:p>
        </p:txBody>
      </p:sp>
    </p:spTree>
    <p:extLst>
      <p:ext uri="{BB962C8B-B14F-4D97-AF65-F5344CB8AC3E}">
        <p14:creationId xmlns:p14="http://schemas.microsoft.com/office/powerpoint/2010/main" val="150834397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خطا های شناختی یا خطاهای ذهنی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10277161" y="1977167"/>
            <a:ext cx="1266629" cy="276999"/>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a:spAutoFit/>
          </a:bodyPr>
          <a:lstStyle/>
          <a:p>
            <a:r>
              <a:rPr lang="en-US" sz="1200" dirty="0">
                <a:solidFill>
                  <a:schemeClr val="accent1">
                    <a:lumMod val="75000"/>
                  </a:schemeClr>
                </a:solidFill>
                <a:latin typeface="Tahoma" panose="020B0604030504040204" pitchFamily="34" charset="0"/>
                <a:ea typeface="Tahoma" panose="020B0604030504040204" pitchFamily="34" charset="0"/>
                <a:cs typeface="Tahoma" panose="020B0604030504040204" pitchFamily="34" charset="0"/>
              </a:rPr>
              <a:t>Cognitive Errors</a:t>
            </a:r>
          </a:p>
        </p:txBody>
      </p:sp>
      <p:sp>
        <p:nvSpPr>
          <p:cNvPr id="4" name="Rectangle 3"/>
          <p:cNvSpPr/>
          <p:nvPr/>
        </p:nvSpPr>
        <p:spPr>
          <a:xfrm>
            <a:off x="10006284" y="1693428"/>
            <a:ext cx="1627369" cy="369332"/>
          </a:xfrm>
          <a:prstGeom prst="rect">
            <a:avLst/>
          </a:prstGeom>
        </p:spPr>
        <p:txBody>
          <a:bodyPr wrap="none">
            <a:spAutoFit/>
          </a:bodyPr>
          <a:lstStyle/>
          <a:p>
            <a:r>
              <a:rPr lang="fa-IR" b="1" dirty="0">
                <a:cs typeface="B Nazanin" panose="00000400000000000000" pitchFamily="2" charset="-78"/>
              </a:rPr>
              <a:t>خطا های شناختی </a:t>
            </a:r>
            <a:endParaRPr lang="en-US" b="1" dirty="0"/>
          </a:p>
        </p:txBody>
      </p:sp>
      <p:sp>
        <p:nvSpPr>
          <p:cNvPr id="5" name="Rectangle 4"/>
          <p:cNvSpPr/>
          <p:nvPr/>
        </p:nvSpPr>
        <p:spPr>
          <a:xfrm>
            <a:off x="3174277" y="1508762"/>
            <a:ext cx="6557554" cy="369332"/>
          </a:xfrm>
          <a:prstGeom prst="rect">
            <a:avLst/>
          </a:prstGeom>
        </p:spPr>
        <p:txBody>
          <a:bodyPr wrap="square">
            <a:spAutoFit/>
          </a:bodyPr>
          <a:lstStyle/>
          <a:p>
            <a:pPr marL="285750" indent="-285750" algn="r" rtl="1">
              <a:buFont typeface="Wingdings" panose="05000000000000000000" pitchFamily="2" charset="2"/>
              <a:buChar char="ü"/>
            </a:pPr>
            <a:r>
              <a:rPr lang="fa-IR" dirty="0">
                <a:solidFill>
                  <a:srgbClr val="000000"/>
                </a:solidFill>
                <a:latin typeface="IRANSans"/>
                <a:cs typeface="B Nazanin" panose="00000400000000000000" pitchFamily="2" charset="-78"/>
              </a:rPr>
              <a:t>هنگام </a:t>
            </a:r>
            <a:r>
              <a:rPr lang="fa-IR" b="1" dirty="0">
                <a:solidFill>
                  <a:srgbClr val="000000"/>
                </a:solidFill>
                <a:latin typeface="IRANSans"/>
                <a:cs typeface="B Nazanin" panose="00000400000000000000" pitchFamily="2" charset="-78"/>
              </a:rPr>
              <a:t>تحلیل</a:t>
            </a:r>
            <a:r>
              <a:rPr lang="fa-IR" dirty="0">
                <a:solidFill>
                  <a:srgbClr val="000000"/>
                </a:solidFill>
                <a:latin typeface="IRANSans"/>
                <a:cs typeface="B Nazanin" panose="00000400000000000000" pitchFamily="2" charset="-78"/>
              </a:rPr>
              <a:t> و </a:t>
            </a:r>
            <a:r>
              <a:rPr lang="fa-IR" b="1" dirty="0">
                <a:solidFill>
                  <a:srgbClr val="000000"/>
                </a:solidFill>
                <a:latin typeface="IRANSans"/>
                <a:cs typeface="B Nazanin" panose="00000400000000000000" pitchFamily="2" charset="-78"/>
              </a:rPr>
              <a:t>تفسیر</a:t>
            </a:r>
            <a:r>
              <a:rPr lang="fa-IR" dirty="0">
                <a:solidFill>
                  <a:srgbClr val="000000"/>
                </a:solidFill>
                <a:latin typeface="IRANSans"/>
                <a:cs typeface="B Nazanin" panose="00000400000000000000" pitchFamily="2" charset="-78"/>
              </a:rPr>
              <a:t> و </a:t>
            </a:r>
            <a:r>
              <a:rPr lang="fa-IR" b="1" dirty="0">
                <a:solidFill>
                  <a:srgbClr val="000000"/>
                </a:solidFill>
                <a:latin typeface="IRANSans"/>
                <a:cs typeface="B Nazanin" panose="00000400000000000000" pitchFamily="2" charset="-78"/>
              </a:rPr>
              <a:t>قضاوت</a:t>
            </a:r>
            <a:r>
              <a:rPr lang="fa-IR" dirty="0">
                <a:solidFill>
                  <a:srgbClr val="000000"/>
                </a:solidFill>
                <a:latin typeface="IRANSans"/>
                <a:cs typeface="B Nazanin" panose="00000400000000000000" pitchFamily="2" charset="-78"/>
              </a:rPr>
              <a:t> در مورد رویدادها ما را به دام خود گرفتار </a:t>
            </a:r>
            <a:r>
              <a:rPr lang="fa-IR" dirty="0" smtClean="0">
                <a:solidFill>
                  <a:srgbClr val="000000"/>
                </a:solidFill>
                <a:latin typeface="IRANSans"/>
                <a:cs typeface="B Nazanin" panose="00000400000000000000" pitchFamily="2" charset="-78"/>
              </a:rPr>
              <a:t>می‌کنند .</a:t>
            </a:r>
            <a:endParaRPr lang="en-US" dirty="0">
              <a:cs typeface="B Nazanin" panose="00000400000000000000" pitchFamily="2" charset="-78"/>
            </a:endParaRPr>
          </a:p>
        </p:txBody>
      </p:sp>
      <p:sp>
        <p:nvSpPr>
          <p:cNvPr id="6" name="Rectangle 5"/>
          <p:cNvSpPr/>
          <p:nvPr/>
        </p:nvSpPr>
        <p:spPr>
          <a:xfrm>
            <a:off x="209008" y="1885796"/>
            <a:ext cx="9522823" cy="369332"/>
          </a:xfrm>
          <a:prstGeom prst="rect">
            <a:avLst/>
          </a:prstGeom>
        </p:spPr>
        <p:txBody>
          <a:bodyPr wrap="square">
            <a:spAutoFit/>
          </a:bodyPr>
          <a:lstStyle/>
          <a:p>
            <a:pPr marL="285750" indent="-285750" algn="r" rtl="1">
              <a:buFont typeface="Wingdings" panose="05000000000000000000" pitchFamily="2" charset="2"/>
              <a:buChar char="ü"/>
            </a:pPr>
            <a:r>
              <a:rPr lang="fa-IR" dirty="0">
                <a:solidFill>
                  <a:srgbClr val="000000"/>
                </a:solidFill>
                <a:latin typeface="IRANSans"/>
                <a:cs typeface="B Nazanin" panose="00000400000000000000" pitchFamily="2" charset="-78"/>
              </a:rPr>
              <a:t>اکثر خطاهای شناختی به مرور زمان و در اثر زندگی طولانی‌ مدت انسان بر روی کره زمین، در مغز ما شکل </a:t>
            </a:r>
            <a:r>
              <a:rPr lang="fa-IR" dirty="0" smtClean="0">
                <a:solidFill>
                  <a:srgbClr val="000000"/>
                </a:solidFill>
                <a:latin typeface="IRANSans"/>
                <a:cs typeface="B Nazanin" panose="00000400000000000000" pitchFamily="2" charset="-78"/>
              </a:rPr>
              <a:t>گرفته‌اند . </a:t>
            </a:r>
            <a:r>
              <a:rPr lang="fa-IR" b="1" dirty="0" smtClean="0">
                <a:solidFill>
                  <a:srgbClr val="C00000"/>
                </a:solidFill>
                <a:latin typeface="IRANSans"/>
                <a:cs typeface="B Nazanin" panose="00000400000000000000" pitchFamily="2" charset="-78"/>
              </a:rPr>
              <a:t>(مدل ذهنی)</a:t>
            </a:r>
            <a:endParaRPr lang="en-US" b="1" dirty="0">
              <a:solidFill>
                <a:srgbClr val="C00000"/>
              </a:solidFill>
              <a:latin typeface="IRANSans"/>
              <a:cs typeface="B Nazanin" panose="00000400000000000000" pitchFamily="2" charset="-78"/>
            </a:endParaRPr>
          </a:p>
        </p:txBody>
      </p:sp>
      <p:sp>
        <p:nvSpPr>
          <p:cNvPr id="9" name="Rectangle 8"/>
          <p:cNvSpPr/>
          <p:nvPr/>
        </p:nvSpPr>
        <p:spPr>
          <a:xfrm>
            <a:off x="1097282" y="2239766"/>
            <a:ext cx="8634549" cy="369332"/>
          </a:xfrm>
          <a:prstGeom prst="rect">
            <a:avLst/>
          </a:prstGeom>
        </p:spPr>
        <p:txBody>
          <a:bodyPr wrap="square">
            <a:spAutoFit/>
          </a:bodyPr>
          <a:lstStyle/>
          <a:p>
            <a:pPr marL="285750" indent="-285750" algn="r" rtl="1">
              <a:buFont typeface="Wingdings" panose="05000000000000000000" pitchFamily="2" charset="2"/>
              <a:buChar char="ü"/>
            </a:pPr>
            <a:r>
              <a:rPr lang="fa-IR" dirty="0" smtClean="0">
                <a:solidFill>
                  <a:srgbClr val="000000"/>
                </a:solidFill>
                <a:latin typeface="IRANSans"/>
                <a:cs typeface="B Nazanin" panose="00000400000000000000" pitchFamily="2" charset="-78"/>
              </a:rPr>
              <a:t>برخی از این مدل های ذهنی به تفکر سریع و تصمیم گیری بهتر ما کمک میکنند اما بعضا هزینه هایی نیز در بر دارند . </a:t>
            </a:r>
            <a:endParaRPr lang="en-US" dirty="0">
              <a:solidFill>
                <a:srgbClr val="000000"/>
              </a:solidFill>
              <a:latin typeface="IRANSans"/>
              <a:cs typeface="B Nazanin" panose="00000400000000000000" pitchFamily="2" charset="-78"/>
            </a:endParaRPr>
          </a:p>
        </p:txBody>
      </p:sp>
      <p:sp>
        <p:nvSpPr>
          <p:cNvPr id="7" name="Rectangle 6"/>
          <p:cNvSpPr/>
          <p:nvPr/>
        </p:nvSpPr>
        <p:spPr>
          <a:xfrm>
            <a:off x="587828" y="2712274"/>
            <a:ext cx="9418456" cy="584775"/>
          </a:xfrm>
          <a:prstGeom prst="rect">
            <a:avLst/>
          </a:prstGeom>
          <a:ln w="28575">
            <a:prstDash val="solid"/>
          </a:ln>
        </p:spPr>
        <p:style>
          <a:lnRef idx="2">
            <a:schemeClr val="accent3"/>
          </a:lnRef>
          <a:fillRef idx="1">
            <a:schemeClr val="lt1"/>
          </a:fillRef>
          <a:effectRef idx="0">
            <a:schemeClr val="accent3"/>
          </a:effectRef>
          <a:fontRef idx="minor">
            <a:schemeClr val="dk1"/>
          </a:fontRef>
        </p:style>
        <p:txBody>
          <a:bodyPr wrap="square">
            <a:spAutoFit/>
          </a:bodyPr>
          <a:lstStyle/>
          <a:p>
            <a:pPr algn="justLow" rtl="1"/>
            <a:r>
              <a:rPr lang="en-US" sz="1600" dirty="0" err="1">
                <a:cs typeface="B Nazanin" panose="00000400000000000000" pitchFamily="2" charset="-78"/>
              </a:rPr>
              <a:t>انسان</a:t>
            </a:r>
            <a:r>
              <a:rPr lang="en-US" sz="1600" dirty="0">
                <a:cs typeface="B Nazanin" panose="00000400000000000000" pitchFamily="2" charset="-78"/>
              </a:rPr>
              <a:t> </a:t>
            </a:r>
            <a:r>
              <a:rPr lang="en-US" sz="1600" dirty="0" err="1">
                <a:cs typeface="B Nazanin" panose="00000400000000000000" pitchFamily="2" charset="-78"/>
              </a:rPr>
              <a:t>امروز</a:t>
            </a:r>
            <a:r>
              <a:rPr lang="en-US" sz="1600" dirty="0">
                <a:cs typeface="B Nazanin" panose="00000400000000000000" pitchFamily="2" charset="-78"/>
              </a:rPr>
              <a:t> ، </a:t>
            </a:r>
            <a:r>
              <a:rPr lang="en-US" sz="1600" dirty="0" err="1">
                <a:cs typeface="B Nazanin" panose="00000400000000000000" pitchFamily="2" charset="-78"/>
              </a:rPr>
              <a:t>وقتی</a:t>
            </a:r>
            <a:r>
              <a:rPr lang="en-US" sz="1600" dirty="0">
                <a:cs typeface="B Nazanin" panose="00000400000000000000" pitchFamily="2" charset="-78"/>
              </a:rPr>
              <a:t> </a:t>
            </a:r>
            <a:r>
              <a:rPr lang="en-US" sz="1600" dirty="0" err="1">
                <a:cs typeface="B Nazanin" panose="00000400000000000000" pitchFamily="2" charset="-78"/>
              </a:rPr>
              <a:t>از</a:t>
            </a:r>
            <a:r>
              <a:rPr lang="en-US" sz="1600" dirty="0">
                <a:cs typeface="B Nazanin" panose="00000400000000000000" pitchFamily="2" charset="-78"/>
              </a:rPr>
              <a:t> </a:t>
            </a:r>
            <a:r>
              <a:rPr lang="en-US" sz="1600" dirty="0" err="1">
                <a:cs typeface="B Nazanin" panose="00000400000000000000" pitchFamily="2" charset="-78"/>
              </a:rPr>
              <a:t>همکاری</a:t>
            </a:r>
            <a:r>
              <a:rPr lang="en-US" sz="1600" dirty="0">
                <a:cs typeface="B Nazanin" panose="00000400000000000000" pitchFamily="2" charset="-78"/>
              </a:rPr>
              <a:t> </a:t>
            </a:r>
            <a:r>
              <a:rPr lang="en-US" sz="1600" dirty="0" err="1">
                <a:cs typeface="B Nazanin" panose="00000400000000000000" pitchFamily="2" charset="-78"/>
              </a:rPr>
              <a:t>با</a:t>
            </a:r>
            <a:r>
              <a:rPr lang="en-US" sz="1600" dirty="0">
                <a:cs typeface="B Nazanin" panose="00000400000000000000" pitchFamily="2" charset="-78"/>
              </a:rPr>
              <a:t> </a:t>
            </a:r>
            <a:r>
              <a:rPr lang="en-US" sz="1600" dirty="0" err="1">
                <a:cs typeface="B Nazanin" panose="00000400000000000000" pitchFamily="2" charset="-78"/>
              </a:rPr>
              <a:t>فردی</a:t>
            </a:r>
            <a:r>
              <a:rPr lang="en-US" sz="1600" dirty="0">
                <a:cs typeface="B Nazanin" panose="00000400000000000000" pitchFamily="2" charset="-78"/>
              </a:rPr>
              <a:t> </a:t>
            </a:r>
            <a:r>
              <a:rPr lang="en-US" sz="1600" dirty="0" err="1">
                <a:cs typeface="B Nazanin" panose="00000400000000000000" pitchFamily="2" charset="-78"/>
              </a:rPr>
              <a:t>در</a:t>
            </a:r>
            <a:r>
              <a:rPr lang="en-US" sz="1600" dirty="0">
                <a:cs typeface="B Nazanin" panose="00000400000000000000" pitchFamily="2" charset="-78"/>
              </a:rPr>
              <a:t> </a:t>
            </a:r>
            <a:r>
              <a:rPr lang="en-US" sz="1600" dirty="0" err="1">
                <a:cs typeface="B Nazanin" panose="00000400000000000000" pitchFamily="2" charset="-78"/>
              </a:rPr>
              <a:t>یک</a:t>
            </a:r>
            <a:r>
              <a:rPr lang="en-US" sz="1600" dirty="0">
                <a:cs typeface="B Nazanin" panose="00000400000000000000" pitchFamily="2" charset="-78"/>
              </a:rPr>
              <a:t> </a:t>
            </a:r>
            <a:r>
              <a:rPr lang="en-US" sz="1600" dirty="0" err="1">
                <a:cs typeface="B Nazanin" panose="00000400000000000000" pitchFamily="2" charset="-78"/>
              </a:rPr>
              <a:t>شهر</a:t>
            </a:r>
            <a:r>
              <a:rPr lang="en-US" sz="1600" dirty="0">
                <a:cs typeface="B Nazanin" panose="00000400000000000000" pitchFamily="2" charset="-78"/>
              </a:rPr>
              <a:t> </a:t>
            </a:r>
            <a:r>
              <a:rPr lang="en-US" sz="1600" dirty="0" err="1">
                <a:cs typeface="B Nazanin" panose="00000400000000000000" pitchFamily="2" charset="-78"/>
              </a:rPr>
              <a:t>متضرر</a:t>
            </a:r>
            <a:r>
              <a:rPr lang="en-US" sz="1600" dirty="0">
                <a:cs typeface="B Nazanin" panose="00000400000000000000" pitchFamily="2" charset="-78"/>
              </a:rPr>
              <a:t> </a:t>
            </a:r>
            <a:r>
              <a:rPr lang="en-US" sz="1600" dirty="0" err="1">
                <a:cs typeface="B Nazanin" panose="00000400000000000000" pitchFamily="2" charset="-78"/>
              </a:rPr>
              <a:t>می</a:t>
            </a:r>
            <a:r>
              <a:rPr lang="en-US" sz="1600" dirty="0">
                <a:cs typeface="B Nazanin" panose="00000400000000000000" pitchFamily="2" charset="-78"/>
              </a:rPr>
              <a:t> </a:t>
            </a:r>
            <a:r>
              <a:rPr lang="en-US" sz="1600" dirty="0" err="1">
                <a:cs typeface="B Nazanin" panose="00000400000000000000" pitchFamily="2" charset="-78"/>
              </a:rPr>
              <a:t>شود</a:t>
            </a:r>
            <a:r>
              <a:rPr lang="en-US" sz="1600" dirty="0">
                <a:cs typeface="B Nazanin" panose="00000400000000000000" pitchFamily="2" charset="-78"/>
              </a:rPr>
              <a:t> </a:t>
            </a:r>
            <a:r>
              <a:rPr lang="en-US" sz="1600" dirty="0" err="1">
                <a:cs typeface="B Nazanin" panose="00000400000000000000" pitchFamily="2" charset="-78"/>
              </a:rPr>
              <a:t>به</a:t>
            </a:r>
            <a:r>
              <a:rPr lang="en-US" sz="1600" dirty="0">
                <a:cs typeface="B Nazanin" panose="00000400000000000000" pitchFamily="2" charset="-78"/>
              </a:rPr>
              <a:t> </a:t>
            </a:r>
            <a:r>
              <a:rPr lang="en-US" sz="1600" dirty="0" err="1">
                <a:cs typeface="B Nazanin" panose="00000400000000000000" pitchFamily="2" charset="-78"/>
              </a:rPr>
              <a:t>این</a:t>
            </a:r>
            <a:r>
              <a:rPr lang="en-US" sz="1600" dirty="0">
                <a:cs typeface="B Nazanin" panose="00000400000000000000" pitchFamily="2" charset="-78"/>
              </a:rPr>
              <a:t> </a:t>
            </a:r>
            <a:r>
              <a:rPr lang="en-US" sz="1600" dirty="0" err="1">
                <a:cs typeface="B Nazanin" panose="00000400000000000000" pitchFamily="2" charset="-78"/>
              </a:rPr>
              <a:t>نتیجه</a:t>
            </a:r>
            <a:r>
              <a:rPr lang="en-US" sz="1600" dirty="0">
                <a:cs typeface="B Nazanin" panose="00000400000000000000" pitchFamily="2" charset="-78"/>
              </a:rPr>
              <a:t> </a:t>
            </a:r>
            <a:r>
              <a:rPr lang="en-US" sz="1600" dirty="0" err="1">
                <a:cs typeface="B Nazanin" panose="00000400000000000000" pitchFamily="2" charset="-78"/>
              </a:rPr>
              <a:t>میرسد</a:t>
            </a:r>
            <a:r>
              <a:rPr lang="en-US" sz="1600" dirty="0">
                <a:cs typeface="B Nazanin" panose="00000400000000000000" pitchFamily="2" charset="-78"/>
              </a:rPr>
              <a:t> </a:t>
            </a:r>
            <a:r>
              <a:rPr lang="en-US" sz="1600" dirty="0" err="1">
                <a:cs typeface="B Nazanin" panose="00000400000000000000" pitchFamily="2" charset="-78"/>
              </a:rPr>
              <a:t>که</a:t>
            </a:r>
            <a:r>
              <a:rPr lang="en-US" sz="1600" dirty="0">
                <a:cs typeface="B Nazanin" panose="00000400000000000000" pitchFamily="2" charset="-78"/>
              </a:rPr>
              <a:t> </a:t>
            </a:r>
            <a:r>
              <a:rPr lang="en-US" sz="1600" dirty="0" err="1">
                <a:cs typeface="B Nazanin" panose="00000400000000000000" pitchFamily="2" charset="-78"/>
              </a:rPr>
              <a:t>بهتر</a:t>
            </a:r>
            <a:r>
              <a:rPr lang="en-US" sz="1600" dirty="0">
                <a:cs typeface="B Nazanin" panose="00000400000000000000" pitchFamily="2" charset="-78"/>
              </a:rPr>
              <a:t> </a:t>
            </a:r>
            <a:r>
              <a:rPr lang="en-US" sz="1600" dirty="0" err="1">
                <a:cs typeface="B Nazanin" panose="00000400000000000000" pitchFamily="2" charset="-78"/>
              </a:rPr>
              <a:t>است</a:t>
            </a:r>
            <a:r>
              <a:rPr lang="en-US" sz="1600" dirty="0">
                <a:cs typeface="B Nazanin" panose="00000400000000000000" pitchFamily="2" charset="-78"/>
              </a:rPr>
              <a:t> </a:t>
            </a:r>
            <a:r>
              <a:rPr lang="en-US" sz="1600" dirty="0" err="1">
                <a:cs typeface="B Nazanin" panose="00000400000000000000" pitchFamily="2" charset="-78"/>
              </a:rPr>
              <a:t>با</a:t>
            </a:r>
            <a:r>
              <a:rPr lang="en-US" sz="1600" dirty="0">
                <a:cs typeface="B Nazanin" panose="00000400000000000000" pitchFamily="2" charset="-78"/>
              </a:rPr>
              <a:t> </a:t>
            </a:r>
            <a:r>
              <a:rPr lang="en-US" sz="1600" dirty="0" err="1">
                <a:cs typeface="B Nazanin" panose="00000400000000000000" pitchFamily="2" charset="-78"/>
              </a:rPr>
              <a:t>هیچ</a:t>
            </a:r>
            <a:r>
              <a:rPr lang="en-US" sz="1600" dirty="0">
                <a:cs typeface="B Nazanin" panose="00000400000000000000" pitchFamily="2" charset="-78"/>
              </a:rPr>
              <a:t> </a:t>
            </a:r>
            <a:r>
              <a:rPr lang="en-US" sz="1600" dirty="0" err="1">
                <a:cs typeface="B Nazanin" panose="00000400000000000000" pitchFamily="2" charset="-78"/>
              </a:rPr>
              <a:t>یک</a:t>
            </a:r>
            <a:r>
              <a:rPr lang="en-US" sz="1600" dirty="0">
                <a:cs typeface="B Nazanin" panose="00000400000000000000" pitchFamily="2" charset="-78"/>
              </a:rPr>
              <a:t> </a:t>
            </a:r>
            <a:r>
              <a:rPr lang="en-US" sz="1600" dirty="0" err="1">
                <a:cs typeface="B Nazanin" panose="00000400000000000000" pitchFamily="2" charset="-78"/>
              </a:rPr>
              <a:t>از</a:t>
            </a:r>
            <a:r>
              <a:rPr lang="en-US" sz="1600" dirty="0">
                <a:cs typeface="B Nazanin" panose="00000400000000000000" pitchFamily="2" charset="-78"/>
              </a:rPr>
              <a:t> </a:t>
            </a:r>
            <a:r>
              <a:rPr lang="en-US" sz="1600" dirty="0" err="1">
                <a:cs typeface="B Nazanin" panose="00000400000000000000" pitchFamily="2" charset="-78"/>
              </a:rPr>
              <a:t>افراد</a:t>
            </a:r>
            <a:r>
              <a:rPr lang="en-US" sz="1600" dirty="0">
                <a:cs typeface="B Nazanin" panose="00000400000000000000" pitchFamily="2" charset="-78"/>
              </a:rPr>
              <a:t> </a:t>
            </a:r>
            <a:r>
              <a:rPr lang="en-US" sz="1600" dirty="0" err="1">
                <a:cs typeface="B Nazanin" panose="00000400000000000000" pitchFamily="2" charset="-78"/>
              </a:rPr>
              <a:t>آن</a:t>
            </a:r>
            <a:r>
              <a:rPr lang="en-US" sz="1600" dirty="0">
                <a:cs typeface="B Nazanin" panose="00000400000000000000" pitchFamily="2" charset="-78"/>
              </a:rPr>
              <a:t> </a:t>
            </a:r>
            <a:r>
              <a:rPr lang="en-US" sz="1600" dirty="0" err="1">
                <a:cs typeface="B Nazanin" panose="00000400000000000000" pitchFamily="2" charset="-78"/>
              </a:rPr>
              <a:t>شهر</a:t>
            </a:r>
            <a:r>
              <a:rPr lang="en-US" sz="1600" dirty="0">
                <a:cs typeface="B Nazanin" panose="00000400000000000000" pitchFamily="2" charset="-78"/>
              </a:rPr>
              <a:t> </a:t>
            </a:r>
            <a:r>
              <a:rPr lang="en-US" sz="1600" dirty="0" err="1">
                <a:cs typeface="B Nazanin" panose="00000400000000000000" pitchFamily="2" charset="-78"/>
              </a:rPr>
              <a:t>همکاری</a:t>
            </a:r>
            <a:r>
              <a:rPr lang="en-US" sz="1600" dirty="0">
                <a:cs typeface="B Nazanin" panose="00000400000000000000" pitchFamily="2" charset="-78"/>
              </a:rPr>
              <a:t> </a:t>
            </a:r>
            <a:r>
              <a:rPr lang="en-US" sz="1600" dirty="0" err="1">
                <a:cs typeface="B Nazanin" panose="00000400000000000000" pitchFamily="2" charset="-78"/>
              </a:rPr>
              <a:t>نکند</a:t>
            </a:r>
            <a:r>
              <a:rPr lang="en-US" sz="1600" dirty="0">
                <a:cs typeface="B Nazanin" panose="00000400000000000000" pitchFamily="2" charset="-78"/>
              </a:rPr>
              <a:t> . </a:t>
            </a:r>
            <a:r>
              <a:rPr lang="en-US" sz="1600" dirty="0" err="1">
                <a:cs typeface="B Nazanin" panose="00000400000000000000" pitchFamily="2" charset="-78"/>
              </a:rPr>
              <a:t>او</a:t>
            </a:r>
            <a:r>
              <a:rPr lang="en-US" sz="1600" dirty="0">
                <a:cs typeface="B Nazanin" panose="00000400000000000000" pitchFamily="2" charset="-78"/>
              </a:rPr>
              <a:t> </a:t>
            </a:r>
            <a:r>
              <a:rPr lang="en-US" sz="1600" dirty="0" err="1">
                <a:cs typeface="B Nazanin" panose="00000400000000000000" pitchFamily="2" charset="-78"/>
              </a:rPr>
              <a:t>این</a:t>
            </a:r>
            <a:r>
              <a:rPr lang="en-US" sz="1600" dirty="0">
                <a:cs typeface="B Nazanin" panose="00000400000000000000" pitchFamily="2" charset="-78"/>
              </a:rPr>
              <a:t> </a:t>
            </a:r>
            <a:r>
              <a:rPr lang="en-US" sz="1600" dirty="0" err="1" smtClean="0">
                <a:cs typeface="B Nazanin" panose="00000400000000000000" pitchFamily="2" charset="-78"/>
              </a:rPr>
              <a:t>تجربه</a:t>
            </a:r>
            <a:r>
              <a:rPr lang="fa-IR" sz="1600" dirty="0" smtClean="0">
                <a:cs typeface="B Nazanin" panose="00000400000000000000" pitchFamily="2" charset="-78"/>
              </a:rPr>
              <a:t> </a:t>
            </a:r>
            <a:r>
              <a:rPr lang="fa-IR" sz="1600" b="1" dirty="0">
                <a:solidFill>
                  <a:srgbClr val="C00000"/>
                </a:solidFill>
                <a:latin typeface="IRANSans"/>
                <a:cs typeface="B Nazanin" panose="00000400000000000000" pitchFamily="2" charset="-78"/>
              </a:rPr>
              <a:t>(مدل ذهنی</a:t>
            </a:r>
            <a:r>
              <a:rPr lang="fa-IR" sz="1600" b="1" dirty="0" smtClean="0">
                <a:solidFill>
                  <a:srgbClr val="C00000"/>
                </a:solidFill>
                <a:latin typeface="IRANSans"/>
                <a:cs typeface="B Nazanin" panose="00000400000000000000" pitchFamily="2" charset="-78"/>
              </a:rPr>
              <a:t>)</a:t>
            </a:r>
            <a:r>
              <a:rPr lang="en-US" sz="1600" dirty="0" smtClean="0">
                <a:cs typeface="B Nazanin" panose="00000400000000000000" pitchFamily="2" charset="-78"/>
              </a:rPr>
              <a:t> </a:t>
            </a:r>
            <a:r>
              <a:rPr lang="en-US" sz="1600" dirty="0" err="1">
                <a:cs typeface="B Nazanin" panose="00000400000000000000" pitchFamily="2" charset="-78"/>
              </a:rPr>
              <a:t>را</a:t>
            </a:r>
            <a:r>
              <a:rPr lang="en-US" sz="1600" dirty="0">
                <a:cs typeface="B Nazanin" panose="00000400000000000000" pitchFamily="2" charset="-78"/>
              </a:rPr>
              <a:t> </a:t>
            </a:r>
            <a:r>
              <a:rPr lang="en-US" sz="1600" dirty="0" err="1">
                <a:cs typeface="B Nazanin" panose="00000400000000000000" pitchFamily="2" charset="-78"/>
              </a:rPr>
              <a:t>درست</a:t>
            </a:r>
            <a:r>
              <a:rPr lang="en-US" sz="1600" dirty="0">
                <a:cs typeface="B Nazanin" panose="00000400000000000000" pitchFamily="2" charset="-78"/>
              </a:rPr>
              <a:t> </a:t>
            </a:r>
            <a:r>
              <a:rPr lang="en-US" sz="1600" dirty="0" err="1">
                <a:cs typeface="B Nazanin" panose="00000400000000000000" pitchFamily="2" charset="-78"/>
              </a:rPr>
              <a:t>مانند</a:t>
            </a:r>
            <a:r>
              <a:rPr lang="en-US" sz="1600" dirty="0">
                <a:cs typeface="B Nazanin" panose="00000400000000000000" pitchFamily="2" charset="-78"/>
              </a:rPr>
              <a:t> </a:t>
            </a:r>
            <a:r>
              <a:rPr lang="en-US" sz="1600" b="1" dirty="0" err="1">
                <a:solidFill>
                  <a:srgbClr val="0070C0"/>
                </a:solidFill>
                <a:cs typeface="B Nazanin" panose="00000400000000000000" pitchFamily="2" charset="-78"/>
              </a:rPr>
              <a:t>تجربه</a:t>
            </a:r>
            <a:r>
              <a:rPr lang="en-US" sz="1600" b="1" dirty="0">
                <a:solidFill>
                  <a:srgbClr val="0070C0"/>
                </a:solidFill>
                <a:cs typeface="B Nazanin" panose="00000400000000000000" pitchFamily="2" charset="-78"/>
              </a:rPr>
              <a:t> </a:t>
            </a:r>
            <a:r>
              <a:rPr lang="en-US" sz="1600" b="1" dirty="0" err="1">
                <a:solidFill>
                  <a:srgbClr val="0070C0"/>
                </a:solidFill>
                <a:cs typeface="B Nazanin" panose="00000400000000000000" pitchFamily="2" charset="-78"/>
              </a:rPr>
              <a:t>خوردن</a:t>
            </a:r>
            <a:r>
              <a:rPr lang="en-US" sz="1600" b="1" dirty="0">
                <a:solidFill>
                  <a:srgbClr val="0070C0"/>
                </a:solidFill>
                <a:cs typeface="B Nazanin" panose="00000400000000000000" pitchFamily="2" charset="-78"/>
              </a:rPr>
              <a:t> </a:t>
            </a:r>
            <a:r>
              <a:rPr lang="en-US" sz="1600" b="1" dirty="0" err="1">
                <a:solidFill>
                  <a:srgbClr val="0070C0"/>
                </a:solidFill>
                <a:cs typeface="B Nazanin" panose="00000400000000000000" pitchFamily="2" charset="-78"/>
              </a:rPr>
              <a:t>میوه</a:t>
            </a:r>
            <a:r>
              <a:rPr lang="en-US" sz="1600" b="1" dirty="0">
                <a:solidFill>
                  <a:srgbClr val="0070C0"/>
                </a:solidFill>
                <a:cs typeface="B Nazanin" panose="00000400000000000000" pitchFamily="2" charset="-78"/>
              </a:rPr>
              <a:t> </a:t>
            </a:r>
            <a:r>
              <a:rPr lang="en-US" sz="1600" b="1" dirty="0" err="1">
                <a:solidFill>
                  <a:srgbClr val="0070C0"/>
                </a:solidFill>
                <a:cs typeface="B Nazanin" panose="00000400000000000000" pitchFamily="2" charset="-78"/>
              </a:rPr>
              <a:t>قرمز</a:t>
            </a:r>
            <a:r>
              <a:rPr lang="en-US" sz="1600" b="1" dirty="0">
                <a:solidFill>
                  <a:srgbClr val="0070C0"/>
                </a:solidFill>
                <a:cs typeface="B Nazanin" panose="00000400000000000000" pitchFamily="2" charset="-78"/>
              </a:rPr>
              <a:t> </a:t>
            </a:r>
            <a:r>
              <a:rPr lang="en-US" sz="1600" b="1" dirty="0" err="1">
                <a:solidFill>
                  <a:srgbClr val="0070C0"/>
                </a:solidFill>
                <a:cs typeface="B Nazanin" panose="00000400000000000000" pitchFamily="2" charset="-78"/>
              </a:rPr>
              <a:t>مرگبار</a:t>
            </a:r>
            <a:r>
              <a:rPr lang="en-US" sz="1600" b="1" dirty="0">
                <a:solidFill>
                  <a:srgbClr val="0070C0"/>
                </a:solidFill>
                <a:cs typeface="B Nazanin" panose="00000400000000000000" pitchFamily="2" charset="-78"/>
              </a:rPr>
              <a:t> </a:t>
            </a:r>
            <a:r>
              <a:rPr lang="en-US" sz="1600" dirty="0" err="1">
                <a:cs typeface="B Nazanin" panose="00000400000000000000" pitchFamily="2" charset="-78"/>
              </a:rPr>
              <a:t>به</a:t>
            </a:r>
            <a:r>
              <a:rPr lang="en-US" sz="1600" dirty="0">
                <a:cs typeface="B Nazanin" panose="00000400000000000000" pitchFamily="2" charset="-78"/>
              </a:rPr>
              <a:t> </a:t>
            </a:r>
            <a:r>
              <a:rPr lang="en-US" sz="1600" dirty="0" err="1">
                <a:cs typeface="B Nazanin" panose="00000400000000000000" pitchFamily="2" charset="-78"/>
              </a:rPr>
              <a:t>دوستانش</a:t>
            </a:r>
            <a:r>
              <a:rPr lang="en-US" sz="1600" dirty="0">
                <a:cs typeface="B Nazanin" panose="00000400000000000000" pitchFamily="2" charset="-78"/>
              </a:rPr>
              <a:t> </a:t>
            </a:r>
            <a:r>
              <a:rPr lang="en-US" sz="1600" dirty="0" err="1">
                <a:cs typeface="B Nazanin" panose="00000400000000000000" pitchFamily="2" charset="-78"/>
              </a:rPr>
              <a:t>هم</a:t>
            </a:r>
            <a:r>
              <a:rPr lang="en-US" sz="1600" dirty="0">
                <a:cs typeface="B Nazanin" panose="00000400000000000000" pitchFamily="2" charset="-78"/>
              </a:rPr>
              <a:t> </a:t>
            </a:r>
            <a:r>
              <a:rPr lang="en-US" sz="1600" dirty="0" err="1">
                <a:cs typeface="B Nazanin" panose="00000400000000000000" pitchFamily="2" charset="-78"/>
              </a:rPr>
              <a:t>منتقل</a:t>
            </a:r>
            <a:r>
              <a:rPr lang="en-US" sz="1600" dirty="0">
                <a:cs typeface="B Nazanin" panose="00000400000000000000" pitchFamily="2" charset="-78"/>
              </a:rPr>
              <a:t> </a:t>
            </a:r>
            <a:r>
              <a:rPr lang="en-US" sz="1600" dirty="0" err="1" smtClean="0">
                <a:cs typeface="B Nazanin" panose="00000400000000000000" pitchFamily="2" charset="-78"/>
              </a:rPr>
              <a:t>می</a:t>
            </a:r>
            <a:r>
              <a:rPr lang="fa-IR" sz="1600" dirty="0" smtClean="0">
                <a:cs typeface="B Nazanin" panose="00000400000000000000" pitchFamily="2" charset="-78"/>
              </a:rPr>
              <a:t> </a:t>
            </a:r>
            <a:r>
              <a:rPr lang="en-US" sz="1600" dirty="0" err="1" smtClean="0">
                <a:cs typeface="B Nazanin" panose="00000400000000000000" pitchFamily="2" charset="-78"/>
              </a:rPr>
              <a:t>نماید</a:t>
            </a:r>
            <a:r>
              <a:rPr lang="en-US" sz="1600" dirty="0" smtClean="0">
                <a:cs typeface="B Nazanin" panose="00000400000000000000" pitchFamily="2" charset="-78"/>
              </a:rPr>
              <a:t> </a:t>
            </a:r>
            <a:r>
              <a:rPr lang="en-US" sz="1600" dirty="0" err="1">
                <a:cs typeface="B Nazanin" panose="00000400000000000000" pitchFamily="2" charset="-78"/>
              </a:rPr>
              <a:t>تا</a:t>
            </a:r>
            <a:r>
              <a:rPr lang="en-US" sz="1600" dirty="0">
                <a:cs typeface="B Nazanin" panose="00000400000000000000" pitchFamily="2" charset="-78"/>
              </a:rPr>
              <a:t> </a:t>
            </a:r>
            <a:r>
              <a:rPr lang="en-US" sz="1600" dirty="0" err="1">
                <a:cs typeface="B Nazanin" panose="00000400000000000000" pitchFamily="2" charset="-78"/>
              </a:rPr>
              <a:t>آنها</a:t>
            </a:r>
            <a:r>
              <a:rPr lang="en-US" sz="1600" dirty="0">
                <a:cs typeface="B Nazanin" panose="00000400000000000000" pitchFamily="2" charset="-78"/>
              </a:rPr>
              <a:t> </a:t>
            </a:r>
            <a:r>
              <a:rPr lang="en-US" sz="1600" dirty="0" err="1">
                <a:cs typeface="B Nazanin" panose="00000400000000000000" pitchFamily="2" charset="-78"/>
              </a:rPr>
              <a:t>هم</a:t>
            </a:r>
            <a:r>
              <a:rPr lang="en-US" sz="1600" dirty="0">
                <a:cs typeface="B Nazanin" panose="00000400000000000000" pitchFamily="2" charset="-78"/>
              </a:rPr>
              <a:t> </a:t>
            </a:r>
            <a:r>
              <a:rPr lang="en-US" sz="1600" dirty="0" err="1">
                <a:cs typeface="B Nazanin" panose="00000400000000000000" pitchFamily="2" charset="-78"/>
              </a:rPr>
              <a:t>از</a:t>
            </a:r>
            <a:r>
              <a:rPr lang="en-US" sz="1600" dirty="0">
                <a:cs typeface="B Nazanin" panose="00000400000000000000" pitchFamily="2" charset="-78"/>
              </a:rPr>
              <a:t> </a:t>
            </a:r>
            <a:r>
              <a:rPr lang="en-US" sz="1600" dirty="0" err="1">
                <a:cs typeface="B Nazanin" panose="00000400000000000000" pitchFamily="2" charset="-78"/>
              </a:rPr>
              <a:t>این</a:t>
            </a:r>
            <a:r>
              <a:rPr lang="en-US" sz="1600" dirty="0">
                <a:cs typeface="B Nazanin" panose="00000400000000000000" pitchFamily="2" charset="-78"/>
              </a:rPr>
              <a:t> </a:t>
            </a:r>
            <a:r>
              <a:rPr lang="en-US" sz="1600" dirty="0" err="1">
                <a:cs typeface="B Nazanin" panose="00000400000000000000" pitchFamily="2" charset="-78"/>
              </a:rPr>
              <a:t>اشتباه</a:t>
            </a:r>
            <a:r>
              <a:rPr lang="en-US" sz="1600" dirty="0">
                <a:cs typeface="B Nazanin" panose="00000400000000000000" pitchFamily="2" charset="-78"/>
              </a:rPr>
              <a:t> </a:t>
            </a:r>
            <a:r>
              <a:rPr lang="en-US" sz="1600" dirty="0" err="1">
                <a:cs typeface="B Nazanin" panose="00000400000000000000" pitchFamily="2" charset="-78"/>
              </a:rPr>
              <a:t>در</a:t>
            </a:r>
            <a:r>
              <a:rPr lang="en-US" sz="1600" dirty="0">
                <a:cs typeface="B Nazanin" panose="00000400000000000000" pitchFamily="2" charset="-78"/>
              </a:rPr>
              <a:t> </a:t>
            </a:r>
            <a:r>
              <a:rPr lang="en-US" sz="1600" dirty="0" err="1">
                <a:cs typeface="B Nazanin" panose="00000400000000000000" pitchFamily="2" charset="-78"/>
              </a:rPr>
              <a:t>امان</a:t>
            </a:r>
            <a:r>
              <a:rPr lang="en-US" sz="1600" dirty="0">
                <a:cs typeface="B Nazanin" panose="00000400000000000000" pitchFamily="2" charset="-78"/>
              </a:rPr>
              <a:t> </a:t>
            </a:r>
            <a:r>
              <a:rPr lang="en-US" sz="1600" dirty="0" err="1">
                <a:cs typeface="B Nazanin" panose="00000400000000000000" pitchFamily="2" charset="-78"/>
              </a:rPr>
              <a:t>باشند</a:t>
            </a:r>
            <a:r>
              <a:rPr lang="en-US" sz="1600" dirty="0">
                <a:cs typeface="B Nazanin" panose="00000400000000000000" pitchFamily="2" charset="-78"/>
              </a:rPr>
              <a:t> . </a:t>
            </a:r>
          </a:p>
        </p:txBody>
      </p:sp>
      <p:sp>
        <p:nvSpPr>
          <p:cNvPr id="10" name="Rectangle 9"/>
          <p:cNvSpPr/>
          <p:nvPr/>
        </p:nvSpPr>
        <p:spPr>
          <a:xfrm>
            <a:off x="10156904" y="2793710"/>
            <a:ext cx="1507144" cy="369332"/>
          </a:xfrm>
          <a:prstGeom prst="rect">
            <a:avLst/>
          </a:prstGeom>
        </p:spPr>
        <p:txBody>
          <a:bodyPr wrap="none">
            <a:spAutoFit/>
          </a:bodyPr>
          <a:lstStyle/>
          <a:p>
            <a:pPr marL="285750" indent="-285750" algn="r" rtl="1">
              <a:buFont typeface="Wingdings" panose="05000000000000000000" pitchFamily="2" charset="2"/>
              <a:buChar char="v"/>
            </a:pPr>
            <a:r>
              <a:rPr lang="fa-IR" b="1" dirty="0" smtClean="0">
                <a:cs typeface="B Nazanin" panose="00000400000000000000" pitchFamily="2" charset="-78"/>
              </a:rPr>
              <a:t>خطای تعمیم </a:t>
            </a:r>
            <a:endParaRPr lang="en-US" b="1" dirty="0"/>
          </a:p>
        </p:txBody>
      </p:sp>
      <p:sp>
        <p:nvSpPr>
          <p:cNvPr id="12" name="Rectangle 11"/>
          <p:cNvSpPr/>
          <p:nvPr/>
        </p:nvSpPr>
        <p:spPr>
          <a:xfrm>
            <a:off x="1980028" y="3431039"/>
            <a:ext cx="2643220" cy="369332"/>
          </a:xfrm>
          <a:prstGeom prst="rect">
            <a:avLst/>
          </a:prstGeom>
        </p:spPr>
        <p:txBody>
          <a:bodyPr wrap="square">
            <a:spAutoFit/>
          </a:bodyPr>
          <a:lstStyle/>
          <a:p>
            <a:pPr algn="just" rtl="1"/>
            <a:r>
              <a:rPr lang="fa-IR" b="1" dirty="0">
                <a:solidFill>
                  <a:srgbClr val="C00000"/>
                </a:solidFill>
                <a:latin typeface="IRANSans"/>
              </a:rPr>
              <a:t> </a:t>
            </a:r>
            <a:r>
              <a:rPr lang="fa-IR" b="1" dirty="0">
                <a:solidFill>
                  <a:srgbClr val="C00000"/>
                </a:solidFill>
                <a:cs typeface="B Nazanin" panose="00000400000000000000" pitchFamily="2" charset="-78"/>
              </a:rPr>
              <a:t>خطاهای </a:t>
            </a:r>
            <a:r>
              <a:rPr lang="fa-IR" b="1" dirty="0" smtClean="0">
                <a:solidFill>
                  <a:srgbClr val="C00000"/>
                </a:solidFill>
                <a:cs typeface="B Nazanin" panose="00000400000000000000" pitchFamily="2" charset="-78"/>
              </a:rPr>
              <a:t>شناختی </a:t>
            </a:r>
            <a:r>
              <a:rPr lang="fa-IR" b="1" dirty="0">
                <a:solidFill>
                  <a:srgbClr val="C00000"/>
                </a:solidFill>
                <a:cs typeface="B Nazanin" panose="00000400000000000000" pitchFamily="2" charset="-78"/>
              </a:rPr>
              <a:t>نوع سوگیری</a:t>
            </a:r>
          </a:p>
        </p:txBody>
      </p:sp>
      <p:sp>
        <p:nvSpPr>
          <p:cNvPr id="13" name="Rectangle 12"/>
          <p:cNvSpPr/>
          <p:nvPr/>
        </p:nvSpPr>
        <p:spPr>
          <a:xfrm>
            <a:off x="713090" y="4202290"/>
            <a:ext cx="4532780" cy="1569660"/>
          </a:xfrm>
          <a:prstGeom prst="rect">
            <a:avLst/>
          </a:prstGeom>
        </p:spPr>
        <p:txBody>
          <a:bodyPr wrap="none">
            <a:spAutoFit/>
          </a:bodyPr>
          <a:lstStyle/>
          <a:p>
            <a:pPr marL="285750" indent="-285750" algn="r" rtl="1">
              <a:buFont typeface="Wingdings" panose="05000000000000000000" pitchFamily="2" charset="2"/>
              <a:buChar char="ü"/>
            </a:pPr>
            <a:r>
              <a:rPr lang="en-US" sz="1600" b="1" dirty="0" err="1">
                <a:cs typeface="B Nazanin" panose="00000400000000000000" pitchFamily="2" charset="-78"/>
              </a:rPr>
              <a:t>اعتماد</a:t>
            </a:r>
            <a:r>
              <a:rPr lang="en-US" sz="1600" b="1" dirty="0">
                <a:cs typeface="B Nazanin" panose="00000400000000000000" pitchFamily="2" charset="-78"/>
              </a:rPr>
              <a:t> </a:t>
            </a:r>
            <a:r>
              <a:rPr lang="en-US" sz="1600" b="1" dirty="0" err="1">
                <a:cs typeface="B Nazanin" panose="00000400000000000000" pitchFamily="2" charset="-78"/>
              </a:rPr>
              <a:t>به</a:t>
            </a:r>
            <a:r>
              <a:rPr lang="en-US" sz="1600" b="1" dirty="0">
                <a:cs typeface="B Nazanin" panose="00000400000000000000" pitchFamily="2" charset="-78"/>
              </a:rPr>
              <a:t> </a:t>
            </a:r>
            <a:r>
              <a:rPr lang="en-US" sz="1600" b="1" dirty="0" err="1">
                <a:cs typeface="B Nazanin" panose="00000400000000000000" pitchFamily="2" charset="-78"/>
              </a:rPr>
              <a:t>نفس</a:t>
            </a:r>
            <a:r>
              <a:rPr lang="en-US" sz="1600" b="1" dirty="0">
                <a:cs typeface="B Nazanin" panose="00000400000000000000" pitchFamily="2" charset="-78"/>
              </a:rPr>
              <a:t> </a:t>
            </a:r>
            <a:r>
              <a:rPr lang="en-US" sz="1600" b="1" dirty="0" err="1">
                <a:cs typeface="B Nazanin" panose="00000400000000000000" pitchFamily="2" charset="-78"/>
              </a:rPr>
              <a:t>بیش</a:t>
            </a:r>
            <a:r>
              <a:rPr lang="en-US" sz="1600" b="1" dirty="0">
                <a:cs typeface="B Nazanin" panose="00000400000000000000" pitchFamily="2" charset="-78"/>
              </a:rPr>
              <a:t> </a:t>
            </a:r>
            <a:r>
              <a:rPr lang="en-US" sz="1600" b="1" dirty="0" err="1">
                <a:cs typeface="B Nazanin" panose="00000400000000000000" pitchFamily="2" charset="-78"/>
              </a:rPr>
              <a:t>از</a:t>
            </a:r>
            <a:r>
              <a:rPr lang="en-US" sz="1600" b="1" dirty="0">
                <a:cs typeface="B Nazanin" panose="00000400000000000000" pitchFamily="2" charset="-78"/>
              </a:rPr>
              <a:t> </a:t>
            </a:r>
            <a:r>
              <a:rPr lang="en-US" sz="1600" b="1" dirty="0" err="1">
                <a:cs typeface="B Nazanin" panose="00000400000000000000" pitchFamily="2" charset="-78"/>
              </a:rPr>
              <a:t>حد</a:t>
            </a:r>
            <a:r>
              <a:rPr lang="en-US" sz="1600" b="1" dirty="0">
                <a:cs typeface="B Nazanin" panose="00000400000000000000" pitchFamily="2" charset="-78"/>
              </a:rPr>
              <a:t> (Overconfidence Bias)</a:t>
            </a:r>
          </a:p>
          <a:p>
            <a:pPr marL="285750" indent="-285750" algn="r" rtl="1">
              <a:buFont typeface="Wingdings" panose="05000000000000000000" pitchFamily="2" charset="2"/>
              <a:buChar char="ü"/>
            </a:pPr>
            <a:r>
              <a:rPr lang="en-US" sz="1600" b="1" dirty="0" err="1">
                <a:cs typeface="B Nazanin" panose="00000400000000000000" pitchFamily="2" charset="-78"/>
              </a:rPr>
              <a:t>خطای</a:t>
            </a:r>
            <a:r>
              <a:rPr lang="en-US" sz="1600" b="1" dirty="0">
                <a:cs typeface="B Nazanin" panose="00000400000000000000" pitchFamily="2" charset="-78"/>
              </a:rPr>
              <a:t> </a:t>
            </a:r>
            <a:r>
              <a:rPr lang="en-US" sz="1600" b="1" dirty="0" err="1">
                <a:cs typeface="B Nazanin" panose="00000400000000000000" pitchFamily="2" charset="-78"/>
              </a:rPr>
              <a:t>تایید</a:t>
            </a:r>
            <a:r>
              <a:rPr lang="en-US" sz="1600" b="1" dirty="0">
                <a:cs typeface="B Nazanin" panose="00000400000000000000" pitchFamily="2" charset="-78"/>
              </a:rPr>
              <a:t> </a:t>
            </a:r>
            <a:r>
              <a:rPr lang="en-US" sz="1600" b="1" dirty="0" err="1">
                <a:cs typeface="B Nazanin" panose="00000400000000000000" pitchFamily="2" charset="-78"/>
              </a:rPr>
              <a:t>خود</a:t>
            </a:r>
            <a:r>
              <a:rPr lang="en-US" sz="1600" b="1" dirty="0">
                <a:cs typeface="B Nazanin" panose="00000400000000000000" pitchFamily="2" charset="-78"/>
              </a:rPr>
              <a:t> (Confirmation Bias)</a:t>
            </a:r>
          </a:p>
          <a:p>
            <a:pPr marL="285750" indent="-285750" algn="r" rtl="1">
              <a:buFont typeface="Wingdings" panose="05000000000000000000" pitchFamily="2" charset="2"/>
              <a:buChar char="ü"/>
            </a:pPr>
            <a:r>
              <a:rPr lang="en-US" sz="1600" b="1" dirty="0" err="1">
                <a:cs typeface="B Nazanin" panose="00000400000000000000" pitchFamily="2" charset="-78"/>
              </a:rPr>
              <a:t>تمرکز</a:t>
            </a:r>
            <a:r>
              <a:rPr lang="en-US" sz="1600" b="1" dirty="0">
                <a:cs typeface="B Nazanin" panose="00000400000000000000" pitchFamily="2" charset="-78"/>
              </a:rPr>
              <a:t> </a:t>
            </a:r>
            <a:r>
              <a:rPr lang="en-US" sz="1600" b="1" dirty="0" err="1">
                <a:cs typeface="B Nazanin" panose="00000400000000000000" pitchFamily="2" charset="-78"/>
              </a:rPr>
              <a:t>بر</a:t>
            </a:r>
            <a:r>
              <a:rPr lang="en-US" sz="1600" b="1" dirty="0">
                <a:cs typeface="B Nazanin" panose="00000400000000000000" pitchFamily="2" charset="-78"/>
              </a:rPr>
              <a:t> </a:t>
            </a:r>
            <a:r>
              <a:rPr lang="en-US" sz="1600" b="1" dirty="0" err="1">
                <a:cs typeface="B Nazanin" panose="00000400000000000000" pitchFamily="2" charset="-78"/>
              </a:rPr>
              <a:t>آخرین</a:t>
            </a:r>
            <a:r>
              <a:rPr lang="en-US" sz="1600" b="1" dirty="0">
                <a:cs typeface="B Nazanin" panose="00000400000000000000" pitchFamily="2" charset="-78"/>
              </a:rPr>
              <a:t> </a:t>
            </a:r>
            <a:r>
              <a:rPr lang="en-US" sz="1600" b="1" dirty="0" err="1">
                <a:cs typeface="B Nazanin" panose="00000400000000000000" pitchFamily="2" charset="-78"/>
              </a:rPr>
              <a:t>اطلاعات</a:t>
            </a:r>
            <a:r>
              <a:rPr lang="en-US" sz="1600" b="1" dirty="0">
                <a:cs typeface="B Nazanin" panose="00000400000000000000" pitchFamily="2" charset="-78"/>
              </a:rPr>
              <a:t> (</a:t>
            </a:r>
            <a:r>
              <a:rPr lang="en-US" sz="1600" b="1" dirty="0" err="1">
                <a:cs typeface="B Nazanin" panose="00000400000000000000" pitchFamily="2" charset="-78"/>
              </a:rPr>
              <a:t>Recency</a:t>
            </a:r>
            <a:r>
              <a:rPr lang="en-US" sz="1600" b="1" dirty="0">
                <a:cs typeface="B Nazanin" panose="00000400000000000000" pitchFamily="2" charset="-78"/>
              </a:rPr>
              <a:t> Bias)</a:t>
            </a:r>
          </a:p>
          <a:p>
            <a:pPr marL="285750" indent="-285750" algn="r" rtl="1">
              <a:buFont typeface="Wingdings" panose="05000000000000000000" pitchFamily="2" charset="2"/>
              <a:buChar char="ü"/>
            </a:pPr>
            <a:r>
              <a:rPr lang="en-US" sz="1600" b="1" dirty="0" err="1">
                <a:cs typeface="B Nazanin" panose="00000400000000000000" pitchFamily="2" charset="-78"/>
              </a:rPr>
              <a:t>خطای</a:t>
            </a:r>
            <a:r>
              <a:rPr lang="en-US" sz="1600" b="1" dirty="0">
                <a:cs typeface="B Nazanin" panose="00000400000000000000" pitchFamily="2" charset="-78"/>
              </a:rPr>
              <a:t> </a:t>
            </a:r>
            <a:r>
              <a:rPr lang="en-US" sz="1600" b="1" dirty="0" err="1">
                <a:cs typeface="B Nazanin" panose="00000400000000000000" pitchFamily="2" charset="-78"/>
              </a:rPr>
              <a:t>تمرکز</a:t>
            </a:r>
            <a:r>
              <a:rPr lang="en-US" sz="1600" b="1" dirty="0">
                <a:cs typeface="B Nazanin" panose="00000400000000000000" pitchFamily="2" charset="-78"/>
              </a:rPr>
              <a:t> </a:t>
            </a:r>
            <a:r>
              <a:rPr lang="en-US" sz="1600" b="1" dirty="0" err="1">
                <a:cs typeface="B Nazanin" panose="00000400000000000000" pitchFamily="2" charset="-78"/>
              </a:rPr>
              <a:t>بر</a:t>
            </a:r>
            <a:r>
              <a:rPr lang="en-US" sz="1600" b="1" dirty="0">
                <a:cs typeface="B Nazanin" panose="00000400000000000000" pitchFamily="2" charset="-78"/>
              </a:rPr>
              <a:t> </a:t>
            </a:r>
            <a:r>
              <a:rPr lang="en-US" sz="1600" b="1" dirty="0" err="1">
                <a:cs typeface="B Nazanin" panose="00000400000000000000" pitchFamily="2" charset="-78"/>
              </a:rPr>
              <a:t>اطلاعات</a:t>
            </a:r>
            <a:r>
              <a:rPr lang="en-US" sz="1600" b="1" dirty="0">
                <a:cs typeface="B Nazanin" panose="00000400000000000000" pitchFamily="2" charset="-78"/>
              </a:rPr>
              <a:t> </a:t>
            </a:r>
            <a:r>
              <a:rPr lang="en-US" sz="1600" b="1" dirty="0" err="1">
                <a:cs typeface="B Nazanin" panose="00000400000000000000" pitchFamily="2" charset="-78"/>
              </a:rPr>
              <a:t>در</a:t>
            </a:r>
            <a:r>
              <a:rPr lang="en-US" sz="1600" b="1" dirty="0">
                <a:cs typeface="B Nazanin" panose="00000400000000000000" pitchFamily="2" charset="-78"/>
              </a:rPr>
              <a:t> </a:t>
            </a:r>
            <a:r>
              <a:rPr lang="en-US" sz="1600" b="1" dirty="0" err="1">
                <a:cs typeface="B Nazanin" panose="00000400000000000000" pitchFamily="2" charset="-78"/>
              </a:rPr>
              <a:t>دسترس</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Availability Bias</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a:cs typeface="B Nazanin" panose="00000400000000000000" pitchFamily="2" charset="-78"/>
              </a:rPr>
              <a:t>اجتناب </a:t>
            </a:r>
            <a:r>
              <a:rPr lang="en-US" sz="1600" b="1" dirty="0" err="1">
                <a:cs typeface="B Nazanin" panose="00000400000000000000" pitchFamily="2" charset="-78"/>
              </a:rPr>
              <a:t>از</a:t>
            </a:r>
            <a:r>
              <a:rPr lang="en-US" sz="1600" b="1" dirty="0">
                <a:cs typeface="B Nazanin" panose="00000400000000000000" pitchFamily="2" charset="-78"/>
              </a:rPr>
              <a:t> </a:t>
            </a:r>
            <a:r>
              <a:rPr lang="en-US" sz="1600" b="1" dirty="0" err="1">
                <a:cs typeface="B Nazanin" panose="00000400000000000000" pitchFamily="2" charset="-78"/>
              </a:rPr>
              <a:t>تعارض</a:t>
            </a:r>
            <a:r>
              <a:rPr lang="en-US" sz="1600" b="1" dirty="0">
                <a:cs typeface="B Nazanin" panose="00000400000000000000" pitchFamily="2" charset="-78"/>
              </a:rPr>
              <a:t> </a:t>
            </a:r>
            <a:r>
              <a:rPr lang="en-US" sz="1600" b="1" dirty="0" err="1">
                <a:cs typeface="B Nazanin" panose="00000400000000000000" pitchFamily="2" charset="-78"/>
              </a:rPr>
              <a:t>شناختی</a:t>
            </a:r>
            <a:r>
              <a:rPr lang="en-US" sz="1600" b="1" dirty="0">
                <a:cs typeface="B Nazanin" panose="00000400000000000000" pitchFamily="2" charset="-78"/>
              </a:rPr>
              <a:t> (Cognitive Dissonance)</a:t>
            </a:r>
          </a:p>
          <a:p>
            <a:pPr marL="285750" indent="-285750" algn="r" rtl="1">
              <a:buFont typeface="Wingdings" panose="05000000000000000000" pitchFamily="2" charset="2"/>
              <a:buChar char="ü"/>
            </a:pPr>
            <a:r>
              <a:rPr lang="en-US" sz="1600" b="1" dirty="0" err="1">
                <a:cs typeface="B Nazanin" panose="00000400000000000000" pitchFamily="2" charset="-78"/>
              </a:rPr>
              <a:t>تفکر</a:t>
            </a:r>
            <a:r>
              <a:rPr lang="en-US" sz="1600" b="1" dirty="0">
                <a:cs typeface="B Nazanin" panose="00000400000000000000" pitchFamily="2" charset="-78"/>
              </a:rPr>
              <a:t> </a:t>
            </a:r>
            <a:r>
              <a:rPr lang="en-US" sz="1600" b="1" dirty="0" err="1">
                <a:cs typeface="B Nazanin" panose="00000400000000000000" pitchFamily="2" charset="-78"/>
              </a:rPr>
              <a:t>کلیشه</a:t>
            </a:r>
            <a:r>
              <a:rPr lang="en-US" sz="1600" b="1" dirty="0">
                <a:cs typeface="B Nazanin" panose="00000400000000000000" pitchFamily="2" charset="-78"/>
              </a:rPr>
              <a:t> </a:t>
            </a:r>
            <a:r>
              <a:rPr lang="en-US" sz="1600" b="1" dirty="0" err="1">
                <a:cs typeface="B Nazanin" panose="00000400000000000000" pitchFamily="2" charset="-78"/>
              </a:rPr>
              <a:t>ای</a:t>
            </a:r>
            <a:r>
              <a:rPr lang="en-US" sz="1600" b="1" dirty="0">
                <a:cs typeface="B Nazanin" panose="00000400000000000000" pitchFamily="2" charset="-78"/>
              </a:rPr>
              <a:t> </a:t>
            </a:r>
            <a:r>
              <a:rPr lang="en-US" sz="1600" b="1" dirty="0" err="1">
                <a:cs typeface="B Nazanin" panose="00000400000000000000" pitchFamily="2" charset="-78"/>
              </a:rPr>
              <a:t>یا</a:t>
            </a:r>
            <a:r>
              <a:rPr lang="en-US" sz="1600" b="1" dirty="0">
                <a:cs typeface="B Nazanin" panose="00000400000000000000" pitchFamily="2" charset="-78"/>
              </a:rPr>
              <a:t> </a:t>
            </a:r>
            <a:r>
              <a:rPr lang="en-US" sz="1600" b="1" dirty="0" err="1">
                <a:cs typeface="B Nazanin" panose="00000400000000000000" pitchFamily="2" charset="-78"/>
              </a:rPr>
              <a:t>استریوتایپ</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Stereotype</a:t>
            </a:r>
            <a:r>
              <a:rPr lang="fa-IR" sz="1600" b="1" dirty="0" smtClean="0">
                <a:cs typeface="B Nazanin" panose="00000400000000000000" pitchFamily="2" charset="-78"/>
              </a:rPr>
              <a:t>)</a:t>
            </a:r>
            <a:endParaRPr lang="en-US" sz="1600" b="1" dirty="0">
              <a:cs typeface="B Nazanin" panose="00000400000000000000" pitchFamily="2" charset="-78"/>
            </a:endParaRPr>
          </a:p>
        </p:txBody>
      </p:sp>
      <p:sp>
        <p:nvSpPr>
          <p:cNvPr id="14" name="Rectangle 13"/>
          <p:cNvSpPr/>
          <p:nvPr/>
        </p:nvSpPr>
        <p:spPr>
          <a:xfrm>
            <a:off x="8401425" y="3434400"/>
            <a:ext cx="2643220" cy="369332"/>
          </a:xfrm>
          <a:prstGeom prst="rect">
            <a:avLst/>
          </a:prstGeom>
        </p:spPr>
        <p:txBody>
          <a:bodyPr wrap="square">
            <a:spAutoFit/>
          </a:bodyPr>
          <a:lstStyle/>
          <a:p>
            <a:pPr algn="just" rtl="1"/>
            <a:r>
              <a:rPr lang="fa-IR" b="1" dirty="0">
                <a:solidFill>
                  <a:srgbClr val="0070C0"/>
                </a:solidFill>
                <a:latin typeface="IRANSans"/>
              </a:rPr>
              <a:t> </a:t>
            </a:r>
            <a:r>
              <a:rPr lang="fa-IR" b="1" dirty="0">
                <a:solidFill>
                  <a:srgbClr val="0070C0"/>
                </a:solidFill>
                <a:cs typeface="B Nazanin" panose="00000400000000000000" pitchFamily="2" charset="-78"/>
              </a:rPr>
              <a:t>خطاهای </a:t>
            </a:r>
            <a:r>
              <a:rPr lang="fa-IR" b="1" dirty="0" smtClean="0">
                <a:solidFill>
                  <a:srgbClr val="0070C0"/>
                </a:solidFill>
                <a:cs typeface="B Nazanin" panose="00000400000000000000" pitchFamily="2" charset="-78"/>
              </a:rPr>
              <a:t>شناختی </a:t>
            </a:r>
            <a:r>
              <a:rPr lang="fa-IR" b="1" dirty="0">
                <a:solidFill>
                  <a:srgbClr val="0070C0"/>
                </a:solidFill>
                <a:cs typeface="B Nazanin" panose="00000400000000000000" pitchFamily="2" charset="-78"/>
              </a:rPr>
              <a:t>نوع تحریف</a:t>
            </a:r>
          </a:p>
        </p:txBody>
      </p:sp>
      <p:sp>
        <p:nvSpPr>
          <p:cNvPr id="16" name="Rectangle 15"/>
          <p:cNvSpPr/>
          <p:nvPr/>
        </p:nvSpPr>
        <p:spPr>
          <a:xfrm>
            <a:off x="6008916" y="3934362"/>
            <a:ext cx="5535659" cy="2554545"/>
          </a:xfrm>
          <a:prstGeom prst="rect">
            <a:avLst/>
          </a:prstGeom>
        </p:spPr>
        <p:txBody>
          <a:bodyPr wrap="square">
            <a:spAutoFit/>
          </a:bodyPr>
          <a:lstStyle/>
          <a:p>
            <a:pPr marL="285750" indent="-285750" algn="r" rtl="1">
              <a:buFont typeface="Wingdings" panose="05000000000000000000" pitchFamily="2" charset="2"/>
              <a:buChar char="ü"/>
            </a:pPr>
            <a:r>
              <a:rPr lang="en-US" sz="1600" b="1" dirty="0" err="1">
                <a:cs typeface="B Nazanin" panose="00000400000000000000" pitchFamily="2" charset="-78"/>
              </a:rPr>
              <a:t>تفکر</a:t>
            </a:r>
            <a:r>
              <a:rPr lang="en-US" sz="1600" b="1" dirty="0">
                <a:cs typeface="B Nazanin" panose="00000400000000000000" pitchFamily="2" charset="-78"/>
              </a:rPr>
              <a:t> </a:t>
            </a:r>
            <a:r>
              <a:rPr lang="en-US" sz="1600" b="1" dirty="0" err="1">
                <a:cs typeface="B Nazanin" panose="00000400000000000000" pitchFamily="2" charset="-78"/>
              </a:rPr>
              <a:t>همه</a:t>
            </a:r>
            <a:r>
              <a:rPr lang="en-US" sz="1600" b="1" dirty="0">
                <a:cs typeface="B Nazanin" panose="00000400000000000000" pitchFamily="2" charset="-78"/>
              </a:rPr>
              <a:t> </a:t>
            </a:r>
            <a:r>
              <a:rPr lang="en-US" sz="1600" b="1" dirty="0" err="1">
                <a:cs typeface="B Nazanin" panose="00000400000000000000" pitchFamily="2" charset="-78"/>
              </a:rPr>
              <a:t>یا</a:t>
            </a:r>
            <a:r>
              <a:rPr lang="en-US" sz="1600" b="1" dirty="0">
                <a:cs typeface="B Nazanin" panose="00000400000000000000" pitchFamily="2" charset="-78"/>
              </a:rPr>
              <a:t> </a:t>
            </a:r>
            <a:r>
              <a:rPr lang="en-US" sz="1600" b="1" dirty="0" err="1">
                <a:cs typeface="B Nazanin" panose="00000400000000000000" pitchFamily="2" charset="-78"/>
              </a:rPr>
              <a:t>هیچ</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smtClean="0">
                <a:cs typeface="B Nazanin" panose="00000400000000000000" pitchFamily="2" charset="-78"/>
              </a:rPr>
              <a:t> </a:t>
            </a:r>
            <a:r>
              <a:rPr lang="en-US" sz="1600" b="1" dirty="0">
                <a:cs typeface="B Nazanin" panose="00000400000000000000" pitchFamily="2" charset="-78"/>
              </a:rPr>
              <a:t>All or </a:t>
            </a:r>
            <a:r>
              <a:rPr lang="en-US" sz="1600" b="1" dirty="0" smtClean="0">
                <a:cs typeface="B Nazanin" panose="00000400000000000000" pitchFamily="2" charset="-78"/>
              </a:rPr>
              <a:t>nothing</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err="1">
                <a:cs typeface="B Nazanin" panose="00000400000000000000" pitchFamily="2" charset="-78"/>
              </a:rPr>
              <a:t>تعمیم</a:t>
            </a:r>
            <a:r>
              <a:rPr lang="en-US" sz="1600" b="1" dirty="0">
                <a:cs typeface="B Nazanin" panose="00000400000000000000" pitchFamily="2" charset="-78"/>
              </a:rPr>
              <a:t> </a:t>
            </a:r>
            <a:r>
              <a:rPr lang="en-US" sz="1600" b="1" dirty="0" err="1">
                <a:cs typeface="B Nazanin" panose="00000400000000000000" pitchFamily="2" charset="-78"/>
              </a:rPr>
              <a:t>دادن</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Over-generalization</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err="1">
                <a:cs typeface="B Nazanin" panose="00000400000000000000" pitchFamily="2" charset="-78"/>
              </a:rPr>
              <a:t>بایدها</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smtClean="0">
                <a:cs typeface="B Nazanin" panose="00000400000000000000" pitchFamily="2" charset="-78"/>
              </a:rPr>
              <a:t> </a:t>
            </a:r>
            <a:r>
              <a:rPr lang="en-US" sz="1600" b="1" dirty="0">
                <a:cs typeface="B Nazanin" panose="00000400000000000000" pitchFamily="2" charset="-78"/>
              </a:rPr>
              <a:t>Should Statements </a:t>
            </a:r>
            <a:r>
              <a:rPr lang="fa-IR" sz="1600" b="1" dirty="0" smtClean="0">
                <a:cs typeface="B Nazanin" panose="00000400000000000000" pitchFamily="2" charset="-78"/>
              </a:rPr>
              <a:t>)</a:t>
            </a:r>
          </a:p>
          <a:p>
            <a:pPr marL="285750" indent="-285750" algn="r" rtl="1">
              <a:buFont typeface="Wingdings" panose="05000000000000000000" pitchFamily="2" charset="2"/>
              <a:buChar char="ü"/>
            </a:pPr>
            <a:r>
              <a:rPr lang="en-US" sz="1600" b="1" dirty="0" err="1" smtClean="0">
                <a:cs typeface="B Nazanin" panose="00000400000000000000" pitchFamily="2" charset="-78"/>
              </a:rPr>
              <a:t>برچسب</a:t>
            </a:r>
            <a:r>
              <a:rPr lang="en-US" sz="1600" b="1" dirty="0" smtClean="0">
                <a:cs typeface="B Nazanin" panose="00000400000000000000" pitchFamily="2" charset="-78"/>
              </a:rPr>
              <a:t> </a:t>
            </a:r>
            <a:r>
              <a:rPr lang="en-US" sz="1600" b="1" dirty="0" err="1">
                <a:cs typeface="B Nazanin" panose="00000400000000000000" pitchFamily="2" charset="-78"/>
              </a:rPr>
              <a:t>گذاری</a:t>
            </a:r>
            <a:r>
              <a:rPr lang="en-US" sz="1600" b="1" dirty="0">
                <a:cs typeface="B Nazanin" panose="00000400000000000000" pitchFamily="2" charset="-78"/>
              </a:rPr>
              <a:t> </a:t>
            </a:r>
            <a:r>
              <a:rPr lang="en-US" sz="1600" b="1" dirty="0" err="1">
                <a:cs typeface="B Nazanin" panose="00000400000000000000" pitchFamily="2" charset="-78"/>
              </a:rPr>
              <a:t>بر</a:t>
            </a:r>
            <a:r>
              <a:rPr lang="en-US" sz="1600" b="1" dirty="0">
                <a:cs typeface="B Nazanin" panose="00000400000000000000" pitchFamily="2" charset="-78"/>
              </a:rPr>
              <a:t> </a:t>
            </a:r>
            <a:r>
              <a:rPr lang="en-US" sz="1600" b="1" dirty="0" err="1">
                <a:cs typeface="B Nazanin" panose="00000400000000000000" pitchFamily="2" charset="-78"/>
              </a:rPr>
              <a:t>روی</a:t>
            </a:r>
            <a:r>
              <a:rPr lang="en-US" sz="1600" b="1" dirty="0">
                <a:cs typeface="B Nazanin" panose="00000400000000000000" pitchFamily="2" charset="-78"/>
              </a:rPr>
              <a:t> </a:t>
            </a:r>
            <a:r>
              <a:rPr lang="en-US" sz="1600" b="1" dirty="0" err="1">
                <a:cs typeface="B Nazanin" panose="00000400000000000000" pitchFamily="2" charset="-78"/>
              </a:rPr>
              <a:t>خود</a:t>
            </a:r>
            <a:r>
              <a:rPr lang="en-US" sz="1600" b="1" dirty="0">
                <a:cs typeface="B Nazanin" panose="00000400000000000000" pitchFamily="2" charset="-78"/>
              </a:rPr>
              <a:t> و </a:t>
            </a:r>
            <a:r>
              <a:rPr lang="en-US" sz="1600" b="1" dirty="0" err="1">
                <a:cs typeface="B Nazanin" panose="00000400000000000000" pitchFamily="2" charset="-78"/>
              </a:rPr>
              <a:t>دیگران</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smtClean="0">
                <a:cs typeface="B Nazanin" panose="00000400000000000000" pitchFamily="2" charset="-78"/>
              </a:rPr>
              <a:t> Labeling</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err="1">
                <a:cs typeface="B Nazanin" panose="00000400000000000000" pitchFamily="2" charset="-78"/>
              </a:rPr>
              <a:t>بزرگنمایی</a:t>
            </a:r>
            <a:r>
              <a:rPr lang="en-US" sz="1600" b="1" dirty="0">
                <a:cs typeface="B Nazanin" panose="00000400000000000000" pitchFamily="2" charset="-78"/>
              </a:rPr>
              <a:t> و </a:t>
            </a:r>
            <a:r>
              <a:rPr lang="en-US" sz="1600" b="1" dirty="0" err="1">
                <a:cs typeface="B Nazanin" panose="00000400000000000000" pitchFamily="2" charset="-78"/>
              </a:rPr>
              <a:t>کوچکنمایی</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Magnification / </a:t>
            </a:r>
            <a:r>
              <a:rPr lang="en-US" sz="1600" b="1" dirty="0" smtClean="0">
                <a:cs typeface="B Nazanin" panose="00000400000000000000" pitchFamily="2" charset="-78"/>
              </a:rPr>
              <a:t>Minimization </a:t>
            </a:r>
            <a:r>
              <a:rPr lang="fa-IR" sz="1600" b="1" dirty="0" smtClean="0">
                <a:cs typeface="B Nazanin" panose="00000400000000000000" pitchFamily="2" charset="-78"/>
              </a:rPr>
              <a:t>)</a:t>
            </a:r>
            <a:r>
              <a:rPr lang="en-US" sz="1600" b="1" dirty="0" smtClean="0">
                <a:cs typeface="B Nazanin" panose="00000400000000000000" pitchFamily="2" charset="-78"/>
              </a:rPr>
              <a:t> </a:t>
            </a:r>
            <a:endParaRPr lang="fa-IR" sz="1600" b="1" dirty="0" smtClean="0">
              <a:cs typeface="B Nazanin" panose="00000400000000000000" pitchFamily="2" charset="-78"/>
            </a:endParaRPr>
          </a:p>
          <a:p>
            <a:pPr marL="285750" indent="-285750" algn="r" rtl="1">
              <a:buFont typeface="Wingdings" panose="05000000000000000000" pitchFamily="2" charset="2"/>
              <a:buChar char="ü"/>
            </a:pPr>
            <a:r>
              <a:rPr lang="en-US" sz="1600" b="1" dirty="0" err="1" smtClean="0">
                <a:cs typeface="B Nazanin" panose="00000400000000000000" pitchFamily="2" charset="-78"/>
              </a:rPr>
              <a:t>حذف</a:t>
            </a:r>
            <a:r>
              <a:rPr lang="en-US" sz="1600" b="1" dirty="0" smtClean="0">
                <a:cs typeface="B Nazanin" panose="00000400000000000000" pitchFamily="2" charset="-78"/>
              </a:rPr>
              <a:t> </a:t>
            </a:r>
            <a:r>
              <a:rPr lang="en-US" sz="1600" b="1" dirty="0" err="1">
                <a:cs typeface="B Nazanin" panose="00000400000000000000" pitchFamily="2" charset="-78"/>
              </a:rPr>
              <a:t>رویدادها</a:t>
            </a:r>
            <a:r>
              <a:rPr lang="en-US" sz="1600" b="1" dirty="0">
                <a:cs typeface="B Nazanin" panose="00000400000000000000" pitchFamily="2" charset="-78"/>
              </a:rPr>
              <a:t> و </a:t>
            </a:r>
            <a:r>
              <a:rPr lang="en-US" sz="1600" b="1" dirty="0" err="1">
                <a:cs typeface="B Nazanin" panose="00000400000000000000" pitchFamily="2" charset="-78"/>
              </a:rPr>
              <a:t>اطلاعات</a:t>
            </a:r>
            <a:r>
              <a:rPr lang="en-US" sz="1600" b="1" dirty="0">
                <a:cs typeface="B Nazanin" panose="00000400000000000000" pitchFamily="2" charset="-78"/>
              </a:rPr>
              <a:t> </a:t>
            </a:r>
            <a:r>
              <a:rPr lang="en-US" sz="1600" b="1" dirty="0" err="1">
                <a:cs typeface="B Nazanin" panose="00000400000000000000" pitchFamily="2" charset="-78"/>
              </a:rPr>
              <a:t>مثبت</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Disqualifying </a:t>
            </a:r>
            <a:r>
              <a:rPr lang="en-US" sz="1600" b="1" dirty="0" smtClean="0">
                <a:cs typeface="B Nazanin" panose="00000400000000000000" pitchFamily="2" charset="-78"/>
              </a:rPr>
              <a:t>Positives</a:t>
            </a:r>
            <a:r>
              <a:rPr lang="fa-IR" sz="1600" b="1" dirty="0" smtClean="0">
                <a:cs typeface="B Nazanin" panose="00000400000000000000" pitchFamily="2" charset="-78"/>
              </a:rPr>
              <a:t>)</a:t>
            </a:r>
          </a:p>
          <a:p>
            <a:pPr marL="285750" indent="-285750" algn="r" rtl="1">
              <a:buFont typeface="Wingdings" panose="05000000000000000000" pitchFamily="2" charset="2"/>
              <a:buChar char="ü"/>
            </a:pPr>
            <a:r>
              <a:rPr lang="en-US" sz="1600" b="1" dirty="0" smtClean="0">
                <a:cs typeface="B Nazanin" panose="00000400000000000000" pitchFamily="2" charset="-78"/>
              </a:rPr>
              <a:t> </a:t>
            </a:r>
            <a:r>
              <a:rPr lang="en-US" sz="1600" b="1" dirty="0" err="1" smtClean="0">
                <a:cs typeface="B Nazanin" panose="00000400000000000000" pitchFamily="2" charset="-78"/>
              </a:rPr>
              <a:t>پریدن</a:t>
            </a:r>
            <a:r>
              <a:rPr lang="en-US" sz="1600" b="1" dirty="0" smtClean="0">
                <a:cs typeface="B Nazanin" panose="00000400000000000000" pitchFamily="2" charset="-78"/>
              </a:rPr>
              <a:t> </a:t>
            </a:r>
            <a:r>
              <a:rPr lang="en-US" sz="1600" b="1" dirty="0" err="1">
                <a:cs typeface="B Nazanin" panose="00000400000000000000" pitchFamily="2" charset="-78"/>
              </a:rPr>
              <a:t>به</a:t>
            </a:r>
            <a:r>
              <a:rPr lang="en-US" sz="1600" b="1" dirty="0">
                <a:cs typeface="B Nazanin" panose="00000400000000000000" pitchFamily="2" charset="-78"/>
              </a:rPr>
              <a:t> </a:t>
            </a:r>
            <a:r>
              <a:rPr lang="en-US" sz="1600" b="1" dirty="0" err="1">
                <a:cs typeface="B Nazanin" panose="00000400000000000000" pitchFamily="2" charset="-78"/>
              </a:rPr>
              <a:t>نتیجه</a:t>
            </a:r>
            <a:r>
              <a:rPr lang="en-US" sz="1600" b="1" dirty="0">
                <a:cs typeface="B Nazanin" panose="00000400000000000000" pitchFamily="2" charset="-78"/>
              </a:rPr>
              <a:t> </a:t>
            </a:r>
            <a:r>
              <a:rPr lang="en-US" sz="1600" b="1" dirty="0" err="1">
                <a:cs typeface="B Nazanin" panose="00000400000000000000" pitchFamily="2" charset="-78"/>
              </a:rPr>
              <a:t>بدون</a:t>
            </a:r>
            <a:r>
              <a:rPr lang="en-US" sz="1600" b="1" dirty="0">
                <a:cs typeface="B Nazanin" panose="00000400000000000000" pitchFamily="2" charset="-78"/>
              </a:rPr>
              <a:t> </a:t>
            </a:r>
            <a:r>
              <a:rPr lang="en-US" sz="1600" b="1" dirty="0" err="1">
                <a:cs typeface="B Nazanin" panose="00000400000000000000" pitchFamily="2" charset="-78"/>
              </a:rPr>
              <a:t>طی</a:t>
            </a:r>
            <a:r>
              <a:rPr lang="en-US" sz="1600" b="1" dirty="0">
                <a:cs typeface="B Nazanin" panose="00000400000000000000" pitchFamily="2" charset="-78"/>
              </a:rPr>
              <a:t> </a:t>
            </a:r>
            <a:r>
              <a:rPr lang="en-US" sz="1600" b="1" dirty="0" err="1">
                <a:cs typeface="B Nazanin" panose="00000400000000000000" pitchFamily="2" charset="-78"/>
              </a:rPr>
              <a:t>شدن</a:t>
            </a:r>
            <a:r>
              <a:rPr lang="en-US" sz="1600" b="1" dirty="0">
                <a:cs typeface="B Nazanin" panose="00000400000000000000" pitchFamily="2" charset="-78"/>
              </a:rPr>
              <a:t> </a:t>
            </a:r>
            <a:r>
              <a:rPr lang="en-US" sz="1600" b="1" dirty="0" err="1">
                <a:cs typeface="B Nazanin" panose="00000400000000000000" pitchFamily="2" charset="-78"/>
              </a:rPr>
              <a:t>مسیر</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Jumping to Conclusions</a:t>
            </a:r>
            <a:r>
              <a:rPr lang="fa-IR" sz="1600" b="1" dirty="0" smtClean="0">
                <a:cs typeface="B Nazanin" panose="00000400000000000000" pitchFamily="2" charset="-78"/>
              </a:rPr>
              <a:t>)</a:t>
            </a:r>
            <a:r>
              <a:rPr lang="en-US" sz="1600" b="1" dirty="0" smtClean="0">
                <a:cs typeface="B Nazanin" panose="00000400000000000000" pitchFamily="2" charset="-78"/>
              </a:rPr>
              <a:t> </a:t>
            </a:r>
            <a:endParaRPr lang="fa-IR" sz="1600" b="1" dirty="0" smtClean="0">
              <a:cs typeface="B Nazanin" panose="00000400000000000000" pitchFamily="2" charset="-78"/>
            </a:endParaRPr>
          </a:p>
          <a:p>
            <a:pPr marL="285750" indent="-285750" algn="r" rtl="1">
              <a:buFont typeface="Wingdings" panose="05000000000000000000" pitchFamily="2" charset="2"/>
              <a:buChar char="ü"/>
            </a:pPr>
            <a:r>
              <a:rPr lang="en-US" sz="1600" b="1" dirty="0" err="1" smtClean="0">
                <a:cs typeface="B Nazanin" panose="00000400000000000000" pitchFamily="2" charset="-78"/>
              </a:rPr>
              <a:t>شخصی</a:t>
            </a:r>
            <a:r>
              <a:rPr lang="en-US" sz="1600" b="1" dirty="0" smtClean="0">
                <a:cs typeface="B Nazanin" panose="00000400000000000000" pitchFamily="2" charset="-78"/>
              </a:rPr>
              <a:t> </a:t>
            </a:r>
            <a:r>
              <a:rPr lang="en-US" sz="1600" b="1" dirty="0" err="1">
                <a:cs typeface="B Nazanin" panose="00000400000000000000" pitchFamily="2" charset="-78"/>
              </a:rPr>
              <a:t>کردن</a:t>
            </a:r>
            <a:r>
              <a:rPr lang="en-US" sz="1600" b="1" dirty="0">
                <a:cs typeface="B Nazanin" panose="00000400000000000000" pitchFamily="2" charset="-78"/>
              </a:rPr>
              <a:t> و </a:t>
            </a:r>
            <a:r>
              <a:rPr lang="en-US" sz="1600" b="1" dirty="0" err="1">
                <a:cs typeface="B Nazanin" panose="00000400000000000000" pitchFamily="2" charset="-78"/>
              </a:rPr>
              <a:t>به</a:t>
            </a:r>
            <a:r>
              <a:rPr lang="en-US" sz="1600" b="1" dirty="0">
                <a:cs typeface="B Nazanin" panose="00000400000000000000" pitchFamily="2" charset="-78"/>
              </a:rPr>
              <a:t> </a:t>
            </a:r>
            <a:r>
              <a:rPr lang="en-US" sz="1600" b="1" dirty="0" err="1">
                <a:cs typeface="B Nazanin" panose="00000400000000000000" pitchFamily="2" charset="-78"/>
              </a:rPr>
              <a:t>خودگرفتن</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a:cs typeface="B Nazanin" panose="00000400000000000000" pitchFamily="2" charset="-78"/>
              </a:rPr>
              <a:t>Personalization</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err="1">
                <a:cs typeface="B Nazanin" panose="00000400000000000000" pitchFamily="2" charset="-78"/>
              </a:rPr>
              <a:t>ذهن</a:t>
            </a:r>
            <a:r>
              <a:rPr lang="en-US" sz="1600" b="1" dirty="0">
                <a:cs typeface="B Nazanin" panose="00000400000000000000" pitchFamily="2" charset="-78"/>
              </a:rPr>
              <a:t> </a:t>
            </a:r>
            <a:r>
              <a:rPr lang="en-US" sz="1600" b="1" dirty="0" err="1">
                <a:cs typeface="B Nazanin" panose="00000400000000000000" pitchFamily="2" charset="-78"/>
              </a:rPr>
              <a:t>خوانی</a:t>
            </a:r>
            <a:r>
              <a:rPr lang="en-US" sz="1600" b="1" dirty="0">
                <a:cs typeface="B Nazanin" panose="00000400000000000000" pitchFamily="2" charset="-78"/>
              </a:rPr>
              <a:t> </a:t>
            </a:r>
            <a:r>
              <a:rPr lang="fa-IR" sz="1600" b="1" dirty="0" smtClean="0">
                <a:cs typeface="B Nazanin" panose="00000400000000000000" pitchFamily="2" charset="-78"/>
              </a:rPr>
              <a:t>(</a:t>
            </a:r>
            <a:r>
              <a:rPr lang="en-US" sz="1600" b="1" dirty="0" smtClean="0">
                <a:cs typeface="B Nazanin" panose="00000400000000000000" pitchFamily="2" charset="-78"/>
              </a:rPr>
              <a:t> Mindreading</a:t>
            </a:r>
            <a:r>
              <a:rPr lang="fa-IR" sz="1600" b="1" dirty="0" smtClean="0">
                <a:cs typeface="B Nazanin" panose="00000400000000000000" pitchFamily="2" charset="-78"/>
              </a:rPr>
              <a:t>)</a:t>
            </a:r>
            <a:endParaRPr lang="en-US" sz="1600" b="1" dirty="0">
              <a:cs typeface="B Nazanin" panose="00000400000000000000" pitchFamily="2" charset="-78"/>
            </a:endParaRPr>
          </a:p>
          <a:p>
            <a:pPr marL="285750" indent="-285750" algn="r" rtl="1">
              <a:buFont typeface="Wingdings" panose="05000000000000000000" pitchFamily="2" charset="2"/>
              <a:buChar char="ü"/>
            </a:pPr>
            <a:r>
              <a:rPr lang="en-US" sz="1600" b="1" dirty="0" err="1">
                <a:cs typeface="B Nazanin" panose="00000400000000000000" pitchFamily="2" charset="-78"/>
              </a:rPr>
              <a:t>خطای</a:t>
            </a:r>
            <a:r>
              <a:rPr lang="en-US" sz="1600" b="1" dirty="0">
                <a:cs typeface="B Nazanin" panose="00000400000000000000" pitchFamily="2" charset="-78"/>
              </a:rPr>
              <a:t> </a:t>
            </a:r>
            <a:r>
              <a:rPr lang="en-US" sz="1600" b="1" dirty="0" err="1">
                <a:cs typeface="B Nazanin" panose="00000400000000000000" pitchFamily="2" charset="-78"/>
              </a:rPr>
              <a:t>هاله</a:t>
            </a:r>
            <a:r>
              <a:rPr lang="en-US" sz="1600" b="1" dirty="0">
                <a:cs typeface="B Nazanin" panose="00000400000000000000" pitchFamily="2" charset="-78"/>
              </a:rPr>
              <a:t> </a:t>
            </a:r>
            <a:r>
              <a:rPr lang="en-US" sz="1600" b="1" dirty="0" err="1">
                <a:cs typeface="B Nazanin" panose="00000400000000000000" pitchFamily="2" charset="-78"/>
              </a:rPr>
              <a:t>ای</a:t>
            </a:r>
            <a:r>
              <a:rPr lang="en-US" sz="1600" b="1" dirty="0">
                <a:cs typeface="B Nazanin" panose="00000400000000000000" pitchFamily="2" charset="-78"/>
              </a:rPr>
              <a:t> (Halo Effect</a:t>
            </a:r>
            <a:r>
              <a:rPr lang="en-US" sz="1600" b="1" dirty="0" smtClean="0">
                <a:cs typeface="B Nazanin" panose="00000400000000000000" pitchFamily="2" charset="-78"/>
              </a:rPr>
              <a:t>)</a:t>
            </a:r>
            <a:endParaRPr lang="en-US" sz="1600" b="1" dirty="0">
              <a:cs typeface="B Nazanin" panose="00000400000000000000" pitchFamily="2" charset="-78"/>
            </a:endParaRPr>
          </a:p>
        </p:txBody>
      </p:sp>
      <p:cxnSp>
        <p:nvCxnSpPr>
          <p:cNvPr id="18" name="Straight Connector 17"/>
          <p:cNvCxnSpPr/>
          <p:nvPr/>
        </p:nvCxnSpPr>
        <p:spPr>
          <a:xfrm>
            <a:off x="5878286" y="3565030"/>
            <a:ext cx="13063" cy="2874959"/>
          </a:xfrm>
          <a:prstGeom prst="line">
            <a:avLst/>
          </a:prstGeom>
          <a:ln w="28575">
            <a:solidFill>
              <a:schemeClr val="accent1"/>
            </a:solidFill>
            <a:prstDash val="dashDot"/>
          </a:ln>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11078693" y="2502359"/>
            <a:ext cx="554960" cy="338554"/>
          </a:xfrm>
          <a:prstGeom prst="rect">
            <a:avLst/>
          </a:prstGeom>
        </p:spPr>
        <p:txBody>
          <a:bodyPr wrap="none">
            <a:spAutoFit/>
          </a:bodyPr>
          <a:lstStyle/>
          <a:p>
            <a:r>
              <a:rPr lang="fa-IR" sz="1600" dirty="0" smtClean="0">
                <a:cs typeface="B Nazanin" panose="00000400000000000000" pitchFamily="2" charset="-78"/>
              </a:rPr>
              <a:t>مثال :</a:t>
            </a:r>
            <a:endParaRPr lang="en-US" sz="1600" dirty="0"/>
          </a:p>
        </p:txBody>
      </p:sp>
    </p:spTree>
    <p:extLst>
      <p:ext uri="{BB962C8B-B14F-4D97-AF65-F5344CB8AC3E}">
        <p14:creationId xmlns:p14="http://schemas.microsoft.com/office/powerpoint/2010/main" val="295436944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بررسی توان مغز انسان</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3" name="Picture 2"/>
          <p:cNvPicPr>
            <a:picLocks noChangeAspect="1"/>
          </p:cNvPicPr>
          <p:nvPr/>
        </p:nvPicPr>
        <p:blipFill>
          <a:blip r:embed="rId2"/>
          <a:stretch>
            <a:fillRect/>
          </a:stretch>
        </p:blipFill>
        <p:spPr>
          <a:xfrm>
            <a:off x="775671" y="1905064"/>
            <a:ext cx="2857500" cy="1600200"/>
          </a:xfrm>
          <a:prstGeom prst="rect">
            <a:avLst/>
          </a:prstGeom>
        </p:spPr>
      </p:pic>
      <p:sp>
        <p:nvSpPr>
          <p:cNvPr id="4" name="Rectangle 3"/>
          <p:cNvSpPr/>
          <p:nvPr/>
        </p:nvSpPr>
        <p:spPr>
          <a:xfrm>
            <a:off x="1830889" y="1394884"/>
            <a:ext cx="8935459" cy="369332"/>
          </a:xfrm>
          <a:prstGeom prst="rect">
            <a:avLst/>
          </a:prstGeom>
        </p:spPr>
        <p:txBody>
          <a:bodyPr wrap="none">
            <a:spAutoFit/>
          </a:bodyPr>
          <a:lstStyle/>
          <a:p>
            <a:r>
              <a:rPr lang="fa-IR" dirty="0" smtClean="0">
                <a:solidFill>
                  <a:srgbClr val="000000"/>
                </a:solidFill>
                <a:latin typeface="IRANSans"/>
                <a:cs typeface="B Nazanin" panose="00000400000000000000" pitchFamily="2" charset="-78"/>
              </a:rPr>
              <a:t>مغز انسان یکی از پر مصرف ترین بخش های بدن او و یکی از کم مصرف ترین ابزارهای محاسباتی و تحلیل در جهان می باشد . </a:t>
            </a:r>
            <a:endParaRPr lang="en-US" dirty="0"/>
          </a:p>
        </p:txBody>
      </p:sp>
      <p:sp>
        <p:nvSpPr>
          <p:cNvPr id="6" name="Rectangle 5"/>
          <p:cNvSpPr/>
          <p:nvPr/>
        </p:nvSpPr>
        <p:spPr>
          <a:xfrm>
            <a:off x="3633171" y="2104999"/>
            <a:ext cx="7133177" cy="1200329"/>
          </a:xfrm>
          <a:prstGeom prst="rect">
            <a:avLst/>
          </a:prstGeom>
        </p:spPr>
        <p:txBody>
          <a:bodyPr wrap="square">
            <a:spAutoFit/>
          </a:bodyPr>
          <a:lstStyle/>
          <a:p>
            <a:pPr algn="r" rtl="1"/>
            <a:r>
              <a:rPr lang="fa-IR" dirty="0" smtClean="0">
                <a:solidFill>
                  <a:srgbClr val="000000"/>
                </a:solidFill>
                <a:latin typeface="IRANSans"/>
                <a:cs typeface="B Nazanin" panose="00000400000000000000" pitchFamily="2" charset="-78"/>
              </a:rPr>
              <a:t>مغز انسان بخشی از این برتری خود در پردازش با انرژی پایین را از ساختار نورونی سناپس ها بدست آورده ، اما بخشی از آن با قربانی کردن دقت بدست آمده . مغز ما میان بر هایی برای خود میسازد تا جواب های سرانگشتی سریعی برای مشکلات و چالشها پیدا کند و با همین </a:t>
            </a:r>
            <a:r>
              <a:rPr lang="fa-IR" b="1" dirty="0" smtClean="0">
                <a:solidFill>
                  <a:srgbClr val="FF0000"/>
                </a:solidFill>
                <a:latin typeface="IRANSans"/>
                <a:cs typeface="B Nazanin" panose="00000400000000000000" pitchFamily="2" charset="-78"/>
              </a:rPr>
              <a:t>میانبر</a:t>
            </a:r>
            <a:r>
              <a:rPr lang="fa-IR" dirty="0" smtClean="0">
                <a:solidFill>
                  <a:srgbClr val="000000"/>
                </a:solidFill>
                <a:latin typeface="IRANSans"/>
                <a:cs typeface="B Nazanin" panose="00000400000000000000" pitchFamily="2" charset="-78"/>
              </a:rPr>
              <a:t> ها و کمی از دست دادن دقت ، با  سرعت بیشتر و مصرف انرژی کمتر به جواب برسد .  </a:t>
            </a:r>
            <a:endParaRPr lang="en-US" dirty="0"/>
          </a:p>
        </p:txBody>
      </p:sp>
      <p:sp>
        <p:nvSpPr>
          <p:cNvPr id="5" name="Rectangle 4"/>
          <p:cNvSpPr/>
          <p:nvPr/>
        </p:nvSpPr>
        <p:spPr>
          <a:xfrm>
            <a:off x="775671" y="3694627"/>
            <a:ext cx="10721785"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مغز انسان در طول زمان، با آزمایش و خطا و دریافت اطلاعات جدید و تجربه‌های جدید، به تدریج محیط اطراف خود را کشف می‌کند.</a:t>
            </a:r>
          </a:p>
          <a:p>
            <a:pPr algn="justLow" rtl="1"/>
            <a:r>
              <a:rPr lang="fa-IR" dirty="0">
                <a:solidFill>
                  <a:srgbClr val="000000"/>
                </a:solidFill>
                <a:latin typeface="IRANSans"/>
                <a:cs typeface="B Nazanin" panose="00000400000000000000" pitchFamily="2" charset="-78"/>
              </a:rPr>
              <a:t>در این میان، بسیاری از قضاوت‌ها و قاعده‌های ذهنی، به جای اینکه بر اساس منطق خشک و دیجیتال شکل بگیرند، بر پایه‌ی آمار و احتمال و فراوانی تجربه‌ها شکل می‌گیرند</a:t>
            </a:r>
            <a:r>
              <a:rPr lang="fa-IR" dirty="0" smtClean="0">
                <a:solidFill>
                  <a:srgbClr val="000000"/>
                </a:solidFill>
                <a:latin typeface="IRANSans"/>
                <a:cs typeface="B Nazanin" panose="00000400000000000000" pitchFamily="2" charset="-78"/>
              </a:rPr>
              <a:t>. (</a:t>
            </a:r>
            <a:r>
              <a:rPr lang="en-US" b="1" dirty="0" smtClean="0">
                <a:solidFill>
                  <a:srgbClr val="FF0000"/>
                </a:solidFill>
              </a:rPr>
              <a:t>Heuristic</a:t>
            </a:r>
            <a:r>
              <a:rPr lang="fa-IR" dirty="0" smtClean="0">
                <a:solidFill>
                  <a:srgbClr val="000000"/>
                </a:solidFill>
                <a:latin typeface="IRANSans"/>
                <a:cs typeface="B Nazanin" panose="00000400000000000000" pitchFamily="2" charset="-78"/>
              </a:rPr>
              <a:t>)</a:t>
            </a:r>
            <a:endParaRPr lang="fa-IR" dirty="0">
              <a:solidFill>
                <a:srgbClr val="000000"/>
              </a:solidFill>
              <a:latin typeface="IRANSans"/>
              <a:cs typeface="B Nazanin" panose="00000400000000000000" pitchFamily="2" charset="-78"/>
            </a:endParaRPr>
          </a:p>
        </p:txBody>
      </p:sp>
      <p:grpSp>
        <p:nvGrpSpPr>
          <p:cNvPr id="11" name="Group 10"/>
          <p:cNvGrpSpPr/>
          <p:nvPr/>
        </p:nvGrpSpPr>
        <p:grpSpPr>
          <a:xfrm>
            <a:off x="775671" y="4766393"/>
            <a:ext cx="6766577" cy="1738695"/>
            <a:chOff x="4730878" y="4726476"/>
            <a:chExt cx="6766577" cy="1738695"/>
          </a:xfrm>
        </p:grpSpPr>
        <p:sp>
          <p:nvSpPr>
            <p:cNvPr id="7" name="Rectangle 6"/>
            <p:cNvSpPr/>
            <p:nvPr/>
          </p:nvSpPr>
          <p:spPr>
            <a:xfrm>
              <a:off x="4859383" y="4807320"/>
              <a:ext cx="5166503" cy="1477328"/>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نباید فراموش کرد که مغز انسان، برای به دست آوردن این سطح بالا از عملکرد، میان‌بر‌هایی را هم آموخته و به کار گرفته </a:t>
              </a:r>
              <a:r>
                <a:rPr lang="fa-IR" dirty="0" smtClean="0">
                  <a:solidFill>
                    <a:srgbClr val="000000"/>
                  </a:solidFill>
                  <a:latin typeface="IRANSans"/>
                  <a:cs typeface="B Nazanin" panose="00000400000000000000" pitchFamily="2" charset="-78"/>
                </a:rPr>
                <a:t>است.</a:t>
              </a:r>
              <a:r>
                <a:rPr lang="en-US" dirty="0" smtClean="0">
                  <a:solidFill>
                    <a:srgbClr val="000000"/>
                  </a:solidFill>
                  <a:latin typeface="IRANSans"/>
                  <a:cs typeface="B Nazanin" panose="00000400000000000000" pitchFamily="2" charset="-78"/>
                </a:rPr>
                <a:t> </a:t>
              </a:r>
              <a:r>
                <a:rPr lang="fa-IR" b="1" dirty="0" smtClean="0">
                  <a:solidFill>
                    <a:srgbClr val="FF0000"/>
                  </a:solidFill>
                  <a:latin typeface="IRANSans"/>
                  <a:cs typeface="B Nazanin" panose="00000400000000000000" pitchFamily="2" charset="-78"/>
                </a:rPr>
                <a:t>میان‌برهایی </a:t>
              </a:r>
              <a:r>
                <a:rPr lang="fa-IR" b="1" dirty="0">
                  <a:solidFill>
                    <a:srgbClr val="FF0000"/>
                  </a:solidFill>
                  <a:latin typeface="IRANSans"/>
                  <a:cs typeface="B Nazanin" panose="00000400000000000000" pitchFamily="2" charset="-78"/>
                </a:rPr>
                <a:t>ارزشمند </a:t>
              </a:r>
              <a:r>
                <a:rPr lang="fa-IR" dirty="0">
                  <a:solidFill>
                    <a:srgbClr val="000000"/>
                  </a:solidFill>
                  <a:latin typeface="IRANSans"/>
                  <a:cs typeface="B Nazanin" panose="00000400000000000000" pitchFamily="2" charset="-78"/>
                </a:rPr>
                <a:t>که اگر چه موجب بقای نسل بشر بر روی این کره‌ی خاکی شده‌اند، </a:t>
              </a:r>
              <a:r>
                <a:rPr lang="fa-IR" b="1" dirty="0">
                  <a:solidFill>
                    <a:srgbClr val="FF0000"/>
                  </a:solidFill>
                  <a:latin typeface="IRANSans"/>
                  <a:cs typeface="B Nazanin" panose="00000400000000000000" pitchFamily="2" charset="-78"/>
                </a:rPr>
                <a:t>اما منشاء </a:t>
              </a:r>
              <a:r>
                <a:rPr lang="fa-IR" dirty="0">
                  <a:solidFill>
                    <a:srgbClr val="000000"/>
                  </a:solidFill>
                  <a:latin typeface="IRANSans"/>
                  <a:cs typeface="B Nazanin" panose="00000400000000000000" pitchFamily="2" charset="-78"/>
                </a:rPr>
                <a:t>بسیاری از </a:t>
              </a:r>
              <a:r>
                <a:rPr lang="fa-IR" b="1" dirty="0">
                  <a:solidFill>
                    <a:srgbClr val="FF0000"/>
                  </a:solidFill>
                  <a:latin typeface="IRANSans"/>
                  <a:cs typeface="B Nazanin" panose="00000400000000000000" pitchFamily="2" charset="-78"/>
                </a:rPr>
                <a:t>خطاهای قضاوتی و ادراکی</a:t>
              </a:r>
              <a:r>
                <a:rPr lang="fa-IR" dirty="0">
                  <a:solidFill>
                    <a:srgbClr val="000000"/>
                  </a:solidFill>
                  <a:latin typeface="IRANSans"/>
                  <a:cs typeface="B Nazanin" panose="00000400000000000000" pitchFamily="2" charset="-78"/>
                </a:rPr>
                <a:t> ما هم بوده‌اند.</a:t>
              </a:r>
            </a:p>
          </p:txBody>
        </p:sp>
        <p:pic>
          <p:nvPicPr>
            <p:cNvPr id="9" name="Picture 8"/>
            <p:cNvPicPr>
              <a:picLocks noChangeAspect="1"/>
            </p:cNvPicPr>
            <p:nvPr/>
          </p:nvPicPr>
          <p:blipFill>
            <a:blip r:embed="rId3"/>
            <a:stretch>
              <a:fillRect/>
            </a:stretch>
          </p:blipFill>
          <p:spPr>
            <a:xfrm>
              <a:off x="10206643" y="4795806"/>
              <a:ext cx="1238428" cy="1630176"/>
            </a:xfrm>
            <a:prstGeom prst="rect">
              <a:avLst/>
            </a:prstGeom>
          </p:spPr>
        </p:pic>
        <p:sp>
          <p:nvSpPr>
            <p:cNvPr id="10" name="Rectangle 9"/>
            <p:cNvSpPr/>
            <p:nvPr/>
          </p:nvSpPr>
          <p:spPr>
            <a:xfrm>
              <a:off x="4730878" y="4726476"/>
              <a:ext cx="6766577" cy="173869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2" name="Picture 11"/>
          <p:cNvPicPr>
            <a:picLocks noChangeAspect="1"/>
          </p:cNvPicPr>
          <p:nvPr/>
        </p:nvPicPr>
        <p:blipFill>
          <a:blip r:embed="rId4"/>
          <a:stretch>
            <a:fillRect/>
          </a:stretch>
        </p:blipFill>
        <p:spPr>
          <a:xfrm>
            <a:off x="10368370" y="4766393"/>
            <a:ext cx="1352550" cy="342900"/>
          </a:xfrm>
          <a:prstGeom prst="rect">
            <a:avLst/>
          </a:prstGeom>
        </p:spPr>
      </p:pic>
      <p:cxnSp>
        <p:nvCxnSpPr>
          <p:cNvPr id="14" name="Elbow Connector 13"/>
          <p:cNvCxnSpPr>
            <a:stCxn id="12" idx="2"/>
            <a:endCxn id="19" idx="0"/>
          </p:cNvCxnSpPr>
          <p:nvPr/>
        </p:nvCxnSpPr>
        <p:spPr>
          <a:xfrm rot="5400000">
            <a:off x="10082784" y="4876720"/>
            <a:ext cx="729288" cy="1194435"/>
          </a:xfrm>
          <a:prstGeom prst="bentConnector3">
            <a:avLst>
              <a:gd name="adj1" fmla="val 50000"/>
            </a:avLst>
          </a:prstGeom>
          <a:ln w="28575"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8" name="Rectangle 17"/>
          <p:cNvSpPr/>
          <p:nvPr/>
        </p:nvSpPr>
        <p:spPr>
          <a:xfrm>
            <a:off x="9853996" y="5104605"/>
            <a:ext cx="593432" cy="369332"/>
          </a:xfrm>
          <a:prstGeom prst="rect">
            <a:avLst/>
          </a:prstGeom>
        </p:spPr>
        <p:txBody>
          <a:bodyPr wrap="none">
            <a:spAutoFit/>
          </a:bodyPr>
          <a:lstStyle/>
          <a:p>
            <a:r>
              <a:rPr lang="fa-IR" b="1" dirty="0">
                <a:solidFill>
                  <a:srgbClr val="4372C2"/>
                </a:solidFill>
                <a:latin typeface="IRANSans"/>
                <a:cs typeface="B Nazanin" panose="00000400000000000000" pitchFamily="2" charset="-78"/>
              </a:rPr>
              <a:t>معنی</a:t>
            </a:r>
            <a:endParaRPr lang="en-US" b="1" dirty="0">
              <a:solidFill>
                <a:srgbClr val="4372C2"/>
              </a:solidFill>
              <a:latin typeface="IRANSans"/>
              <a:cs typeface="B Nazanin" panose="00000400000000000000" pitchFamily="2" charset="-78"/>
            </a:endParaRPr>
          </a:p>
        </p:txBody>
      </p:sp>
      <p:sp>
        <p:nvSpPr>
          <p:cNvPr id="19" name="Rectangle 18"/>
          <p:cNvSpPr/>
          <p:nvPr/>
        </p:nvSpPr>
        <p:spPr>
          <a:xfrm>
            <a:off x="8202964" y="5838581"/>
            <a:ext cx="3294492" cy="307777"/>
          </a:xfrm>
          <a:prstGeom prst="rect">
            <a:avLst/>
          </a:prstGeom>
        </p:spPr>
        <p:txBody>
          <a:bodyPr wrap="none">
            <a:spAutoFit/>
          </a:bodyPr>
          <a:lstStyle/>
          <a:p>
            <a:r>
              <a:rPr lang="fa-IR" sz="1400" dirty="0">
                <a:solidFill>
                  <a:srgbClr val="454638"/>
                </a:solidFill>
                <a:latin typeface="MsYekan"/>
              </a:rPr>
              <a:t>کشف کننده، پی برنده، اکتشافی، ابتکآری</a:t>
            </a:r>
            <a:endParaRPr lang="en-US" sz="1400" dirty="0"/>
          </a:p>
        </p:txBody>
      </p:sp>
    </p:spTree>
    <p:extLst>
      <p:ext uri="{BB962C8B-B14F-4D97-AF65-F5344CB8AC3E}">
        <p14:creationId xmlns:p14="http://schemas.microsoft.com/office/powerpoint/2010/main" val="20912795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449977" y="441069"/>
            <a:ext cx="9875520" cy="709749"/>
          </a:xfrm>
        </p:spPr>
        <p:txBody>
          <a:bodyPr>
            <a:normAutofit fontScale="90000"/>
          </a:bodyPr>
          <a:lstStyle/>
          <a:p>
            <a:pPr algn="r"/>
            <a:r>
              <a:rPr lang="fa-IR" sz="4800" dirty="0" smtClean="0">
                <a:cs typeface="B Nazanin" panose="00000400000000000000" pitchFamily="2" charset="-78"/>
              </a:rPr>
              <a:t>نمونه هایی از خطاهای ذهنی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8543109" y="1744286"/>
            <a:ext cx="3063238" cy="4801314"/>
          </a:xfrm>
          <a:prstGeom prst="rect">
            <a:avLst/>
          </a:prstGeom>
          <a:solidFill>
            <a:schemeClr val="accent4">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smtClean="0">
                <a:solidFill>
                  <a:srgbClr val="000000"/>
                </a:solidFill>
                <a:latin typeface="IRANSans"/>
                <a:cs typeface="B Nazanin" panose="00000400000000000000" pitchFamily="2" charset="-78"/>
              </a:rPr>
              <a:t>اکثر </a:t>
            </a:r>
            <a:r>
              <a:rPr lang="fa-IR" dirty="0">
                <a:solidFill>
                  <a:srgbClr val="000000"/>
                </a:solidFill>
                <a:latin typeface="IRANSans"/>
                <a:cs typeface="B Nazanin" panose="00000400000000000000" pitchFamily="2" charset="-78"/>
              </a:rPr>
              <a:t>ما </a:t>
            </a:r>
            <a:r>
              <a:rPr lang="fa-IR" dirty="0" smtClean="0">
                <a:solidFill>
                  <a:srgbClr val="000000"/>
                </a:solidFill>
                <a:latin typeface="IRANSans"/>
                <a:cs typeface="B Nazanin" panose="00000400000000000000" pitchFamily="2" charset="-78"/>
              </a:rPr>
              <a:t>انسان‌ها. احنمال مرگ با سیل و زلزله را بیشتر از آتشسوزی برای خود میدانیم . در </a:t>
            </a:r>
            <a:r>
              <a:rPr lang="fa-IR" dirty="0">
                <a:solidFill>
                  <a:srgbClr val="000000"/>
                </a:solidFill>
                <a:latin typeface="IRANSans"/>
                <a:cs typeface="B Nazanin" panose="00000400000000000000" pitchFamily="2" charset="-78"/>
              </a:rPr>
              <a:t>حالی که آمارها نشان می‌دهند، برای هر یک از ما، احتمال مرگ ناشی از آتش‌سوزی الزاماً از احتمال مرگ در اثر زلزله یا سقوط هواپیما کمتر نیست.</a:t>
            </a:r>
          </a:p>
          <a:p>
            <a:pPr algn="justLow" rtl="1"/>
            <a:r>
              <a:rPr lang="fa-IR" b="1" dirty="0">
                <a:solidFill>
                  <a:srgbClr val="000000"/>
                </a:solidFill>
                <a:latin typeface="IRANSans"/>
                <a:cs typeface="B Nazanin" panose="00000400000000000000" pitchFamily="2" charset="-78"/>
              </a:rPr>
              <a:t>علت این نوع ارزیابی، اطلاعاتی است که در دسترس مغز است.</a:t>
            </a:r>
          </a:p>
          <a:p>
            <a:pPr algn="justLow" rtl="1"/>
            <a:r>
              <a:rPr lang="fa-IR" dirty="0">
                <a:solidFill>
                  <a:srgbClr val="000000"/>
                </a:solidFill>
                <a:latin typeface="IRANSans"/>
                <a:cs typeface="B Nazanin" panose="00000400000000000000" pitchFamily="2" charset="-78"/>
              </a:rPr>
              <a:t>مغز در اثر گوش دادن به خبرها و خواندن روزنامه‌ها، حجم زیادی از اخبار مربوط به سقوط و زلزله را در دسترس دارد. به همین علت بر اساس اینکه چه چیزهایی بهتر به خاطر می‌آیند، در زمینه احتمال وقوع آنها قضاوت می‌کند</a:t>
            </a:r>
            <a:r>
              <a:rPr lang="fa-IR" dirty="0" smtClean="0">
                <a:solidFill>
                  <a:srgbClr val="000000"/>
                </a:solidFill>
                <a:latin typeface="IRANSans"/>
                <a:cs typeface="B Nazanin" panose="00000400000000000000" pitchFamily="2" charset="-78"/>
              </a:rPr>
              <a:t>.</a:t>
            </a:r>
          </a:p>
          <a:p>
            <a:pPr algn="justLow" rtl="1"/>
            <a:r>
              <a:rPr lang="fa-IR" b="1" dirty="0">
                <a:solidFill>
                  <a:srgbClr val="C00000"/>
                </a:solidFill>
                <a:latin typeface="IRANSans"/>
                <a:cs typeface="B Nazanin" panose="00000400000000000000" pitchFamily="2" charset="-78"/>
              </a:rPr>
              <a:t>به عبارتی، اطلاعاتی که سریع‌تر بازیابی می‌شوند، محتمل‌تر فرض می‌شوند</a:t>
            </a:r>
            <a:r>
              <a:rPr lang="fa-IR" b="1" dirty="0" smtClean="0">
                <a:solidFill>
                  <a:srgbClr val="C00000"/>
                </a:solidFill>
                <a:latin typeface="IRANSans"/>
                <a:cs typeface="B Nazanin" panose="00000400000000000000" pitchFamily="2" charset="-78"/>
              </a:rPr>
              <a:t>.</a:t>
            </a:r>
            <a:endParaRPr lang="fa-IR" b="1" dirty="0">
              <a:solidFill>
                <a:srgbClr val="C00000"/>
              </a:solidFill>
              <a:latin typeface="IRANSans"/>
              <a:cs typeface="B Nazanin" panose="00000400000000000000" pitchFamily="2" charset="-78"/>
            </a:endParaRPr>
          </a:p>
        </p:txBody>
      </p:sp>
      <p:sp>
        <p:nvSpPr>
          <p:cNvPr id="4" name="Rectangle 3"/>
          <p:cNvSpPr/>
          <p:nvPr/>
        </p:nvSpPr>
        <p:spPr>
          <a:xfrm>
            <a:off x="8543109" y="1359961"/>
            <a:ext cx="3063238" cy="400110"/>
          </a:xfrm>
          <a:prstGeom prst="rect">
            <a:avLst/>
          </a:prstGeom>
          <a:solidFill>
            <a:srgbClr val="AFA9FB"/>
          </a:solidFill>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fa-IR" sz="2000" b="1" dirty="0">
                <a:solidFill>
                  <a:srgbClr val="000000"/>
                </a:solidFill>
                <a:latin typeface="IRANSans"/>
                <a:cs typeface="B Nazanin" panose="00000400000000000000" pitchFamily="2" charset="-78"/>
              </a:rPr>
              <a:t>خطای در محاسبه‌ی احتمالات</a:t>
            </a:r>
            <a:endParaRPr lang="en-US" sz="2000" dirty="0">
              <a:cs typeface="B Nazanin" panose="00000400000000000000" pitchFamily="2" charset="-78"/>
            </a:endParaRPr>
          </a:p>
        </p:txBody>
      </p:sp>
      <p:sp>
        <p:nvSpPr>
          <p:cNvPr id="5" name="Rectangle 4"/>
          <p:cNvSpPr/>
          <p:nvPr/>
        </p:nvSpPr>
        <p:spPr>
          <a:xfrm>
            <a:off x="6074229" y="1757349"/>
            <a:ext cx="2377440" cy="4801314"/>
          </a:xfrm>
          <a:prstGeom prst="rect">
            <a:avLst/>
          </a:prstGeom>
          <a:solidFill>
            <a:schemeClr val="accent5">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فرض کنید برای خرید یک خودرو، هفته‌ها وقت صرف کرده و با ده‌ها نفر صحبت </a:t>
            </a:r>
            <a:r>
              <a:rPr lang="fa-IR" dirty="0" smtClean="0">
                <a:solidFill>
                  <a:srgbClr val="000000"/>
                </a:solidFill>
                <a:latin typeface="IRANSans"/>
                <a:cs typeface="B Nazanin" panose="00000400000000000000" pitchFamily="2" charset="-78"/>
              </a:rPr>
              <a:t>کرده‌اید.</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در </a:t>
            </a:r>
            <a:r>
              <a:rPr lang="fa-IR" dirty="0">
                <a:solidFill>
                  <a:srgbClr val="000000"/>
                </a:solidFill>
                <a:latin typeface="IRANSans"/>
                <a:cs typeface="B Nazanin" panose="00000400000000000000" pitchFamily="2" charset="-78"/>
              </a:rPr>
              <a:t>اثر این </a:t>
            </a:r>
            <a:r>
              <a:rPr lang="fa-IR" dirty="0" smtClean="0">
                <a:solidFill>
                  <a:srgbClr val="000000"/>
                </a:solidFill>
                <a:latin typeface="IRANSans"/>
                <a:cs typeface="B Nazanin" panose="00000400000000000000" pitchFamily="2" charset="-78"/>
              </a:rPr>
              <a:t>تحقیق‌ها</a:t>
            </a:r>
            <a:r>
              <a:rPr lang="fa-IR" dirty="0">
                <a:solidFill>
                  <a:srgbClr val="000000"/>
                </a:solidFill>
                <a:latin typeface="IRANSans"/>
                <a:cs typeface="B Nazanin" panose="00000400000000000000" pitchFamily="2" charset="-78"/>
              </a:rPr>
              <a:t>، با قطعیت به یک نتیجه‌ی مشخص رسیده‌اید.</a:t>
            </a:r>
          </a:p>
          <a:p>
            <a:pPr algn="justLow" rtl="1"/>
            <a:r>
              <a:rPr lang="fa-IR" dirty="0">
                <a:solidFill>
                  <a:srgbClr val="000000"/>
                </a:solidFill>
                <a:latin typeface="IRANSans"/>
                <a:cs typeface="B Nazanin" panose="00000400000000000000" pitchFamily="2" charset="-78"/>
              </a:rPr>
              <a:t>هنگام خرید خودرو </a:t>
            </a:r>
            <a:r>
              <a:rPr lang="fa-IR" dirty="0" smtClean="0">
                <a:solidFill>
                  <a:srgbClr val="000000"/>
                </a:solidFill>
                <a:latin typeface="IRANSans"/>
                <a:cs typeface="B Nazanin" panose="00000400000000000000" pitchFamily="2" charset="-78"/>
              </a:rPr>
              <a:t>، یک </a:t>
            </a:r>
            <a:r>
              <a:rPr lang="fa-IR" dirty="0">
                <a:solidFill>
                  <a:srgbClr val="000000"/>
                </a:solidFill>
                <a:latin typeface="IRANSans"/>
                <a:cs typeface="B Nazanin" panose="00000400000000000000" pitchFamily="2" charset="-78"/>
              </a:rPr>
              <a:t>مشتری را می‌بینید که می‌گوید: «من همین ماشین را داشتم. روز سوم خاموش شد و </a:t>
            </a:r>
            <a:r>
              <a:rPr lang="fa-IR" dirty="0" smtClean="0">
                <a:solidFill>
                  <a:srgbClr val="000000"/>
                </a:solidFill>
                <a:latin typeface="IRANSans"/>
                <a:cs typeface="B Nazanin" panose="00000400000000000000" pitchFamily="2" charset="-78"/>
              </a:rPr>
              <a:t>.... ».</a:t>
            </a:r>
            <a:endParaRPr lang="fa-IR" dirty="0">
              <a:solidFill>
                <a:srgbClr val="000000"/>
              </a:solidFill>
              <a:latin typeface="IRANSans"/>
              <a:cs typeface="B Nazanin" panose="00000400000000000000" pitchFamily="2" charset="-78"/>
            </a:endParaRPr>
          </a:p>
          <a:p>
            <a:pPr algn="justLow" rtl="1"/>
            <a:r>
              <a:rPr lang="fa-IR" dirty="0">
                <a:solidFill>
                  <a:srgbClr val="000000"/>
                </a:solidFill>
                <a:latin typeface="IRANSans"/>
                <a:cs typeface="B Nazanin" panose="00000400000000000000" pitchFamily="2" charset="-78"/>
              </a:rPr>
              <a:t>آیا هنوز بر تصمیم قبلی خود باقی می‌مانید</a:t>
            </a:r>
            <a:r>
              <a:rPr lang="fa-IR" dirty="0" smtClean="0">
                <a:solidFill>
                  <a:srgbClr val="000000"/>
                </a:solidFill>
                <a:latin typeface="IRANSans"/>
                <a:cs typeface="B Nazanin" panose="00000400000000000000" pitchFamily="2" charset="-78"/>
              </a:rPr>
              <a:t>؟</a:t>
            </a:r>
          </a:p>
          <a:p>
            <a:pPr algn="justLow" rtl="1"/>
            <a:r>
              <a:rPr lang="fa-IR" b="1" dirty="0" smtClean="0">
                <a:solidFill>
                  <a:srgbClr val="C00000"/>
                </a:solidFill>
                <a:latin typeface="IRANSans"/>
                <a:cs typeface="B Nazanin" panose="00000400000000000000" pitchFamily="2" charset="-78"/>
              </a:rPr>
              <a:t>واقعیت آن است که ذهن ما برای آخرین اطلاعات بدست آمده ارزش بیشتری قایل است که این مورد میتواند نتیجه درستی نداشته باشد</a:t>
            </a:r>
            <a:r>
              <a:rPr lang="fa-IR" dirty="0" smtClean="0">
                <a:solidFill>
                  <a:srgbClr val="000000"/>
                </a:solidFill>
                <a:latin typeface="IRANSans"/>
                <a:cs typeface="B Nazanin" panose="00000400000000000000" pitchFamily="2" charset="-78"/>
              </a:rPr>
              <a:t> . </a:t>
            </a:r>
            <a:endParaRPr lang="fa-IR" dirty="0">
              <a:solidFill>
                <a:srgbClr val="000000"/>
              </a:solidFill>
              <a:latin typeface="IRANSans"/>
              <a:cs typeface="B Nazanin" panose="00000400000000000000" pitchFamily="2" charset="-78"/>
            </a:endParaRPr>
          </a:p>
        </p:txBody>
      </p:sp>
      <p:sp>
        <p:nvSpPr>
          <p:cNvPr id="7" name="Rectangle 6"/>
          <p:cNvSpPr/>
          <p:nvPr/>
        </p:nvSpPr>
        <p:spPr>
          <a:xfrm>
            <a:off x="6074229" y="1359961"/>
            <a:ext cx="2377440" cy="461665"/>
          </a:xfrm>
          <a:prstGeom prst="rect">
            <a:avLst/>
          </a:prstGeom>
          <a:solidFill>
            <a:srgbClr val="AFA9FB"/>
          </a:solidFill>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fa-IR" sz="1200" b="1" dirty="0">
                <a:cs typeface="B Nazanin" panose="00000400000000000000" pitchFamily="2" charset="-78"/>
              </a:rPr>
              <a:t>خطای ناشی از مهم‌تر فرض کردن آخرین اخبار</a:t>
            </a:r>
            <a:endParaRPr lang="en-US" sz="1400" b="1" dirty="0">
              <a:cs typeface="B Nazanin" panose="00000400000000000000" pitchFamily="2" charset="-78"/>
            </a:endParaRPr>
          </a:p>
        </p:txBody>
      </p:sp>
      <p:sp>
        <p:nvSpPr>
          <p:cNvPr id="6" name="Rectangle 5"/>
          <p:cNvSpPr/>
          <p:nvPr/>
        </p:nvSpPr>
        <p:spPr>
          <a:xfrm>
            <a:off x="3278777" y="1834689"/>
            <a:ext cx="2704011" cy="4708981"/>
          </a:xfrm>
          <a:prstGeom prst="rect">
            <a:avLst/>
          </a:prstGeom>
          <a:solidFill>
            <a:schemeClr val="accent3">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فرض کنید که ماشین مورد علاقه‌ی خود را انتخاب کرده‌اید</a:t>
            </a:r>
            <a:r>
              <a:rPr lang="fa-IR" dirty="0" smtClean="0">
                <a:solidFill>
                  <a:srgbClr val="000000"/>
                </a:solidFill>
                <a:latin typeface="IRANSans"/>
                <a:cs typeface="B Nazanin" panose="00000400000000000000" pitchFamily="2" charset="-78"/>
              </a:rPr>
              <a:t>.</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در </a:t>
            </a:r>
            <a:r>
              <a:rPr lang="fa-IR" dirty="0">
                <a:solidFill>
                  <a:srgbClr val="000000"/>
                </a:solidFill>
                <a:latin typeface="IRANSans"/>
                <a:cs typeface="B Nazanin" panose="00000400000000000000" pitchFamily="2" charset="-78"/>
              </a:rPr>
              <a:t>مسیر مراجعه برای خرید ماشین،‌ </a:t>
            </a:r>
            <a:r>
              <a:rPr lang="fa-IR" dirty="0" smtClean="0">
                <a:solidFill>
                  <a:srgbClr val="000000"/>
                </a:solidFill>
                <a:latin typeface="IRANSans"/>
                <a:cs typeface="B Nazanin" panose="00000400000000000000" pitchFamily="2" charset="-78"/>
              </a:rPr>
              <a:t>یکنفر </a:t>
            </a:r>
            <a:r>
              <a:rPr lang="fa-IR" dirty="0">
                <a:solidFill>
                  <a:srgbClr val="000000"/>
                </a:solidFill>
                <a:latin typeface="IRANSans"/>
                <a:cs typeface="B Nazanin" panose="00000400000000000000" pitchFamily="2" charset="-78"/>
              </a:rPr>
              <a:t>را می‌بینید. سال‌هاست از او نفرت دارید </a:t>
            </a:r>
            <a:r>
              <a:rPr lang="fa-IR" dirty="0" smtClean="0">
                <a:solidFill>
                  <a:srgbClr val="000000"/>
                </a:solidFill>
                <a:latin typeface="IRANSans"/>
                <a:cs typeface="B Nazanin" panose="00000400000000000000" pitchFamily="2" charset="-78"/>
              </a:rPr>
              <a:t> . متوجه </a:t>
            </a:r>
            <a:r>
              <a:rPr lang="fa-IR" dirty="0">
                <a:solidFill>
                  <a:srgbClr val="000000"/>
                </a:solidFill>
                <a:latin typeface="IRANSans"/>
                <a:cs typeface="B Nazanin" panose="00000400000000000000" pitchFamily="2" charset="-78"/>
              </a:rPr>
              <a:t>می‌شوید که او هم از همین ماشین خریده است.</a:t>
            </a:r>
          </a:p>
          <a:p>
            <a:pPr algn="justLow" rtl="1"/>
            <a:r>
              <a:rPr lang="fa-IR" sz="2000" dirty="0">
                <a:solidFill>
                  <a:srgbClr val="000000"/>
                </a:solidFill>
                <a:latin typeface="IRANSans"/>
                <a:cs typeface="B Nazanin" panose="00000400000000000000" pitchFamily="2" charset="-78"/>
              </a:rPr>
              <a:t>آیا هنوز هم، علاقه‌ی شما به آن ماشین به اندازه‌ی قبل است؟</a:t>
            </a:r>
          </a:p>
          <a:p>
            <a:pPr algn="justLow" rtl="1"/>
            <a:r>
              <a:rPr lang="fa-IR" b="1" dirty="0">
                <a:solidFill>
                  <a:srgbClr val="C00000"/>
                </a:solidFill>
                <a:latin typeface="IRANSans"/>
                <a:cs typeface="B Nazanin" panose="00000400000000000000" pitchFamily="2" charset="-78"/>
              </a:rPr>
              <a:t>یکی از میان‌بُرهای ذهن ما این است که صفات را از انسان به کالا و از کالا به انسان و نیز از محیط به یک جسم سرایت می‌دهد.</a:t>
            </a:r>
          </a:p>
          <a:p>
            <a:pPr algn="justLow" rtl="1"/>
            <a:r>
              <a:rPr lang="fa-IR" sz="1600" b="1" dirty="0" smtClean="0">
                <a:solidFill>
                  <a:srgbClr val="000000"/>
                </a:solidFill>
                <a:latin typeface="IRANSans"/>
                <a:cs typeface="B Nazanin" panose="00000400000000000000" pitchFamily="2" charset="-78"/>
              </a:rPr>
              <a:t>در واقع اینکه بعضا با تجربه همکاری بد با یک نفر از یک شهر یا قومیت خاص ، همه افراد از آن شهر یا قومیت خاص را نا مناسب می دانیم ناشی از چنین خطای ذهنی می باشد. </a:t>
            </a:r>
            <a:endParaRPr lang="fa-IR" sz="1600" b="1" dirty="0">
              <a:solidFill>
                <a:srgbClr val="000000"/>
              </a:solidFill>
              <a:latin typeface="IRANSans"/>
              <a:cs typeface="B Nazanin" panose="00000400000000000000" pitchFamily="2" charset="-78"/>
            </a:endParaRPr>
          </a:p>
        </p:txBody>
      </p:sp>
      <p:sp>
        <p:nvSpPr>
          <p:cNvPr id="9" name="Rectangle 8"/>
          <p:cNvSpPr/>
          <p:nvPr/>
        </p:nvSpPr>
        <p:spPr>
          <a:xfrm>
            <a:off x="3278777" y="1373024"/>
            <a:ext cx="2704011" cy="461665"/>
          </a:xfrm>
          <a:prstGeom prst="rect">
            <a:avLst/>
          </a:prstGeom>
          <a:solidFill>
            <a:srgbClr val="AFA9FB"/>
          </a:solidFill>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fa-IR" sz="2000" b="1" dirty="0" smtClean="0">
                <a:cs typeface="B Nazanin" panose="00000400000000000000" pitchFamily="2" charset="-78"/>
              </a:rPr>
              <a:t>خطای ذهنی سرایت </a:t>
            </a:r>
            <a:r>
              <a:rPr lang="fa-IR" sz="2400" b="1" dirty="0" smtClean="0">
                <a:cs typeface="B Nazanin" panose="00000400000000000000" pitchFamily="2" charset="-78"/>
              </a:rPr>
              <a:t> </a:t>
            </a:r>
            <a:endParaRPr lang="en-US" sz="2400" b="1" dirty="0">
              <a:cs typeface="B Nazanin" panose="00000400000000000000" pitchFamily="2" charset="-78"/>
            </a:endParaRPr>
          </a:p>
        </p:txBody>
      </p:sp>
      <p:sp>
        <p:nvSpPr>
          <p:cNvPr id="10" name="Rectangle 9"/>
          <p:cNvSpPr/>
          <p:nvPr/>
        </p:nvSpPr>
        <p:spPr>
          <a:xfrm>
            <a:off x="287383" y="1886941"/>
            <a:ext cx="2899953" cy="4247317"/>
          </a:xfrm>
          <a:prstGeom prst="rect">
            <a:avLst/>
          </a:prstGeom>
          <a:solidFill>
            <a:schemeClr val="accent2">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نویسنده‌ای در یک مصاحبه‌ی تلویزیونی می‌گوید که ۱۸ سال گذشته را صرف نگارش آخرین کتابش کرده است.</a:t>
            </a:r>
          </a:p>
          <a:p>
            <a:pPr algn="justLow" rtl="1"/>
            <a:r>
              <a:rPr lang="fa-IR" dirty="0">
                <a:solidFill>
                  <a:srgbClr val="000000"/>
                </a:solidFill>
                <a:latin typeface="IRANSans"/>
                <a:cs typeface="B Nazanin" panose="00000400000000000000" pitchFamily="2" charset="-78"/>
              </a:rPr>
              <a:t>بسیاری از ما با شنیدن این جمله، احساس می‌کنیم با یک کتاب وزین و ارزشمند طرف هستیم.</a:t>
            </a:r>
          </a:p>
          <a:p>
            <a:pPr algn="justLow" rtl="1"/>
            <a:r>
              <a:rPr lang="fa-IR" dirty="0">
                <a:solidFill>
                  <a:srgbClr val="000000"/>
                </a:solidFill>
                <a:latin typeface="IRANSans"/>
                <a:cs typeface="B Nazanin" panose="00000400000000000000" pitchFamily="2" charset="-78"/>
              </a:rPr>
              <a:t>البته ممکن است فرض ما نادرست هم </a:t>
            </a:r>
            <a:r>
              <a:rPr lang="fa-IR" dirty="0" smtClean="0">
                <a:solidFill>
                  <a:srgbClr val="000000"/>
                </a:solidFill>
                <a:latin typeface="IRANSans"/>
                <a:cs typeface="B Nazanin" panose="00000400000000000000" pitchFamily="2" charset="-78"/>
              </a:rPr>
              <a:t>نباشد. ممکن است نویسنده کند ذهن و تنبل بوده باشد . یا روش تحقیق مناسبلی نداشته و ... یکی </a:t>
            </a:r>
            <a:r>
              <a:rPr lang="fa-IR" dirty="0">
                <a:solidFill>
                  <a:srgbClr val="000000"/>
                </a:solidFill>
                <a:latin typeface="IRANSans"/>
                <a:cs typeface="B Nazanin" panose="00000400000000000000" pitchFamily="2" charset="-78"/>
              </a:rPr>
              <a:t>از قواعد سرانگشتی </a:t>
            </a:r>
            <a:r>
              <a:rPr lang="fa-IR" b="1" dirty="0">
                <a:solidFill>
                  <a:srgbClr val="C00000"/>
                </a:solidFill>
                <a:latin typeface="IRANSans"/>
                <a:cs typeface="B Nazanin" panose="00000400000000000000" pitchFamily="2" charset="-78"/>
              </a:rPr>
              <a:t>و میان‌بُرهای محاسباتی ذهن ما این است که تلاش و کوشش و زمانی را که صرف یک کار شده، با ارزش دستاورد آن کار هم‌ارز می‌گیرد</a:t>
            </a:r>
            <a:r>
              <a:rPr lang="fa-IR" dirty="0">
                <a:solidFill>
                  <a:srgbClr val="000000"/>
                </a:solidFill>
                <a:latin typeface="IRANSans"/>
                <a:cs typeface="B Nazanin" panose="00000400000000000000" pitchFamily="2" charset="-78"/>
              </a:rPr>
              <a:t>.</a:t>
            </a:r>
          </a:p>
        </p:txBody>
      </p:sp>
      <p:sp>
        <p:nvSpPr>
          <p:cNvPr id="11" name="Rectangle 10"/>
          <p:cNvSpPr/>
          <p:nvPr/>
        </p:nvSpPr>
        <p:spPr>
          <a:xfrm>
            <a:off x="287383" y="1373024"/>
            <a:ext cx="2899953" cy="523220"/>
          </a:xfrm>
          <a:prstGeom prst="rect">
            <a:avLst/>
          </a:prstGeom>
          <a:solidFill>
            <a:srgbClr val="AFA9FB"/>
          </a:solidFill>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fa-IR" sz="1400" b="1" dirty="0">
                <a:cs typeface="B Nazanin" panose="00000400000000000000" pitchFamily="2" charset="-78"/>
              </a:rPr>
              <a:t>خطای ذهنی در ایجاد رابطه میان تلاش و کیفیت</a:t>
            </a:r>
            <a:endParaRPr lang="en-US" b="1" dirty="0">
              <a:cs typeface="B Nazanin" panose="00000400000000000000" pitchFamily="2" charset="-78"/>
            </a:endParaRPr>
          </a:p>
        </p:txBody>
      </p:sp>
      <p:sp>
        <p:nvSpPr>
          <p:cNvPr id="12" name="Rectangle 11"/>
          <p:cNvSpPr/>
          <p:nvPr/>
        </p:nvSpPr>
        <p:spPr>
          <a:xfrm>
            <a:off x="287383" y="6076056"/>
            <a:ext cx="2899953" cy="461665"/>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fa-IR" sz="2400" b="1" dirty="0" smtClean="0">
                <a:cs typeface="B Nazanin" panose="00000400000000000000" pitchFamily="2" charset="-78"/>
              </a:rPr>
              <a:t>و ...</a:t>
            </a:r>
            <a:endParaRPr lang="en-US" sz="3200" b="1" dirty="0">
              <a:cs typeface="B Nazanin" panose="00000400000000000000" pitchFamily="2" charset="-78"/>
            </a:endParaRPr>
          </a:p>
        </p:txBody>
      </p:sp>
    </p:spTree>
    <p:extLst>
      <p:ext uri="{BB962C8B-B14F-4D97-AF65-F5344CB8AC3E}">
        <p14:creationId xmlns:p14="http://schemas.microsoft.com/office/powerpoint/2010/main" val="241395167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692331" y="448038"/>
            <a:ext cx="10745928" cy="709749"/>
          </a:xfrm>
        </p:spPr>
        <p:txBody>
          <a:bodyPr>
            <a:normAutofit/>
          </a:bodyPr>
          <a:lstStyle/>
          <a:p>
            <a:pPr algn="r"/>
            <a:r>
              <a:rPr lang="fa-IR" sz="3600" dirty="0" smtClean="0">
                <a:cs typeface="B Nazanin" panose="00000400000000000000" pitchFamily="2" charset="-78"/>
              </a:rPr>
              <a:t>دریافت گزینشی اطلاعات / خطای تایید خود </a:t>
            </a:r>
            <a:endParaRPr lang="en-US" sz="36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6413049" y="5342155"/>
            <a:ext cx="5134739" cy="646331"/>
          </a:xfrm>
          <a:prstGeom prst="rect">
            <a:avLst/>
          </a:prstGeom>
        </p:spPr>
        <p:txBody>
          <a:bodyPr wrap="none">
            <a:spAutoFit/>
          </a:bodyPr>
          <a:lstStyle/>
          <a:p>
            <a:r>
              <a:rPr lang="en-US" sz="3600" b="1" u="sng"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outerShdw blurRad="38100" dist="38100" dir="2700000" algn="tl">
                    <a:srgbClr val="000000">
                      <a:alpha val="43137"/>
                    </a:srgbClr>
                  </a:outerShdw>
                </a:effectLst>
                <a:latin typeface="IRANSans"/>
              </a:rPr>
              <a:t>Self Confirmation Bias</a:t>
            </a:r>
            <a:endParaRPr lang="en-US" sz="3600" b="1" u="sng"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outerShdw blurRad="38100" dist="38100" dir="2700000" algn="tl">
                  <a:srgbClr val="000000">
                    <a:alpha val="43137"/>
                  </a:srgbClr>
                </a:outerShdw>
              </a:effectLst>
            </a:endParaRPr>
          </a:p>
        </p:txBody>
      </p:sp>
      <p:sp>
        <p:nvSpPr>
          <p:cNvPr id="5" name="Rectangle 4"/>
          <p:cNvSpPr/>
          <p:nvPr/>
        </p:nvSpPr>
        <p:spPr>
          <a:xfrm>
            <a:off x="802404" y="2286899"/>
            <a:ext cx="10635855" cy="646331"/>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r" rtl="1"/>
            <a:r>
              <a:rPr lang="fa-IR" dirty="0" smtClean="0">
                <a:solidFill>
                  <a:srgbClr val="000000"/>
                </a:solidFill>
                <a:latin typeface="IRANSans"/>
                <a:cs typeface="B Nazanin" panose="00000400000000000000" pitchFamily="2" charset="-78"/>
              </a:rPr>
              <a:t>اینکه ما بعد از تهیه یک ماشین احساس میکنیم خیلی ها در خیابان نسبت به قبل این ماشین را تهیه کرده اند ناشی از </a:t>
            </a:r>
            <a:r>
              <a:rPr lang="fa-IR" b="1" dirty="0" smtClean="0">
                <a:solidFill>
                  <a:schemeClr val="tx1"/>
                </a:solidFill>
                <a:latin typeface="IRANSans"/>
                <a:cs typeface="B Nazanin" panose="00000400000000000000" pitchFamily="2" charset="-78"/>
              </a:rPr>
              <a:t>عدم</a:t>
            </a:r>
            <a:r>
              <a:rPr lang="fa-IR" b="1" dirty="0" smtClean="0">
                <a:solidFill>
                  <a:srgbClr val="FF0000"/>
                </a:solidFill>
                <a:latin typeface="IRANSans"/>
                <a:cs typeface="B Nazanin" panose="00000400000000000000" pitchFamily="2" charset="-78"/>
              </a:rPr>
              <a:t> فیلترینگ مغز </a:t>
            </a:r>
            <a:r>
              <a:rPr lang="fa-IR" dirty="0" smtClean="0">
                <a:solidFill>
                  <a:srgbClr val="000000"/>
                </a:solidFill>
                <a:latin typeface="IRANSans"/>
                <a:cs typeface="B Nazanin" panose="00000400000000000000" pitchFamily="2" charset="-78"/>
              </a:rPr>
              <a:t>در توجه و پردازش به این نوع ماشین می باشد . ما </a:t>
            </a:r>
            <a:r>
              <a:rPr lang="fa-IR" b="1" dirty="0" smtClean="0">
                <a:solidFill>
                  <a:srgbClr val="000000"/>
                </a:solidFill>
                <a:latin typeface="IRANSans"/>
                <a:cs typeface="B Nazanin" panose="00000400000000000000" pitchFamily="2" charset="-78"/>
              </a:rPr>
              <a:t>اطلاعاتی را که دوست داریم </a:t>
            </a:r>
            <a:r>
              <a:rPr lang="fa-IR" dirty="0" smtClean="0">
                <a:solidFill>
                  <a:srgbClr val="000000"/>
                </a:solidFill>
                <a:latin typeface="IRANSans"/>
                <a:cs typeface="B Nazanin" panose="00000400000000000000" pitchFamily="2" charset="-78"/>
              </a:rPr>
              <a:t>به آن توجه کنیم را حذف یا فیلتر نمی کنیم. </a:t>
            </a:r>
            <a:endParaRPr lang="en-US" dirty="0"/>
          </a:p>
        </p:txBody>
      </p:sp>
      <p:sp>
        <p:nvSpPr>
          <p:cNvPr id="6" name="Rectangle 5"/>
          <p:cNvSpPr/>
          <p:nvPr/>
        </p:nvSpPr>
        <p:spPr>
          <a:xfrm>
            <a:off x="2483736" y="1474196"/>
            <a:ext cx="8168513" cy="646331"/>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pPr algn="r" rtl="1"/>
            <a:r>
              <a:rPr lang="fa-IR" dirty="0" smtClean="0">
                <a:solidFill>
                  <a:srgbClr val="000000"/>
                </a:solidFill>
                <a:latin typeface="IRANSans"/>
                <a:cs typeface="B Nazanin" panose="00000400000000000000" pitchFamily="2" charset="-78"/>
              </a:rPr>
              <a:t>اینکه احتمالا ما نمیدانیم که خانه ما چند پله دارد ولی هرگز برای تشخیص اتمام پله ها اشتباه نمیکنیم مربوط به فیلترینگ مغز ما برای تعداد پله ها می باشد . زیرا مغز به روشی این کار را میکند که کمترین انرژی را از او بگیرد . </a:t>
            </a:r>
            <a:endParaRPr lang="en-US" dirty="0"/>
          </a:p>
        </p:txBody>
      </p:sp>
      <p:sp>
        <p:nvSpPr>
          <p:cNvPr id="4" name="Rectangle 3"/>
          <p:cNvSpPr/>
          <p:nvPr/>
        </p:nvSpPr>
        <p:spPr>
          <a:xfrm>
            <a:off x="547359" y="3007243"/>
            <a:ext cx="10998251" cy="1846659"/>
          </a:xfrm>
          <a:prstGeom prst="rect">
            <a:avLst/>
          </a:prstGeom>
        </p:spPr>
        <p:txBody>
          <a:bodyPr wrap="square">
            <a:spAutoFit/>
          </a:bodyPr>
          <a:lstStyle/>
          <a:p>
            <a:pPr algn="r" rtl="1">
              <a:lnSpc>
                <a:spcPct val="150000"/>
              </a:lnSpc>
            </a:pPr>
            <a:r>
              <a:rPr lang="fa-IR" sz="2000" b="1" dirty="0">
                <a:solidFill>
                  <a:srgbClr val="FF0000"/>
                </a:solidFill>
                <a:latin typeface="IRANSans"/>
                <a:cs typeface="B Nazanin" panose="00000400000000000000" pitchFamily="2" charset="-78"/>
              </a:rPr>
              <a:t>دریافت گزینشی اطلاعات </a:t>
            </a:r>
            <a:r>
              <a:rPr lang="fa-IR" dirty="0">
                <a:solidFill>
                  <a:srgbClr val="000000"/>
                </a:solidFill>
                <a:latin typeface="IRANSans"/>
                <a:cs typeface="B Nazanin" panose="00000400000000000000" pitchFamily="2" charset="-78"/>
              </a:rPr>
              <a:t>باعث می‌شود کسی که فکر کند مردم یک شهر خاص،‌ کم هوش هستند، هر روز نمونه‌های بیشتری در تایید حرف خود پیدا کند و فرد دیگری که فکر می‌کند مردم آن شهر خاص، تیزهوش هستند، هر روز نمونه‌های دیگری در تایید باورش پیدا کند</a:t>
            </a:r>
            <a:r>
              <a:rPr lang="fa-IR" dirty="0" smtClean="0">
                <a:solidFill>
                  <a:srgbClr val="000000"/>
                </a:solidFill>
                <a:latin typeface="IRANSans"/>
                <a:cs typeface="B Nazanin" panose="00000400000000000000" pitchFamily="2" charset="-78"/>
              </a:rPr>
              <a:t>.</a:t>
            </a:r>
            <a:endParaRPr lang="fa-IR" dirty="0">
              <a:solidFill>
                <a:srgbClr val="000000"/>
              </a:solidFill>
              <a:latin typeface="IRANSans"/>
              <a:cs typeface="B Nazanin" panose="00000400000000000000" pitchFamily="2" charset="-78"/>
            </a:endParaRPr>
          </a:p>
          <a:p>
            <a:pPr algn="r" rtl="1">
              <a:lnSpc>
                <a:spcPct val="150000"/>
              </a:lnSpc>
            </a:pPr>
            <a:r>
              <a:rPr lang="fa-IR" sz="2000" b="1" dirty="0">
                <a:solidFill>
                  <a:srgbClr val="4372C2"/>
                </a:solidFill>
                <a:latin typeface="IRANSans"/>
                <a:cs typeface="B Nazanin" panose="00000400000000000000" pitchFamily="2" charset="-78"/>
              </a:rPr>
              <a:t>تمایل به تایید خود </a:t>
            </a:r>
            <a:r>
              <a:rPr lang="fa-IR" dirty="0">
                <a:solidFill>
                  <a:srgbClr val="000000"/>
                </a:solidFill>
                <a:latin typeface="IRANSans"/>
                <a:cs typeface="B Nazanin" panose="00000400000000000000" pitchFamily="2" charset="-78"/>
              </a:rPr>
              <a:t>هم باعث می‌شود ما هرگز به صحت عملکرد سیستم ادراکی خود (که به دریافت گزینشی و فیلتر کردن احساسی اطلاعات مشغول است) شک </a:t>
            </a:r>
            <a:r>
              <a:rPr lang="fa-IR" dirty="0" smtClean="0">
                <a:solidFill>
                  <a:srgbClr val="000000"/>
                </a:solidFill>
                <a:latin typeface="IRANSans"/>
                <a:cs typeface="B Nazanin" panose="00000400000000000000" pitchFamily="2" charset="-78"/>
              </a:rPr>
              <a:t>نکنیم . این تایید امنیت ذهنی ما را حفظ می نماید . </a:t>
            </a:r>
            <a:endParaRPr lang="en-US" dirty="0">
              <a:solidFill>
                <a:srgbClr val="000000"/>
              </a:solidFill>
              <a:latin typeface="IRANSans"/>
              <a:cs typeface="B Nazanin" panose="00000400000000000000" pitchFamily="2" charset="-78"/>
            </a:endParaRPr>
          </a:p>
        </p:txBody>
      </p:sp>
      <p:pic>
        <p:nvPicPr>
          <p:cNvPr id="7" name="Picture 6"/>
          <p:cNvPicPr>
            <a:picLocks noChangeAspect="1"/>
          </p:cNvPicPr>
          <p:nvPr/>
        </p:nvPicPr>
        <p:blipFill rotWithShape="1">
          <a:blip r:embed="rId2"/>
          <a:srcRect t="24371"/>
          <a:stretch/>
        </p:blipFill>
        <p:spPr>
          <a:xfrm>
            <a:off x="788957" y="4556223"/>
            <a:ext cx="4781873" cy="1920516"/>
          </a:xfrm>
          <a:prstGeom prst="rect">
            <a:avLst/>
          </a:prstGeom>
        </p:spPr>
      </p:pic>
      <p:cxnSp>
        <p:nvCxnSpPr>
          <p:cNvPr id="10" name="Curved Connector 9"/>
          <p:cNvCxnSpPr>
            <a:endCxn id="6" idx="1"/>
          </p:cNvCxnSpPr>
          <p:nvPr/>
        </p:nvCxnSpPr>
        <p:spPr>
          <a:xfrm rot="5400000" flipH="1" flipV="1">
            <a:off x="1985460" y="1842412"/>
            <a:ext cx="543325" cy="453227"/>
          </a:xfrm>
          <a:prstGeom prst="curvedConnector2">
            <a:avLst/>
          </a:prstGeom>
          <a:ln w="28575">
            <a:solidFill>
              <a:srgbClr val="FF0000"/>
            </a:solidFill>
            <a:tailEnd type="triangle"/>
          </a:ln>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4208756180"/>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10156372" cy="709749"/>
          </a:xfrm>
        </p:spPr>
        <p:txBody>
          <a:bodyPr>
            <a:normAutofit/>
          </a:bodyPr>
          <a:lstStyle/>
          <a:p>
            <a:pPr algn="r"/>
            <a:r>
              <a:rPr lang="fa-IR" sz="3600" dirty="0" smtClean="0">
                <a:cs typeface="B Nazanin" panose="00000400000000000000" pitchFamily="2" charset="-78"/>
              </a:rPr>
              <a:t>ترس از دست دادن و دام حفظ وضعیت موجود</a:t>
            </a:r>
            <a:endParaRPr lang="en-US" sz="36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1058091" y="1404370"/>
            <a:ext cx="10006149" cy="646331"/>
          </a:xfrm>
          <a:prstGeom prst="rect">
            <a:avLst/>
          </a:prstGeom>
          <a:solidFill>
            <a:schemeClr val="accent5">
              <a:lumMod val="40000"/>
              <a:lumOff val="6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r" rtl="1"/>
            <a:r>
              <a:rPr lang="fa-IR" dirty="0">
                <a:solidFill>
                  <a:srgbClr val="000000"/>
                </a:solidFill>
                <a:latin typeface="IRANSans"/>
                <a:cs typeface="B Nazanin" panose="00000400000000000000" pitchFamily="2" charset="-78"/>
              </a:rPr>
              <a:t>بررسی‌ها نشان می‌دهد که کاهش حقوق، نارضایتی بیشتری ایجاد می‌کند. به عبارت دیگر، اگر شما با افزایش حقوق خود به یک میزان مشخص، ۵ واحد رضایت بیشتر را تجربه کنید، شاید با کاهش همان عدد از حقوق خود، ۱۰ واحد و حتی بیشتر احساس نارضایتی در شما ایجاد شود!</a:t>
            </a:r>
            <a:endParaRPr lang="en-US" dirty="0">
              <a:cs typeface="B Nazanin" panose="00000400000000000000" pitchFamily="2" charset="-78"/>
            </a:endParaRPr>
          </a:p>
        </p:txBody>
      </p:sp>
      <p:sp>
        <p:nvSpPr>
          <p:cNvPr id="4" name="Rectangle 3"/>
          <p:cNvSpPr/>
          <p:nvPr/>
        </p:nvSpPr>
        <p:spPr>
          <a:xfrm>
            <a:off x="1058091" y="2108121"/>
            <a:ext cx="10006149" cy="646331"/>
          </a:xfrm>
          <a:prstGeom prst="rect">
            <a:avLst/>
          </a:prstGeom>
          <a:solidFill>
            <a:schemeClr val="accent4">
              <a:lumMod val="20000"/>
              <a:lumOff val="80000"/>
            </a:schemeClr>
          </a:solidFill>
        </p:spPr>
        <p:style>
          <a:lnRef idx="2">
            <a:schemeClr val="dk1"/>
          </a:lnRef>
          <a:fillRef idx="1">
            <a:schemeClr val="lt1"/>
          </a:fillRef>
          <a:effectRef idx="0">
            <a:schemeClr val="dk1"/>
          </a:effectRef>
          <a:fontRef idx="minor">
            <a:schemeClr val="dk1"/>
          </a:fontRef>
        </p:style>
        <p:txBody>
          <a:bodyPr wrap="square">
            <a:spAutoFit/>
          </a:bodyPr>
          <a:lstStyle/>
          <a:p>
            <a:pPr algn="r" rtl="1"/>
            <a:r>
              <a:rPr lang="fa-IR" dirty="0" smtClean="0">
                <a:solidFill>
                  <a:srgbClr val="000000"/>
                </a:solidFill>
                <a:latin typeface="IRANSans"/>
                <a:cs typeface="B Nazanin" panose="00000400000000000000" pitchFamily="2" charset="-78"/>
              </a:rPr>
              <a:t>به دست آوردن، لذت بخش است. اما </a:t>
            </a:r>
            <a:r>
              <a:rPr lang="fa-IR" b="1" dirty="0" smtClean="0">
                <a:solidFill>
                  <a:srgbClr val="FF0000"/>
                </a:solidFill>
                <a:latin typeface="IRANSans"/>
                <a:cs typeface="B Nazanin" panose="00000400000000000000" pitchFamily="2" charset="-78"/>
              </a:rPr>
              <a:t>رنج از دست دادن </a:t>
            </a:r>
            <a:r>
              <a:rPr lang="fa-IR" dirty="0" smtClean="0">
                <a:solidFill>
                  <a:srgbClr val="000000"/>
                </a:solidFill>
                <a:latin typeface="IRANSans"/>
                <a:cs typeface="B Nazanin" panose="00000400000000000000" pitchFamily="2" charset="-78"/>
              </a:rPr>
              <a:t>بیشتر از آن است. به همین دلیل انسانها همیشه نگران از دست دادن هستند.</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 ترس از دست دادن به شکل دیگری هم خودش را نشان میدهد و نامگذاری دیگری هم برای آن وجود دارد و آن </a:t>
            </a:r>
            <a:r>
              <a:rPr lang="fa-IR" b="1" dirty="0" smtClean="0">
                <a:solidFill>
                  <a:srgbClr val="FF0000"/>
                </a:solidFill>
                <a:latin typeface="IRANSans"/>
                <a:cs typeface="B Nazanin" panose="00000400000000000000" pitchFamily="2" charset="-78"/>
              </a:rPr>
              <a:t>اثر مالکیت </a:t>
            </a:r>
            <a:r>
              <a:rPr lang="fa-IR" dirty="0" smtClean="0">
                <a:solidFill>
                  <a:srgbClr val="000000"/>
                </a:solidFill>
                <a:latin typeface="IRANSans"/>
                <a:cs typeface="B Nazanin" panose="00000400000000000000" pitchFamily="2" charset="-78"/>
              </a:rPr>
              <a:t>است.</a:t>
            </a:r>
            <a:endParaRPr lang="en-US" dirty="0">
              <a:solidFill>
                <a:srgbClr val="000000"/>
              </a:solidFill>
              <a:latin typeface="IRANSans"/>
              <a:cs typeface="B Nazanin" panose="00000400000000000000" pitchFamily="2" charset="-78"/>
            </a:endParaRPr>
          </a:p>
        </p:txBody>
      </p:sp>
      <p:sp>
        <p:nvSpPr>
          <p:cNvPr id="5" name="Rectangle 4"/>
          <p:cNvSpPr/>
          <p:nvPr/>
        </p:nvSpPr>
        <p:spPr>
          <a:xfrm>
            <a:off x="1058091" y="2820190"/>
            <a:ext cx="10006148" cy="923330"/>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a:spAutoFit/>
          </a:bodyPr>
          <a:lstStyle/>
          <a:p>
            <a:pPr marL="285750" indent="-285750" algn="justLow" rtl="1">
              <a:buFont typeface="Wingdings" panose="05000000000000000000" pitchFamily="2" charset="2"/>
              <a:buChar char="ü"/>
            </a:pPr>
            <a:r>
              <a:rPr lang="en-US" dirty="0" err="1">
                <a:solidFill>
                  <a:srgbClr val="000000"/>
                </a:solidFill>
                <a:latin typeface="IRANSans"/>
                <a:cs typeface="B Nazanin" panose="00000400000000000000" pitchFamily="2" charset="-78"/>
              </a:rPr>
              <a:t>اینکه</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در</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مترو</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پسرک</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فال</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فروش</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فایل</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ها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روی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پای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مشتریان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میگذارد</a:t>
            </a:r>
            <a:r>
              <a:rPr lang="en-US" dirty="0">
                <a:solidFill>
                  <a:srgbClr val="000000"/>
                </a:solidFill>
                <a:latin typeface="IRANSans"/>
                <a:cs typeface="B Nazanin" panose="00000400000000000000" pitchFamily="2" charset="-78"/>
              </a:rPr>
              <a:t> و </a:t>
            </a:r>
            <a:r>
              <a:rPr lang="en-US" dirty="0" err="1">
                <a:solidFill>
                  <a:srgbClr val="000000"/>
                </a:solidFill>
                <a:latin typeface="IRANSans"/>
                <a:cs typeface="B Nazanin" panose="00000400000000000000" pitchFamily="2" charset="-78"/>
              </a:rPr>
              <a:t>تا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آخر</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واگن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رود</a:t>
            </a:r>
            <a:r>
              <a:rPr lang="en-US" dirty="0">
                <a:solidFill>
                  <a:srgbClr val="000000"/>
                </a:solidFill>
                <a:latin typeface="IRANSans"/>
                <a:cs typeface="B Nazanin" panose="00000400000000000000" pitchFamily="2" charset="-78"/>
              </a:rPr>
              <a:t> و </a:t>
            </a:r>
            <a:r>
              <a:rPr lang="en-US" dirty="0" err="1">
                <a:solidFill>
                  <a:srgbClr val="000000"/>
                </a:solidFill>
                <a:latin typeface="IRANSans"/>
                <a:cs typeface="B Nazanin" panose="00000400000000000000" pitchFamily="2" charset="-78"/>
              </a:rPr>
              <a:t>سپس</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بر</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میگردد</a:t>
            </a:r>
            <a:r>
              <a:rPr lang="en-US" dirty="0">
                <a:solidFill>
                  <a:srgbClr val="000000"/>
                </a:solidFill>
                <a:latin typeface="IRANSans"/>
                <a:cs typeface="B Nazanin" panose="00000400000000000000" pitchFamily="2" charset="-78"/>
              </a:rPr>
              <a:t> و </a:t>
            </a:r>
            <a:r>
              <a:rPr lang="en-US" dirty="0" err="1">
                <a:solidFill>
                  <a:srgbClr val="000000"/>
                </a:solidFill>
                <a:latin typeface="IRANSans"/>
                <a:cs typeface="B Nazanin" panose="00000400000000000000" pitchFamily="2" charset="-78"/>
              </a:rPr>
              <a:t>می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پرسد</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که</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فالتان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میخواهید</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یا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آن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بردارم</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گاها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با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این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توجیه</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اثر</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روانی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است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که</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برای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مردم</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خریدن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فال</a:t>
            </a:r>
            <a:r>
              <a:rPr lang="en-US" dirty="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a:t>
            </a:r>
            <a:r>
              <a:rPr lang="en-US" dirty="0" err="1" smtClean="0">
                <a:solidFill>
                  <a:srgbClr val="000000"/>
                </a:solidFill>
                <a:latin typeface="IRANSans"/>
                <a:cs typeface="B Nazanin" panose="00000400000000000000" pitchFamily="2" charset="-78"/>
              </a:rPr>
              <a:t>از</a:t>
            </a:r>
            <a:r>
              <a:rPr lang="en-US" dirty="0" smtClean="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دست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دادن</a:t>
            </a:r>
            <a:r>
              <a:rPr lang="en-US" dirty="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پول</a:t>
            </a:r>
            <a:r>
              <a:rPr lang="fa-IR" dirty="0" smtClean="0">
                <a:solidFill>
                  <a:srgbClr val="000000"/>
                </a:solidFill>
                <a:latin typeface="IRANSans"/>
                <a:cs typeface="B Nazanin" panose="00000400000000000000" pitchFamily="2" charset="-78"/>
              </a:rPr>
              <a:t>)</a:t>
            </a:r>
            <a:r>
              <a:rPr lang="en-US" dirty="0" smtClean="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سخت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است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اما</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باز</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نکردن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فال</a:t>
            </a:r>
            <a:r>
              <a:rPr lang="en-US" dirty="0">
                <a:solidFill>
                  <a:srgbClr val="000000"/>
                </a:solidFill>
                <a:latin typeface="IRANSans"/>
                <a:cs typeface="B Nazanin" panose="00000400000000000000" pitchFamily="2" charset="-78"/>
              </a:rPr>
              <a:t> و </a:t>
            </a:r>
            <a:r>
              <a:rPr lang="en-US" dirty="0" err="1">
                <a:solidFill>
                  <a:srgbClr val="000000"/>
                </a:solidFill>
                <a:latin typeface="IRANSans"/>
                <a:cs typeface="B Nazanin" panose="00000400000000000000" pitchFamily="2" charset="-78"/>
              </a:rPr>
              <a:t>از</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دست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دادن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فالی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که</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همین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الان</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روی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پای</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اوست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سخت</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تر</a:t>
            </a:r>
            <a:r>
              <a:rPr lang="en-US" dirty="0">
                <a:solidFill>
                  <a:srgbClr val="000000"/>
                </a:solidFill>
                <a:latin typeface="IRANSans"/>
                <a:cs typeface="B Nazanin" panose="00000400000000000000" pitchFamily="2" charset="-78"/>
              </a:rPr>
              <a:t> </a:t>
            </a:r>
            <a:r>
              <a:rPr lang="en-US" dirty="0" err="1">
                <a:solidFill>
                  <a:srgbClr val="000000"/>
                </a:solidFill>
                <a:latin typeface="IRANSans"/>
                <a:cs typeface="B Nazanin" panose="00000400000000000000" pitchFamily="2" charset="-78"/>
              </a:rPr>
              <a:t>است</a:t>
            </a:r>
            <a:r>
              <a:rPr lang="en-US" dirty="0">
                <a:solidFill>
                  <a:srgbClr val="000000"/>
                </a:solidFill>
                <a:latin typeface="IRANSans"/>
                <a:cs typeface="B Nazanin" panose="00000400000000000000" pitchFamily="2" charset="-78"/>
              </a:rPr>
              <a:t> ! </a:t>
            </a:r>
          </a:p>
        </p:txBody>
      </p:sp>
      <p:sp>
        <p:nvSpPr>
          <p:cNvPr id="6" name="Rectangle 5"/>
          <p:cNvSpPr/>
          <p:nvPr/>
        </p:nvSpPr>
        <p:spPr>
          <a:xfrm>
            <a:off x="1058091" y="3822791"/>
            <a:ext cx="9144001" cy="646330"/>
          </a:xfrm>
          <a:prstGeom prst="rect">
            <a:avLst/>
          </a:prstGeom>
          <a:solidFill>
            <a:srgbClr val="E8BE9F"/>
          </a:solidFill>
        </p:spPr>
        <p:style>
          <a:lnRef idx="2">
            <a:schemeClr val="accent2"/>
          </a:lnRef>
          <a:fillRef idx="1">
            <a:schemeClr val="lt1"/>
          </a:fillRef>
          <a:effectRef idx="0">
            <a:schemeClr val="accent2"/>
          </a:effectRef>
          <a:fontRef idx="minor">
            <a:schemeClr val="dk1"/>
          </a:fontRef>
        </p:style>
        <p:txBody>
          <a:bodyPr wrap="square">
            <a:spAutoFit/>
          </a:bodyPr>
          <a:lstStyle/>
          <a:p>
            <a:pPr algn="r" rtl="1"/>
            <a:r>
              <a:rPr lang="fa-IR" b="1" dirty="0" smtClean="0">
                <a:solidFill>
                  <a:srgbClr val="C00000"/>
                </a:solidFill>
                <a:latin typeface="IRANSans"/>
                <a:cs typeface="B Nazanin" panose="00000400000000000000" pitchFamily="2" charset="-78"/>
              </a:rPr>
              <a:t>دنیل کانمن </a:t>
            </a:r>
            <a:r>
              <a:rPr lang="fa-IR" dirty="0" smtClean="0">
                <a:solidFill>
                  <a:srgbClr val="000000"/>
                </a:solidFill>
                <a:latin typeface="IRANSans"/>
                <a:cs typeface="B Nazanin" panose="00000400000000000000" pitchFamily="2" charset="-78"/>
              </a:rPr>
              <a:t>: انسانها </a:t>
            </a:r>
            <a:r>
              <a:rPr lang="fa-IR" dirty="0">
                <a:solidFill>
                  <a:srgbClr val="000000"/>
                </a:solidFill>
                <a:latin typeface="IRANSans"/>
                <a:cs typeface="B Nazanin" panose="00000400000000000000" pitchFamily="2" charset="-78"/>
              </a:rPr>
              <a:t>فقط وقتی حاضر هستند ریسک از دست دادن ۱۰٪ سرمایه خود را بپذیرند که امید کسب ۲۰٪ سود وجود داشته </a:t>
            </a:r>
            <a:r>
              <a:rPr lang="fa-IR" dirty="0" smtClean="0">
                <a:solidFill>
                  <a:srgbClr val="000000"/>
                </a:solidFill>
                <a:latin typeface="IRANSans"/>
                <a:cs typeface="B Nazanin" panose="00000400000000000000" pitchFamily="2" charset="-78"/>
              </a:rPr>
              <a:t>باشد . ( حداقل 20 درصد سود)</a:t>
            </a:r>
            <a:endParaRPr lang="en-US" dirty="0">
              <a:solidFill>
                <a:srgbClr val="000000"/>
              </a:solidFill>
              <a:latin typeface="IRANSans"/>
              <a:cs typeface="B Nazanin" panose="00000400000000000000" pitchFamily="2" charset="-78"/>
            </a:endParaRPr>
          </a:p>
        </p:txBody>
      </p:sp>
      <p:pic>
        <p:nvPicPr>
          <p:cNvPr id="7" name="Picture 6"/>
          <p:cNvPicPr>
            <a:picLocks noChangeAspect="1"/>
          </p:cNvPicPr>
          <p:nvPr/>
        </p:nvPicPr>
        <p:blipFill rotWithShape="1">
          <a:blip r:embed="rId2"/>
          <a:srcRect r="24133"/>
          <a:stretch/>
        </p:blipFill>
        <p:spPr>
          <a:xfrm>
            <a:off x="10315376" y="3822791"/>
            <a:ext cx="748863" cy="658055"/>
          </a:xfrm>
          <a:prstGeom prst="rect">
            <a:avLst/>
          </a:prstGeom>
          <a:ln w="6350">
            <a:solidFill>
              <a:srgbClr val="FF0000"/>
            </a:solidFill>
          </a:ln>
        </p:spPr>
      </p:pic>
      <p:sp>
        <p:nvSpPr>
          <p:cNvPr id="9" name="Rectangle 8"/>
          <p:cNvSpPr/>
          <p:nvPr/>
        </p:nvSpPr>
        <p:spPr>
          <a:xfrm>
            <a:off x="8477794" y="4603659"/>
            <a:ext cx="2586445"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r" rtl="1"/>
            <a:r>
              <a:rPr lang="fa-IR" dirty="0" smtClean="0">
                <a:solidFill>
                  <a:srgbClr val="000000"/>
                </a:solidFill>
                <a:latin typeface="IRANSans"/>
                <a:cs typeface="B Nazanin" panose="00000400000000000000" pitchFamily="2" charset="-78"/>
              </a:rPr>
              <a:t>به کودک میگوییم که اگر به اندازه یک روز با موبایل بازی نکند به او 10 هزار تومان جایزه میدهیم . </a:t>
            </a:r>
            <a:endParaRPr lang="en-US" dirty="0">
              <a:solidFill>
                <a:srgbClr val="000000"/>
              </a:solidFill>
              <a:latin typeface="IRANSans"/>
              <a:cs typeface="B Nazanin" panose="00000400000000000000" pitchFamily="2" charset="-78"/>
            </a:endParaRPr>
          </a:p>
        </p:txBody>
      </p:sp>
      <p:sp>
        <p:nvSpPr>
          <p:cNvPr id="10" name="Rectangle 9"/>
          <p:cNvSpPr/>
          <p:nvPr/>
        </p:nvSpPr>
        <p:spPr>
          <a:xfrm>
            <a:off x="1058091" y="4580266"/>
            <a:ext cx="3788228" cy="923330"/>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pPr algn="r" rtl="1"/>
            <a:r>
              <a:rPr lang="fa-IR" dirty="0" smtClean="0">
                <a:solidFill>
                  <a:srgbClr val="000000"/>
                </a:solidFill>
                <a:latin typeface="IRANSans"/>
                <a:cs typeface="B Nazanin" panose="00000400000000000000" pitchFamily="2" charset="-78"/>
              </a:rPr>
              <a:t>به کودک 10 هزار تومان میدهیم و میگوییم هر یک ساعت که با موبایل بازی کند هزار تومان باید پرداخت کند (یا از 10 هزار تومان او کم می شود )</a:t>
            </a:r>
            <a:endParaRPr lang="en-US" dirty="0">
              <a:solidFill>
                <a:srgbClr val="000000"/>
              </a:solidFill>
              <a:latin typeface="IRANSans"/>
              <a:cs typeface="B Nazanin" panose="00000400000000000000" pitchFamily="2" charset="-78"/>
            </a:endParaRPr>
          </a:p>
        </p:txBody>
      </p:sp>
      <p:cxnSp>
        <p:nvCxnSpPr>
          <p:cNvPr id="12" name="Straight Arrow Connector 11"/>
          <p:cNvCxnSpPr/>
          <p:nvPr/>
        </p:nvCxnSpPr>
        <p:spPr>
          <a:xfrm flipV="1">
            <a:off x="5185954" y="5065324"/>
            <a:ext cx="3017520" cy="1"/>
          </a:xfrm>
          <a:prstGeom prst="straightConnector1">
            <a:avLst/>
          </a:prstGeom>
          <a:ln w="7620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5423372" y="4603659"/>
            <a:ext cx="2542684" cy="369332"/>
          </a:xfrm>
          <a:prstGeom prst="rect">
            <a:avLst/>
          </a:prstGeom>
        </p:spPr>
        <p:txBody>
          <a:bodyPr wrap="none">
            <a:spAutoFit/>
          </a:bodyPr>
          <a:lstStyle/>
          <a:p>
            <a:r>
              <a:rPr lang="fa-IR" b="1" dirty="0" smtClean="0">
                <a:solidFill>
                  <a:srgbClr val="000000"/>
                </a:solidFill>
                <a:latin typeface="IRANSans"/>
                <a:cs typeface="B Nazanin" panose="00000400000000000000" pitchFamily="2" charset="-78"/>
              </a:rPr>
              <a:t>کدام روش اثر بخش تر است ؟ </a:t>
            </a:r>
            <a:endParaRPr lang="en-US" b="1" dirty="0"/>
          </a:p>
        </p:txBody>
      </p:sp>
      <p:sp>
        <p:nvSpPr>
          <p:cNvPr id="15" name="Rectangle 14"/>
          <p:cNvSpPr/>
          <p:nvPr/>
        </p:nvSpPr>
        <p:spPr>
          <a:xfrm>
            <a:off x="440618" y="5597067"/>
            <a:ext cx="7762856" cy="954107"/>
          </a:xfrm>
          <a:prstGeom prst="rect">
            <a:avLst/>
          </a:prstGeom>
        </p:spPr>
        <p:txBody>
          <a:bodyPr wrap="square">
            <a:spAutoFit/>
          </a:bodyPr>
          <a:lstStyle/>
          <a:p>
            <a:pPr marL="285750" indent="-285750" algn="r"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ما </a:t>
            </a:r>
            <a:r>
              <a:rPr lang="fa-IR" sz="1400" dirty="0">
                <a:solidFill>
                  <a:srgbClr val="000000"/>
                </a:solidFill>
                <a:latin typeface="IRANSans"/>
                <a:cs typeface="B Nazanin" panose="00000400000000000000" pitchFamily="2" charset="-78"/>
              </a:rPr>
              <a:t>بیشتر روی فقدان‌های </a:t>
            </a:r>
            <a:r>
              <a:rPr lang="fa-IR" sz="1400" dirty="0" smtClean="0">
                <a:solidFill>
                  <a:srgbClr val="000000"/>
                </a:solidFill>
                <a:latin typeface="IRANSans"/>
                <a:cs typeface="B Nazanin" panose="00000400000000000000" pitchFamily="2" charset="-78"/>
              </a:rPr>
              <a:t>تمرکز </a:t>
            </a:r>
            <a:r>
              <a:rPr lang="fa-IR" sz="1400" dirty="0">
                <a:solidFill>
                  <a:srgbClr val="000000"/>
                </a:solidFill>
                <a:latin typeface="IRANSans"/>
                <a:cs typeface="B Nazanin" panose="00000400000000000000" pitchFamily="2" charset="-78"/>
              </a:rPr>
              <a:t>می‌کنیم تا دستاردها و داشته‌های مثبت</a:t>
            </a:r>
            <a:r>
              <a:rPr lang="fa-IR" sz="1400" dirty="0" smtClean="0">
                <a:solidFill>
                  <a:srgbClr val="000000"/>
                </a:solidFill>
                <a:latin typeface="IRANSans"/>
                <a:cs typeface="B Nazanin" panose="00000400000000000000" pitchFamily="2" charset="-78"/>
              </a:rPr>
              <a:t>.</a:t>
            </a:r>
          </a:p>
          <a:p>
            <a:pPr marL="285750" indent="-285750" algn="r"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حسرت </a:t>
            </a:r>
            <a:r>
              <a:rPr lang="fa-IR" sz="1400" dirty="0">
                <a:solidFill>
                  <a:srgbClr val="000000"/>
                </a:solidFill>
                <a:latin typeface="IRANSans"/>
                <a:cs typeface="B Nazanin" panose="00000400000000000000" pitchFamily="2" charset="-78"/>
              </a:rPr>
              <a:t>گذشته را میخوریم و ارزش زمان حال رو دست کم می‌گیریم</a:t>
            </a:r>
            <a:r>
              <a:rPr lang="fa-IR" sz="1400" dirty="0" smtClean="0">
                <a:solidFill>
                  <a:srgbClr val="000000"/>
                </a:solidFill>
                <a:latin typeface="IRANSans"/>
                <a:cs typeface="B Nazanin" panose="00000400000000000000" pitchFamily="2" charset="-78"/>
              </a:rPr>
              <a:t>.</a:t>
            </a:r>
          </a:p>
          <a:p>
            <a:pPr marL="285750" indent="-285750" algn="r"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بیشتر </a:t>
            </a:r>
            <a:r>
              <a:rPr lang="fa-IR" sz="1400" dirty="0">
                <a:solidFill>
                  <a:srgbClr val="000000"/>
                </a:solidFill>
                <a:latin typeface="IRANSans"/>
                <a:cs typeface="B Nazanin" panose="00000400000000000000" pitchFamily="2" charset="-78"/>
              </a:rPr>
              <a:t>غر میزنیم و انتقاد می‌کنیم تا تمجید و تشکر</a:t>
            </a:r>
            <a:r>
              <a:rPr lang="fa-IR" sz="1400" dirty="0" smtClean="0">
                <a:solidFill>
                  <a:srgbClr val="000000"/>
                </a:solidFill>
                <a:latin typeface="IRANSans"/>
                <a:cs typeface="B Nazanin" panose="00000400000000000000" pitchFamily="2" charset="-78"/>
              </a:rPr>
              <a:t>.</a:t>
            </a:r>
            <a:endParaRPr lang="fa-IR" sz="1400" dirty="0" smtClean="0">
              <a:cs typeface="B Nazanin" panose="00000400000000000000" pitchFamily="2" charset="-78"/>
            </a:endParaRPr>
          </a:p>
          <a:p>
            <a:pPr marL="285750" indent="-285750" algn="r" rtl="1">
              <a:buFont typeface="Wingdings" panose="05000000000000000000" pitchFamily="2" charset="2"/>
              <a:buChar char="ü"/>
            </a:pPr>
            <a:r>
              <a:rPr lang="fa-IR" sz="1400" dirty="0" smtClean="0">
                <a:solidFill>
                  <a:srgbClr val="000000"/>
                </a:solidFill>
                <a:latin typeface="IRANSans"/>
                <a:cs typeface="B Nazanin" panose="00000400000000000000" pitchFamily="2" charset="-78"/>
              </a:rPr>
              <a:t>بیشتر </a:t>
            </a:r>
            <a:r>
              <a:rPr lang="fa-IR" sz="1400" dirty="0">
                <a:solidFill>
                  <a:srgbClr val="000000"/>
                </a:solidFill>
                <a:latin typeface="IRANSans"/>
                <a:cs typeface="B Nazanin" panose="00000400000000000000" pitchFamily="2" charset="-78"/>
              </a:rPr>
              <a:t>به نقاط ضعفمان فکر می‌کنیم تا </a:t>
            </a:r>
            <a:r>
              <a:rPr lang="fa-IR" sz="1400" dirty="0" smtClean="0">
                <a:solidFill>
                  <a:srgbClr val="000000"/>
                </a:solidFill>
                <a:latin typeface="IRANSans"/>
                <a:cs typeface="B Nazanin" panose="00000400000000000000" pitchFamily="2" charset="-78"/>
              </a:rPr>
              <a:t>نقاط قوت‌ . </a:t>
            </a:r>
            <a:endParaRPr lang="en-US" sz="1400" dirty="0">
              <a:cs typeface="B Nazanin" panose="00000400000000000000" pitchFamily="2" charset="-78"/>
            </a:endParaRPr>
          </a:p>
        </p:txBody>
      </p:sp>
      <p:sp>
        <p:nvSpPr>
          <p:cNvPr id="16" name="Rectangle 15"/>
          <p:cNvSpPr/>
          <p:nvPr/>
        </p:nvSpPr>
        <p:spPr>
          <a:xfrm>
            <a:off x="8481481" y="5806123"/>
            <a:ext cx="2582758" cy="523220"/>
          </a:xfrm>
          <a:prstGeom prst="rect">
            <a:avLst/>
          </a:prstGeom>
        </p:spPr>
        <p:txBody>
          <a:bodyPr wrap="none">
            <a:spAutoFit/>
          </a:bodyPr>
          <a:lstStyle/>
          <a:p>
            <a:r>
              <a:rPr lang="en-US" sz="2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outerShdw blurRad="38100" dist="38100" dir="2700000" algn="tl">
                    <a:srgbClr val="000000">
                      <a:alpha val="43137"/>
                    </a:srgbClr>
                  </a:outerShdw>
                </a:effectLst>
                <a:latin typeface="IRANSans"/>
              </a:rPr>
              <a:t>loss aversion </a:t>
            </a:r>
            <a:endParaRPr lang="fa-IR" sz="2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outerShdw blurRad="38100" dist="38100" dir="2700000" algn="tl">
                  <a:srgbClr val="000000">
                    <a:alpha val="43137"/>
                  </a:srgbClr>
                </a:outerShdw>
              </a:effectLst>
              <a:latin typeface="IRANSans"/>
            </a:endParaRPr>
          </a:p>
        </p:txBody>
      </p:sp>
    </p:spTree>
    <p:extLst>
      <p:ext uri="{BB962C8B-B14F-4D97-AF65-F5344CB8AC3E}">
        <p14:creationId xmlns:p14="http://schemas.microsoft.com/office/powerpoint/2010/main" val="146134097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Cloud Callout 27"/>
          <p:cNvSpPr/>
          <p:nvPr/>
        </p:nvSpPr>
        <p:spPr>
          <a:xfrm>
            <a:off x="1005840" y="1319350"/>
            <a:ext cx="1852415" cy="1272485"/>
          </a:xfrm>
          <a:prstGeom prst="cloudCallout">
            <a:avLst>
              <a:gd name="adj1" fmla="val -30000"/>
              <a:gd name="adj2" fmla="val 77898"/>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5618118" y="4357224"/>
            <a:ext cx="6215506" cy="954107"/>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Wingdings" panose="05000000000000000000" pitchFamily="2" charset="2"/>
              <a:buChar char="ü"/>
            </a:pPr>
            <a:r>
              <a:rPr lang="fa-IR" sz="1400" dirty="0">
                <a:solidFill>
                  <a:srgbClr val="111111"/>
                </a:solidFill>
                <a:latin typeface="IRANSans"/>
                <a:cs typeface="B Nazanin" panose="00000400000000000000" pitchFamily="2" charset="-78"/>
              </a:rPr>
              <a:t>دوست دارید در کشور بمانید، اما هم‌زمان در حال پیگیری برنامه‌ی مهاجرت خود هستید.</a:t>
            </a:r>
          </a:p>
          <a:p>
            <a:pPr marL="285750" indent="-285750" algn="justLow" rtl="1">
              <a:buFont typeface="Wingdings" panose="05000000000000000000" pitchFamily="2" charset="2"/>
              <a:buChar char="ü"/>
            </a:pPr>
            <a:r>
              <a:rPr lang="fa-IR" sz="1400" dirty="0">
                <a:solidFill>
                  <a:srgbClr val="111111"/>
                </a:solidFill>
                <a:latin typeface="IRANSans"/>
                <a:cs typeface="B Nazanin" panose="00000400000000000000" pitchFamily="2" charset="-78"/>
              </a:rPr>
              <a:t>از بی‌فایده بودن تحصیلات تکمیلی می‌گویید و در همان زمان، در جستجوی یک کلاس خوب و موثر هستید تا احتمال قبولی شما را در آزمون کارشناسی ارشد افزایش دهد.</a:t>
            </a:r>
          </a:p>
          <a:p>
            <a:pPr marL="285750" indent="-285750" algn="justLow" rtl="1">
              <a:buFont typeface="Wingdings" panose="05000000000000000000" pitchFamily="2" charset="2"/>
              <a:buChar char="ü"/>
            </a:pPr>
            <a:r>
              <a:rPr lang="fa-IR" sz="1400" dirty="0">
                <a:solidFill>
                  <a:srgbClr val="111111"/>
                </a:solidFill>
                <a:latin typeface="IRANSans"/>
                <a:cs typeface="B Nazanin" panose="00000400000000000000" pitchFamily="2" charset="-78"/>
              </a:rPr>
              <a:t>از فساد گله‌مندید؛ اما خود در حال اجرای یک تصمیم غیراخلاقی یا یک رفتار نادرست هستید.</a:t>
            </a:r>
            <a:endParaRPr lang="fa-IR" sz="1400" b="0" i="0" dirty="0">
              <a:solidFill>
                <a:srgbClr val="111111"/>
              </a:solidFill>
              <a:effectLst/>
              <a:latin typeface="IRANSans"/>
              <a:cs typeface="B Nazanin" panose="00000400000000000000" pitchFamily="2" charset="-78"/>
            </a:endParaRPr>
          </a:p>
        </p:txBody>
      </p:sp>
      <p:sp>
        <p:nvSpPr>
          <p:cNvPr id="4" name="Rectangle 3"/>
          <p:cNvSpPr/>
          <p:nvPr/>
        </p:nvSpPr>
        <p:spPr>
          <a:xfrm>
            <a:off x="10026042" y="1622750"/>
            <a:ext cx="1737976" cy="400110"/>
          </a:xfrm>
          <a:prstGeom prst="rect">
            <a:avLst/>
          </a:prstGeom>
        </p:spPr>
        <p:txBody>
          <a:bodyPr wrap="none">
            <a:spAutoFit/>
          </a:bodyPr>
          <a:lstStyle/>
          <a:p>
            <a:r>
              <a:rPr lang="fa-IR" sz="2000" b="1" dirty="0" smtClean="0">
                <a:solidFill>
                  <a:srgbClr val="111111"/>
                </a:solidFill>
                <a:latin typeface="IRANSans"/>
                <a:cs typeface="B Nazanin" panose="00000400000000000000" pitchFamily="2" charset="-78"/>
              </a:rPr>
              <a:t>شناخت چیست ؟ </a:t>
            </a:r>
            <a:endParaRPr lang="en-US" sz="2000" b="1" dirty="0"/>
          </a:p>
        </p:txBody>
      </p:sp>
      <p:sp>
        <p:nvSpPr>
          <p:cNvPr id="6" name="Rectangle 5"/>
          <p:cNvSpPr/>
          <p:nvPr/>
        </p:nvSpPr>
        <p:spPr>
          <a:xfrm>
            <a:off x="2884381" y="1634675"/>
            <a:ext cx="5080237" cy="369332"/>
          </a:xfrm>
          <a:prstGeom prst="rect">
            <a:avLst/>
          </a:prstGeom>
        </p:spPr>
        <p:txBody>
          <a:bodyPr wrap="none">
            <a:spAutoFit/>
          </a:bodyPr>
          <a:lstStyle/>
          <a:p>
            <a:r>
              <a:rPr lang="fa-IR" dirty="0" smtClean="0">
                <a:solidFill>
                  <a:srgbClr val="111111"/>
                </a:solidFill>
                <a:latin typeface="IRANSans"/>
                <a:cs typeface="B Nazanin" panose="00000400000000000000" pitchFamily="2" charset="-78"/>
              </a:rPr>
              <a:t>همه آن چیزی که در باره خودمان و دیگران در مغز انباشته کرده ایم ...</a:t>
            </a:r>
            <a:endParaRPr lang="en-US" dirty="0"/>
          </a:p>
        </p:txBody>
      </p:sp>
      <p:cxnSp>
        <p:nvCxnSpPr>
          <p:cNvPr id="7" name="Straight Arrow Connector 6"/>
          <p:cNvCxnSpPr>
            <a:stCxn id="6" idx="3"/>
            <a:endCxn id="4" idx="1"/>
          </p:cNvCxnSpPr>
          <p:nvPr/>
        </p:nvCxnSpPr>
        <p:spPr>
          <a:xfrm>
            <a:off x="7964618" y="1819341"/>
            <a:ext cx="2061424" cy="3464"/>
          </a:xfrm>
          <a:prstGeom prst="straightConnector1">
            <a:avLst/>
          </a:prstGeom>
          <a:ln w="381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grpSp>
        <p:nvGrpSpPr>
          <p:cNvPr id="23" name="Group 22"/>
          <p:cNvGrpSpPr/>
          <p:nvPr/>
        </p:nvGrpSpPr>
        <p:grpSpPr>
          <a:xfrm>
            <a:off x="1208314" y="1486491"/>
            <a:ext cx="1512024" cy="937436"/>
            <a:chOff x="349432" y="2184511"/>
            <a:chExt cx="1512024" cy="937436"/>
          </a:xfrm>
        </p:grpSpPr>
        <p:sp>
          <p:nvSpPr>
            <p:cNvPr id="10" name="Oval 9"/>
            <p:cNvSpPr/>
            <p:nvPr/>
          </p:nvSpPr>
          <p:spPr>
            <a:xfrm>
              <a:off x="1208313" y="2388036"/>
              <a:ext cx="248195" cy="169817"/>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1" name="Oval 10"/>
            <p:cNvSpPr/>
            <p:nvPr/>
          </p:nvSpPr>
          <p:spPr>
            <a:xfrm>
              <a:off x="764176" y="2690968"/>
              <a:ext cx="248195" cy="169817"/>
            </a:xfrm>
            <a:prstGeom prst="ellipse">
              <a:avLst/>
            </a:prstGeom>
            <a:solidFill>
              <a:srgbClr val="AFA9F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Isosceles Triangle 11"/>
            <p:cNvSpPr/>
            <p:nvPr/>
          </p:nvSpPr>
          <p:spPr>
            <a:xfrm>
              <a:off x="1456508" y="2690968"/>
              <a:ext cx="169817" cy="169817"/>
            </a:xfrm>
            <a:prstGeom prst="triangl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13" name="Isosceles Triangle 12"/>
            <p:cNvSpPr/>
            <p:nvPr/>
          </p:nvSpPr>
          <p:spPr>
            <a:xfrm>
              <a:off x="679269" y="2916939"/>
              <a:ext cx="169817" cy="169817"/>
            </a:xfrm>
            <a:prstGeom prst="triangle">
              <a:avLst/>
            </a:prstGeom>
            <a:solidFill>
              <a:schemeClr val="tx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Isosceles Triangle 13"/>
            <p:cNvSpPr/>
            <p:nvPr/>
          </p:nvSpPr>
          <p:spPr>
            <a:xfrm>
              <a:off x="679267" y="2259989"/>
              <a:ext cx="169817" cy="169817"/>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p:cNvSpPr/>
            <p:nvPr/>
          </p:nvSpPr>
          <p:spPr>
            <a:xfrm>
              <a:off x="973185" y="2184511"/>
              <a:ext cx="391884" cy="132536"/>
            </a:xfrm>
            <a:prstGeom prst="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p>
          </p:txBody>
        </p:sp>
        <p:sp>
          <p:nvSpPr>
            <p:cNvPr id="16" name="Rectangle 15"/>
            <p:cNvSpPr/>
            <p:nvPr/>
          </p:nvSpPr>
          <p:spPr>
            <a:xfrm>
              <a:off x="1064624" y="2619334"/>
              <a:ext cx="391884" cy="132536"/>
            </a:xfrm>
            <a:prstGeom prst="rect">
              <a:avLst/>
            </a:prstGeom>
            <a:solidFill>
              <a:srgbClr val="FFFF00"/>
            </a:solidFill>
          </p:spPr>
          <p:style>
            <a:lnRef idx="2">
              <a:schemeClr val="accent4"/>
            </a:lnRef>
            <a:fillRef idx="1">
              <a:schemeClr val="lt1"/>
            </a:fillRef>
            <a:effectRef idx="0">
              <a:schemeClr val="accent4"/>
            </a:effectRef>
            <a:fontRef idx="minor">
              <a:schemeClr val="dk1"/>
            </a:fontRef>
          </p:style>
          <p:txBody>
            <a:bodyPr rtlCol="0" anchor="ctr"/>
            <a:lstStyle/>
            <a:p>
              <a:pPr algn="ctr"/>
              <a:endParaRPr lang="en-US"/>
            </a:p>
          </p:txBody>
        </p:sp>
        <p:sp>
          <p:nvSpPr>
            <p:cNvPr id="17" name="Rectangle 16"/>
            <p:cNvSpPr/>
            <p:nvPr/>
          </p:nvSpPr>
          <p:spPr>
            <a:xfrm>
              <a:off x="587829" y="2499436"/>
              <a:ext cx="391884" cy="132536"/>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1012371" y="2890004"/>
              <a:ext cx="293914" cy="231943"/>
            </a:xfrm>
            <a:prstGeom prst="rect">
              <a:avLst/>
            </a:prstGeom>
            <a:solidFill>
              <a:srgbClr val="44B56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5-Point Star 18"/>
            <p:cNvSpPr/>
            <p:nvPr/>
          </p:nvSpPr>
          <p:spPr>
            <a:xfrm>
              <a:off x="1502228" y="2193654"/>
              <a:ext cx="248194" cy="246786"/>
            </a:xfrm>
            <a:prstGeom prst="star5">
              <a:avLst/>
            </a:prstGeom>
            <a:ln>
              <a:solidFill>
                <a:schemeClr val="tx1">
                  <a:lumMod val="95000"/>
                  <a:lumOff val="5000"/>
                </a:schemeClr>
              </a:solidFill>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a:p>
          </p:txBody>
        </p:sp>
        <p:sp>
          <p:nvSpPr>
            <p:cNvPr id="20" name="5-Point Star 19"/>
            <p:cNvSpPr/>
            <p:nvPr/>
          </p:nvSpPr>
          <p:spPr>
            <a:xfrm>
              <a:off x="349432" y="2266664"/>
              <a:ext cx="248194" cy="246786"/>
            </a:xfrm>
            <a:prstGeom prst="star5">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21" name="5-Point Star 20"/>
            <p:cNvSpPr/>
            <p:nvPr/>
          </p:nvSpPr>
          <p:spPr>
            <a:xfrm>
              <a:off x="421276" y="2692441"/>
              <a:ext cx="248194" cy="246786"/>
            </a:xfrm>
            <a:prstGeom prst="star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Hexagon 21"/>
            <p:cNvSpPr/>
            <p:nvPr/>
          </p:nvSpPr>
          <p:spPr>
            <a:xfrm>
              <a:off x="1639388" y="2571832"/>
              <a:ext cx="222068" cy="227540"/>
            </a:xfrm>
            <a:prstGeom prst="hexagon">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endParaRPr lang="en-US"/>
            </a:p>
          </p:txBody>
        </p:sp>
      </p:grpSp>
      <p:sp>
        <p:nvSpPr>
          <p:cNvPr id="26" name="Rectangle 25"/>
          <p:cNvSpPr/>
          <p:nvPr/>
        </p:nvSpPr>
        <p:spPr>
          <a:xfrm>
            <a:off x="2352401" y="2330575"/>
            <a:ext cx="9232014" cy="1200329"/>
          </a:xfrm>
          <a:prstGeom prst="rect">
            <a:avLst/>
          </a:prstGeom>
        </p:spPr>
        <p:txBody>
          <a:bodyPr wrap="none">
            <a:spAutoFit/>
          </a:bodyPr>
          <a:lstStyle/>
          <a:p>
            <a:pPr algn="r" rtl="1"/>
            <a:r>
              <a:rPr lang="fa-IR" dirty="0" smtClean="0">
                <a:solidFill>
                  <a:srgbClr val="111111"/>
                </a:solidFill>
                <a:latin typeface="IRANSans"/>
                <a:cs typeface="B Nazanin" panose="00000400000000000000" pitchFamily="2" charset="-78"/>
              </a:rPr>
              <a:t>فستینگر می‌گوید که </a:t>
            </a:r>
            <a:r>
              <a:rPr lang="fa-IR" b="1" i="1" dirty="0" smtClean="0">
                <a:solidFill>
                  <a:srgbClr val="111111"/>
                </a:solidFill>
                <a:latin typeface="IRANSans"/>
                <a:cs typeface="B Nazanin" panose="00000400000000000000" pitchFamily="2" charset="-78"/>
              </a:rPr>
              <a:t>هر دو قطعه‌ی </a:t>
            </a:r>
            <a:r>
              <a:rPr lang="fa-IR" dirty="0" smtClean="0">
                <a:solidFill>
                  <a:srgbClr val="111111"/>
                </a:solidFill>
                <a:latin typeface="IRANSans"/>
                <a:cs typeface="B Nazanin" panose="00000400000000000000" pitchFamily="2" charset="-78"/>
              </a:rPr>
              <a:t>کوچکی از این توده‌ی انباشته‌ی شناخت را بردارید، رابطه‌ی بین آن‌ها از سه حالت خارج نیست:</a:t>
            </a:r>
          </a:p>
          <a:p>
            <a:pPr marL="285750" indent="-285750" algn="r" rtl="1">
              <a:buFont typeface="Wingdings" panose="05000000000000000000" pitchFamily="2" charset="2"/>
              <a:buChar char="ü"/>
            </a:pPr>
            <a:r>
              <a:rPr lang="fa-IR" b="1" dirty="0" smtClean="0">
                <a:solidFill>
                  <a:srgbClr val="111111"/>
                </a:solidFill>
                <a:latin typeface="IRANSans"/>
                <a:cs typeface="B Nazanin" panose="00000400000000000000" pitchFamily="2" charset="-78"/>
              </a:rPr>
              <a:t>به هم هیچ ارتباطی ندارند</a:t>
            </a:r>
            <a:r>
              <a:rPr lang="fa-IR" dirty="0" smtClean="0">
                <a:solidFill>
                  <a:srgbClr val="111111"/>
                </a:solidFill>
                <a:latin typeface="IRANSans"/>
                <a:cs typeface="B Nazanin" panose="00000400000000000000" pitchFamily="2" charset="-78"/>
              </a:rPr>
              <a:t>: </a:t>
            </a:r>
            <a:r>
              <a:rPr lang="fa-IR" sz="1600" dirty="0" smtClean="0">
                <a:solidFill>
                  <a:srgbClr val="0070C0"/>
                </a:solidFill>
                <a:latin typeface="IRANSans"/>
                <a:cs typeface="B Nazanin" panose="00000400000000000000" pitchFamily="2" charset="-78"/>
              </a:rPr>
              <a:t>مثال</a:t>
            </a:r>
            <a:r>
              <a:rPr lang="fa-IR" dirty="0" smtClean="0">
                <a:solidFill>
                  <a:srgbClr val="111111"/>
                </a:solidFill>
                <a:latin typeface="IRANSans"/>
                <a:cs typeface="B Nazanin" panose="00000400000000000000" pitchFamily="2" charset="-78"/>
              </a:rPr>
              <a:t> : من می‌دانم پیراهنم آبی است. هم‌چنین می‌دانم تهران پایتخت ایران است.</a:t>
            </a:r>
          </a:p>
          <a:p>
            <a:pPr marL="285750" indent="-285750" algn="r" rtl="1">
              <a:buFont typeface="Wingdings" panose="05000000000000000000" pitchFamily="2" charset="2"/>
              <a:buChar char="ü"/>
            </a:pPr>
            <a:r>
              <a:rPr lang="fa-IR" b="1" dirty="0" smtClean="0">
                <a:solidFill>
                  <a:srgbClr val="111111"/>
                </a:solidFill>
                <a:latin typeface="IRANSans"/>
                <a:cs typeface="B Nazanin" panose="00000400000000000000" pitchFamily="2" charset="-78"/>
              </a:rPr>
              <a:t>با هم ارتباط دارند و هماهنگ هم هستند</a:t>
            </a:r>
            <a:r>
              <a:rPr lang="fa-IR" dirty="0" smtClean="0">
                <a:solidFill>
                  <a:srgbClr val="111111"/>
                </a:solidFill>
                <a:latin typeface="IRANSans"/>
                <a:cs typeface="B Nazanin" panose="00000400000000000000" pitchFamily="2" charset="-78"/>
              </a:rPr>
              <a:t>: </a:t>
            </a:r>
            <a:r>
              <a:rPr lang="fa-IR" sz="1600" dirty="0" smtClean="0">
                <a:solidFill>
                  <a:srgbClr val="0070C0"/>
                </a:solidFill>
                <a:latin typeface="IRANSans"/>
                <a:cs typeface="B Nazanin" panose="00000400000000000000" pitchFamily="2" charset="-78"/>
              </a:rPr>
              <a:t>مثال</a:t>
            </a:r>
            <a:r>
              <a:rPr lang="fa-IR" dirty="0" smtClean="0">
                <a:solidFill>
                  <a:srgbClr val="111111"/>
                </a:solidFill>
                <a:latin typeface="IRANSans"/>
                <a:cs typeface="B Nazanin" panose="00000400000000000000" pitchFamily="2" charset="-78"/>
              </a:rPr>
              <a:t> : من می‌دانم سیگار ضرر دارد. ضمناً سیگار نمی‌کشم.</a:t>
            </a:r>
          </a:p>
          <a:p>
            <a:pPr marL="285750" indent="-285750" algn="r" rtl="1">
              <a:buFont typeface="Wingdings" panose="05000000000000000000" pitchFamily="2" charset="2"/>
              <a:buChar char="ü"/>
            </a:pPr>
            <a:r>
              <a:rPr lang="fa-IR" b="1" dirty="0" smtClean="0">
                <a:solidFill>
                  <a:srgbClr val="FF0000"/>
                </a:solidFill>
                <a:latin typeface="IRANSans"/>
                <a:cs typeface="B Nazanin" panose="00000400000000000000" pitchFamily="2" charset="-78"/>
              </a:rPr>
              <a:t>با هم ارتباط دارند اما ناهماهنگ هستند</a:t>
            </a:r>
            <a:r>
              <a:rPr lang="fa-IR" dirty="0" smtClean="0">
                <a:solidFill>
                  <a:srgbClr val="111111"/>
                </a:solidFill>
                <a:latin typeface="IRANSans"/>
                <a:cs typeface="B Nazanin" panose="00000400000000000000" pitchFamily="2" charset="-78"/>
              </a:rPr>
              <a:t>: </a:t>
            </a:r>
            <a:r>
              <a:rPr lang="fa-IR" sz="1600" dirty="0" smtClean="0">
                <a:solidFill>
                  <a:srgbClr val="0070C0"/>
                </a:solidFill>
                <a:latin typeface="IRANSans"/>
                <a:cs typeface="B Nazanin" panose="00000400000000000000" pitchFamily="2" charset="-78"/>
              </a:rPr>
              <a:t>مثال</a:t>
            </a:r>
            <a:r>
              <a:rPr lang="fa-IR" dirty="0" smtClean="0">
                <a:solidFill>
                  <a:srgbClr val="111111"/>
                </a:solidFill>
                <a:latin typeface="IRANSans"/>
                <a:cs typeface="B Nazanin" panose="00000400000000000000" pitchFamily="2" charset="-78"/>
              </a:rPr>
              <a:t> : من از رشوه دادن بدم می‌آید. امروز رشوه دادم.</a:t>
            </a:r>
            <a:endParaRPr lang="fa-IR" dirty="0">
              <a:solidFill>
                <a:srgbClr val="111111"/>
              </a:solidFill>
              <a:latin typeface="IRANSans"/>
              <a:cs typeface="B Nazanin" panose="00000400000000000000" pitchFamily="2" charset="-78"/>
            </a:endParaRPr>
          </a:p>
        </p:txBody>
      </p:sp>
      <p:pic>
        <p:nvPicPr>
          <p:cNvPr id="9" name="Picture 8"/>
          <p:cNvPicPr>
            <a:picLocks noChangeAspect="1"/>
          </p:cNvPicPr>
          <p:nvPr/>
        </p:nvPicPr>
        <p:blipFill rotWithShape="1">
          <a:blip r:embed="rId2"/>
          <a:srcRect r="5109"/>
          <a:stretch/>
        </p:blipFill>
        <p:spPr>
          <a:xfrm>
            <a:off x="370247" y="2477758"/>
            <a:ext cx="909913" cy="666593"/>
          </a:xfrm>
          <a:prstGeom prst="rect">
            <a:avLst/>
          </a:prstGeom>
        </p:spPr>
      </p:pic>
      <p:sp>
        <p:nvSpPr>
          <p:cNvPr id="39" name="Arc 38"/>
          <p:cNvSpPr/>
          <p:nvPr/>
        </p:nvSpPr>
        <p:spPr>
          <a:xfrm rot="4450312">
            <a:off x="11130793" y="3301466"/>
            <a:ext cx="640080" cy="729549"/>
          </a:xfrm>
          <a:prstGeom prst="arc">
            <a:avLst>
              <a:gd name="adj1" fmla="val 12512993"/>
              <a:gd name="adj2" fmla="val 3054637"/>
            </a:avLst>
          </a:prstGeom>
          <a:ln w="38100">
            <a:headEnd type="none" w="med" len="med"/>
            <a:tailEnd type="triangle" w="med" len="med"/>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p:sp>
        <p:nvSpPr>
          <p:cNvPr id="40" name="Rectangle 39"/>
          <p:cNvSpPr/>
          <p:nvPr/>
        </p:nvSpPr>
        <p:spPr>
          <a:xfrm>
            <a:off x="9352929" y="3677789"/>
            <a:ext cx="1936749" cy="461665"/>
          </a:xfrm>
          <a:prstGeom prst="rect">
            <a:avLst/>
          </a:prstGeom>
        </p:spPr>
        <p:txBody>
          <a:bodyPr wrap="none">
            <a:spAutoFit/>
          </a:bodyPr>
          <a:lstStyle/>
          <a:p>
            <a:r>
              <a:rPr lang="fa-IR" sz="2400" b="1" dirty="0" smtClean="0">
                <a:solidFill>
                  <a:srgbClr val="0070C0"/>
                </a:solidFill>
                <a:latin typeface="IRANSans"/>
                <a:cs typeface="B Nazanin" panose="00000400000000000000" pitchFamily="2" charset="-78"/>
              </a:rPr>
              <a:t>تعارض شناختی  </a:t>
            </a:r>
            <a:endParaRPr lang="en-US" sz="2400" b="1" dirty="0">
              <a:solidFill>
                <a:srgbClr val="0070C0"/>
              </a:solidFill>
            </a:endParaRPr>
          </a:p>
        </p:txBody>
      </p:sp>
      <p:sp>
        <p:nvSpPr>
          <p:cNvPr id="42" name="Title 1">
            <a:extLst>
              <a:ext uri="{FF2B5EF4-FFF2-40B4-BE49-F238E27FC236}">
                <a16:creationId xmlns:a16="http://schemas.microsoft.com/office/drawing/2014/main" id="{BB4B6193-F9F1-4C54-838F-77350B9FC5DC}"/>
              </a:ext>
            </a:extLst>
          </p:cNvPr>
          <p:cNvSpPr>
            <a:spLocks noGrp="1"/>
          </p:cNvSpPr>
          <p:nvPr>
            <p:ph type="title"/>
          </p:nvPr>
        </p:nvSpPr>
        <p:spPr>
          <a:xfrm>
            <a:off x="1449977" y="412236"/>
            <a:ext cx="9875520" cy="709749"/>
          </a:xfrm>
        </p:spPr>
        <p:txBody>
          <a:bodyPr vert="horz" lIns="91440" tIns="45720" rIns="91440" bIns="45720" rtlCol="0" anchor="ctr">
            <a:normAutofit/>
          </a:bodyPr>
          <a:lstStyle/>
          <a:p>
            <a:pPr algn="r"/>
            <a:r>
              <a:rPr lang="fa-IR" sz="3600" dirty="0">
                <a:cs typeface="B Nazanin" panose="00000400000000000000" pitchFamily="2" charset="-78"/>
              </a:rPr>
              <a:t>تعارض شناختی (ناهماهنگی شناختی)</a:t>
            </a:r>
          </a:p>
        </p:txBody>
      </p:sp>
      <p:sp>
        <p:nvSpPr>
          <p:cNvPr id="43" name="Rectangle 42"/>
          <p:cNvSpPr/>
          <p:nvPr/>
        </p:nvSpPr>
        <p:spPr>
          <a:xfrm>
            <a:off x="5882346" y="3642360"/>
            <a:ext cx="3483646" cy="461665"/>
          </a:xfrm>
          <a:prstGeom prst="rect">
            <a:avLst/>
          </a:prstGeom>
        </p:spPr>
        <p:txBody>
          <a:bodyPr wrap="none">
            <a:spAutoFit/>
          </a:bodyPr>
          <a:lstStyle/>
          <a:p>
            <a:r>
              <a:rPr lang="en-US" sz="24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outerShdw blurRad="38100" dist="38100" dir="2700000" algn="tl">
                    <a:srgbClr val="000000">
                      <a:alpha val="43137"/>
                    </a:srgbClr>
                  </a:outerShdw>
                </a:effectLst>
                <a:latin typeface="IRANSans"/>
              </a:rPr>
              <a:t> Cognitive Dissonance</a:t>
            </a:r>
          </a:p>
        </p:txBody>
      </p:sp>
      <p:sp>
        <p:nvSpPr>
          <p:cNvPr id="45" name="Rectangle 44"/>
          <p:cNvSpPr/>
          <p:nvPr/>
        </p:nvSpPr>
        <p:spPr>
          <a:xfrm>
            <a:off x="222069" y="3482285"/>
            <a:ext cx="4101736" cy="307777"/>
          </a:xfrm>
          <a:prstGeom prst="rect">
            <a:avLst/>
          </a:prstGeom>
        </p:spPr>
        <p:txBody>
          <a:bodyPr wrap="square">
            <a:spAutoFit/>
          </a:bodyPr>
          <a:lstStyle/>
          <a:p>
            <a:pPr marL="285750" indent="-285750" algn="just" rtl="1">
              <a:buFont typeface="Wingdings" panose="05000000000000000000" pitchFamily="2" charset="2"/>
              <a:buChar char="ü"/>
            </a:pPr>
            <a:r>
              <a:rPr lang="fa-IR" sz="1400" b="1" dirty="0">
                <a:solidFill>
                  <a:srgbClr val="111111"/>
                </a:solidFill>
                <a:latin typeface="IRANSans"/>
                <a:cs typeface="B Nazanin" panose="00000400000000000000" pitchFamily="2" charset="-78"/>
              </a:rPr>
              <a:t> این ناهماهنگی‌ها، نوعی فشار ذهنی ایجاد </a:t>
            </a:r>
            <a:r>
              <a:rPr lang="fa-IR" sz="1400" b="1" dirty="0" smtClean="0">
                <a:solidFill>
                  <a:srgbClr val="111111"/>
                </a:solidFill>
                <a:latin typeface="IRANSans"/>
                <a:cs typeface="B Nazanin" panose="00000400000000000000" pitchFamily="2" charset="-78"/>
              </a:rPr>
              <a:t>می‌کنند</a:t>
            </a:r>
            <a:r>
              <a:rPr lang="en-US" sz="1400" b="1" dirty="0" smtClean="0">
                <a:solidFill>
                  <a:srgbClr val="111111"/>
                </a:solidFill>
                <a:latin typeface="IRANSans"/>
                <a:cs typeface="B Nazanin" panose="00000400000000000000" pitchFamily="2" charset="-78"/>
              </a:rPr>
              <a:t> .</a:t>
            </a:r>
            <a:endParaRPr lang="en-US" sz="1400" b="1" dirty="0">
              <a:solidFill>
                <a:srgbClr val="111111"/>
              </a:solidFill>
              <a:latin typeface="IRANSans"/>
              <a:cs typeface="B Nazanin" panose="00000400000000000000" pitchFamily="2" charset="-78"/>
            </a:endParaRPr>
          </a:p>
        </p:txBody>
      </p:sp>
      <p:sp>
        <p:nvSpPr>
          <p:cNvPr id="48" name="Rectangle 47"/>
          <p:cNvSpPr/>
          <p:nvPr/>
        </p:nvSpPr>
        <p:spPr>
          <a:xfrm>
            <a:off x="187365" y="3780977"/>
            <a:ext cx="4628190" cy="307777"/>
          </a:xfrm>
          <a:prstGeom prst="rect">
            <a:avLst/>
          </a:prstGeom>
        </p:spPr>
        <p:txBody>
          <a:bodyPr wrap="square">
            <a:spAutoFit/>
          </a:bodyPr>
          <a:lstStyle/>
          <a:p>
            <a:pPr marL="285750" indent="-285750" algn="just" rtl="1">
              <a:buFont typeface="Wingdings" panose="05000000000000000000" pitchFamily="2" charset="2"/>
              <a:buChar char="ü"/>
            </a:pPr>
            <a:r>
              <a:rPr lang="fa-IR" sz="1400" b="1" dirty="0">
                <a:solidFill>
                  <a:srgbClr val="111111"/>
                </a:solidFill>
                <a:latin typeface="IRANSans"/>
                <a:cs typeface="B Nazanin" panose="00000400000000000000" pitchFamily="2" charset="-78"/>
              </a:rPr>
              <a:t>تحمل این ناهماهنگی‌ها برای مدت طولانی امکان‌پذیر نیست.</a:t>
            </a:r>
            <a:endParaRPr lang="en-US" sz="1400" b="1" dirty="0">
              <a:solidFill>
                <a:srgbClr val="111111"/>
              </a:solidFill>
              <a:latin typeface="IRANSans"/>
              <a:cs typeface="B Nazanin" panose="00000400000000000000" pitchFamily="2" charset="-78"/>
            </a:endParaRPr>
          </a:p>
        </p:txBody>
      </p:sp>
      <p:sp>
        <p:nvSpPr>
          <p:cNvPr id="49" name="Rectangle 48"/>
          <p:cNvSpPr/>
          <p:nvPr/>
        </p:nvSpPr>
        <p:spPr>
          <a:xfrm>
            <a:off x="-39187" y="4107356"/>
            <a:ext cx="5614271" cy="307777"/>
          </a:xfrm>
          <a:prstGeom prst="rect">
            <a:avLst/>
          </a:prstGeom>
        </p:spPr>
        <p:txBody>
          <a:bodyPr wrap="square">
            <a:spAutoFit/>
          </a:bodyPr>
          <a:lstStyle/>
          <a:p>
            <a:pPr marL="285750" indent="-285750" algn="just" rtl="1">
              <a:buFont typeface="Wingdings" panose="05000000000000000000" pitchFamily="2" charset="2"/>
              <a:buChar char="ü"/>
            </a:pPr>
            <a:r>
              <a:rPr lang="fa-IR" sz="1400" b="1" dirty="0">
                <a:solidFill>
                  <a:srgbClr val="111111"/>
                </a:solidFill>
                <a:latin typeface="IRANSans"/>
                <a:cs typeface="B Nazanin" panose="00000400000000000000" pitchFamily="2" charset="-78"/>
              </a:rPr>
              <a:t>مکانیزم‌های متعددی برای </a:t>
            </a:r>
            <a:r>
              <a:rPr lang="fa-IR" sz="1400" b="1" dirty="0">
                <a:solidFill>
                  <a:srgbClr val="C00000"/>
                </a:solidFill>
                <a:latin typeface="IRANSans"/>
                <a:cs typeface="B Nazanin" panose="00000400000000000000" pitchFamily="2" charset="-78"/>
              </a:rPr>
              <a:t>کاهش و حذف این </a:t>
            </a:r>
            <a:r>
              <a:rPr lang="fa-IR" sz="1400" b="1" dirty="0" smtClean="0">
                <a:solidFill>
                  <a:srgbClr val="C00000"/>
                </a:solidFill>
                <a:latin typeface="IRANSans"/>
                <a:cs typeface="B Nazanin" panose="00000400000000000000" pitchFamily="2" charset="-78"/>
              </a:rPr>
              <a:t>تعارض‌ها </a:t>
            </a:r>
            <a:r>
              <a:rPr lang="fa-IR" sz="1400" b="1" dirty="0">
                <a:solidFill>
                  <a:srgbClr val="111111"/>
                </a:solidFill>
                <a:latin typeface="IRANSans"/>
                <a:cs typeface="B Nazanin" panose="00000400000000000000" pitchFamily="2" charset="-78"/>
              </a:rPr>
              <a:t>در ذهن وجود دارد</a:t>
            </a:r>
            <a:endParaRPr lang="en-US" sz="1400" b="1" dirty="0">
              <a:solidFill>
                <a:srgbClr val="111111"/>
              </a:solidFill>
              <a:latin typeface="IRANSans"/>
              <a:cs typeface="B Nazanin" panose="00000400000000000000" pitchFamily="2" charset="-78"/>
            </a:endParaRPr>
          </a:p>
        </p:txBody>
      </p:sp>
      <p:cxnSp>
        <p:nvCxnSpPr>
          <p:cNvPr id="51" name="Straight Arrow Connector 50"/>
          <p:cNvCxnSpPr/>
          <p:nvPr/>
        </p:nvCxnSpPr>
        <p:spPr>
          <a:xfrm flipH="1" flipV="1">
            <a:off x="4558939" y="3642360"/>
            <a:ext cx="1401785" cy="230833"/>
          </a:xfrm>
          <a:prstGeom prst="straightConnector1">
            <a:avLst/>
          </a:prstGeom>
          <a:ln w="28575">
            <a:tailEnd type="triangle"/>
          </a:ln>
        </p:spPr>
        <p:style>
          <a:lnRef idx="2">
            <a:schemeClr val="accent4"/>
          </a:lnRef>
          <a:fillRef idx="0">
            <a:schemeClr val="accent4"/>
          </a:fillRef>
          <a:effectRef idx="1">
            <a:schemeClr val="accent4"/>
          </a:effectRef>
          <a:fontRef idx="minor">
            <a:schemeClr val="tx1"/>
          </a:fontRef>
        </p:style>
      </p:cxnSp>
      <p:cxnSp>
        <p:nvCxnSpPr>
          <p:cNvPr id="53" name="Straight Arrow Connector 52"/>
          <p:cNvCxnSpPr/>
          <p:nvPr/>
        </p:nvCxnSpPr>
        <p:spPr>
          <a:xfrm flipH="1">
            <a:off x="5037626" y="3873193"/>
            <a:ext cx="857783" cy="77061"/>
          </a:xfrm>
          <a:prstGeom prst="straightConnector1">
            <a:avLst/>
          </a:prstGeom>
          <a:ln w="28575">
            <a:tailEnd type="triangle"/>
          </a:ln>
        </p:spPr>
        <p:style>
          <a:lnRef idx="2">
            <a:schemeClr val="accent4"/>
          </a:lnRef>
          <a:fillRef idx="0">
            <a:schemeClr val="accent4"/>
          </a:fillRef>
          <a:effectRef idx="1">
            <a:schemeClr val="accent4"/>
          </a:effectRef>
          <a:fontRef idx="minor">
            <a:schemeClr val="tx1"/>
          </a:fontRef>
        </p:style>
      </p:cxnSp>
      <p:cxnSp>
        <p:nvCxnSpPr>
          <p:cNvPr id="55" name="Straight Arrow Connector 54"/>
          <p:cNvCxnSpPr/>
          <p:nvPr/>
        </p:nvCxnSpPr>
        <p:spPr>
          <a:xfrm flipH="1">
            <a:off x="5561575" y="3860130"/>
            <a:ext cx="386087" cy="279324"/>
          </a:xfrm>
          <a:prstGeom prst="straightConnector1">
            <a:avLst/>
          </a:prstGeom>
          <a:ln w="28575">
            <a:tailEnd type="triangle"/>
          </a:ln>
        </p:spPr>
        <p:style>
          <a:lnRef idx="2">
            <a:schemeClr val="accent4"/>
          </a:lnRef>
          <a:fillRef idx="0">
            <a:schemeClr val="accent4"/>
          </a:fillRef>
          <a:effectRef idx="1">
            <a:schemeClr val="accent4"/>
          </a:effectRef>
          <a:fontRef idx="minor">
            <a:schemeClr val="tx1"/>
          </a:fontRef>
        </p:style>
      </p:cxnSp>
      <p:cxnSp>
        <p:nvCxnSpPr>
          <p:cNvPr id="57" name="Straight Arrow Connector 56"/>
          <p:cNvCxnSpPr/>
          <p:nvPr/>
        </p:nvCxnSpPr>
        <p:spPr>
          <a:xfrm flipH="1">
            <a:off x="2111454" y="4463710"/>
            <a:ext cx="508019" cy="356627"/>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sp>
        <p:nvSpPr>
          <p:cNvPr id="58" name="Rectangle 57"/>
          <p:cNvSpPr/>
          <p:nvPr/>
        </p:nvSpPr>
        <p:spPr>
          <a:xfrm>
            <a:off x="4884898" y="4879526"/>
            <a:ext cx="595035" cy="369332"/>
          </a:xfrm>
          <a:prstGeom prst="rect">
            <a:avLst/>
          </a:prstGeom>
        </p:spPr>
        <p:txBody>
          <a:bodyPr wrap="none">
            <a:spAutoFit/>
          </a:bodyPr>
          <a:lstStyle/>
          <a:p>
            <a:r>
              <a:rPr lang="fa-IR" b="1" dirty="0" smtClean="0">
                <a:solidFill>
                  <a:srgbClr val="111111"/>
                </a:solidFill>
                <a:latin typeface="IRANSans"/>
                <a:cs typeface="B Nazanin" panose="00000400000000000000" pitchFamily="2" charset="-78"/>
              </a:rPr>
              <a:t>انکار </a:t>
            </a:r>
            <a:endParaRPr lang="en-US" b="1" dirty="0">
              <a:cs typeface="B Nazanin" panose="00000400000000000000" pitchFamily="2" charset="-78"/>
            </a:endParaRPr>
          </a:p>
        </p:txBody>
      </p:sp>
      <p:sp>
        <p:nvSpPr>
          <p:cNvPr id="59" name="Rectangle 58"/>
          <p:cNvSpPr/>
          <p:nvPr/>
        </p:nvSpPr>
        <p:spPr>
          <a:xfrm>
            <a:off x="2975822" y="4892589"/>
            <a:ext cx="1654620" cy="338554"/>
          </a:xfrm>
          <a:prstGeom prst="rect">
            <a:avLst/>
          </a:prstGeom>
        </p:spPr>
        <p:txBody>
          <a:bodyPr wrap="none">
            <a:spAutoFit/>
          </a:bodyPr>
          <a:lstStyle/>
          <a:p>
            <a:r>
              <a:rPr lang="fa-IR" sz="1600" b="1" dirty="0">
                <a:solidFill>
                  <a:srgbClr val="111111"/>
                </a:solidFill>
                <a:latin typeface="IRANSans"/>
                <a:cs typeface="B Nazanin" panose="00000400000000000000" pitchFamily="2" charset="-78"/>
              </a:rPr>
              <a:t>تغییر رفتار و عادت‌ها</a:t>
            </a:r>
            <a:endParaRPr lang="en-US" sz="1600" b="1" dirty="0">
              <a:solidFill>
                <a:srgbClr val="111111"/>
              </a:solidFill>
              <a:latin typeface="IRANSans"/>
              <a:cs typeface="B Nazanin" panose="00000400000000000000" pitchFamily="2" charset="-78"/>
            </a:endParaRPr>
          </a:p>
        </p:txBody>
      </p:sp>
      <p:sp>
        <p:nvSpPr>
          <p:cNvPr id="60" name="Rectangle 59"/>
          <p:cNvSpPr/>
          <p:nvPr/>
        </p:nvSpPr>
        <p:spPr>
          <a:xfrm>
            <a:off x="218697" y="4851142"/>
            <a:ext cx="2365625" cy="523220"/>
          </a:xfrm>
          <a:prstGeom prst="rect">
            <a:avLst/>
          </a:prstGeom>
        </p:spPr>
        <p:txBody>
          <a:bodyPr wrap="square">
            <a:spAutoFit/>
          </a:bodyPr>
          <a:lstStyle/>
          <a:p>
            <a:pPr algn="ctr"/>
            <a:r>
              <a:rPr lang="fa-IR" sz="1400" b="1" dirty="0">
                <a:solidFill>
                  <a:srgbClr val="111111"/>
                </a:solidFill>
                <a:latin typeface="IRANSans"/>
                <a:cs typeface="B Nazanin" panose="00000400000000000000" pitchFamily="2" charset="-78"/>
              </a:rPr>
              <a:t>گردآوری یا ایجاد اطلاعات جدید (توسعه‌ی شناخت)</a:t>
            </a:r>
            <a:endParaRPr lang="en-US" sz="1400" b="1" dirty="0">
              <a:solidFill>
                <a:srgbClr val="111111"/>
              </a:solidFill>
              <a:latin typeface="IRANSans"/>
              <a:cs typeface="B Nazanin" panose="00000400000000000000" pitchFamily="2" charset="-78"/>
            </a:endParaRPr>
          </a:p>
        </p:txBody>
      </p:sp>
      <p:cxnSp>
        <p:nvCxnSpPr>
          <p:cNvPr id="61" name="Straight Arrow Connector 60"/>
          <p:cNvCxnSpPr/>
          <p:nvPr/>
        </p:nvCxnSpPr>
        <p:spPr>
          <a:xfrm>
            <a:off x="2627356" y="4485987"/>
            <a:ext cx="506351" cy="390959"/>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cxnSp>
        <p:nvCxnSpPr>
          <p:cNvPr id="64" name="Straight Arrow Connector 63"/>
          <p:cNvCxnSpPr/>
          <p:nvPr/>
        </p:nvCxnSpPr>
        <p:spPr>
          <a:xfrm>
            <a:off x="2645153" y="4465948"/>
            <a:ext cx="2262972" cy="453022"/>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sp>
        <p:nvSpPr>
          <p:cNvPr id="67" name="Rectangle 66"/>
          <p:cNvSpPr/>
          <p:nvPr/>
        </p:nvSpPr>
        <p:spPr>
          <a:xfrm>
            <a:off x="4713326" y="5395282"/>
            <a:ext cx="1613177" cy="461665"/>
          </a:xfrm>
          <a:prstGeom prst="rect">
            <a:avLst/>
          </a:prstGeom>
        </p:spPr>
        <p:txBody>
          <a:bodyPr wrap="square">
            <a:spAutoFit/>
          </a:bodyPr>
          <a:lstStyle/>
          <a:p>
            <a:pPr algn="ctr"/>
            <a:r>
              <a:rPr lang="fa-IR" sz="1200" dirty="0" smtClean="0">
                <a:solidFill>
                  <a:srgbClr val="111111"/>
                </a:solidFill>
                <a:latin typeface="IRANSans"/>
                <a:cs typeface="B Nazanin" panose="00000400000000000000" pitchFamily="2" charset="-78"/>
              </a:rPr>
              <a:t>من نگفتم سیگار نمیکشم گفتم کمتر میکشم .</a:t>
            </a:r>
            <a:endParaRPr lang="en-US" sz="1200" dirty="0"/>
          </a:p>
        </p:txBody>
      </p:sp>
      <p:sp>
        <p:nvSpPr>
          <p:cNvPr id="68" name="Rectangle 67"/>
          <p:cNvSpPr/>
          <p:nvPr/>
        </p:nvSpPr>
        <p:spPr>
          <a:xfrm>
            <a:off x="3238210" y="5430302"/>
            <a:ext cx="1613177" cy="461665"/>
          </a:xfrm>
          <a:prstGeom prst="rect">
            <a:avLst/>
          </a:prstGeom>
        </p:spPr>
        <p:txBody>
          <a:bodyPr wrap="square">
            <a:spAutoFit/>
          </a:bodyPr>
          <a:lstStyle/>
          <a:p>
            <a:pPr algn="ctr" rtl="1"/>
            <a:r>
              <a:rPr lang="fa-IR" sz="1200" dirty="0" smtClean="0">
                <a:solidFill>
                  <a:srgbClr val="111111"/>
                </a:solidFill>
                <a:latin typeface="IRANSans"/>
                <a:cs typeface="B Nazanin" panose="00000400000000000000" pitchFamily="2" charset="-78"/>
              </a:rPr>
              <a:t>از این به بعد سیگار رو ترک میکنم .</a:t>
            </a:r>
            <a:endParaRPr lang="en-US" sz="1200" dirty="0"/>
          </a:p>
        </p:txBody>
      </p:sp>
      <p:sp>
        <p:nvSpPr>
          <p:cNvPr id="69" name="Rectangle 68"/>
          <p:cNvSpPr/>
          <p:nvPr/>
        </p:nvSpPr>
        <p:spPr>
          <a:xfrm>
            <a:off x="130629" y="5430302"/>
            <a:ext cx="3304903" cy="461665"/>
          </a:xfrm>
          <a:prstGeom prst="rect">
            <a:avLst/>
          </a:prstGeom>
        </p:spPr>
        <p:txBody>
          <a:bodyPr wrap="square">
            <a:spAutoFit/>
          </a:bodyPr>
          <a:lstStyle/>
          <a:p>
            <a:pPr algn="ctr"/>
            <a:r>
              <a:rPr lang="fa-IR" sz="1200" dirty="0">
                <a:solidFill>
                  <a:srgbClr val="111111"/>
                </a:solidFill>
                <a:latin typeface="IRANSans"/>
                <a:cs typeface="B Nazanin" panose="00000400000000000000" pitchFamily="2" charset="-78"/>
              </a:rPr>
              <a:t>اصلاً همین که من در شبکه‌های اجتماعی عضو هستم و چند اکانت بسیار فاخر و علمی را دنبال می‌کنم، خود شکلی از مطالعه است</a:t>
            </a:r>
            <a:endParaRPr lang="en-US" sz="1200" dirty="0">
              <a:solidFill>
                <a:srgbClr val="111111"/>
              </a:solidFill>
              <a:latin typeface="IRANSans"/>
              <a:cs typeface="B Nazanin" panose="00000400000000000000" pitchFamily="2" charset="-78"/>
            </a:endParaRPr>
          </a:p>
        </p:txBody>
      </p:sp>
      <p:sp>
        <p:nvSpPr>
          <p:cNvPr id="70" name="Rectangle 69"/>
          <p:cNvSpPr/>
          <p:nvPr/>
        </p:nvSpPr>
        <p:spPr>
          <a:xfrm>
            <a:off x="192625" y="6040267"/>
            <a:ext cx="3180909" cy="461665"/>
          </a:xfrm>
          <a:prstGeom prst="rect">
            <a:avLst/>
          </a:prstGeom>
        </p:spPr>
        <p:txBody>
          <a:bodyPr wrap="square">
            <a:spAutoFit/>
          </a:bodyPr>
          <a:lstStyle/>
          <a:p>
            <a:pPr algn="ctr" rtl="1"/>
            <a:r>
              <a:rPr lang="fa-IR" sz="1200" dirty="0" smtClean="0">
                <a:solidFill>
                  <a:srgbClr val="111111"/>
                </a:solidFill>
                <a:latin typeface="IRANSans"/>
                <a:cs typeface="B Nazanin" panose="00000400000000000000" pitchFamily="2" charset="-78"/>
              </a:rPr>
              <a:t>اصلاً </a:t>
            </a:r>
            <a:r>
              <a:rPr lang="fa-IR" sz="1200" dirty="0">
                <a:solidFill>
                  <a:srgbClr val="111111"/>
                </a:solidFill>
                <a:latin typeface="IRANSans"/>
                <a:cs typeface="B Nazanin" panose="00000400000000000000" pitchFamily="2" charset="-78"/>
              </a:rPr>
              <a:t>چیزی که من دادم، رشوه نبود؛ چون ارزش مادی چندانی </a:t>
            </a:r>
            <a:r>
              <a:rPr lang="fa-IR" sz="1200" dirty="0" smtClean="0">
                <a:solidFill>
                  <a:srgbClr val="111111"/>
                </a:solidFill>
                <a:latin typeface="IRANSans"/>
                <a:cs typeface="B Nazanin" panose="00000400000000000000" pitchFamily="2" charset="-78"/>
              </a:rPr>
              <a:t>نداشت . من زیرکانه نگاهش رو تغییر دادم </a:t>
            </a:r>
            <a:endParaRPr lang="en-US" sz="1200" dirty="0">
              <a:solidFill>
                <a:srgbClr val="111111"/>
              </a:solidFill>
              <a:latin typeface="IRANSans"/>
              <a:cs typeface="B Nazanin" panose="00000400000000000000" pitchFamily="2" charset="-78"/>
            </a:endParaRPr>
          </a:p>
        </p:txBody>
      </p:sp>
      <p:sp>
        <p:nvSpPr>
          <p:cNvPr id="71" name="Rectangle 70"/>
          <p:cNvSpPr/>
          <p:nvPr/>
        </p:nvSpPr>
        <p:spPr>
          <a:xfrm>
            <a:off x="3305365" y="5965840"/>
            <a:ext cx="1579534" cy="461665"/>
          </a:xfrm>
          <a:prstGeom prst="rect">
            <a:avLst/>
          </a:prstGeom>
        </p:spPr>
        <p:txBody>
          <a:bodyPr wrap="square">
            <a:spAutoFit/>
          </a:bodyPr>
          <a:lstStyle/>
          <a:p>
            <a:pPr algn="ctr" rtl="1"/>
            <a:r>
              <a:rPr lang="fa-IR" sz="1200" dirty="0" smtClean="0">
                <a:solidFill>
                  <a:srgbClr val="111111"/>
                </a:solidFill>
                <a:latin typeface="IRANSans"/>
                <a:cs typeface="B Nazanin" panose="00000400000000000000" pitchFamily="2" charset="-78"/>
              </a:rPr>
              <a:t>سعی میکنم زمانی رو برای مطالعه بیشتر پیدا کنم .</a:t>
            </a:r>
            <a:endParaRPr lang="en-US" sz="1200" dirty="0"/>
          </a:p>
        </p:txBody>
      </p:sp>
      <p:cxnSp>
        <p:nvCxnSpPr>
          <p:cNvPr id="76" name="Straight Connector 75"/>
          <p:cNvCxnSpPr/>
          <p:nvPr/>
        </p:nvCxnSpPr>
        <p:spPr>
          <a:xfrm>
            <a:off x="3354217" y="5436357"/>
            <a:ext cx="81315" cy="1127130"/>
          </a:xfrm>
          <a:prstGeom prst="line">
            <a:avLst/>
          </a:prstGeom>
          <a:ln w="28575">
            <a:prstDash val="sysDash"/>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a:off x="4789813" y="5486024"/>
            <a:ext cx="107725" cy="1077463"/>
          </a:xfrm>
          <a:prstGeom prst="line">
            <a:avLst/>
          </a:prstGeom>
          <a:ln w="28575">
            <a:prstDash val="sysDash"/>
          </a:ln>
        </p:spPr>
        <p:style>
          <a:lnRef idx="1">
            <a:schemeClr val="accent1"/>
          </a:lnRef>
          <a:fillRef idx="0">
            <a:schemeClr val="accent1"/>
          </a:fillRef>
          <a:effectRef idx="0">
            <a:schemeClr val="accent1"/>
          </a:effectRef>
          <a:fontRef idx="minor">
            <a:schemeClr val="tx1"/>
          </a:fontRef>
        </p:style>
      </p:cxnSp>
      <p:sp>
        <p:nvSpPr>
          <p:cNvPr id="83" name="Rectangle 82"/>
          <p:cNvSpPr/>
          <p:nvPr/>
        </p:nvSpPr>
        <p:spPr>
          <a:xfrm>
            <a:off x="6016361" y="5529251"/>
            <a:ext cx="5760720" cy="646331"/>
          </a:xfrm>
          <a:prstGeom prst="rect">
            <a:avLst/>
          </a:prstGeom>
        </p:spPr>
        <p:txBody>
          <a:bodyPr wrap="square">
            <a:spAutoFit/>
          </a:bodyPr>
          <a:lstStyle/>
          <a:p>
            <a:pPr algn="ctr"/>
            <a:r>
              <a:rPr lang="fa-IR" b="1" dirty="0">
                <a:solidFill>
                  <a:srgbClr val="111111"/>
                </a:solidFill>
                <a:latin typeface="IRANSans"/>
                <a:cs typeface="B Nazanin" panose="00000400000000000000" pitchFamily="2" charset="-78"/>
              </a:rPr>
              <a:t>یکی از مهمترین نتایح </a:t>
            </a:r>
            <a:r>
              <a:rPr lang="fa-IR" b="1" dirty="0" smtClean="0">
                <a:solidFill>
                  <a:srgbClr val="111111"/>
                </a:solidFill>
                <a:latin typeface="IRANSans"/>
                <a:cs typeface="B Nazanin" panose="00000400000000000000" pitchFamily="2" charset="-78"/>
              </a:rPr>
              <a:t>ناهماهنگی یا تعارض شناختی که به</a:t>
            </a:r>
            <a:r>
              <a:rPr lang="fa-IR" b="1" dirty="0">
                <a:solidFill>
                  <a:srgbClr val="111111"/>
                </a:solidFill>
                <a:latin typeface="IRANSans"/>
                <a:cs typeface="B Nazanin" panose="00000400000000000000" pitchFamily="2" charset="-78"/>
              </a:rPr>
              <a:t> تصمیم </a:t>
            </a:r>
            <a:r>
              <a:rPr lang="fa-IR" b="1" dirty="0" smtClean="0">
                <a:solidFill>
                  <a:srgbClr val="111111"/>
                </a:solidFill>
                <a:latin typeface="IRANSans"/>
                <a:cs typeface="B Nazanin" panose="00000400000000000000" pitchFamily="2" charset="-78"/>
              </a:rPr>
              <a:t>گیری </a:t>
            </a:r>
            <a:r>
              <a:rPr lang="fa-IR" b="1" dirty="0">
                <a:solidFill>
                  <a:srgbClr val="111111"/>
                </a:solidFill>
                <a:latin typeface="IRANSans"/>
                <a:cs typeface="B Nazanin" panose="00000400000000000000" pitchFamily="2" charset="-78"/>
              </a:rPr>
              <a:t>ارتباط دارد، </a:t>
            </a:r>
            <a:r>
              <a:rPr lang="fa-IR" b="1" dirty="0">
                <a:solidFill>
                  <a:srgbClr val="C00000"/>
                </a:solidFill>
                <a:latin typeface="IRANSans"/>
                <a:cs typeface="B Nazanin" panose="00000400000000000000" pitchFamily="2" charset="-78"/>
              </a:rPr>
              <a:t>کوری تصمیم گیری</a:t>
            </a:r>
            <a:r>
              <a:rPr lang="fa-IR" b="1" dirty="0">
                <a:solidFill>
                  <a:srgbClr val="111111"/>
                </a:solidFill>
                <a:latin typeface="IRANSans"/>
                <a:cs typeface="B Nazanin" panose="00000400000000000000" pitchFamily="2" charset="-78"/>
              </a:rPr>
              <a:t> یا </a:t>
            </a:r>
            <a:r>
              <a:rPr lang="fa-IR" b="1" dirty="0">
                <a:solidFill>
                  <a:srgbClr val="C00000"/>
                </a:solidFill>
                <a:latin typeface="IRANSans"/>
                <a:cs typeface="B Nazanin" panose="00000400000000000000" pitchFamily="2" charset="-78"/>
              </a:rPr>
              <a:t>نابینایی در تحلیل </a:t>
            </a:r>
            <a:r>
              <a:rPr lang="fa-IR" b="1" dirty="0" smtClean="0">
                <a:solidFill>
                  <a:srgbClr val="C00000"/>
                </a:solidFill>
                <a:latin typeface="IRANSans"/>
                <a:cs typeface="B Nazanin" panose="00000400000000000000" pitchFamily="2" charset="-78"/>
              </a:rPr>
              <a:t>انتخاب‌ها </a:t>
            </a:r>
            <a:r>
              <a:rPr lang="fa-IR" b="1" dirty="0" smtClean="0">
                <a:solidFill>
                  <a:srgbClr val="111111"/>
                </a:solidFill>
                <a:latin typeface="IRANSans"/>
                <a:cs typeface="B Nazanin" panose="00000400000000000000" pitchFamily="2" charset="-78"/>
              </a:rPr>
              <a:t>ست</a:t>
            </a:r>
            <a:r>
              <a:rPr lang="fa-IR" b="1" dirty="0">
                <a:solidFill>
                  <a:srgbClr val="111111"/>
                </a:solidFill>
                <a:latin typeface="IRANSans"/>
                <a:cs typeface="B Nazanin" panose="00000400000000000000" pitchFamily="2" charset="-78"/>
              </a:rPr>
              <a:t>.</a:t>
            </a:r>
            <a:endParaRPr lang="en-US" b="1" dirty="0">
              <a:solidFill>
                <a:srgbClr val="111111"/>
              </a:solidFill>
              <a:latin typeface="IRANSans"/>
              <a:cs typeface="B Nazanin" panose="00000400000000000000" pitchFamily="2" charset="-78"/>
            </a:endParaRPr>
          </a:p>
        </p:txBody>
      </p:sp>
      <p:sp>
        <p:nvSpPr>
          <p:cNvPr id="84" name="Rectangle 83"/>
          <p:cNvSpPr/>
          <p:nvPr/>
        </p:nvSpPr>
        <p:spPr>
          <a:xfrm>
            <a:off x="6954780" y="6175582"/>
            <a:ext cx="1673856" cy="338554"/>
          </a:xfrm>
          <a:prstGeom prst="rect">
            <a:avLst/>
          </a:prstGeom>
        </p:spPr>
        <p:txBody>
          <a:bodyPr wrap="none">
            <a:spAutoFit/>
          </a:bodyPr>
          <a:lstStyle/>
          <a:p>
            <a:r>
              <a:rPr lang="en-US" sz="1600" b="1" dirty="0" smtClean="0"/>
              <a:t>Choice </a:t>
            </a:r>
            <a:r>
              <a:rPr lang="en-US" sz="1600" b="1" dirty="0"/>
              <a:t>Blindness</a:t>
            </a:r>
          </a:p>
        </p:txBody>
      </p:sp>
      <p:sp>
        <p:nvSpPr>
          <p:cNvPr id="85" name="Rectangle 84"/>
          <p:cNvSpPr/>
          <p:nvPr/>
        </p:nvSpPr>
        <p:spPr>
          <a:xfrm>
            <a:off x="8896721" y="6175582"/>
            <a:ext cx="1872629" cy="338554"/>
          </a:xfrm>
          <a:prstGeom prst="rect">
            <a:avLst/>
          </a:prstGeom>
        </p:spPr>
        <p:txBody>
          <a:bodyPr wrap="none">
            <a:spAutoFit/>
          </a:bodyPr>
          <a:lstStyle/>
          <a:p>
            <a:r>
              <a:rPr lang="en-US" sz="1600" b="1" dirty="0"/>
              <a:t>Decision Blindness </a:t>
            </a:r>
          </a:p>
        </p:txBody>
      </p:sp>
    </p:spTree>
    <p:extLst>
      <p:ext uri="{BB962C8B-B14F-4D97-AF65-F5344CB8AC3E}">
        <p14:creationId xmlns:p14="http://schemas.microsoft.com/office/powerpoint/2010/main" val="87263753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449977" y="412236"/>
            <a:ext cx="9875520" cy="709749"/>
          </a:xfrm>
        </p:spPr>
        <p:txBody>
          <a:bodyPr vert="horz" lIns="91440" tIns="45720" rIns="91440" bIns="45720" rtlCol="0" anchor="ctr">
            <a:normAutofit/>
          </a:bodyPr>
          <a:lstStyle/>
          <a:p>
            <a:pPr algn="r"/>
            <a:r>
              <a:rPr lang="fa-IR" sz="3600" dirty="0">
                <a:cs typeface="B Nazanin" panose="00000400000000000000" pitchFamily="2" charset="-78"/>
              </a:rPr>
              <a:t>تعارض شناختی ( کوری تصمیم گیری )</a:t>
            </a: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698861" y="1449364"/>
            <a:ext cx="10816045" cy="646331"/>
          </a:xfrm>
          <a:prstGeom prst="rect">
            <a:avLst/>
          </a:prstGeom>
        </p:spPr>
        <p:txBody>
          <a:bodyPr wrap="square">
            <a:spAutoFit/>
          </a:bodyPr>
          <a:lstStyle/>
          <a:p>
            <a:pPr algn="justLow" rtl="1"/>
            <a:r>
              <a:rPr lang="fa-IR" b="1" dirty="0">
                <a:solidFill>
                  <a:srgbClr val="C00000"/>
                </a:solidFill>
                <a:latin typeface="IRANSans"/>
                <a:cs typeface="B Nazanin" panose="00000400000000000000" pitchFamily="2" charset="-78"/>
              </a:rPr>
              <a:t>کوری تصمیم گیری</a:t>
            </a:r>
            <a:r>
              <a:rPr lang="fa-IR" dirty="0">
                <a:solidFill>
                  <a:srgbClr val="111111"/>
                </a:solidFill>
                <a:latin typeface="IRANSans"/>
                <a:cs typeface="B Nazanin" panose="00000400000000000000" pitchFamily="2" charset="-78"/>
              </a:rPr>
              <a:t> به این معناست که ما گاهی خاطرات مربوط به شرایط تصمیم‌گیری خود را (خصوصاً با گذر زمان و فراموش کردن جزئیات) فراموش می‌کنیم. اما متوجه این وضعیت نمی‌شویم و درک نمی‌کنیم که اکنون نسبت به مکانیزم انتخاب خود در گذشته، بینایی کافی نداریم.</a:t>
            </a:r>
            <a:endParaRPr lang="en-US" dirty="0">
              <a:solidFill>
                <a:srgbClr val="111111"/>
              </a:solidFill>
              <a:latin typeface="IRANSans"/>
              <a:cs typeface="B Nazanin" panose="00000400000000000000" pitchFamily="2" charset="-78"/>
            </a:endParaRPr>
          </a:p>
        </p:txBody>
      </p:sp>
      <p:grpSp>
        <p:nvGrpSpPr>
          <p:cNvPr id="6" name="Group 5"/>
          <p:cNvGrpSpPr/>
          <p:nvPr/>
        </p:nvGrpSpPr>
        <p:grpSpPr>
          <a:xfrm>
            <a:off x="698862" y="2264897"/>
            <a:ext cx="10816045" cy="1785105"/>
            <a:chOff x="613954" y="2686482"/>
            <a:chExt cx="10816045" cy="1785105"/>
          </a:xfrm>
        </p:grpSpPr>
        <p:sp>
          <p:nvSpPr>
            <p:cNvPr id="4" name="Rectangle 3"/>
            <p:cNvSpPr/>
            <p:nvPr/>
          </p:nvSpPr>
          <p:spPr>
            <a:xfrm>
              <a:off x="613954" y="2686482"/>
              <a:ext cx="10816045" cy="400110"/>
            </a:xfrm>
            <a:prstGeom prst="rect">
              <a:avLst/>
            </a:prstGeom>
            <a:solidFill>
              <a:schemeClr val="accent4">
                <a:lumMod val="40000"/>
                <a:lumOff val="6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sz="2000" b="1" dirty="0">
                  <a:solidFill>
                    <a:schemeClr val="tx1">
                      <a:lumMod val="95000"/>
                      <a:lumOff val="5000"/>
                    </a:schemeClr>
                  </a:solidFill>
                  <a:latin typeface="IRANSans"/>
                  <a:cs typeface="B Nazanin" panose="00000400000000000000" pitchFamily="2" charset="-78"/>
                </a:rPr>
                <a:t>آزمایش پیتر یوهانسن و </a:t>
              </a:r>
              <a:r>
                <a:rPr lang="fa-IR" sz="2000" b="1" dirty="0" smtClean="0">
                  <a:solidFill>
                    <a:schemeClr val="tx1">
                      <a:lumMod val="95000"/>
                      <a:lumOff val="5000"/>
                    </a:schemeClr>
                  </a:solidFill>
                  <a:latin typeface="IRANSans"/>
                  <a:cs typeface="B Nazanin" panose="00000400000000000000" pitchFamily="2" charset="-78"/>
                </a:rPr>
                <a:t>همکارانش</a:t>
              </a:r>
            </a:p>
          </p:txBody>
        </p:sp>
        <p:sp>
          <p:nvSpPr>
            <p:cNvPr id="5" name="Rectangle 4"/>
            <p:cNvSpPr/>
            <p:nvPr/>
          </p:nvSpPr>
          <p:spPr>
            <a:xfrm>
              <a:off x="613954" y="3086592"/>
              <a:ext cx="10816045" cy="1384995"/>
            </a:xfrm>
            <a:prstGeom prst="rect">
              <a:avLst/>
            </a:prstGeom>
            <a:solidFill>
              <a:schemeClr val="accent4">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sz="1400" b="1" dirty="0">
                  <a:solidFill>
                    <a:schemeClr val="tx1">
                      <a:lumMod val="95000"/>
                      <a:lumOff val="5000"/>
                    </a:schemeClr>
                  </a:solidFill>
                  <a:latin typeface="IRANSans"/>
                  <a:cs typeface="B Nazanin" panose="00000400000000000000" pitchFamily="2" charset="-78"/>
                </a:rPr>
                <a:t>پیتر یوهانسن و همکارانش چند زوج عکس چهره را به افراد مختلف نشان می‌دادند و می‌گفتند که در هر زوج، کدام چهره زیباتر است؟</a:t>
              </a:r>
            </a:p>
            <a:p>
              <a:pPr algn="justLow" rtl="1"/>
              <a:r>
                <a:rPr lang="fa-IR" sz="1400" b="1" dirty="0">
                  <a:solidFill>
                    <a:schemeClr val="tx1">
                      <a:lumMod val="95000"/>
                      <a:lumOff val="5000"/>
                    </a:schemeClr>
                  </a:solidFill>
                  <a:latin typeface="IRANSans"/>
                  <a:cs typeface="B Nazanin" panose="00000400000000000000" pitchFamily="2" charset="-78"/>
                </a:rPr>
                <a:t>بعد از مدتی، عکسی را دوباره به همان افراد نشان دادند و پرسیدند: چرا این چهره را انتخاب کردی؟</a:t>
              </a:r>
            </a:p>
            <a:p>
              <a:pPr algn="justLow" rtl="1"/>
              <a:r>
                <a:rPr lang="fa-IR" sz="1400" b="1" dirty="0">
                  <a:solidFill>
                    <a:schemeClr val="tx1">
                      <a:lumMod val="95000"/>
                      <a:lumOff val="5000"/>
                    </a:schemeClr>
                  </a:solidFill>
                  <a:latin typeface="IRANSans"/>
                  <a:cs typeface="B Nazanin" panose="00000400000000000000" pitchFamily="2" charset="-78"/>
                </a:rPr>
                <a:t>اما یک کار زیرکانه انجام شده بود: عکس‌هایی که به افراد نشان می‌دادند، عکس‌های انتخاب شده‌ی آن‌ها نبود.</a:t>
              </a:r>
            </a:p>
            <a:p>
              <a:pPr algn="justLow" rtl="1"/>
              <a:r>
                <a:rPr lang="fa-IR" sz="1400" b="1" dirty="0">
                  <a:solidFill>
                    <a:schemeClr val="tx1">
                      <a:lumMod val="95000"/>
                      <a:lumOff val="5000"/>
                    </a:schemeClr>
                  </a:solidFill>
                  <a:latin typeface="IRANSans"/>
                  <a:cs typeface="B Nazanin" panose="00000400000000000000" pitchFamily="2" charset="-78"/>
                </a:rPr>
                <a:t>جز درصد کمی از افراد (حدود ۱۰٪)، هیچ‌کس نفهمید که این عکس‌ها را انتخاب نکرده بوده و اتفاقاً همگی، با انواع توضیحات و توصیفات، علت زیباتر بودنِ عکس را شرح دادند.</a:t>
              </a:r>
            </a:p>
            <a:p>
              <a:pPr algn="justLow" rtl="1"/>
              <a:r>
                <a:rPr lang="fa-IR" sz="1400" b="1" dirty="0">
                  <a:solidFill>
                    <a:schemeClr val="tx1">
                      <a:lumMod val="95000"/>
                      <a:lumOff val="5000"/>
                    </a:schemeClr>
                  </a:solidFill>
                  <a:latin typeface="IRANSans"/>
                  <a:cs typeface="B Nazanin" panose="00000400000000000000" pitchFamily="2" charset="-78"/>
                </a:rPr>
                <a:t>جالب این‌جاست که ۸۴٪ شرکت‌کنندگان در پایان آزمایش، در پاسخ به این سوال که آیا تعویض عکس‌ها را متوجه می‌شوید، گفته بودند که حتماً تغییر و تعویض عکس‌ها را متوجه خواهند شد.</a:t>
              </a:r>
            </a:p>
          </p:txBody>
        </p:sp>
      </p:grpSp>
      <p:sp>
        <p:nvSpPr>
          <p:cNvPr id="7" name="Rectangle 6"/>
          <p:cNvSpPr/>
          <p:nvPr/>
        </p:nvSpPr>
        <p:spPr>
          <a:xfrm>
            <a:off x="698861" y="4554616"/>
            <a:ext cx="10816045" cy="1169551"/>
          </a:xfrm>
          <a:prstGeom prst="rect">
            <a:avLst/>
          </a:prstGeom>
          <a:solidFill>
            <a:schemeClr val="accent1">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sz="1400" b="1" dirty="0">
                <a:solidFill>
                  <a:schemeClr val="tx1">
                    <a:lumMod val="95000"/>
                    <a:lumOff val="5000"/>
                  </a:schemeClr>
                </a:solidFill>
                <a:latin typeface="IRANSans"/>
                <a:cs typeface="B Nazanin" panose="00000400000000000000" pitchFamily="2" charset="-78"/>
              </a:rPr>
              <a:t>برای انجام یک فعالیت مشخص، با جستجو در وب به دو نرم‌افزار </a:t>
            </a:r>
            <a:r>
              <a:rPr lang="en-US" sz="1400" b="1" dirty="0">
                <a:solidFill>
                  <a:schemeClr val="tx1">
                    <a:lumMod val="95000"/>
                    <a:lumOff val="5000"/>
                  </a:schemeClr>
                </a:solidFill>
                <a:latin typeface="IRANSans"/>
                <a:cs typeface="B Nazanin" panose="00000400000000000000" pitchFamily="2" charset="-78"/>
              </a:rPr>
              <a:t>X </a:t>
            </a:r>
            <a:r>
              <a:rPr lang="fa-IR" sz="1400" b="1" dirty="0">
                <a:solidFill>
                  <a:schemeClr val="tx1">
                    <a:lumMod val="95000"/>
                    <a:lumOff val="5000"/>
                  </a:schemeClr>
                </a:solidFill>
                <a:latin typeface="IRANSans"/>
                <a:cs typeface="B Nazanin" panose="00000400000000000000" pitchFamily="2" charset="-78"/>
              </a:rPr>
              <a:t>و </a:t>
            </a:r>
            <a:r>
              <a:rPr lang="en-US" sz="1400" b="1" dirty="0">
                <a:solidFill>
                  <a:schemeClr val="tx1">
                    <a:lumMod val="95000"/>
                    <a:lumOff val="5000"/>
                  </a:schemeClr>
                </a:solidFill>
                <a:latin typeface="IRANSans"/>
                <a:cs typeface="B Nazanin" panose="00000400000000000000" pitchFamily="2" charset="-78"/>
              </a:rPr>
              <a:t>Y </a:t>
            </a:r>
            <a:r>
              <a:rPr lang="fa-IR" sz="1400" b="1" dirty="0">
                <a:solidFill>
                  <a:schemeClr val="tx1">
                    <a:lumMod val="95000"/>
                    <a:lumOff val="5000"/>
                  </a:schemeClr>
                </a:solidFill>
                <a:latin typeface="IRANSans"/>
                <a:cs typeface="B Nazanin" panose="00000400000000000000" pitchFamily="2" charset="-78"/>
              </a:rPr>
              <a:t>می‌رسیدنرم‌افزار </a:t>
            </a:r>
            <a:r>
              <a:rPr lang="en-US" sz="1400" b="1" dirty="0">
                <a:solidFill>
                  <a:schemeClr val="tx1">
                    <a:lumMod val="95000"/>
                    <a:lumOff val="5000"/>
                  </a:schemeClr>
                </a:solidFill>
                <a:latin typeface="IRANSans"/>
                <a:cs typeface="B Nazanin" panose="00000400000000000000" pitchFamily="2" charset="-78"/>
              </a:rPr>
              <a:t>X</a:t>
            </a:r>
            <a:r>
              <a:rPr lang="fa-IR" sz="1400" b="1" dirty="0">
                <a:solidFill>
                  <a:schemeClr val="tx1">
                    <a:lumMod val="95000"/>
                    <a:lumOff val="5000"/>
                  </a:schemeClr>
                </a:solidFill>
                <a:latin typeface="IRANSans"/>
                <a:cs typeface="B Nazanin" panose="00000400000000000000" pitchFamily="2" charset="-78"/>
              </a:rPr>
              <a:t> </a:t>
            </a:r>
            <a:r>
              <a:rPr lang="en-US" sz="1400" b="1" dirty="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از همان ابتدا از شما می‌خواهد که مبلغ مشخصی را پرداخت کرده و آن را خریداری </a:t>
            </a:r>
            <a:r>
              <a:rPr lang="fa-IR" sz="1400" b="1" dirty="0" smtClean="0">
                <a:solidFill>
                  <a:schemeClr val="tx1">
                    <a:lumMod val="95000"/>
                    <a:lumOff val="5000"/>
                  </a:schemeClr>
                </a:solidFill>
                <a:latin typeface="IRANSans"/>
                <a:cs typeface="B Nazanin" panose="00000400000000000000" pitchFamily="2" charset="-78"/>
              </a:rPr>
              <a:t>کنید. اما </a:t>
            </a:r>
            <a:r>
              <a:rPr lang="fa-IR" sz="1400" b="1" dirty="0">
                <a:solidFill>
                  <a:schemeClr val="tx1">
                    <a:lumMod val="95000"/>
                    <a:lumOff val="5000"/>
                  </a:schemeClr>
                </a:solidFill>
                <a:latin typeface="IRANSans"/>
                <a:cs typeface="B Nazanin" panose="00000400000000000000" pitchFamily="2" charset="-78"/>
              </a:rPr>
              <a:t>نرم‌افزار </a:t>
            </a:r>
            <a:r>
              <a:rPr lang="en-US" sz="1400" b="1" dirty="0" smtClean="0">
                <a:solidFill>
                  <a:schemeClr val="tx1">
                    <a:lumMod val="95000"/>
                    <a:lumOff val="5000"/>
                  </a:schemeClr>
                </a:solidFill>
                <a:latin typeface="IRANSans"/>
                <a:cs typeface="B Nazanin" panose="00000400000000000000" pitchFamily="2" charset="-78"/>
              </a:rPr>
              <a:t>Y</a:t>
            </a:r>
            <a:r>
              <a:rPr lang="fa-IR" sz="1400" b="1" dirty="0" smtClean="0">
                <a:solidFill>
                  <a:schemeClr val="tx1">
                    <a:lumMod val="95000"/>
                    <a:lumOff val="5000"/>
                  </a:schemeClr>
                </a:solidFill>
                <a:latin typeface="IRANSans"/>
                <a:cs typeface="B Nazanin" panose="00000400000000000000" pitchFamily="2" charset="-78"/>
              </a:rPr>
              <a:t> </a:t>
            </a:r>
            <a:r>
              <a:rPr lang="en-US" sz="1400" b="1" dirty="0" smtClean="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نسخه‌ی آزمایشی دارد و به شما اجازه می‌دهد تا مدتی از آن استفاده کنید.</a:t>
            </a:r>
          </a:p>
          <a:p>
            <a:pPr algn="justLow" rtl="1"/>
            <a:r>
              <a:rPr lang="fa-IR" sz="1400" b="1" dirty="0">
                <a:solidFill>
                  <a:schemeClr val="tx1">
                    <a:lumMod val="95000"/>
                    <a:lumOff val="5000"/>
                  </a:schemeClr>
                </a:solidFill>
                <a:latin typeface="IRANSans"/>
                <a:cs typeface="B Nazanin" panose="00000400000000000000" pitchFamily="2" charset="-78"/>
              </a:rPr>
              <a:t>جدای از این‌ نکته‌ی بدیهی که استفاده از نسخه‌ی آزمایشی، فرصتی برای آشناتر شدن بیشتر با نرم‌افزار است، نابینایی تصمیم‌گیری هم می‌تواند به کمک فروشنده بیاید.</a:t>
            </a:r>
          </a:p>
          <a:p>
            <a:pPr algn="justLow" rtl="1"/>
            <a:r>
              <a:rPr lang="fa-IR" sz="1400" b="1" dirty="0">
                <a:solidFill>
                  <a:schemeClr val="tx1">
                    <a:lumMod val="95000"/>
                    <a:lumOff val="5000"/>
                  </a:schemeClr>
                </a:solidFill>
                <a:latin typeface="IRANSans"/>
                <a:cs typeface="B Nazanin" panose="00000400000000000000" pitchFamily="2" charset="-78"/>
              </a:rPr>
              <a:t>مدتی بعد، ممکن است به خاطر نیاورید که علت انتخاب </a:t>
            </a:r>
            <a:r>
              <a:rPr lang="en-US" sz="1400" b="1" dirty="0" smtClean="0">
                <a:solidFill>
                  <a:schemeClr val="tx1">
                    <a:lumMod val="95000"/>
                    <a:lumOff val="5000"/>
                  </a:schemeClr>
                </a:solidFill>
                <a:latin typeface="IRANSans"/>
                <a:cs typeface="B Nazanin" panose="00000400000000000000" pitchFamily="2" charset="-78"/>
              </a:rPr>
              <a:t>Y</a:t>
            </a:r>
            <a:r>
              <a:rPr lang="fa-IR" sz="1400" b="1" dirty="0" smtClean="0">
                <a:solidFill>
                  <a:schemeClr val="tx1">
                    <a:lumMod val="95000"/>
                    <a:lumOff val="5000"/>
                  </a:schemeClr>
                </a:solidFill>
                <a:latin typeface="IRANSans"/>
                <a:cs typeface="B Nazanin" panose="00000400000000000000" pitchFamily="2" charset="-78"/>
              </a:rPr>
              <a:t> </a:t>
            </a:r>
            <a:r>
              <a:rPr lang="en-US" sz="1400" b="1" dirty="0" smtClean="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به جای </a:t>
            </a:r>
            <a:r>
              <a:rPr lang="en-US" sz="1400" b="1" dirty="0" smtClean="0">
                <a:solidFill>
                  <a:schemeClr val="tx1">
                    <a:lumMod val="95000"/>
                    <a:lumOff val="5000"/>
                  </a:schemeClr>
                </a:solidFill>
                <a:latin typeface="IRANSans"/>
                <a:cs typeface="B Nazanin" panose="00000400000000000000" pitchFamily="2" charset="-78"/>
              </a:rPr>
              <a:t>X</a:t>
            </a:r>
            <a:r>
              <a:rPr lang="fa-IR" sz="1400" b="1" dirty="0" smtClean="0">
                <a:solidFill>
                  <a:schemeClr val="tx1">
                    <a:lumMod val="95000"/>
                    <a:lumOff val="5000"/>
                  </a:schemeClr>
                </a:solidFill>
                <a:latin typeface="IRANSans"/>
                <a:cs typeface="B Nazanin" panose="00000400000000000000" pitchFamily="2" charset="-78"/>
              </a:rPr>
              <a:t> </a:t>
            </a:r>
            <a:r>
              <a:rPr lang="en-US" sz="1400" b="1" dirty="0" smtClean="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پولی بودن </a:t>
            </a:r>
            <a:r>
              <a:rPr lang="en-US" sz="1400" b="1" dirty="0" smtClean="0">
                <a:solidFill>
                  <a:schemeClr val="tx1">
                    <a:lumMod val="95000"/>
                    <a:lumOff val="5000"/>
                  </a:schemeClr>
                </a:solidFill>
                <a:latin typeface="IRANSans"/>
                <a:cs typeface="B Nazanin" panose="00000400000000000000" pitchFamily="2" charset="-78"/>
              </a:rPr>
              <a:t>X</a:t>
            </a:r>
            <a:r>
              <a:rPr lang="fa-IR" sz="1400" b="1" dirty="0" smtClean="0">
                <a:solidFill>
                  <a:schemeClr val="tx1">
                    <a:lumMod val="95000"/>
                    <a:lumOff val="5000"/>
                  </a:schemeClr>
                </a:solidFill>
                <a:latin typeface="IRANSans"/>
                <a:cs typeface="B Nazanin" panose="00000400000000000000" pitchFamily="2" charset="-78"/>
              </a:rPr>
              <a:t> </a:t>
            </a:r>
            <a:r>
              <a:rPr lang="en-US" sz="1400" b="1" dirty="0" smtClean="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بوده است. بلکه ذهن شما یک روایتِ هماهنگ از ماجرا ساخته و شما، مجموعه‌ای از نقاط قوت و قابلیت‌ها را به عنوان علت انتخاب </a:t>
            </a:r>
            <a:r>
              <a:rPr lang="en-US" sz="1400" b="1" dirty="0" smtClean="0">
                <a:solidFill>
                  <a:schemeClr val="tx1">
                    <a:lumMod val="95000"/>
                    <a:lumOff val="5000"/>
                  </a:schemeClr>
                </a:solidFill>
                <a:latin typeface="IRANSans"/>
                <a:cs typeface="B Nazanin" panose="00000400000000000000" pitchFamily="2" charset="-78"/>
              </a:rPr>
              <a:t>Y</a:t>
            </a:r>
            <a:r>
              <a:rPr lang="fa-IR" sz="1400" b="1" dirty="0" smtClean="0">
                <a:solidFill>
                  <a:schemeClr val="tx1">
                    <a:lumMod val="95000"/>
                    <a:lumOff val="5000"/>
                  </a:schemeClr>
                </a:solidFill>
                <a:latin typeface="IRANSans"/>
                <a:cs typeface="B Nazanin" panose="00000400000000000000" pitchFamily="2" charset="-78"/>
              </a:rPr>
              <a:t> </a:t>
            </a:r>
            <a:r>
              <a:rPr lang="en-US" sz="1400" b="1" dirty="0" smtClean="0">
                <a:solidFill>
                  <a:schemeClr val="tx1">
                    <a:lumMod val="95000"/>
                    <a:lumOff val="5000"/>
                  </a:schemeClr>
                </a:solidFill>
                <a:latin typeface="IRANSans"/>
                <a:cs typeface="B Nazanin" panose="00000400000000000000" pitchFamily="2" charset="-78"/>
              </a:rPr>
              <a:t> </a:t>
            </a:r>
            <a:r>
              <a:rPr lang="fa-IR" sz="1400" b="1" dirty="0">
                <a:solidFill>
                  <a:schemeClr val="tx1">
                    <a:lumMod val="95000"/>
                    <a:lumOff val="5000"/>
                  </a:schemeClr>
                </a:solidFill>
                <a:latin typeface="IRANSans"/>
                <a:cs typeface="B Nazanin" panose="00000400000000000000" pitchFamily="2" charset="-78"/>
              </a:rPr>
              <a:t>بیان می‌کنید.</a:t>
            </a:r>
          </a:p>
        </p:txBody>
      </p:sp>
      <p:sp>
        <p:nvSpPr>
          <p:cNvPr id="9" name="Rectangle 8"/>
          <p:cNvSpPr/>
          <p:nvPr/>
        </p:nvSpPr>
        <p:spPr>
          <a:xfrm>
            <a:off x="698861" y="4154506"/>
            <a:ext cx="10816045" cy="400110"/>
          </a:xfrm>
          <a:prstGeom prst="rect">
            <a:avLst/>
          </a:prstGeom>
          <a:solidFill>
            <a:schemeClr val="accent1">
              <a:lumMod val="60000"/>
              <a:lumOff val="4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sz="2000" b="1" dirty="0" smtClean="0">
                <a:solidFill>
                  <a:schemeClr val="tx1">
                    <a:lumMod val="95000"/>
                    <a:lumOff val="5000"/>
                  </a:schemeClr>
                </a:solidFill>
                <a:latin typeface="IRANSans"/>
                <a:cs typeface="B Nazanin" panose="00000400000000000000" pitchFamily="2" charset="-78"/>
              </a:rPr>
              <a:t>انتخاب بین دو محصول نرم افزاری </a:t>
            </a:r>
          </a:p>
        </p:txBody>
      </p:sp>
      <p:sp>
        <p:nvSpPr>
          <p:cNvPr id="10" name="Rectangle 9"/>
          <p:cNvSpPr/>
          <p:nvPr/>
        </p:nvSpPr>
        <p:spPr>
          <a:xfrm>
            <a:off x="1615440" y="5952675"/>
            <a:ext cx="8961120" cy="46166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pPr algn="ctr"/>
            <a:r>
              <a:rPr lang="fa-IR" sz="2400" dirty="0">
                <a:solidFill>
                  <a:srgbClr val="000000"/>
                </a:solidFill>
                <a:latin typeface="IRANSans" panose="02040503050201020203" pitchFamily="18" charset="-78"/>
                <a:cs typeface="B Nazanin" panose="00000400000000000000" pitchFamily="2" charset="-78"/>
              </a:rPr>
              <a:t>یکی از کاربردهای </a:t>
            </a:r>
            <a:r>
              <a:rPr lang="fa-IR" sz="2400" dirty="0">
                <a:solidFill>
                  <a:srgbClr val="C4161C"/>
                </a:solidFill>
                <a:latin typeface="IRANSans" panose="02040503050201020203" pitchFamily="18" charset="-78"/>
                <a:cs typeface="B Nazanin" panose="00000400000000000000" pitchFamily="2" charset="-78"/>
              </a:rPr>
              <a:t>تکنیک ثبت و مرور تصمیم‌ها</a:t>
            </a:r>
            <a:r>
              <a:rPr lang="fa-IR" sz="2400" dirty="0">
                <a:solidFill>
                  <a:srgbClr val="000000"/>
                </a:solidFill>
                <a:latin typeface="IRANSans" panose="02040503050201020203" pitchFamily="18" charset="-78"/>
                <a:cs typeface="B Nazanin" panose="00000400000000000000" pitchFamily="2" charset="-78"/>
              </a:rPr>
              <a:t> هم، اتفاقاً کاهش اثر این خطای شناختی است.</a:t>
            </a:r>
            <a:endParaRPr lang="en-US" sz="2400" dirty="0">
              <a:cs typeface="B Nazanin" panose="00000400000000000000" pitchFamily="2" charset="-78"/>
            </a:endParaRPr>
          </a:p>
        </p:txBody>
      </p:sp>
    </p:spTree>
    <p:extLst>
      <p:ext uri="{BB962C8B-B14F-4D97-AF65-F5344CB8AC3E}">
        <p14:creationId xmlns:p14="http://schemas.microsoft.com/office/powerpoint/2010/main" val="390896179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449977" y="492035"/>
            <a:ext cx="9875520" cy="709749"/>
          </a:xfrm>
        </p:spPr>
        <p:txBody>
          <a:bodyPr vert="horz" lIns="91440" tIns="45720" rIns="91440" bIns="45720" rtlCol="0" anchor="ctr">
            <a:noAutofit/>
          </a:bodyPr>
          <a:lstStyle/>
          <a:p>
            <a:pPr algn="r"/>
            <a:r>
              <a:rPr lang="fa-IR" sz="3200" dirty="0">
                <a:cs typeface="B Nazanin" panose="00000400000000000000" pitchFamily="2" charset="-78"/>
              </a:rPr>
              <a:t>خطای درک نادرست دامنه ارزیابی و مقیاس </a:t>
            </a:r>
            <a:r>
              <a:rPr lang="fa-IR" sz="3200" dirty="0" smtClean="0">
                <a:cs typeface="B Nazanin" panose="00000400000000000000" pitchFamily="2" charset="-78"/>
              </a:rPr>
              <a:t>مسئله</a:t>
            </a:r>
            <a:endParaRPr lang="fa-IR" sz="32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4" name="Picture 3"/>
          <p:cNvPicPr>
            <a:picLocks noChangeAspect="1"/>
          </p:cNvPicPr>
          <p:nvPr/>
        </p:nvPicPr>
        <p:blipFill rotWithShape="1">
          <a:blip r:embed="rId2"/>
          <a:srcRect r="24133"/>
          <a:stretch/>
        </p:blipFill>
        <p:spPr>
          <a:xfrm>
            <a:off x="10811765" y="1977343"/>
            <a:ext cx="748863" cy="658055"/>
          </a:xfrm>
          <a:prstGeom prst="rect">
            <a:avLst/>
          </a:prstGeom>
          <a:ln w="6350">
            <a:solidFill>
              <a:srgbClr val="006181"/>
            </a:solidFill>
          </a:ln>
        </p:spPr>
      </p:pic>
      <p:pic>
        <p:nvPicPr>
          <p:cNvPr id="3" name="Picture 2"/>
          <p:cNvPicPr>
            <a:picLocks noChangeAspect="1"/>
          </p:cNvPicPr>
          <p:nvPr/>
        </p:nvPicPr>
        <p:blipFill>
          <a:blip r:embed="rId3"/>
          <a:stretch>
            <a:fillRect/>
          </a:stretch>
        </p:blipFill>
        <p:spPr>
          <a:xfrm>
            <a:off x="8912270" y="1418272"/>
            <a:ext cx="1185319" cy="1776199"/>
          </a:xfrm>
          <a:prstGeom prst="rect">
            <a:avLst/>
          </a:prstGeom>
        </p:spPr>
      </p:pic>
      <p:cxnSp>
        <p:nvCxnSpPr>
          <p:cNvPr id="6" name="Straight Arrow Connector 5"/>
          <p:cNvCxnSpPr/>
          <p:nvPr/>
        </p:nvCxnSpPr>
        <p:spPr>
          <a:xfrm flipH="1">
            <a:off x="10162902" y="2306371"/>
            <a:ext cx="570485" cy="0"/>
          </a:xfrm>
          <a:prstGeom prst="straightConnector1">
            <a:avLst/>
          </a:prstGeom>
          <a:ln w="38100">
            <a:tailEnd type="triangle"/>
          </a:ln>
        </p:spPr>
        <p:style>
          <a:lnRef idx="2">
            <a:schemeClr val="accent2"/>
          </a:lnRef>
          <a:fillRef idx="0">
            <a:schemeClr val="accent2"/>
          </a:fillRef>
          <a:effectRef idx="1">
            <a:schemeClr val="accent2"/>
          </a:effectRef>
          <a:fontRef idx="minor">
            <a:schemeClr val="tx1"/>
          </a:fontRef>
        </p:style>
      </p:cxnSp>
      <p:cxnSp>
        <p:nvCxnSpPr>
          <p:cNvPr id="9" name="Straight Arrow Connector 8"/>
          <p:cNvCxnSpPr/>
          <p:nvPr/>
        </p:nvCxnSpPr>
        <p:spPr>
          <a:xfrm flipH="1">
            <a:off x="7955280" y="2306370"/>
            <a:ext cx="857868" cy="0"/>
          </a:xfrm>
          <a:prstGeom prst="straightConnector1">
            <a:avLst/>
          </a:prstGeom>
          <a:ln w="38100">
            <a:tailEnd type="triangle"/>
          </a:ln>
        </p:spPr>
        <p:style>
          <a:lnRef idx="2">
            <a:schemeClr val="accent2"/>
          </a:lnRef>
          <a:fillRef idx="0">
            <a:schemeClr val="accent2"/>
          </a:fillRef>
          <a:effectRef idx="1">
            <a:schemeClr val="accent2"/>
          </a:effectRef>
          <a:fontRef idx="minor">
            <a:schemeClr val="tx1"/>
          </a:fontRef>
        </p:style>
      </p:cxnSp>
      <p:sp>
        <p:nvSpPr>
          <p:cNvPr id="10" name="Rectangle 9"/>
          <p:cNvSpPr/>
          <p:nvPr/>
        </p:nvSpPr>
        <p:spPr>
          <a:xfrm>
            <a:off x="698861" y="1449364"/>
            <a:ext cx="7073539" cy="1200329"/>
          </a:xfrm>
          <a:prstGeom prst="rect">
            <a:avLst/>
          </a:prstGeom>
        </p:spPr>
        <p:txBody>
          <a:bodyPr wrap="square">
            <a:spAutoFit/>
          </a:bodyPr>
          <a:lstStyle/>
          <a:p>
            <a:pPr algn="justLow" rtl="1"/>
            <a:r>
              <a:rPr lang="fa-IR" dirty="0" smtClean="0">
                <a:solidFill>
                  <a:srgbClr val="111111"/>
                </a:solidFill>
                <a:latin typeface="IRANSans"/>
                <a:cs typeface="B Nazanin" panose="00000400000000000000" pitchFamily="2" charset="-78"/>
              </a:rPr>
              <a:t>از یک دسته از افراد دوستدار محیط زیست پرسیدند که برای حل فلان مشکل محیط زیست و نجات جان سالانه </a:t>
            </a:r>
            <a:r>
              <a:rPr lang="fa-IR" b="1" dirty="0" smtClean="0">
                <a:solidFill>
                  <a:srgbClr val="FF0000"/>
                </a:solidFill>
                <a:latin typeface="IRANSans"/>
                <a:cs typeface="B Nazanin" panose="00000400000000000000" pitchFamily="2" charset="-78"/>
              </a:rPr>
              <a:t>2000 پرنده </a:t>
            </a:r>
            <a:r>
              <a:rPr lang="fa-IR" dirty="0" smtClean="0">
                <a:solidFill>
                  <a:srgbClr val="111111"/>
                </a:solidFill>
                <a:latin typeface="IRANSans"/>
                <a:cs typeface="B Nazanin" panose="00000400000000000000" pitchFamily="2" charset="-78"/>
              </a:rPr>
              <a:t>حاضر هستید چقدر بیشتر مالیات بدهید و همین سوال را از دسته دیگری از افراد مشابه جهت نجات جان </a:t>
            </a:r>
            <a:r>
              <a:rPr lang="fa-IR" b="1" dirty="0" smtClean="0">
                <a:solidFill>
                  <a:srgbClr val="006181"/>
                </a:solidFill>
                <a:latin typeface="IRANSans"/>
                <a:cs typeface="B Nazanin" panose="00000400000000000000" pitchFamily="2" charset="-78"/>
              </a:rPr>
              <a:t>20000 پرنده </a:t>
            </a:r>
            <a:r>
              <a:rPr lang="fa-IR" dirty="0" smtClean="0">
                <a:solidFill>
                  <a:srgbClr val="111111"/>
                </a:solidFill>
                <a:latin typeface="IRANSans"/>
                <a:cs typeface="B Nazanin" panose="00000400000000000000" pitchFamily="2" charset="-78"/>
              </a:rPr>
              <a:t>پرسیدند . از دسته سوم هم همین سوال برای </a:t>
            </a:r>
            <a:r>
              <a:rPr lang="fa-IR" b="1" dirty="0" smtClean="0">
                <a:solidFill>
                  <a:schemeClr val="accent1">
                    <a:lumMod val="50000"/>
                  </a:schemeClr>
                </a:solidFill>
                <a:latin typeface="IRANSans"/>
                <a:cs typeface="B Nazanin" panose="00000400000000000000" pitchFamily="2" charset="-78"/>
              </a:rPr>
              <a:t>200000</a:t>
            </a:r>
            <a:r>
              <a:rPr lang="fa-IR" dirty="0" smtClean="0">
                <a:solidFill>
                  <a:srgbClr val="111111"/>
                </a:solidFill>
                <a:latin typeface="IRANSans"/>
                <a:cs typeface="B Nazanin" panose="00000400000000000000" pitchFamily="2" charset="-78"/>
              </a:rPr>
              <a:t> </a:t>
            </a:r>
            <a:r>
              <a:rPr lang="fa-IR" b="1" dirty="0" smtClean="0">
                <a:solidFill>
                  <a:schemeClr val="accent1">
                    <a:lumMod val="50000"/>
                  </a:schemeClr>
                </a:solidFill>
                <a:latin typeface="IRANSans"/>
                <a:cs typeface="B Nazanin" panose="00000400000000000000" pitchFamily="2" charset="-78"/>
              </a:rPr>
              <a:t>پرنده</a:t>
            </a:r>
            <a:r>
              <a:rPr lang="fa-IR" dirty="0" smtClean="0">
                <a:solidFill>
                  <a:srgbClr val="111111"/>
                </a:solidFill>
                <a:latin typeface="IRANSans"/>
                <a:cs typeface="B Nazanin" panose="00000400000000000000" pitchFamily="2" charset="-78"/>
              </a:rPr>
              <a:t> مطرح شد . جوابها تقریبا به هم نزدیک بود . </a:t>
            </a:r>
            <a:endParaRPr lang="en-US" dirty="0">
              <a:solidFill>
                <a:srgbClr val="111111"/>
              </a:solidFill>
              <a:latin typeface="IRANSans"/>
              <a:cs typeface="B Nazanin" panose="00000400000000000000" pitchFamily="2" charset="-78"/>
            </a:endParaRPr>
          </a:p>
        </p:txBody>
      </p:sp>
      <p:sp>
        <p:nvSpPr>
          <p:cNvPr id="11" name="Rectangle 10"/>
          <p:cNvSpPr/>
          <p:nvPr/>
        </p:nvSpPr>
        <p:spPr>
          <a:xfrm>
            <a:off x="4836658" y="2660355"/>
            <a:ext cx="2253345" cy="369332"/>
          </a:xfrm>
          <a:prstGeom prst="rect">
            <a:avLst/>
          </a:prstGeom>
        </p:spPr>
        <p:txBody>
          <a:bodyPr wrap="square">
            <a:spAutoFit/>
          </a:bodyPr>
          <a:lstStyle/>
          <a:p>
            <a:pPr algn="justLow" rtl="1"/>
            <a:r>
              <a:rPr lang="fa-IR" dirty="0" smtClean="0">
                <a:solidFill>
                  <a:srgbClr val="111111"/>
                </a:solidFill>
                <a:latin typeface="IRANSans"/>
                <a:cs typeface="B Nazanin" panose="00000400000000000000" pitchFamily="2" charset="-78"/>
              </a:rPr>
              <a:t>میانگین گروه دوم : 78 دلار </a:t>
            </a:r>
            <a:endParaRPr lang="en-US" dirty="0">
              <a:solidFill>
                <a:srgbClr val="111111"/>
              </a:solidFill>
              <a:latin typeface="IRANSans"/>
              <a:cs typeface="B Nazanin" panose="00000400000000000000" pitchFamily="2" charset="-78"/>
            </a:endParaRPr>
          </a:p>
        </p:txBody>
      </p:sp>
      <p:sp>
        <p:nvSpPr>
          <p:cNvPr id="12" name="Rectangle 11"/>
          <p:cNvSpPr/>
          <p:nvPr/>
        </p:nvSpPr>
        <p:spPr>
          <a:xfrm>
            <a:off x="1332411" y="2660355"/>
            <a:ext cx="2364377" cy="369332"/>
          </a:xfrm>
          <a:prstGeom prst="rect">
            <a:avLst/>
          </a:prstGeom>
        </p:spPr>
        <p:txBody>
          <a:bodyPr wrap="square">
            <a:spAutoFit/>
          </a:bodyPr>
          <a:lstStyle/>
          <a:p>
            <a:pPr algn="justLow" rtl="1"/>
            <a:r>
              <a:rPr lang="fa-IR" dirty="0" smtClean="0">
                <a:solidFill>
                  <a:srgbClr val="111111"/>
                </a:solidFill>
                <a:latin typeface="IRANSans"/>
                <a:cs typeface="B Nazanin" panose="00000400000000000000" pitchFamily="2" charset="-78"/>
              </a:rPr>
              <a:t>میانگین گروه سوم  : 88 دلار </a:t>
            </a:r>
            <a:endParaRPr lang="en-US" dirty="0">
              <a:solidFill>
                <a:srgbClr val="111111"/>
              </a:solidFill>
              <a:latin typeface="IRANSans"/>
              <a:cs typeface="B Nazanin" panose="00000400000000000000" pitchFamily="2" charset="-78"/>
            </a:endParaRPr>
          </a:p>
        </p:txBody>
      </p:sp>
      <p:sp>
        <p:nvSpPr>
          <p:cNvPr id="13" name="Rectangle 12"/>
          <p:cNvSpPr/>
          <p:nvPr/>
        </p:nvSpPr>
        <p:spPr>
          <a:xfrm>
            <a:off x="695732" y="3378861"/>
            <a:ext cx="9924371" cy="369332"/>
          </a:xfrm>
          <a:prstGeom prst="rect">
            <a:avLst/>
          </a:prstGeom>
        </p:spPr>
        <p:txBody>
          <a:bodyPr wrap="square">
            <a:spAutoFit/>
          </a:bodyPr>
          <a:lstStyle/>
          <a:p>
            <a:pPr algn="justLow" rtl="1"/>
            <a:r>
              <a:rPr lang="fa-IR" dirty="0">
                <a:solidFill>
                  <a:srgbClr val="111111"/>
                </a:solidFill>
                <a:latin typeface="IRANSans"/>
                <a:cs typeface="B Nazanin" panose="00000400000000000000" pitchFamily="2" charset="-78"/>
              </a:rPr>
              <a:t>مبلغ پیشنهادی مردم، تقریباً مقدار مشخصی </a:t>
            </a:r>
            <a:r>
              <a:rPr lang="fa-IR" dirty="0" smtClean="0">
                <a:solidFill>
                  <a:srgbClr val="111111"/>
                </a:solidFill>
                <a:latin typeface="IRANSans"/>
                <a:cs typeface="B Nazanin" panose="00000400000000000000" pitchFamily="2" charset="-78"/>
              </a:rPr>
              <a:t>(حدود۸۰ </a:t>
            </a:r>
            <a:r>
              <a:rPr lang="fa-IR" dirty="0">
                <a:solidFill>
                  <a:srgbClr val="111111"/>
                </a:solidFill>
                <a:latin typeface="IRANSans"/>
                <a:cs typeface="B Nazanin" panose="00000400000000000000" pitchFamily="2" charset="-78"/>
              </a:rPr>
              <a:t>دلار) بود</a:t>
            </a:r>
            <a:r>
              <a:rPr lang="fa-IR" dirty="0">
                <a:solidFill>
                  <a:srgbClr val="FF0000"/>
                </a:solidFill>
                <a:latin typeface="IRANSans"/>
                <a:cs typeface="B Nazanin" panose="00000400000000000000" pitchFamily="2" charset="-78"/>
              </a:rPr>
              <a:t>. مستقل از اینکه واقعاً این پروژه به چه میزان بودجه نیاز داشته باشد</a:t>
            </a:r>
            <a:r>
              <a:rPr lang="fa-IR" dirty="0">
                <a:solidFill>
                  <a:srgbClr val="111111"/>
                </a:solidFill>
                <a:latin typeface="IRANSans"/>
                <a:cs typeface="B Nazanin" panose="00000400000000000000" pitchFamily="2" charset="-78"/>
              </a:rPr>
              <a:t>.</a:t>
            </a:r>
            <a:endParaRPr lang="en-US" dirty="0">
              <a:solidFill>
                <a:srgbClr val="111111"/>
              </a:solidFill>
              <a:latin typeface="IRANSans"/>
              <a:cs typeface="B Nazanin" panose="00000400000000000000" pitchFamily="2" charset="-78"/>
            </a:endParaRPr>
          </a:p>
        </p:txBody>
      </p:sp>
      <p:sp>
        <p:nvSpPr>
          <p:cNvPr id="14" name="Rectangle 13"/>
          <p:cNvSpPr/>
          <p:nvPr/>
        </p:nvSpPr>
        <p:spPr>
          <a:xfrm>
            <a:off x="10620104" y="3384831"/>
            <a:ext cx="688048"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smtClean="0">
                <a:solidFill>
                  <a:srgbClr val="111111"/>
                </a:solidFill>
                <a:latin typeface="IRANSans"/>
                <a:cs typeface="B Nazanin" panose="00000400000000000000" pitchFamily="2" charset="-78"/>
              </a:rPr>
              <a:t>نتیجه</a:t>
            </a:r>
            <a:endParaRPr lang="en-US" dirty="0">
              <a:solidFill>
                <a:srgbClr val="111111"/>
              </a:solidFill>
              <a:latin typeface="IRANSans"/>
              <a:cs typeface="B Nazanin" panose="00000400000000000000" pitchFamily="2" charset="-78"/>
            </a:endParaRPr>
          </a:p>
        </p:txBody>
      </p:sp>
      <p:sp>
        <p:nvSpPr>
          <p:cNvPr id="15" name="Rectangle 14"/>
          <p:cNvSpPr/>
          <p:nvPr/>
        </p:nvSpPr>
        <p:spPr>
          <a:xfrm>
            <a:off x="1495696" y="3904102"/>
            <a:ext cx="7176781" cy="1200329"/>
          </a:xfrm>
          <a:prstGeom prst="rect">
            <a:avLst/>
          </a:prstGeom>
        </p:spPr>
        <p:txBody>
          <a:bodyPr wrap="square">
            <a:spAutoFit/>
          </a:bodyPr>
          <a:lstStyle/>
          <a:p>
            <a:pPr marL="285750" indent="-285750" algn="justLow" rtl="1">
              <a:buFont typeface="Wingdings" panose="05000000000000000000" pitchFamily="2" charset="2"/>
              <a:buChar char="ü"/>
            </a:pPr>
            <a:r>
              <a:rPr lang="fa-IR" dirty="0" smtClean="0">
                <a:solidFill>
                  <a:srgbClr val="111111"/>
                </a:solidFill>
                <a:latin typeface="IRANSans"/>
                <a:cs typeface="B Nazanin" panose="00000400000000000000" pitchFamily="2" charset="-78"/>
              </a:rPr>
              <a:t>سخنرانی که تعداد افراد </a:t>
            </a:r>
            <a:r>
              <a:rPr lang="en-US" dirty="0" smtClean="0">
                <a:solidFill>
                  <a:srgbClr val="111111"/>
                </a:solidFill>
                <a:latin typeface="IRANSans"/>
                <a:cs typeface="B Nazanin" panose="00000400000000000000" pitchFamily="2" charset="-78"/>
              </a:rPr>
              <a:t>x </a:t>
            </a:r>
            <a:r>
              <a:rPr lang="fa-IR" dirty="0" smtClean="0">
                <a:solidFill>
                  <a:srgbClr val="111111"/>
                </a:solidFill>
                <a:latin typeface="IRANSans"/>
                <a:cs typeface="B Nazanin" panose="00000400000000000000" pitchFamily="2" charset="-78"/>
              </a:rPr>
              <a:t> را در جهان بین 500 هزار نفر یا 500 میلیون نفر میداند . </a:t>
            </a:r>
          </a:p>
          <a:p>
            <a:pPr marL="285750" indent="-285750" algn="justLow" rtl="1">
              <a:buFont typeface="Wingdings" panose="05000000000000000000" pitchFamily="2" charset="2"/>
              <a:buChar char="ü"/>
            </a:pPr>
            <a:r>
              <a:rPr lang="fa-IR" dirty="0" smtClean="0">
                <a:solidFill>
                  <a:srgbClr val="111111"/>
                </a:solidFill>
                <a:latin typeface="IRANSans"/>
                <a:cs typeface="B Nazanin" panose="00000400000000000000" pitchFamily="2" charset="-78"/>
              </a:rPr>
              <a:t>مدیر پروژه ای که نفر ساعت یک پروژه 8000 ساعته را 80000 نفر ساعت اعلام میکند . </a:t>
            </a:r>
          </a:p>
          <a:p>
            <a:pPr marL="285750" indent="-285750" algn="justLow" rtl="1">
              <a:buFont typeface="Wingdings" panose="05000000000000000000" pitchFamily="2" charset="2"/>
              <a:buChar char="ü"/>
            </a:pPr>
            <a:r>
              <a:rPr lang="fa-IR" dirty="0" smtClean="0">
                <a:solidFill>
                  <a:srgbClr val="111111"/>
                </a:solidFill>
                <a:latin typeface="IRANSans"/>
                <a:cs typeface="B Nazanin" panose="00000400000000000000" pitchFamily="2" charset="-78"/>
              </a:rPr>
              <a:t>ارزیابی که حدود خسارات وارده را از 20 میلیاد تومان تا 500 میلیاد تومان اعلام میکند .</a:t>
            </a:r>
          </a:p>
          <a:p>
            <a:pPr marL="285750" indent="-285750" algn="justLow" rtl="1">
              <a:buFont typeface="Wingdings" panose="05000000000000000000" pitchFamily="2" charset="2"/>
              <a:buChar char="ü"/>
            </a:pPr>
            <a:r>
              <a:rPr lang="fa-IR" dirty="0" smtClean="0">
                <a:solidFill>
                  <a:srgbClr val="111111"/>
                </a:solidFill>
                <a:latin typeface="IRANSans"/>
                <a:cs typeface="B Nazanin" panose="00000400000000000000" pitchFamily="2" charset="-78"/>
              </a:rPr>
              <a:t>و ..... </a:t>
            </a:r>
            <a:endParaRPr lang="en-US" dirty="0">
              <a:solidFill>
                <a:srgbClr val="111111"/>
              </a:solidFill>
              <a:latin typeface="IRANSans"/>
              <a:cs typeface="B Nazanin" panose="00000400000000000000" pitchFamily="2" charset="-78"/>
            </a:endParaRPr>
          </a:p>
        </p:txBody>
      </p:sp>
      <p:sp>
        <p:nvSpPr>
          <p:cNvPr id="16" name="Title 1">
            <a:extLst>
              <a:ext uri="{FF2B5EF4-FFF2-40B4-BE49-F238E27FC236}">
                <a16:creationId xmlns:a16="http://schemas.microsoft.com/office/drawing/2014/main" id="{BB4B6193-F9F1-4C54-838F-77350B9FC5DC}"/>
              </a:ext>
            </a:extLst>
          </p:cNvPr>
          <p:cNvSpPr txBox="1">
            <a:spLocks/>
          </p:cNvSpPr>
          <p:nvPr/>
        </p:nvSpPr>
        <p:spPr>
          <a:xfrm>
            <a:off x="8797833" y="4123267"/>
            <a:ext cx="2730137" cy="7097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pPr algn="ctr" rtl="1"/>
            <a:r>
              <a:rPr lang="fa-IR" sz="1800" b="1" dirty="0" smtClean="0">
                <a:solidFill>
                  <a:schemeClr val="accent1">
                    <a:lumMod val="50000"/>
                  </a:schemeClr>
                </a:solidFill>
                <a:cs typeface="B Nazanin" panose="00000400000000000000" pitchFamily="2" charset="-78"/>
              </a:rPr>
              <a:t>نمونه کسانی که احتمالا گرفتار خطای درک نادرست دامنه ارزیابی و مقیاس مسئله هستند : </a:t>
            </a:r>
            <a:endParaRPr lang="fa-IR" sz="1800" b="1" dirty="0">
              <a:solidFill>
                <a:schemeClr val="accent1">
                  <a:lumMod val="50000"/>
                </a:schemeClr>
              </a:solidFill>
              <a:cs typeface="B Nazanin" panose="00000400000000000000" pitchFamily="2" charset="-78"/>
            </a:endParaRPr>
          </a:p>
        </p:txBody>
      </p:sp>
      <p:sp>
        <p:nvSpPr>
          <p:cNvPr id="17" name="Rectangle 16"/>
          <p:cNvSpPr/>
          <p:nvPr/>
        </p:nvSpPr>
        <p:spPr>
          <a:xfrm>
            <a:off x="690766" y="5873018"/>
            <a:ext cx="10832238" cy="646331"/>
          </a:xfrm>
          <a:prstGeom prst="rect">
            <a:avLst/>
          </a:prstGeom>
          <a:solidFill>
            <a:schemeClr val="accent2">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b="1" dirty="0" smtClean="0">
                <a:solidFill>
                  <a:srgbClr val="111111"/>
                </a:solidFill>
                <a:latin typeface="IRANSans"/>
                <a:cs typeface="B Nazanin" panose="00000400000000000000" pitchFamily="2" charset="-78"/>
              </a:rPr>
              <a:t>این خطای ذهنی شاید برای جمع آوری کمک برای سیل زدگان ( با خرابی در حد بسیار زیاد ) برای افراد عادی (کمک کنندگان) مفید هم باشد . اما </a:t>
            </a:r>
            <a:r>
              <a:rPr lang="fa-IR" b="1" dirty="0" smtClean="0">
                <a:solidFill>
                  <a:srgbClr val="C00000"/>
                </a:solidFill>
                <a:latin typeface="IRANSans"/>
                <a:cs typeface="B Nazanin" panose="00000400000000000000" pitchFamily="2" charset="-78"/>
              </a:rPr>
              <a:t>برای یک مدیر که تصمیمات مهمی را اتخاذ میکند </a:t>
            </a:r>
            <a:r>
              <a:rPr lang="fa-IR" b="1" dirty="0" smtClean="0">
                <a:solidFill>
                  <a:srgbClr val="111111"/>
                </a:solidFill>
                <a:latin typeface="IRANSans"/>
                <a:cs typeface="B Nazanin" panose="00000400000000000000" pitchFamily="2" charset="-78"/>
              </a:rPr>
              <a:t>، میتواند بسیار گمراه کننده باشد .  </a:t>
            </a:r>
            <a:endParaRPr lang="en-US" b="1" dirty="0">
              <a:solidFill>
                <a:srgbClr val="111111"/>
              </a:solidFill>
              <a:latin typeface="IRANSans"/>
              <a:cs typeface="B Nazanin" panose="00000400000000000000" pitchFamily="2" charset="-78"/>
            </a:endParaRPr>
          </a:p>
        </p:txBody>
      </p:sp>
      <p:sp>
        <p:nvSpPr>
          <p:cNvPr id="18" name="Rectangle 17"/>
          <p:cNvSpPr/>
          <p:nvPr/>
        </p:nvSpPr>
        <p:spPr>
          <a:xfrm>
            <a:off x="695732" y="5154512"/>
            <a:ext cx="10832238" cy="646331"/>
          </a:xfrm>
          <a:prstGeom prst="rect">
            <a:avLst/>
          </a:prstGeom>
          <a:solidFill>
            <a:schemeClr val="accent5">
              <a:lumMod val="40000"/>
              <a:lumOff val="60000"/>
            </a:schemeClr>
          </a:solidFill>
        </p:spPr>
        <p:style>
          <a:lnRef idx="2">
            <a:schemeClr val="accent6"/>
          </a:lnRef>
          <a:fillRef idx="1">
            <a:schemeClr val="lt1"/>
          </a:fillRef>
          <a:effectRef idx="0">
            <a:schemeClr val="accent6"/>
          </a:effectRef>
          <a:fontRef idx="minor">
            <a:schemeClr val="dk1"/>
          </a:fontRef>
        </p:style>
        <p:txBody>
          <a:bodyPr wrap="square">
            <a:spAutoFit/>
          </a:bodyPr>
          <a:lstStyle/>
          <a:p>
            <a:pPr algn="justLow" rtl="1"/>
            <a:r>
              <a:rPr lang="fa-IR" dirty="0">
                <a:solidFill>
                  <a:srgbClr val="111111"/>
                </a:solidFill>
                <a:latin typeface="IRANSans"/>
                <a:cs typeface="B Nazanin" panose="00000400000000000000" pitchFamily="2" charset="-78"/>
              </a:rPr>
              <a:t> چه بپسندیم و چه نپسندیم، بسیاری از تصمیم‌ها و ارزیابی‌های ما، بیش از آنکه با توجه </a:t>
            </a:r>
            <a:r>
              <a:rPr lang="fa-IR" dirty="0" smtClean="0">
                <a:solidFill>
                  <a:srgbClr val="111111"/>
                </a:solidFill>
                <a:latin typeface="IRANSans"/>
                <a:cs typeface="B Nazanin" panose="00000400000000000000" pitchFamily="2" charset="-78"/>
              </a:rPr>
              <a:t>به صورت </a:t>
            </a:r>
            <a:r>
              <a:rPr lang="fa-IR" b="1" dirty="0" smtClean="0">
                <a:solidFill>
                  <a:srgbClr val="111111"/>
                </a:solidFill>
                <a:latin typeface="IRANSans"/>
                <a:cs typeface="B Nazanin" panose="00000400000000000000" pitchFamily="2" charset="-78"/>
              </a:rPr>
              <a:t>مسئله بیرونی </a:t>
            </a:r>
            <a:r>
              <a:rPr lang="fa-IR" dirty="0" smtClean="0">
                <a:solidFill>
                  <a:srgbClr val="111111"/>
                </a:solidFill>
                <a:latin typeface="IRANSans"/>
                <a:cs typeface="B Nazanin" panose="00000400000000000000" pitchFamily="2" charset="-78"/>
              </a:rPr>
              <a:t>انجام </a:t>
            </a:r>
            <a:r>
              <a:rPr lang="fa-IR" dirty="0">
                <a:solidFill>
                  <a:srgbClr val="111111"/>
                </a:solidFill>
                <a:latin typeface="IRANSans"/>
                <a:cs typeface="B Nazanin" panose="00000400000000000000" pitchFamily="2" charset="-78"/>
              </a:rPr>
              <a:t>شوند با توجه به </a:t>
            </a:r>
            <a:r>
              <a:rPr lang="fa-IR" b="1" dirty="0">
                <a:solidFill>
                  <a:srgbClr val="111111"/>
                </a:solidFill>
                <a:latin typeface="IRANSans"/>
                <a:cs typeface="B Nazanin" panose="00000400000000000000" pitchFamily="2" charset="-78"/>
              </a:rPr>
              <a:t>احساس درونی </a:t>
            </a:r>
            <a:r>
              <a:rPr lang="fa-IR" dirty="0">
                <a:solidFill>
                  <a:srgbClr val="111111"/>
                </a:solidFill>
                <a:latin typeface="IRANSans"/>
                <a:cs typeface="B Nazanin" panose="00000400000000000000" pitchFamily="2" charset="-78"/>
              </a:rPr>
              <a:t>ما انجام می‌شوند. </a:t>
            </a:r>
            <a:endParaRPr lang="en-US" dirty="0">
              <a:solidFill>
                <a:srgbClr val="111111"/>
              </a:solidFill>
              <a:latin typeface="IRANSans"/>
              <a:cs typeface="B Nazanin" panose="00000400000000000000" pitchFamily="2" charset="-78"/>
            </a:endParaRPr>
          </a:p>
        </p:txBody>
      </p:sp>
    </p:spTree>
    <p:extLst>
      <p:ext uri="{BB962C8B-B14F-4D97-AF65-F5344CB8AC3E}">
        <p14:creationId xmlns:p14="http://schemas.microsoft.com/office/powerpoint/2010/main" val="1050772379"/>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247503" y="425299"/>
            <a:ext cx="9875520" cy="709749"/>
          </a:xfrm>
        </p:spPr>
        <p:txBody>
          <a:bodyPr>
            <a:normAutofit fontScale="90000"/>
          </a:bodyPr>
          <a:lstStyle/>
          <a:p>
            <a:pPr algn="r" rtl="1"/>
            <a:r>
              <a:rPr lang="fa-IR" sz="4800" dirty="0" smtClean="0">
                <a:cs typeface="B Nazanin" panose="00000400000000000000" pitchFamily="2" charset="-78"/>
              </a:rPr>
              <a:t>استریوتایپ</a:t>
            </a:r>
            <a:endParaRPr lang="en-US" sz="4800" dirty="0">
              <a:cs typeface="B Nazanin" panose="00000400000000000000" pitchFamily="2" charset="-78"/>
            </a:endParaRPr>
          </a:p>
        </p:txBody>
      </p:sp>
      <p:cxnSp>
        <p:nvCxnSpPr>
          <p:cNvPr id="8" name="Straight Connector 7"/>
          <p:cNvCxnSpPr/>
          <p:nvPr/>
        </p:nvCxnSpPr>
        <p:spPr>
          <a:xfrm>
            <a:off x="966652"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4" name="Rectangle 3"/>
          <p:cNvSpPr/>
          <p:nvPr/>
        </p:nvSpPr>
        <p:spPr>
          <a:xfrm>
            <a:off x="3788229" y="1553179"/>
            <a:ext cx="5747659" cy="830997"/>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pPr algn="justLow" rtl="1"/>
            <a:r>
              <a:rPr lang="fa-IR" sz="2000" dirty="0" smtClean="0">
                <a:solidFill>
                  <a:srgbClr val="111111"/>
                </a:solidFill>
                <a:latin typeface="IRANSans"/>
                <a:cs typeface="B Nazanin" panose="00000400000000000000" pitchFamily="2" charset="-78"/>
              </a:rPr>
              <a:t>ما انسانها برای تحلیل سریعتر و قضاوت سریعتر در مورد دیگران و روش جالب و </a:t>
            </a:r>
            <a:r>
              <a:rPr lang="fa-IR" sz="2000" b="1" dirty="0" smtClean="0">
                <a:latin typeface="IRANSans"/>
                <a:cs typeface="B Nazanin" panose="00000400000000000000" pitchFamily="2" charset="-78"/>
              </a:rPr>
              <a:t>کاربردی</a:t>
            </a:r>
            <a:r>
              <a:rPr lang="fa-IR" sz="2000" dirty="0" smtClean="0">
                <a:solidFill>
                  <a:srgbClr val="111111"/>
                </a:solidFill>
                <a:latin typeface="IRANSans"/>
                <a:cs typeface="B Nazanin" panose="00000400000000000000" pitchFamily="2" charset="-78"/>
              </a:rPr>
              <a:t> و البته </a:t>
            </a:r>
            <a:r>
              <a:rPr lang="fa-IR" sz="2000" b="1" dirty="0" smtClean="0">
                <a:solidFill>
                  <a:srgbClr val="FF0000"/>
                </a:solidFill>
                <a:latin typeface="IRANSans"/>
                <a:cs typeface="B Nazanin" panose="00000400000000000000" pitchFamily="2" charset="-78"/>
              </a:rPr>
              <a:t>خطرناکی</a:t>
            </a:r>
            <a:r>
              <a:rPr lang="fa-IR" sz="2000" dirty="0" smtClean="0">
                <a:solidFill>
                  <a:srgbClr val="111111"/>
                </a:solidFill>
                <a:latin typeface="IRANSans"/>
                <a:cs typeface="B Nazanin" panose="00000400000000000000" pitchFamily="2" charset="-78"/>
              </a:rPr>
              <a:t> آموخته ایم به نام </a:t>
            </a:r>
            <a:r>
              <a:rPr lang="fa-IR" sz="2800" b="1" dirty="0" smtClean="0">
                <a:solidFill>
                  <a:srgbClr val="0070C0"/>
                </a:solidFill>
                <a:latin typeface="IRANSans"/>
                <a:cs typeface="B Nazanin" panose="00000400000000000000" pitchFamily="2" charset="-78"/>
              </a:rPr>
              <a:t>طبقه بندی </a:t>
            </a:r>
            <a:endParaRPr lang="en-US" sz="2000" b="1" dirty="0">
              <a:solidFill>
                <a:srgbClr val="0070C0"/>
              </a:solidFill>
              <a:latin typeface="IRANSans"/>
              <a:cs typeface="B Nazanin" panose="00000400000000000000" pitchFamily="2" charset="-78"/>
            </a:endParaRPr>
          </a:p>
        </p:txBody>
      </p:sp>
      <p:sp>
        <p:nvSpPr>
          <p:cNvPr id="5" name="Rectangle 4"/>
          <p:cNvSpPr/>
          <p:nvPr/>
        </p:nvSpPr>
        <p:spPr>
          <a:xfrm>
            <a:off x="9294223" y="1527215"/>
            <a:ext cx="2429692" cy="1169551"/>
          </a:xfrm>
          <a:prstGeom prst="rect">
            <a:avLst/>
          </a:prstGeom>
        </p:spPr>
        <p:txBody>
          <a:bodyPr wrap="square">
            <a:spAutoFit/>
          </a:bodyPr>
          <a:lstStyle/>
          <a:p>
            <a:pPr marL="342900" indent="-342900" algn="justLow" rtl="1">
              <a:buFont typeface="Wingdings" panose="05000000000000000000" pitchFamily="2" charset="2"/>
              <a:buChar char="ü"/>
            </a:pPr>
            <a:r>
              <a:rPr lang="fa-IR" sz="1400" b="1" dirty="0" smtClean="0">
                <a:solidFill>
                  <a:srgbClr val="111111"/>
                </a:solidFill>
                <a:latin typeface="IRANSans"/>
                <a:cs typeface="B Nazanin" panose="00000400000000000000" pitchFamily="2" charset="-78"/>
              </a:rPr>
              <a:t>شیرازی ها ... هستند </a:t>
            </a:r>
          </a:p>
          <a:p>
            <a:pPr marL="342900" indent="-342900" algn="justLow" rtl="1">
              <a:buFont typeface="Wingdings" panose="05000000000000000000" pitchFamily="2" charset="2"/>
              <a:buChar char="ü"/>
            </a:pPr>
            <a:r>
              <a:rPr lang="fa-IR" sz="1400" b="1" dirty="0" smtClean="0">
                <a:solidFill>
                  <a:srgbClr val="111111"/>
                </a:solidFill>
                <a:latin typeface="IRANSans"/>
                <a:cs typeface="B Nazanin" panose="00000400000000000000" pitchFamily="2" charset="-78"/>
              </a:rPr>
              <a:t>زن ها ...... هستند </a:t>
            </a:r>
          </a:p>
          <a:p>
            <a:pPr marL="342900" indent="-342900" algn="justLow" rtl="1">
              <a:buFont typeface="Wingdings" panose="05000000000000000000" pitchFamily="2" charset="2"/>
              <a:buChar char="ü"/>
            </a:pPr>
            <a:r>
              <a:rPr lang="fa-IR" sz="1400" b="1" dirty="0" smtClean="0">
                <a:solidFill>
                  <a:srgbClr val="111111"/>
                </a:solidFill>
                <a:latin typeface="IRANSans"/>
                <a:cs typeface="B Nazanin" panose="00000400000000000000" pitchFamily="2" charset="-78"/>
              </a:rPr>
              <a:t>متولدین ماه مهر ...... </a:t>
            </a:r>
          </a:p>
          <a:p>
            <a:pPr marL="342900" indent="-342900" algn="justLow" rtl="1">
              <a:buFont typeface="Wingdings" panose="05000000000000000000" pitchFamily="2" charset="2"/>
              <a:buChar char="ü"/>
            </a:pPr>
            <a:r>
              <a:rPr lang="fa-IR" sz="1400" b="1" dirty="0" smtClean="0">
                <a:solidFill>
                  <a:srgbClr val="111111"/>
                </a:solidFill>
                <a:latin typeface="IRANSans"/>
                <a:cs typeface="B Nazanin" panose="00000400000000000000" pitchFamily="2" charset="-78"/>
              </a:rPr>
              <a:t>ایرانی ها ...... خارجی ها ......</a:t>
            </a:r>
          </a:p>
          <a:p>
            <a:pPr marL="342900" indent="-342900" algn="justLow" rtl="1">
              <a:buFont typeface="Wingdings" panose="05000000000000000000" pitchFamily="2" charset="2"/>
              <a:buChar char="ü"/>
            </a:pPr>
            <a:r>
              <a:rPr lang="fa-IR" sz="1400" b="1" dirty="0" smtClean="0">
                <a:solidFill>
                  <a:srgbClr val="111111"/>
                </a:solidFill>
                <a:latin typeface="IRANSans"/>
                <a:cs typeface="B Nazanin" panose="00000400000000000000" pitchFamily="2" charset="-78"/>
              </a:rPr>
              <a:t>گوشی های سامسونگ .....  </a:t>
            </a:r>
          </a:p>
        </p:txBody>
      </p:sp>
      <p:sp>
        <p:nvSpPr>
          <p:cNvPr id="3" name="Rectangle 2"/>
          <p:cNvSpPr/>
          <p:nvPr/>
        </p:nvSpPr>
        <p:spPr>
          <a:xfrm>
            <a:off x="3788229" y="2831197"/>
            <a:ext cx="7785463" cy="707886"/>
          </a:xfrm>
          <a:prstGeom prst="rect">
            <a:avLst/>
          </a:prstGeom>
          <a:solidFill>
            <a:schemeClr val="accent4">
              <a:lumMod val="20000"/>
              <a:lumOff val="8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p>
            <a:pPr marL="342900" indent="-342900" algn="justLow" rtl="1">
              <a:buFont typeface="Wingdings" panose="05000000000000000000" pitchFamily="2" charset="2"/>
              <a:buChar char="v"/>
            </a:pPr>
            <a:r>
              <a:rPr lang="fa-IR" sz="2000" dirty="0">
                <a:solidFill>
                  <a:srgbClr val="111111"/>
                </a:solidFill>
                <a:latin typeface="IRANSans"/>
                <a:cs typeface="B Nazanin" panose="00000400000000000000" pitchFamily="2" charset="-78"/>
              </a:rPr>
              <a:t> ما انسانها به صورت ذاتی از ابهام فرار می‌کنیم و </a:t>
            </a:r>
            <a:r>
              <a:rPr lang="fa-IR" sz="2000" b="1" dirty="0">
                <a:solidFill>
                  <a:srgbClr val="0070C0"/>
                </a:solidFill>
                <a:latin typeface="IRANSans"/>
                <a:cs typeface="B Nazanin" panose="00000400000000000000" pitchFamily="2" charset="-78"/>
              </a:rPr>
              <a:t>طبقه‌بندی</a:t>
            </a:r>
            <a:r>
              <a:rPr lang="fa-IR" sz="2000" dirty="0">
                <a:solidFill>
                  <a:srgbClr val="111111"/>
                </a:solidFill>
                <a:latin typeface="IRANSans"/>
                <a:cs typeface="B Nazanin" panose="00000400000000000000" pitchFamily="2" charset="-78"/>
              </a:rPr>
              <a:t> یکی از بهترین شیوه‌هایی است که مغز انسان برای کاستن از ابهام دنیای اطراف خود فرا گرفته است</a:t>
            </a:r>
            <a:endParaRPr lang="en-US" sz="2000" dirty="0">
              <a:solidFill>
                <a:srgbClr val="111111"/>
              </a:solidFill>
              <a:latin typeface="IRANSans"/>
              <a:cs typeface="B Nazanin" panose="00000400000000000000" pitchFamily="2" charset="-78"/>
            </a:endParaRPr>
          </a:p>
        </p:txBody>
      </p:sp>
      <p:pic>
        <p:nvPicPr>
          <p:cNvPr id="6" name="Picture 5"/>
          <p:cNvPicPr>
            <a:picLocks noChangeAspect="1"/>
          </p:cNvPicPr>
          <p:nvPr/>
        </p:nvPicPr>
        <p:blipFill>
          <a:blip r:embed="rId2"/>
          <a:stretch>
            <a:fillRect/>
          </a:stretch>
        </p:blipFill>
        <p:spPr>
          <a:xfrm>
            <a:off x="359773" y="1449364"/>
            <a:ext cx="3350078" cy="2512559"/>
          </a:xfrm>
          <a:prstGeom prst="rect">
            <a:avLst/>
          </a:prstGeom>
          <a:ln>
            <a:solidFill>
              <a:schemeClr val="accent4">
                <a:lumMod val="60000"/>
                <a:lumOff val="40000"/>
              </a:schemeClr>
            </a:solidFill>
          </a:ln>
        </p:spPr>
      </p:pic>
      <p:sp>
        <p:nvSpPr>
          <p:cNvPr id="11" name="Rectangle 10"/>
          <p:cNvSpPr/>
          <p:nvPr/>
        </p:nvSpPr>
        <p:spPr>
          <a:xfrm>
            <a:off x="359773" y="3986104"/>
            <a:ext cx="3587644" cy="369332"/>
          </a:xfrm>
          <a:prstGeom prst="rect">
            <a:avLst/>
          </a:prstGeom>
          <a:ln>
            <a:noFill/>
          </a:ln>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Wingdings" panose="05000000000000000000" pitchFamily="2" charset="2"/>
              <a:buChar char="ü"/>
            </a:pPr>
            <a:r>
              <a:rPr lang="fa-IR" sz="1600" dirty="0">
                <a:solidFill>
                  <a:srgbClr val="111111"/>
                </a:solidFill>
                <a:latin typeface="IRANSans"/>
                <a:cs typeface="B Nazanin" panose="00000400000000000000" pitchFamily="2" charset="-78"/>
              </a:rPr>
              <a:t>تصور ذهنی شما از این فرد برای </a:t>
            </a:r>
            <a:r>
              <a:rPr lang="fa-IR" dirty="0" smtClean="0">
                <a:solidFill>
                  <a:srgbClr val="111111"/>
                </a:solidFill>
                <a:latin typeface="IRANSans"/>
                <a:cs typeface="B Nazanin" panose="00000400000000000000" pitchFamily="2" charset="-78"/>
              </a:rPr>
              <a:t>....</a:t>
            </a:r>
            <a:r>
              <a:rPr lang="fa-IR" sz="1600" dirty="0" smtClean="0">
                <a:solidFill>
                  <a:srgbClr val="111111"/>
                </a:solidFill>
                <a:latin typeface="IRANSans"/>
                <a:cs typeface="B Nazanin" panose="00000400000000000000" pitchFamily="2" charset="-78"/>
              </a:rPr>
              <a:t>  چیست ؟</a:t>
            </a:r>
            <a:endParaRPr lang="en-US" sz="1600" dirty="0">
              <a:solidFill>
                <a:srgbClr val="111111"/>
              </a:solidFill>
              <a:latin typeface="IRANSans"/>
              <a:cs typeface="B Nazanin" panose="00000400000000000000" pitchFamily="2" charset="-78"/>
            </a:endParaRPr>
          </a:p>
        </p:txBody>
      </p:sp>
      <p:sp>
        <p:nvSpPr>
          <p:cNvPr id="12" name="Rectangle 11"/>
          <p:cNvSpPr/>
          <p:nvPr/>
        </p:nvSpPr>
        <p:spPr>
          <a:xfrm>
            <a:off x="2471955" y="4388010"/>
            <a:ext cx="1448568" cy="738664"/>
          </a:xfrm>
          <a:prstGeom prst="rect">
            <a:avLst/>
          </a:prstGeom>
          <a:ln>
            <a:noFill/>
          </a:ln>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Arial" panose="020B0604020202020204" pitchFamily="34" charset="0"/>
              <a:buChar char="•"/>
            </a:pPr>
            <a:r>
              <a:rPr lang="fa-IR" sz="1400" b="1" dirty="0" smtClean="0">
                <a:solidFill>
                  <a:srgbClr val="111111"/>
                </a:solidFill>
                <a:latin typeface="IRANSans"/>
                <a:cs typeface="B Nazanin" panose="00000400000000000000" pitchFamily="2" charset="-78"/>
              </a:rPr>
              <a:t>شراکت کاری </a:t>
            </a:r>
          </a:p>
          <a:p>
            <a:pPr marL="285750" indent="-285750" algn="justLow" rtl="1">
              <a:buFont typeface="Arial" panose="020B0604020202020204" pitchFamily="34" charset="0"/>
              <a:buChar char="•"/>
            </a:pPr>
            <a:r>
              <a:rPr lang="fa-IR" sz="1400" b="1" dirty="0" smtClean="0">
                <a:solidFill>
                  <a:srgbClr val="111111"/>
                </a:solidFill>
                <a:latin typeface="IRANSans"/>
                <a:cs typeface="B Nazanin" panose="00000400000000000000" pitchFamily="2" charset="-78"/>
              </a:rPr>
              <a:t>وصلت خانوادگی </a:t>
            </a:r>
          </a:p>
          <a:p>
            <a:pPr marL="285750" indent="-285750" algn="justLow" rtl="1">
              <a:buFont typeface="Arial" panose="020B0604020202020204" pitchFamily="34" charset="0"/>
              <a:buChar char="•"/>
            </a:pPr>
            <a:r>
              <a:rPr lang="fa-IR" sz="1400" b="1" dirty="0" smtClean="0">
                <a:solidFill>
                  <a:srgbClr val="111111"/>
                </a:solidFill>
                <a:latin typeface="IRANSans"/>
                <a:cs typeface="B Nazanin" panose="00000400000000000000" pitchFamily="2" charset="-78"/>
              </a:rPr>
              <a:t>همسایه شدن </a:t>
            </a:r>
            <a:endParaRPr lang="en-US" sz="1400" b="1" dirty="0">
              <a:solidFill>
                <a:srgbClr val="111111"/>
              </a:solidFill>
              <a:latin typeface="IRANSans"/>
              <a:cs typeface="B Nazanin" panose="00000400000000000000" pitchFamily="2" charset="-78"/>
            </a:endParaRPr>
          </a:p>
        </p:txBody>
      </p:sp>
      <p:sp>
        <p:nvSpPr>
          <p:cNvPr id="13" name="Rectangle 12"/>
          <p:cNvSpPr/>
          <p:nvPr/>
        </p:nvSpPr>
        <p:spPr>
          <a:xfrm>
            <a:off x="359772" y="4388010"/>
            <a:ext cx="1747703" cy="523220"/>
          </a:xfrm>
          <a:prstGeom prst="rect">
            <a:avLst/>
          </a:prstGeom>
          <a:ln>
            <a:noFill/>
          </a:ln>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Arial" panose="020B0604020202020204" pitchFamily="34" charset="0"/>
              <a:buChar char="•"/>
            </a:pPr>
            <a:r>
              <a:rPr lang="fa-IR" sz="1400" b="1" dirty="0" smtClean="0">
                <a:solidFill>
                  <a:srgbClr val="111111"/>
                </a:solidFill>
                <a:latin typeface="IRANSans"/>
                <a:cs typeface="B Nazanin" panose="00000400000000000000" pitchFamily="2" charset="-78"/>
              </a:rPr>
              <a:t>رئیس شما</a:t>
            </a:r>
          </a:p>
          <a:p>
            <a:pPr marL="285750" indent="-285750" algn="justLow" rtl="1">
              <a:buFont typeface="Arial" panose="020B0604020202020204" pitchFamily="34" charset="0"/>
              <a:buChar char="•"/>
            </a:pPr>
            <a:r>
              <a:rPr lang="fa-IR" sz="1400" b="1" dirty="0" smtClean="0">
                <a:solidFill>
                  <a:srgbClr val="111111"/>
                </a:solidFill>
                <a:latin typeface="IRANSans"/>
                <a:cs typeface="B Nazanin" panose="00000400000000000000" pitchFamily="2" charset="-78"/>
              </a:rPr>
              <a:t>مسئول انجمن خیریه </a:t>
            </a:r>
            <a:endParaRPr lang="en-US" sz="1400" b="1" dirty="0">
              <a:solidFill>
                <a:srgbClr val="111111"/>
              </a:solidFill>
              <a:latin typeface="IRANSans"/>
              <a:cs typeface="B Nazanin" panose="00000400000000000000" pitchFamily="2" charset="-78"/>
            </a:endParaRPr>
          </a:p>
        </p:txBody>
      </p:sp>
      <p:sp>
        <p:nvSpPr>
          <p:cNvPr id="14" name="Rectangle 13"/>
          <p:cNvSpPr/>
          <p:nvPr/>
        </p:nvSpPr>
        <p:spPr>
          <a:xfrm>
            <a:off x="3911280" y="3845414"/>
            <a:ext cx="774571" cy="1569660"/>
          </a:xfrm>
          <a:prstGeom prst="rect">
            <a:avLst/>
          </a:prstGeom>
        </p:spPr>
        <p:txBody>
          <a:bodyPr wrap="none">
            <a:spAutoFit/>
          </a:bodyPr>
          <a:lstStyle/>
          <a:p>
            <a:r>
              <a:rPr lang="fa-IR" sz="9600" dirty="0" smtClean="0">
                <a:solidFill>
                  <a:srgbClr val="7030A0"/>
                </a:solidFill>
                <a:latin typeface="IRANSans"/>
                <a:cs typeface="B Nazanin" panose="00000400000000000000" pitchFamily="2" charset="-78"/>
              </a:rPr>
              <a:t>{</a:t>
            </a:r>
            <a:endParaRPr lang="en-US" sz="9600" dirty="0">
              <a:solidFill>
                <a:srgbClr val="7030A0"/>
              </a:solidFill>
            </a:endParaRPr>
          </a:p>
        </p:txBody>
      </p:sp>
      <p:sp>
        <p:nvSpPr>
          <p:cNvPr id="15" name="Rectangle 14"/>
          <p:cNvSpPr/>
          <p:nvPr/>
        </p:nvSpPr>
        <p:spPr>
          <a:xfrm>
            <a:off x="454896" y="5320945"/>
            <a:ext cx="11269019" cy="400110"/>
          </a:xfrm>
          <a:prstGeom prst="rect">
            <a:avLst/>
          </a:prstGeom>
          <a:solidFill>
            <a:schemeClr val="accent5">
              <a:lumMod val="40000"/>
              <a:lumOff val="6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p>
            <a:pPr marL="342900" indent="-342900" algn="justLow" rtl="1">
              <a:buFont typeface="Wingdings" panose="05000000000000000000" pitchFamily="2" charset="2"/>
              <a:buChar char="v"/>
            </a:pPr>
            <a:r>
              <a:rPr lang="fa-IR" sz="2000" b="1" dirty="0">
                <a:solidFill>
                  <a:srgbClr val="7030A0"/>
                </a:solidFill>
                <a:latin typeface="IRANSans"/>
                <a:cs typeface="B Nazanin" panose="00000400000000000000" pitchFamily="2" charset="-78"/>
              </a:rPr>
              <a:t>استریوتایپ</a:t>
            </a:r>
            <a:r>
              <a:rPr lang="fa-IR" sz="2000" dirty="0">
                <a:solidFill>
                  <a:srgbClr val="111111"/>
                </a:solidFill>
                <a:latin typeface="IRANSans"/>
                <a:cs typeface="B Nazanin" panose="00000400000000000000" pitchFamily="2" charset="-78"/>
              </a:rPr>
              <a:t>، یعنی پیش‌داوری در مورد افراد بر اساس </a:t>
            </a:r>
            <a:r>
              <a:rPr lang="fa-IR" sz="2000" b="1" dirty="0">
                <a:solidFill>
                  <a:srgbClr val="4372C2"/>
                </a:solidFill>
                <a:latin typeface="IRANSans"/>
                <a:cs typeface="B Nazanin" panose="00000400000000000000" pitchFamily="2" charset="-78"/>
              </a:rPr>
              <a:t>گروه یا جامعه‌ای</a:t>
            </a:r>
            <a:r>
              <a:rPr lang="fa-IR" sz="2000" dirty="0">
                <a:solidFill>
                  <a:srgbClr val="111111"/>
                </a:solidFill>
                <a:latin typeface="IRANSans"/>
                <a:cs typeface="B Nazanin" panose="00000400000000000000" pitchFamily="2" charset="-78"/>
              </a:rPr>
              <a:t> که به آن تعلق دارند.</a:t>
            </a:r>
            <a:endParaRPr lang="en-US" sz="2000" dirty="0">
              <a:solidFill>
                <a:srgbClr val="111111"/>
              </a:solidFill>
              <a:latin typeface="IRANSans"/>
              <a:cs typeface="B Nazanin" panose="00000400000000000000" pitchFamily="2" charset="-78"/>
            </a:endParaRPr>
          </a:p>
        </p:txBody>
      </p:sp>
      <p:sp>
        <p:nvSpPr>
          <p:cNvPr id="16" name="Rectangle 15"/>
          <p:cNvSpPr/>
          <p:nvPr/>
        </p:nvSpPr>
        <p:spPr>
          <a:xfrm>
            <a:off x="5027023" y="4083915"/>
            <a:ext cx="6096000" cy="923330"/>
          </a:xfrm>
          <a:prstGeom prst="rect">
            <a:avLst/>
          </a:prstGeom>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111111"/>
                </a:solidFill>
                <a:latin typeface="IRANSans"/>
                <a:cs typeface="B Nazanin" panose="00000400000000000000" pitchFamily="2" charset="-78"/>
              </a:rPr>
              <a:t>من </a:t>
            </a:r>
            <a:r>
              <a:rPr lang="fa-IR" b="1" dirty="0">
                <a:solidFill>
                  <a:srgbClr val="111111"/>
                </a:solidFill>
                <a:latin typeface="IRANSans"/>
                <a:cs typeface="B Nazanin" panose="00000400000000000000" pitchFamily="2" charset="-78"/>
              </a:rPr>
              <a:t>مرد</a:t>
            </a:r>
            <a:r>
              <a:rPr lang="fa-IR" dirty="0">
                <a:solidFill>
                  <a:srgbClr val="111111"/>
                </a:solidFill>
                <a:latin typeface="IRANSans"/>
                <a:cs typeface="B Nazanin" panose="00000400000000000000" pitchFamily="2" charset="-78"/>
              </a:rPr>
              <a:t> هستم. </a:t>
            </a:r>
            <a:r>
              <a:rPr lang="fa-IR" b="1" dirty="0">
                <a:solidFill>
                  <a:srgbClr val="0070C0"/>
                </a:solidFill>
                <a:latin typeface="IRANSans"/>
                <a:cs typeface="B Nazanin" panose="00000400000000000000" pitchFamily="2" charset="-78"/>
              </a:rPr>
              <a:t>مسلمان</a:t>
            </a:r>
            <a:r>
              <a:rPr lang="fa-IR" dirty="0">
                <a:solidFill>
                  <a:srgbClr val="111111"/>
                </a:solidFill>
                <a:latin typeface="IRANSans"/>
                <a:cs typeface="B Nazanin" panose="00000400000000000000" pitchFamily="2" charset="-78"/>
              </a:rPr>
              <a:t> هستم. در </a:t>
            </a:r>
            <a:r>
              <a:rPr lang="fa-IR" b="1" dirty="0">
                <a:solidFill>
                  <a:srgbClr val="44B565"/>
                </a:solidFill>
                <a:latin typeface="IRANSans"/>
                <a:cs typeface="B Nazanin" panose="00000400000000000000" pitchFamily="2" charset="-78"/>
              </a:rPr>
              <a:t>دهه‌ی پنجم زندگی </a:t>
            </a:r>
            <a:r>
              <a:rPr lang="fa-IR" dirty="0">
                <a:solidFill>
                  <a:srgbClr val="111111"/>
                </a:solidFill>
                <a:latin typeface="IRANSans"/>
                <a:cs typeface="B Nazanin" panose="00000400000000000000" pitchFamily="2" charset="-78"/>
              </a:rPr>
              <a:t>خود به سر می‌برم. </a:t>
            </a:r>
            <a:r>
              <a:rPr lang="fa-IR" b="1" dirty="0">
                <a:solidFill>
                  <a:srgbClr val="C00000"/>
                </a:solidFill>
                <a:latin typeface="IRANSans"/>
                <a:cs typeface="B Nazanin" panose="00000400000000000000" pitchFamily="2" charset="-78"/>
              </a:rPr>
              <a:t>مدیرعامل</a:t>
            </a:r>
            <a:r>
              <a:rPr lang="fa-IR" dirty="0">
                <a:solidFill>
                  <a:srgbClr val="111111"/>
                </a:solidFill>
                <a:latin typeface="IRANSans"/>
                <a:cs typeface="B Nazanin" panose="00000400000000000000" pitchFamily="2" charset="-78"/>
              </a:rPr>
              <a:t> و مالک یک شرکت هستم. </a:t>
            </a:r>
            <a:r>
              <a:rPr lang="fa-IR" b="1" dirty="0">
                <a:solidFill>
                  <a:srgbClr val="7030A0"/>
                </a:solidFill>
                <a:latin typeface="IRANSans"/>
                <a:cs typeface="B Nazanin" panose="00000400000000000000" pitchFamily="2" charset="-78"/>
              </a:rPr>
              <a:t>متاهل</a:t>
            </a:r>
            <a:r>
              <a:rPr lang="fa-IR" dirty="0">
                <a:solidFill>
                  <a:srgbClr val="111111"/>
                </a:solidFill>
                <a:latin typeface="IRANSans"/>
                <a:cs typeface="B Nazanin" panose="00000400000000000000" pitchFamily="2" charset="-78"/>
              </a:rPr>
              <a:t> هستم. </a:t>
            </a:r>
            <a:r>
              <a:rPr lang="fa-IR" b="1" dirty="0">
                <a:solidFill>
                  <a:srgbClr val="111111"/>
                </a:solidFill>
                <a:latin typeface="IRANSans"/>
                <a:cs typeface="B Nazanin" panose="00000400000000000000" pitchFamily="2" charset="-78"/>
              </a:rPr>
              <a:t>دو فرزند </a:t>
            </a:r>
            <a:r>
              <a:rPr lang="fa-IR" dirty="0">
                <a:solidFill>
                  <a:srgbClr val="111111"/>
                </a:solidFill>
                <a:latin typeface="IRANSans"/>
                <a:cs typeface="B Nazanin" panose="00000400000000000000" pitchFamily="2" charset="-78"/>
              </a:rPr>
              <a:t>دارم. در یک </a:t>
            </a:r>
            <a:r>
              <a:rPr lang="fa-IR" b="1" dirty="0">
                <a:solidFill>
                  <a:srgbClr val="002060"/>
                </a:solidFill>
                <a:latin typeface="IRANSans"/>
                <a:cs typeface="B Nazanin" panose="00000400000000000000" pitchFamily="2" charset="-78"/>
              </a:rPr>
              <a:t>شهر بزرگ </a:t>
            </a:r>
            <a:r>
              <a:rPr lang="fa-IR" dirty="0">
                <a:solidFill>
                  <a:srgbClr val="111111"/>
                </a:solidFill>
                <a:latin typeface="IRANSans"/>
                <a:cs typeface="B Nazanin" panose="00000400000000000000" pitchFamily="2" charset="-78"/>
              </a:rPr>
              <a:t>زندگی می‌کنم.</a:t>
            </a:r>
            <a:endParaRPr lang="en-US" dirty="0">
              <a:solidFill>
                <a:srgbClr val="111111"/>
              </a:solidFill>
              <a:latin typeface="IRANSans"/>
              <a:cs typeface="B Nazanin" panose="00000400000000000000" pitchFamily="2" charset="-78"/>
            </a:endParaRPr>
          </a:p>
        </p:txBody>
      </p:sp>
      <p:sp>
        <p:nvSpPr>
          <p:cNvPr id="17" name="Rectangle 16"/>
          <p:cNvSpPr/>
          <p:nvPr/>
        </p:nvSpPr>
        <p:spPr>
          <a:xfrm>
            <a:off x="454896" y="5802048"/>
            <a:ext cx="11269019" cy="707886"/>
          </a:xfrm>
          <a:prstGeom prst="rect">
            <a:avLst/>
          </a:prstGeom>
          <a:solidFill>
            <a:schemeClr val="accent5">
              <a:lumMod val="40000"/>
              <a:lumOff val="6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p>
            <a:pPr marL="342900" indent="-342900" algn="justLow" rtl="1">
              <a:buFont typeface="Wingdings" panose="05000000000000000000" pitchFamily="2" charset="2"/>
              <a:buChar char="v"/>
            </a:pPr>
            <a:r>
              <a:rPr lang="fa-IR" sz="2000" b="1" dirty="0" smtClean="0">
                <a:solidFill>
                  <a:srgbClr val="FF0000"/>
                </a:solidFill>
                <a:latin typeface="IRANSans"/>
                <a:cs typeface="B Nazanin" panose="00000400000000000000" pitchFamily="2" charset="-78"/>
              </a:rPr>
              <a:t>خطر</a:t>
            </a:r>
            <a:r>
              <a:rPr lang="fa-IR" sz="2000" b="1" dirty="0" smtClean="0">
                <a:solidFill>
                  <a:srgbClr val="7030A0"/>
                </a:solidFill>
                <a:latin typeface="IRANSans"/>
                <a:cs typeface="B Nazanin" panose="00000400000000000000" pitchFamily="2" charset="-78"/>
              </a:rPr>
              <a:t> </a:t>
            </a:r>
            <a:r>
              <a:rPr lang="fa-IR" sz="2000" b="1" dirty="0">
                <a:solidFill>
                  <a:srgbClr val="7030A0"/>
                </a:solidFill>
                <a:latin typeface="IRANSans"/>
                <a:cs typeface="B Nazanin" panose="00000400000000000000" pitchFamily="2" charset="-78"/>
              </a:rPr>
              <a:t>استریوتایپ</a:t>
            </a:r>
            <a:r>
              <a:rPr lang="fa-IR" sz="2000" dirty="0">
                <a:solidFill>
                  <a:srgbClr val="111111"/>
                </a:solidFill>
                <a:latin typeface="IRANSans"/>
                <a:cs typeface="B Nazanin" panose="00000400000000000000" pitchFamily="2" charset="-78"/>
              </a:rPr>
              <a:t> در تصمیمات مهم ما این است که ما معمولاً استریوتایپ‌های خود را نه بر اساس مطالعات دقیق </a:t>
            </a:r>
            <a:r>
              <a:rPr lang="fa-IR" sz="2000" dirty="0" smtClean="0">
                <a:solidFill>
                  <a:srgbClr val="111111"/>
                </a:solidFill>
                <a:latin typeface="IRANSans"/>
                <a:cs typeface="B Nazanin" panose="00000400000000000000" pitchFamily="2" charset="-78"/>
              </a:rPr>
              <a:t>علمی یا آماری </a:t>
            </a:r>
            <a:r>
              <a:rPr lang="fa-IR" sz="2000" dirty="0">
                <a:solidFill>
                  <a:srgbClr val="111111"/>
                </a:solidFill>
                <a:latin typeface="IRANSans"/>
                <a:cs typeface="B Nazanin" panose="00000400000000000000" pitchFamily="2" charset="-78"/>
              </a:rPr>
              <a:t>بلکه بر اساس تجربیات محدود شخصی خود و اطرافیان شکل می‌دهیم.  </a:t>
            </a:r>
            <a:endParaRPr lang="en-US" sz="2000" dirty="0">
              <a:solidFill>
                <a:srgbClr val="111111"/>
              </a:solidFill>
              <a:latin typeface="IRANSans"/>
              <a:cs typeface="B Nazanin" panose="00000400000000000000" pitchFamily="2" charset="-78"/>
            </a:endParaRPr>
          </a:p>
        </p:txBody>
      </p:sp>
    </p:spTree>
    <p:extLst>
      <p:ext uri="{BB962C8B-B14F-4D97-AF65-F5344CB8AC3E}">
        <p14:creationId xmlns:p14="http://schemas.microsoft.com/office/powerpoint/2010/main" val="359950921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449977" y="425299"/>
            <a:ext cx="9875520" cy="709749"/>
          </a:xfrm>
        </p:spPr>
        <p:txBody>
          <a:bodyPr vert="horz" lIns="91440" tIns="45720" rIns="91440" bIns="45720" rtlCol="0" anchor="ctr">
            <a:normAutofit/>
          </a:bodyPr>
          <a:lstStyle/>
          <a:p>
            <a:pPr algn="r" rtl="1"/>
            <a:r>
              <a:rPr lang="fa-IR" sz="4000" dirty="0">
                <a:cs typeface="B Nazanin" panose="00000400000000000000" pitchFamily="2" charset="-78"/>
              </a:rPr>
              <a:t>خطای هاله ای یا اثر هاله ای</a:t>
            </a:r>
            <a:endParaRPr lang="en-US" sz="40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600892" y="1412853"/>
            <a:ext cx="9627325" cy="707886"/>
          </a:xfrm>
          <a:prstGeom prst="rect">
            <a:avLst/>
          </a:prstGeom>
          <a:solidFill>
            <a:schemeClr val="accent2">
              <a:lumMod val="20000"/>
              <a:lumOff val="8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p>
            <a:pPr algn="justLow" rtl="1"/>
            <a:r>
              <a:rPr lang="fa-IR" sz="2000" dirty="0" smtClean="0">
                <a:solidFill>
                  <a:srgbClr val="111111"/>
                </a:solidFill>
                <a:latin typeface="IRANSans"/>
                <a:cs typeface="B Nazanin" panose="00000400000000000000" pitchFamily="2" charset="-78"/>
              </a:rPr>
              <a:t>یک</a:t>
            </a:r>
            <a:r>
              <a:rPr lang="fa-IR" sz="2000" dirty="0">
                <a:solidFill>
                  <a:srgbClr val="111111"/>
                </a:solidFill>
                <a:latin typeface="IRANSans"/>
                <a:cs typeface="B Nazanin" panose="00000400000000000000" pitchFamily="2" charset="-78"/>
              </a:rPr>
              <a:t> </a:t>
            </a:r>
            <a:r>
              <a:rPr lang="fa-IR" sz="2000" b="1" dirty="0">
                <a:solidFill>
                  <a:srgbClr val="111111"/>
                </a:solidFill>
                <a:latin typeface="IRANSans"/>
                <a:cs typeface="B Nazanin" panose="00000400000000000000" pitchFamily="2" charset="-78"/>
              </a:rPr>
              <a:t>خطای شناختی</a:t>
            </a:r>
            <a:r>
              <a:rPr lang="fa-IR" sz="2000" dirty="0">
                <a:solidFill>
                  <a:srgbClr val="111111"/>
                </a:solidFill>
                <a:latin typeface="IRANSans"/>
                <a:cs typeface="B Nazanin" panose="00000400000000000000" pitchFamily="2" charset="-78"/>
              </a:rPr>
              <a:t> است که بر اساس آن، من یکی از ویژگی‌های شما را می‌بینم و بر اساس آن ویژگی در مورد سایر ویژگی‌های شما پیش‌داوری می‌کنم.</a:t>
            </a:r>
            <a:endParaRPr lang="en-US" sz="2000" dirty="0">
              <a:solidFill>
                <a:srgbClr val="111111"/>
              </a:solidFill>
              <a:latin typeface="IRANSans"/>
              <a:cs typeface="B Nazanin" panose="00000400000000000000" pitchFamily="2" charset="-78"/>
            </a:endParaRPr>
          </a:p>
        </p:txBody>
      </p:sp>
      <p:sp>
        <p:nvSpPr>
          <p:cNvPr id="4" name="Rectangle 3"/>
          <p:cNvSpPr/>
          <p:nvPr/>
        </p:nvSpPr>
        <p:spPr>
          <a:xfrm>
            <a:off x="10228217" y="1535963"/>
            <a:ext cx="1369286" cy="461665"/>
          </a:xfrm>
          <a:prstGeom prst="rect">
            <a:avLst/>
          </a:prstGeom>
        </p:spPr>
        <p:txBody>
          <a:bodyPr wrap="none">
            <a:spAutoFit/>
          </a:bodyPr>
          <a:lstStyle/>
          <a:p>
            <a:r>
              <a:rPr lang="fa-IR" sz="2400" b="1" dirty="0">
                <a:solidFill>
                  <a:srgbClr val="FF0000"/>
                </a:solidFill>
                <a:latin typeface="IRANSans"/>
                <a:cs typeface="B Nazanin" panose="00000400000000000000" pitchFamily="2" charset="-78"/>
              </a:rPr>
              <a:t>خطای هاله </a:t>
            </a:r>
            <a:endParaRPr lang="en-US" sz="2400" b="1" dirty="0">
              <a:solidFill>
                <a:srgbClr val="FF0000"/>
              </a:solidFill>
            </a:endParaRPr>
          </a:p>
        </p:txBody>
      </p:sp>
      <p:sp>
        <p:nvSpPr>
          <p:cNvPr id="5" name="Rectangle 4"/>
          <p:cNvSpPr/>
          <p:nvPr/>
        </p:nvSpPr>
        <p:spPr>
          <a:xfrm>
            <a:off x="2207624" y="2337191"/>
            <a:ext cx="9389880" cy="1015663"/>
          </a:xfrm>
          <a:prstGeom prst="rect">
            <a:avLst/>
          </a:prstGeom>
          <a:solidFill>
            <a:schemeClr val="accent5">
              <a:lumMod val="40000"/>
              <a:lumOff val="60000"/>
            </a:schemeClr>
          </a:solidFill>
        </p:spPr>
        <p:style>
          <a:lnRef idx="2">
            <a:schemeClr val="accent4"/>
          </a:lnRef>
          <a:fillRef idx="1">
            <a:schemeClr val="lt1"/>
          </a:fillRef>
          <a:effectRef idx="0">
            <a:schemeClr val="accent4"/>
          </a:effectRef>
          <a:fontRef idx="minor">
            <a:schemeClr val="dk1"/>
          </a:fontRef>
        </p:style>
        <p:txBody>
          <a:bodyPr wrap="square">
            <a:spAutoFit/>
          </a:bodyPr>
          <a:lstStyle/>
          <a:p>
            <a:pPr algn="justLow" rtl="1"/>
            <a:r>
              <a:rPr lang="fa-IR" sz="2000" dirty="0">
                <a:solidFill>
                  <a:srgbClr val="111111"/>
                </a:solidFill>
                <a:latin typeface="IRANSans"/>
                <a:cs typeface="B Nazanin" panose="00000400000000000000" pitchFamily="2" charset="-78"/>
              </a:rPr>
              <a:t>ترسیم </a:t>
            </a:r>
            <a:r>
              <a:rPr lang="fa-IR" sz="2000" b="1" dirty="0">
                <a:solidFill>
                  <a:srgbClr val="111111"/>
                </a:solidFill>
                <a:latin typeface="IRANSans"/>
                <a:cs typeface="B Nazanin" panose="00000400000000000000" pitchFamily="2" charset="-78"/>
              </a:rPr>
              <a:t>هاله‌ی نور به دور سر افراد مقدس</a:t>
            </a:r>
            <a:r>
              <a:rPr lang="fa-IR" sz="2000" dirty="0">
                <a:solidFill>
                  <a:srgbClr val="111111"/>
                </a:solidFill>
                <a:latin typeface="IRANSans"/>
                <a:cs typeface="B Nazanin" panose="00000400000000000000" pitchFamily="2" charset="-78"/>
              </a:rPr>
              <a:t>، سنتی بود که از زمان نقاشی‌های قرون وسطی رایج شد. </a:t>
            </a:r>
            <a:r>
              <a:rPr lang="fa-IR" sz="2000" dirty="0" smtClean="0">
                <a:solidFill>
                  <a:srgbClr val="111111"/>
                </a:solidFill>
                <a:latin typeface="IRANSans"/>
                <a:cs typeface="B Nazanin" panose="00000400000000000000" pitchFamily="2" charset="-78"/>
              </a:rPr>
              <a:t>هاله‌ی </a:t>
            </a:r>
            <a:r>
              <a:rPr lang="fa-IR" sz="2000" dirty="0">
                <a:solidFill>
                  <a:srgbClr val="111111"/>
                </a:solidFill>
                <a:latin typeface="IRANSans"/>
                <a:cs typeface="B Nazanin" panose="00000400000000000000" pitchFamily="2" charset="-78"/>
              </a:rPr>
              <a:t>نور در این نقاشی‌ها گاهی چنان بزرگ و درخشان بود که بخشی از چهره‌ی واقعی فرد هم دیده نمی‌شد و تحت تاثیر آن هاله قرار می‌گرفت</a:t>
            </a:r>
            <a:r>
              <a:rPr lang="fa-IR" sz="2000" dirty="0" smtClean="0">
                <a:solidFill>
                  <a:srgbClr val="111111"/>
                </a:solidFill>
                <a:latin typeface="IRANSans"/>
                <a:cs typeface="B Nazanin" panose="00000400000000000000" pitchFamily="2" charset="-78"/>
              </a:rPr>
              <a:t>. خطای هاله ای به همین موضوع اشاره میکند ...</a:t>
            </a:r>
            <a:endParaRPr lang="fa-IR" sz="2000" dirty="0">
              <a:solidFill>
                <a:srgbClr val="111111"/>
              </a:solidFill>
              <a:latin typeface="IRANSans"/>
              <a:cs typeface="B Nazanin" panose="00000400000000000000" pitchFamily="2" charset="-78"/>
            </a:endParaRPr>
          </a:p>
        </p:txBody>
      </p:sp>
      <p:pic>
        <p:nvPicPr>
          <p:cNvPr id="6" name="Picture 5"/>
          <p:cNvPicPr>
            <a:picLocks noChangeAspect="1"/>
          </p:cNvPicPr>
          <p:nvPr/>
        </p:nvPicPr>
        <p:blipFill rotWithShape="1">
          <a:blip r:embed="rId2"/>
          <a:srcRect r="35745"/>
          <a:stretch/>
        </p:blipFill>
        <p:spPr>
          <a:xfrm>
            <a:off x="600892" y="2243849"/>
            <a:ext cx="1386296" cy="136946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7" name="Rectangle 6"/>
          <p:cNvSpPr/>
          <p:nvPr/>
        </p:nvSpPr>
        <p:spPr>
          <a:xfrm>
            <a:off x="2207624" y="3613314"/>
            <a:ext cx="9389879" cy="1015663"/>
          </a:xfrm>
          <a:prstGeom prst="rect">
            <a:avLst/>
          </a:prstGeom>
          <a:noFill/>
          <a:ln w="57150"/>
        </p:spPr>
        <p:style>
          <a:lnRef idx="2">
            <a:schemeClr val="accent4"/>
          </a:lnRef>
          <a:fillRef idx="1">
            <a:schemeClr val="lt1"/>
          </a:fillRef>
          <a:effectRef idx="0">
            <a:schemeClr val="accent4"/>
          </a:effectRef>
          <a:fontRef idx="minor">
            <a:schemeClr val="dk1"/>
          </a:fontRef>
        </p:style>
        <p:txBody>
          <a:bodyPr wrap="square">
            <a:spAutoFit/>
          </a:bodyPr>
          <a:lstStyle/>
          <a:p>
            <a:pPr algn="justLow" rtl="1"/>
            <a:r>
              <a:rPr lang="fa-IR" sz="2000" dirty="0">
                <a:solidFill>
                  <a:srgbClr val="111111"/>
                </a:solidFill>
                <a:latin typeface="IRANSans"/>
                <a:cs typeface="B Nazanin" panose="00000400000000000000" pitchFamily="2" charset="-78"/>
              </a:rPr>
              <a:t>ممکن است زیبایی یک نفر، چنان زیاد باشد که قضاوت دیگران در مورد هوش او، تحت تاثیر این زیبایی قرار بگیرد. به عبارتی، از میان دو فرد که همه‌ی ویژگی‌های آنها مشابه است و فقط یکی چهره‌ی زیباتری دارد، احتمال بیشتری وجود دارد که مردم، او را تیزهوش‌تر ارزیابی کنند</a:t>
            </a:r>
            <a:r>
              <a:rPr lang="fa-IR" sz="2000" dirty="0" smtClean="0">
                <a:solidFill>
                  <a:srgbClr val="111111"/>
                </a:solidFill>
                <a:latin typeface="IRANSans"/>
                <a:cs typeface="B Nazanin" panose="00000400000000000000" pitchFamily="2" charset="-78"/>
              </a:rPr>
              <a:t>. </a:t>
            </a:r>
            <a:r>
              <a:rPr lang="fa-IR" sz="2000" b="1" dirty="0" smtClean="0">
                <a:solidFill>
                  <a:srgbClr val="FF0000"/>
                </a:solidFill>
                <a:latin typeface="IRANSans"/>
                <a:cs typeface="B Nazanin" panose="00000400000000000000" pitchFamily="2" charset="-78"/>
              </a:rPr>
              <a:t>زیبایی </a:t>
            </a:r>
            <a:r>
              <a:rPr lang="fa-IR" sz="2000" b="1" dirty="0">
                <a:solidFill>
                  <a:srgbClr val="FF0000"/>
                </a:solidFill>
                <a:latin typeface="IRANSans"/>
                <a:cs typeface="B Nazanin" panose="00000400000000000000" pitchFamily="2" charset="-78"/>
              </a:rPr>
              <a:t>بر روی سایر مشخصات او، اثر هاله‌ای داشته است.</a:t>
            </a:r>
          </a:p>
        </p:txBody>
      </p:sp>
      <p:pic>
        <p:nvPicPr>
          <p:cNvPr id="9" name="Picture 8"/>
          <p:cNvPicPr>
            <a:picLocks noChangeAspect="1"/>
          </p:cNvPicPr>
          <p:nvPr/>
        </p:nvPicPr>
        <p:blipFill rotWithShape="1">
          <a:blip r:embed="rId3"/>
          <a:srcRect b="42830"/>
          <a:stretch/>
        </p:blipFill>
        <p:spPr>
          <a:xfrm>
            <a:off x="490674" y="3787236"/>
            <a:ext cx="1606732" cy="789489"/>
          </a:xfrm>
          <a:prstGeom prst="rect">
            <a:avLst/>
          </a:prstGeom>
        </p:spPr>
      </p:pic>
      <p:pic>
        <p:nvPicPr>
          <p:cNvPr id="10" name="Picture 9"/>
          <p:cNvPicPr>
            <a:picLocks noChangeAspect="1"/>
          </p:cNvPicPr>
          <p:nvPr/>
        </p:nvPicPr>
        <p:blipFill>
          <a:blip r:embed="rId4"/>
          <a:stretch>
            <a:fillRect/>
          </a:stretch>
        </p:blipFill>
        <p:spPr>
          <a:xfrm>
            <a:off x="490674" y="4750647"/>
            <a:ext cx="5829300" cy="1743075"/>
          </a:xfrm>
          <a:prstGeom prst="rect">
            <a:avLst/>
          </a:prstGeom>
          <a:ln w="38100">
            <a:solidFill>
              <a:schemeClr val="accent2">
                <a:lumMod val="75000"/>
              </a:schemeClr>
            </a:solidFill>
          </a:ln>
        </p:spPr>
      </p:pic>
      <p:sp>
        <p:nvSpPr>
          <p:cNvPr id="11" name="Rectangle 10"/>
          <p:cNvSpPr/>
          <p:nvPr/>
        </p:nvSpPr>
        <p:spPr>
          <a:xfrm>
            <a:off x="6453050" y="4750647"/>
            <a:ext cx="5144453" cy="338554"/>
          </a:xfrm>
          <a:prstGeom prst="rect">
            <a:avLst/>
          </a:prstGeom>
          <a:noFill/>
          <a:ln w="57150">
            <a:noFill/>
          </a:ln>
        </p:spPr>
        <p:style>
          <a:lnRef idx="2">
            <a:schemeClr val="accent4"/>
          </a:lnRef>
          <a:fillRef idx="1">
            <a:schemeClr val="lt1"/>
          </a:fillRef>
          <a:effectRef idx="0">
            <a:schemeClr val="accent4"/>
          </a:effectRef>
          <a:fontRef idx="minor">
            <a:schemeClr val="dk1"/>
          </a:fontRef>
        </p:style>
        <p:txBody>
          <a:bodyPr wrap="square">
            <a:spAutoFit/>
          </a:bodyPr>
          <a:lstStyle/>
          <a:p>
            <a:pPr marL="285750" indent="-285750" algn="justLow" rtl="1">
              <a:buFont typeface="Wingdings" panose="05000000000000000000" pitchFamily="2" charset="2"/>
              <a:buChar char="ü"/>
            </a:pPr>
            <a:r>
              <a:rPr lang="fa-IR" sz="1600" b="1" dirty="0" smtClean="0">
                <a:solidFill>
                  <a:srgbClr val="111111"/>
                </a:solidFill>
                <a:latin typeface="IRANSans"/>
                <a:cs typeface="B Nazanin" panose="00000400000000000000" pitchFamily="2" charset="-78"/>
              </a:rPr>
              <a:t>ما برنامه نویسی که سریعتر تایپ میکند را با دانش بیشتر میبینیم !!!</a:t>
            </a:r>
            <a:endParaRPr lang="fa-IR" sz="1600" b="1" dirty="0">
              <a:solidFill>
                <a:srgbClr val="FF0000"/>
              </a:solidFill>
              <a:latin typeface="IRANSans"/>
              <a:cs typeface="B Nazanin" panose="00000400000000000000" pitchFamily="2" charset="-78"/>
            </a:endParaRPr>
          </a:p>
        </p:txBody>
      </p:sp>
      <p:sp>
        <p:nvSpPr>
          <p:cNvPr id="12" name="Rectangle 11"/>
          <p:cNvSpPr/>
          <p:nvPr/>
        </p:nvSpPr>
        <p:spPr>
          <a:xfrm>
            <a:off x="6453050" y="5210871"/>
            <a:ext cx="5144454" cy="1200329"/>
          </a:xfrm>
          <a:prstGeom prst="rect">
            <a:avLst/>
          </a:prstGeom>
          <a:solidFill>
            <a:schemeClr val="accent4">
              <a:lumMod val="20000"/>
              <a:lumOff val="80000"/>
            </a:schemeClr>
          </a:solidFill>
          <a:ln/>
        </p:spPr>
        <p:style>
          <a:lnRef idx="2">
            <a:schemeClr val="accent6"/>
          </a:lnRef>
          <a:fillRef idx="1">
            <a:schemeClr val="lt1"/>
          </a:fillRef>
          <a:effectRef idx="0">
            <a:schemeClr val="accent6"/>
          </a:effectRef>
          <a:fontRef idx="minor">
            <a:schemeClr val="dk1"/>
          </a:fontRef>
        </p:style>
        <p:txBody>
          <a:bodyPr wrap="square">
            <a:spAutoFit/>
          </a:bodyPr>
          <a:lstStyle/>
          <a:p>
            <a:pPr algn="justLow" rtl="1"/>
            <a:r>
              <a:rPr lang="fa-IR" dirty="0">
                <a:solidFill>
                  <a:srgbClr val="111111"/>
                </a:solidFill>
                <a:latin typeface="IRANSans"/>
                <a:cs typeface="B Nazanin" panose="00000400000000000000" pitchFamily="2" charset="-78"/>
              </a:rPr>
              <a:t> کسانی که در </a:t>
            </a:r>
            <a:r>
              <a:rPr lang="fa-IR" b="1" dirty="0">
                <a:solidFill>
                  <a:schemeClr val="accent4">
                    <a:lumMod val="75000"/>
                  </a:schemeClr>
                </a:solidFill>
                <a:latin typeface="IRANSans"/>
                <a:cs typeface="B Nazanin" panose="00000400000000000000" pitchFamily="2" charset="-78"/>
              </a:rPr>
              <a:t>واحد منابع انسانی </a:t>
            </a:r>
            <a:r>
              <a:rPr lang="fa-IR" dirty="0">
                <a:solidFill>
                  <a:srgbClr val="111111"/>
                </a:solidFill>
                <a:latin typeface="IRANSans"/>
                <a:cs typeface="B Nazanin" panose="00000400000000000000" pitchFamily="2" charset="-78"/>
              </a:rPr>
              <a:t>کار می‌کنند، مصاحبه‌های شغلی را انجام می‌دهند و یا به هر شیوه‌ و در هر سمت دیگری ارزیابی کارکنان یک سازمان را انجام می‌دهند باید بیشتر از سایرین</a:t>
            </a:r>
            <a:r>
              <a:rPr lang="fa-IR" dirty="0">
                <a:solidFill>
                  <a:schemeClr val="tx1"/>
                </a:solidFill>
                <a:latin typeface="IRANSans"/>
                <a:cs typeface="B Nazanin" panose="00000400000000000000" pitchFamily="2" charset="-78"/>
              </a:rPr>
              <a:t>،</a:t>
            </a:r>
            <a:r>
              <a:rPr lang="fa-IR" b="1" dirty="0">
                <a:solidFill>
                  <a:srgbClr val="FF0000"/>
                </a:solidFill>
                <a:latin typeface="IRANSans"/>
                <a:cs typeface="B Nazanin" panose="00000400000000000000" pitchFamily="2" charset="-78"/>
              </a:rPr>
              <a:t> مراقب خطای هاله‌ای در قضاوت‌ها و تصمیم گیری‌های خود </a:t>
            </a:r>
            <a:r>
              <a:rPr lang="fa-IR" dirty="0">
                <a:solidFill>
                  <a:srgbClr val="111111"/>
                </a:solidFill>
                <a:latin typeface="IRANSans"/>
                <a:cs typeface="B Nazanin" panose="00000400000000000000" pitchFamily="2" charset="-78"/>
              </a:rPr>
              <a:t>باشند. </a:t>
            </a:r>
            <a:endParaRPr lang="en-US" dirty="0">
              <a:solidFill>
                <a:srgbClr val="111111"/>
              </a:solidFill>
              <a:latin typeface="IRANSans"/>
              <a:cs typeface="B Nazanin" panose="00000400000000000000" pitchFamily="2" charset="-78"/>
            </a:endParaRPr>
          </a:p>
        </p:txBody>
      </p:sp>
    </p:spTree>
    <p:extLst>
      <p:ext uri="{BB962C8B-B14F-4D97-AF65-F5344CB8AC3E}">
        <p14:creationId xmlns:p14="http://schemas.microsoft.com/office/powerpoint/2010/main" val="254956551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a:bodyPr>
          <a:lstStyle/>
          <a:p>
            <a:pPr algn="r" rtl="1"/>
            <a:r>
              <a:rPr lang="fa-IR" sz="4300" dirty="0">
                <a:cs typeface="B Nazanin" panose="00000400000000000000" pitchFamily="2" charset="-78"/>
              </a:rPr>
              <a:t>سوگیری </a:t>
            </a:r>
            <a:r>
              <a:rPr lang="fa-IR" sz="4300" dirty="0">
                <a:cs typeface="B Nazanin" panose="00000400000000000000" pitchFamily="2" charset="-78"/>
              </a:rPr>
              <a:t>در قضاوت قهرمانان</a:t>
            </a:r>
            <a:endParaRPr lang="en-US" sz="43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4" name="Rectangle 3"/>
          <p:cNvSpPr/>
          <p:nvPr/>
        </p:nvSpPr>
        <p:spPr>
          <a:xfrm>
            <a:off x="3341914" y="1821350"/>
            <a:ext cx="7702731" cy="369332"/>
          </a:xfrm>
          <a:prstGeom prst="rect">
            <a:avLst/>
          </a:prstGeom>
        </p:spPr>
        <p:txBody>
          <a:bodyPr wrap="square">
            <a:spAutoFit/>
          </a:bodyPr>
          <a:lstStyle/>
          <a:p>
            <a:pPr marL="285750" indent="-285750" algn="r" rtl="1">
              <a:buFont typeface="Wingdings" panose="05000000000000000000" pitchFamily="2" charset="2"/>
              <a:buChar char="ü"/>
            </a:pPr>
            <a:r>
              <a:rPr lang="fa-IR" b="1" dirty="0">
                <a:solidFill>
                  <a:srgbClr val="FF0000"/>
                </a:solidFill>
                <a:latin typeface="IRANSans"/>
                <a:cs typeface="B Nazanin" panose="00000400000000000000" pitchFamily="2" charset="-78"/>
              </a:rPr>
              <a:t>سوگیری</a:t>
            </a:r>
            <a:r>
              <a:rPr lang="fa-IR" dirty="0">
                <a:solidFill>
                  <a:srgbClr val="000000"/>
                </a:solidFill>
                <a:latin typeface="IRANSans"/>
                <a:cs typeface="B Nazanin" panose="00000400000000000000" pitchFamily="2" charset="-78"/>
              </a:rPr>
              <a:t> یا </a:t>
            </a:r>
            <a:r>
              <a:rPr lang="fa-IR" dirty="0" smtClean="0">
                <a:solidFill>
                  <a:srgbClr val="000000"/>
                </a:solidFill>
                <a:latin typeface="IRANSans"/>
                <a:cs typeface="B Nazanin" panose="00000400000000000000" pitchFamily="2" charset="-78"/>
              </a:rPr>
              <a:t>(</a:t>
            </a:r>
            <a:r>
              <a:rPr lang="en-US" dirty="0" smtClean="0">
                <a:solidFill>
                  <a:srgbClr val="000000"/>
                </a:solidFill>
                <a:latin typeface="IRANSans"/>
                <a:cs typeface="B Nazanin" panose="00000400000000000000" pitchFamily="2" charset="-78"/>
              </a:rPr>
              <a:t>Bias</a:t>
            </a:r>
            <a:r>
              <a:rPr lang="fa-IR"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 </a:t>
            </a:r>
            <a:r>
              <a:rPr lang="fa-IR" dirty="0">
                <a:solidFill>
                  <a:srgbClr val="000000"/>
                </a:solidFill>
                <a:latin typeface="IRANSans"/>
                <a:cs typeface="B Nazanin" panose="00000400000000000000" pitchFamily="2" charset="-78"/>
              </a:rPr>
              <a:t>به معنای </a:t>
            </a:r>
            <a:r>
              <a:rPr lang="fa-IR" b="1" dirty="0">
                <a:solidFill>
                  <a:srgbClr val="FF0000"/>
                </a:solidFill>
                <a:latin typeface="IRANSans"/>
                <a:cs typeface="B Nazanin" panose="00000400000000000000" pitchFamily="2" charset="-78"/>
              </a:rPr>
              <a:t>خنثی نبودن نسبت</a:t>
            </a:r>
            <a:r>
              <a:rPr lang="fa-IR" dirty="0">
                <a:solidFill>
                  <a:srgbClr val="000000"/>
                </a:solidFill>
                <a:latin typeface="IRANSans"/>
                <a:cs typeface="B Nazanin" panose="00000400000000000000" pitchFamily="2" charset="-78"/>
              </a:rPr>
              <a:t> به یک پدیده یا رویداد یا باور یا ارزش </a:t>
            </a:r>
            <a:r>
              <a:rPr lang="fa-IR" dirty="0" smtClean="0">
                <a:solidFill>
                  <a:srgbClr val="000000"/>
                </a:solidFill>
                <a:latin typeface="IRANSans"/>
                <a:cs typeface="B Nazanin" panose="00000400000000000000" pitchFamily="2" charset="-78"/>
              </a:rPr>
              <a:t>است</a:t>
            </a:r>
            <a:r>
              <a:rPr lang="fa-IR" dirty="0" smtClean="0">
                <a:solidFill>
                  <a:srgbClr val="000000"/>
                </a:solidFill>
                <a:latin typeface="IRANSans"/>
                <a:cs typeface="B Nazanin" panose="00000400000000000000" pitchFamily="2" charset="-78"/>
              </a:rPr>
              <a:t>.</a:t>
            </a:r>
            <a:endParaRPr lang="en-US" dirty="0">
              <a:solidFill>
                <a:srgbClr val="000000"/>
              </a:solidFill>
              <a:latin typeface="IRANSans"/>
              <a:cs typeface="B Nazanin" panose="00000400000000000000" pitchFamily="2" charset="-78"/>
            </a:endParaRPr>
          </a:p>
        </p:txBody>
      </p:sp>
      <p:sp>
        <p:nvSpPr>
          <p:cNvPr id="3" name="Rectangle 2"/>
          <p:cNvSpPr/>
          <p:nvPr/>
        </p:nvSpPr>
        <p:spPr>
          <a:xfrm>
            <a:off x="7400108" y="2510135"/>
            <a:ext cx="3644537" cy="369332"/>
          </a:xfrm>
          <a:prstGeom prst="rect">
            <a:avLst/>
          </a:prstGeom>
        </p:spPr>
        <p:txBody>
          <a:bodyPr wrap="square">
            <a:spAutoFit/>
          </a:bodyPr>
          <a:lstStyle/>
          <a:p>
            <a:pPr marL="285750" indent="-285750" algn="r" rtl="1">
              <a:buFont typeface="Wingdings" panose="05000000000000000000" pitchFamily="2" charset="2"/>
              <a:buChar char="v"/>
            </a:pPr>
            <a:r>
              <a:rPr lang="fa-IR" b="1" dirty="0" smtClean="0">
                <a:latin typeface="IRANSans"/>
                <a:cs typeface="B Nazanin" panose="00000400000000000000" pitchFamily="2" charset="-78"/>
              </a:rPr>
              <a:t>سوگیری </a:t>
            </a:r>
            <a:r>
              <a:rPr lang="fa-IR" b="1" dirty="0">
                <a:latin typeface="IRANSans"/>
                <a:cs typeface="B Nazanin" panose="00000400000000000000" pitchFamily="2" charset="-78"/>
              </a:rPr>
              <a:t>قضاوت درباره قهرمانان</a:t>
            </a:r>
          </a:p>
        </p:txBody>
      </p:sp>
      <p:sp>
        <p:nvSpPr>
          <p:cNvPr id="5" name="Rectangle 4"/>
          <p:cNvSpPr/>
          <p:nvPr/>
        </p:nvSpPr>
        <p:spPr>
          <a:xfrm>
            <a:off x="4528456" y="2510135"/>
            <a:ext cx="2565126" cy="369332"/>
          </a:xfrm>
          <a:prstGeom prst="rect">
            <a:avLst/>
          </a:prstGeom>
        </p:spPr>
        <p:txBody>
          <a:bodyPr wrap="none">
            <a:spAutoFit/>
          </a:bodyPr>
          <a:lstStyle/>
          <a:p>
            <a:r>
              <a:rPr lang="fa-IR" dirty="0">
                <a:solidFill>
                  <a:srgbClr val="000000"/>
                </a:solidFill>
                <a:latin typeface="IRANSans" panose="02040503050201020203"/>
                <a:cs typeface="B Nazanin" panose="00000400000000000000" pitchFamily="2" charset="-78"/>
              </a:rPr>
              <a:t>ویژگی قهرمانان، </a:t>
            </a:r>
            <a:r>
              <a:rPr lang="fa-IR" b="1" dirty="0">
                <a:solidFill>
                  <a:srgbClr val="4372C2"/>
                </a:solidFill>
                <a:latin typeface="IRANSans" panose="02040503050201020203"/>
                <a:cs typeface="B Nazanin" panose="00000400000000000000" pitchFamily="2" charset="-78"/>
              </a:rPr>
              <a:t>اعتبار</a:t>
            </a:r>
            <a:r>
              <a:rPr lang="fa-IR" b="1" dirty="0">
                <a:solidFill>
                  <a:srgbClr val="000000"/>
                </a:solidFill>
                <a:latin typeface="IRANSans" panose="02040503050201020203"/>
                <a:cs typeface="B Nazanin" panose="00000400000000000000" pitchFamily="2" charset="-78"/>
              </a:rPr>
              <a:t> </a:t>
            </a:r>
            <a:r>
              <a:rPr lang="fa-IR" dirty="0">
                <a:solidFill>
                  <a:srgbClr val="000000"/>
                </a:solidFill>
                <a:latin typeface="IRANSans" panose="02040503050201020203"/>
                <a:cs typeface="B Nazanin" panose="00000400000000000000" pitchFamily="2" charset="-78"/>
              </a:rPr>
              <a:t>آنان است.</a:t>
            </a:r>
            <a:endParaRPr lang="en-US" dirty="0">
              <a:cs typeface="B Nazanin" panose="00000400000000000000" pitchFamily="2" charset="-78"/>
            </a:endParaRPr>
          </a:p>
        </p:txBody>
      </p:sp>
      <p:sp>
        <p:nvSpPr>
          <p:cNvPr id="6" name="Rectangle 5"/>
          <p:cNvSpPr/>
          <p:nvPr/>
        </p:nvSpPr>
        <p:spPr>
          <a:xfrm>
            <a:off x="1748399" y="3286929"/>
            <a:ext cx="3825086" cy="369332"/>
          </a:xfrm>
          <a:prstGeom prst="rect">
            <a:avLst/>
          </a:prstGeom>
        </p:spPr>
        <p:txBody>
          <a:bodyPr wrap="none">
            <a:spAutoFit/>
          </a:bodyPr>
          <a:lstStyle/>
          <a:p>
            <a:r>
              <a:rPr lang="fa-IR" b="1" dirty="0">
                <a:solidFill>
                  <a:srgbClr val="000000"/>
                </a:solidFill>
                <a:latin typeface="IRANSans" panose="02040503050201020203"/>
                <a:cs typeface="B Nazanin" panose="00000400000000000000" pitchFamily="2" charset="-78"/>
              </a:rPr>
              <a:t>رفتارها، تصمیم‌ها </a:t>
            </a:r>
            <a:r>
              <a:rPr lang="fa-IR" dirty="0">
                <a:solidFill>
                  <a:srgbClr val="000000"/>
                </a:solidFill>
                <a:latin typeface="IRANSans" panose="02040503050201020203"/>
                <a:cs typeface="B Nazanin" panose="00000400000000000000" pitchFamily="2" charset="-78"/>
              </a:rPr>
              <a:t>و </a:t>
            </a:r>
            <a:r>
              <a:rPr lang="fa-IR" b="1" dirty="0">
                <a:solidFill>
                  <a:srgbClr val="000000"/>
                </a:solidFill>
                <a:latin typeface="IRANSans" panose="02040503050201020203"/>
                <a:cs typeface="B Nazanin" panose="00000400000000000000" pitchFamily="2" charset="-78"/>
              </a:rPr>
              <a:t>دستاوردهای گذشته‌ی آنان</a:t>
            </a:r>
            <a:endParaRPr lang="en-US" dirty="0">
              <a:cs typeface="B Nazanin" panose="00000400000000000000" pitchFamily="2" charset="-78"/>
            </a:endParaRPr>
          </a:p>
        </p:txBody>
      </p:sp>
      <p:cxnSp>
        <p:nvCxnSpPr>
          <p:cNvPr id="9" name="Elbow Connector 8"/>
          <p:cNvCxnSpPr/>
          <p:nvPr/>
        </p:nvCxnSpPr>
        <p:spPr>
          <a:xfrm rot="5400000">
            <a:off x="5195583" y="2909027"/>
            <a:ext cx="407461" cy="348342"/>
          </a:xfrm>
          <a:prstGeom prst="bentConnector3">
            <a:avLst/>
          </a:prstGeom>
          <a:ln w="38100">
            <a:tailEnd type="triangle"/>
          </a:ln>
        </p:spPr>
        <p:style>
          <a:lnRef idx="2">
            <a:schemeClr val="accent2"/>
          </a:lnRef>
          <a:fillRef idx="0">
            <a:schemeClr val="accent2"/>
          </a:fillRef>
          <a:effectRef idx="1">
            <a:schemeClr val="accent2"/>
          </a:effectRef>
          <a:fontRef idx="minor">
            <a:schemeClr val="tx1"/>
          </a:fontRef>
        </p:style>
      </p:cxnSp>
      <p:sp>
        <p:nvSpPr>
          <p:cNvPr id="10" name="Rectangle 9"/>
          <p:cNvSpPr/>
          <p:nvPr/>
        </p:nvSpPr>
        <p:spPr>
          <a:xfrm>
            <a:off x="731519" y="3778687"/>
            <a:ext cx="10750732" cy="1754326"/>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pPr algn="just" rtl="1">
              <a:lnSpc>
                <a:spcPct val="150000"/>
              </a:lnSpc>
            </a:pPr>
            <a:r>
              <a:rPr lang="fa-IR" dirty="0">
                <a:solidFill>
                  <a:srgbClr val="000000"/>
                </a:solidFill>
                <a:latin typeface="IRANSans" panose="02040503050201020203"/>
                <a:cs typeface="B Nazanin" panose="00000400000000000000" pitchFamily="2" charset="-78"/>
              </a:rPr>
              <a:t>توجه به گذشته‌ی فرد، می‌تواند به ارزیابی رفتار و تصمیم امروز او کمک کند. به شرطی که به خاطر داشته باشیم که </a:t>
            </a:r>
            <a:r>
              <a:rPr lang="fa-IR" b="1" dirty="0">
                <a:solidFill>
                  <a:srgbClr val="000000"/>
                </a:solidFill>
                <a:latin typeface="IRANSans" panose="02040503050201020203"/>
                <a:cs typeface="B Nazanin" panose="00000400000000000000" pitchFamily="2" charset="-78"/>
              </a:rPr>
              <a:t>ارتباط منطقی </a:t>
            </a:r>
            <a:r>
              <a:rPr lang="fa-IR" dirty="0">
                <a:solidFill>
                  <a:srgbClr val="000000"/>
                </a:solidFill>
                <a:latin typeface="IRANSans" panose="02040503050201020203"/>
                <a:cs typeface="B Nazanin" panose="00000400000000000000" pitchFamily="2" charset="-78"/>
              </a:rPr>
              <a:t>بین </a:t>
            </a:r>
            <a:r>
              <a:rPr lang="fa-IR" b="1" dirty="0">
                <a:solidFill>
                  <a:srgbClr val="C00000"/>
                </a:solidFill>
                <a:latin typeface="IRANSans" panose="02040503050201020203"/>
                <a:cs typeface="B Nazanin" panose="00000400000000000000" pitchFamily="2" charset="-78"/>
              </a:rPr>
              <a:t>موفقیت‌های گذشته</a:t>
            </a:r>
            <a:r>
              <a:rPr lang="fa-IR" dirty="0">
                <a:solidFill>
                  <a:srgbClr val="000000"/>
                </a:solidFill>
                <a:latin typeface="IRANSans" panose="02040503050201020203"/>
                <a:cs typeface="B Nazanin" panose="00000400000000000000" pitchFamily="2" charset="-78"/>
              </a:rPr>
              <a:t> و </a:t>
            </a:r>
            <a:r>
              <a:rPr lang="fa-IR" b="1" dirty="0">
                <a:solidFill>
                  <a:srgbClr val="0070C0"/>
                </a:solidFill>
                <a:latin typeface="IRANSans" panose="02040503050201020203"/>
                <a:cs typeface="B Nazanin" panose="00000400000000000000" pitchFamily="2" charset="-78"/>
              </a:rPr>
              <a:t>درست بودن حرف یا تحلیل امروز</a:t>
            </a:r>
            <a:r>
              <a:rPr lang="fa-IR" dirty="0">
                <a:solidFill>
                  <a:srgbClr val="000000"/>
                </a:solidFill>
                <a:latin typeface="IRANSans" panose="02040503050201020203"/>
                <a:cs typeface="B Nazanin" panose="00000400000000000000" pitchFamily="2" charset="-78"/>
              </a:rPr>
              <a:t> وجود ندارد.</a:t>
            </a:r>
          </a:p>
          <a:p>
            <a:pPr algn="just" rtl="1">
              <a:lnSpc>
                <a:spcPct val="150000"/>
              </a:lnSpc>
            </a:pPr>
            <a:r>
              <a:rPr lang="fa-IR" dirty="0">
                <a:solidFill>
                  <a:srgbClr val="000000"/>
                </a:solidFill>
                <a:latin typeface="IRANSans" panose="02040503050201020203"/>
                <a:cs typeface="B Nazanin" panose="00000400000000000000" pitchFamily="2" charset="-78"/>
              </a:rPr>
              <a:t>این که شما در گذشته ده‌ها تحلیل درست داشته‌اید، در بهترین حالت این </a:t>
            </a:r>
            <a:r>
              <a:rPr lang="fa-IR" b="1" dirty="0">
                <a:solidFill>
                  <a:srgbClr val="000000"/>
                </a:solidFill>
                <a:latin typeface="IRANSans" panose="02040503050201020203"/>
                <a:cs typeface="B Nazanin" panose="00000400000000000000" pitchFamily="2" charset="-78"/>
              </a:rPr>
              <a:t>احتمال</a:t>
            </a:r>
            <a:r>
              <a:rPr lang="fa-IR" dirty="0">
                <a:solidFill>
                  <a:srgbClr val="000000"/>
                </a:solidFill>
                <a:latin typeface="IRANSans" panose="02040503050201020203"/>
                <a:cs typeface="B Nazanin" panose="00000400000000000000" pitchFamily="2" charset="-78"/>
              </a:rPr>
              <a:t> را افزایش می‌دهد که تحلیل امروزتان هم درست باشد؛ اما هرگز باعث نمی‌شود که </a:t>
            </a:r>
            <a:r>
              <a:rPr lang="fa-IR" b="1" dirty="0">
                <a:solidFill>
                  <a:srgbClr val="000000"/>
                </a:solidFill>
                <a:latin typeface="IRANSans" panose="02040503050201020203"/>
                <a:cs typeface="B Nazanin" panose="00000400000000000000" pitchFamily="2" charset="-78"/>
              </a:rPr>
              <a:t>منطق و زیربنای تصمیم و رفتار امروز شما</a:t>
            </a:r>
            <a:r>
              <a:rPr lang="fa-IR" dirty="0">
                <a:solidFill>
                  <a:srgbClr val="000000"/>
                </a:solidFill>
                <a:latin typeface="IRANSans" panose="02040503050201020203"/>
                <a:cs typeface="B Nazanin" panose="00000400000000000000" pitchFamily="2" charset="-78"/>
              </a:rPr>
              <a:t> قابل دفاع باشد.</a:t>
            </a:r>
          </a:p>
        </p:txBody>
      </p:sp>
      <p:sp>
        <p:nvSpPr>
          <p:cNvPr id="11" name="Rectangle 10"/>
          <p:cNvSpPr/>
          <p:nvPr/>
        </p:nvSpPr>
        <p:spPr>
          <a:xfrm>
            <a:off x="731519" y="5689154"/>
            <a:ext cx="9614262" cy="646331"/>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pPr algn="just" rtl="1"/>
            <a:r>
              <a:rPr lang="fa-IR" dirty="0">
                <a:solidFill>
                  <a:srgbClr val="000000"/>
                </a:solidFill>
                <a:latin typeface="IRANSans" panose="02040503050201020203"/>
                <a:cs typeface="B Nazanin" panose="00000400000000000000" pitchFamily="2" charset="-78"/>
              </a:rPr>
              <a:t>هر گاه حرف یا تحلیل یا رفتار فرد یا سازمانی را بررسی می‌کنید، در مواردی که نمی‌توانید منطق حرف یا رفتار یا انتخاب را درک کنید، حتماً ابتدا تأکید کنید که من به اعتبار گذشته‌ی این فرد / سازمان، فکر می‌کنم این تصمیم / رفتار درست باشد.</a:t>
            </a:r>
            <a:endParaRPr lang="en-US" dirty="0">
              <a:solidFill>
                <a:srgbClr val="000000"/>
              </a:solidFill>
              <a:latin typeface="IRANSans" panose="02040503050201020203"/>
              <a:cs typeface="B Nazanin" panose="00000400000000000000" pitchFamily="2" charset="-78"/>
            </a:endParaRPr>
          </a:p>
        </p:txBody>
      </p:sp>
      <p:sp>
        <p:nvSpPr>
          <p:cNvPr id="12" name="Rectangle 11"/>
          <p:cNvSpPr/>
          <p:nvPr/>
        </p:nvSpPr>
        <p:spPr>
          <a:xfrm>
            <a:off x="10411464" y="5781486"/>
            <a:ext cx="914033" cy="461665"/>
          </a:xfrm>
          <a:prstGeom prst="rect">
            <a:avLst/>
          </a:prstGeom>
        </p:spPr>
        <p:txBody>
          <a:bodyPr wrap="none">
            <a:spAutoFit/>
          </a:bodyPr>
          <a:lstStyle/>
          <a:p>
            <a:r>
              <a:rPr lang="fa-IR" sz="2400" b="1" dirty="0" smtClean="0">
                <a:solidFill>
                  <a:srgbClr val="C00000"/>
                </a:solidFill>
                <a:cs typeface="B Nazanin" panose="00000400000000000000" pitchFamily="2" charset="-78"/>
              </a:rPr>
              <a:t>توصیه </a:t>
            </a:r>
            <a:endParaRPr lang="en-US" sz="2400" b="1" dirty="0">
              <a:solidFill>
                <a:srgbClr val="C00000"/>
              </a:solidFill>
            </a:endParaRPr>
          </a:p>
        </p:txBody>
      </p:sp>
      <p:pic>
        <p:nvPicPr>
          <p:cNvPr id="13" name="Picture 12"/>
          <p:cNvPicPr>
            <a:picLocks noChangeAspect="1"/>
          </p:cNvPicPr>
          <p:nvPr/>
        </p:nvPicPr>
        <p:blipFill>
          <a:blip r:embed="rId2"/>
          <a:stretch>
            <a:fillRect/>
          </a:stretch>
        </p:blipFill>
        <p:spPr>
          <a:xfrm>
            <a:off x="629271" y="1417155"/>
            <a:ext cx="2857500" cy="1600200"/>
          </a:xfrm>
          <a:prstGeom prst="rect">
            <a:avLst/>
          </a:prstGeom>
        </p:spPr>
      </p:pic>
    </p:spTree>
    <p:extLst>
      <p:ext uri="{BB962C8B-B14F-4D97-AF65-F5344CB8AC3E}">
        <p14:creationId xmlns:p14="http://schemas.microsoft.com/office/powerpoint/2010/main" val="262168134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rtl="1"/>
            <a:r>
              <a:rPr lang="fa-IR" sz="4800" dirty="0" smtClean="0">
                <a:cs typeface="B Nazanin" panose="00000400000000000000" pitchFamily="2" charset="-78"/>
              </a:rPr>
              <a:t>سوگیری (</a:t>
            </a:r>
            <a:r>
              <a:rPr lang="en-US" dirty="0" smtClean="0"/>
              <a:t>Bias</a:t>
            </a:r>
            <a:r>
              <a:rPr lang="fa-IR" sz="4800" dirty="0" smtClean="0">
                <a:cs typeface="B Nazanin" panose="00000400000000000000" pitchFamily="2" charset="-78"/>
              </a:rPr>
              <a:t>)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798772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rtl="1"/>
            <a:r>
              <a:rPr lang="fa-IR" sz="4800" dirty="0" smtClean="0">
                <a:cs typeface="B Nazanin" panose="00000400000000000000" pitchFamily="2" charset="-78"/>
              </a:rPr>
              <a:t>سوگیری (</a:t>
            </a:r>
            <a:r>
              <a:rPr lang="en-US" dirty="0" smtClean="0"/>
              <a:t>Bias</a:t>
            </a:r>
            <a:r>
              <a:rPr lang="fa-IR" sz="4800" dirty="0" smtClean="0">
                <a:cs typeface="B Nazanin" panose="00000400000000000000" pitchFamily="2" charset="-78"/>
              </a:rPr>
              <a:t>)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662784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3DC42C2-6B58-404C-B339-2C72808A5BE1}"/>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A0D81407-D1A6-42DD-AE7A-4FA34ACD1317}"/>
              </a:ext>
            </a:extLst>
          </p:cNvPr>
          <p:cNvSpPr>
            <a:spLocks noGrp="1"/>
          </p:cNvSpPr>
          <p:nvPr>
            <p:ph type="title"/>
          </p:nvPr>
        </p:nvSpPr>
        <p:spPr>
          <a:xfrm>
            <a:off x="6096000" y="609600"/>
            <a:ext cx="5038844" cy="1356360"/>
          </a:xfrm>
        </p:spPr>
        <p:txBody>
          <a:bodyPr>
            <a:normAutofit/>
          </a:bodyPr>
          <a:lstStyle/>
          <a:p>
            <a:pPr algn="ctr"/>
            <a:r>
              <a:rPr lang="fa-IR" sz="8000" dirty="0" smtClean="0">
                <a:solidFill>
                  <a:srgbClr val="FFFFFF"/>
                </a:solidFill>
                <a:cs typeface="B Nazanin" panose="00000400000000000000" pitchFamily="2" charset="-78"/>
              </a:rPr>
              <a:t>پایان</a:t>
            </a:r>
            <a:endParaRPr lang="en-US" dirty="0">
              <a:solidFill>
                <a:srgbClr val="FFFFFF"/>
              </a:solidFill>
              <a:cs typeface="B Nazanin" panose="00000400000000000000" pitchFamily="2" charset="-78"/>
            </a:endParaRPr>
          </a:p>
        </p:txBody>
      </p:sp>
      <p:pic>
        <p:nvPicPr>
          <p:cNvPr id="4" name="Picture 3" descr="Two people climbing a mountain">
            <a:extLst>
              <a:ext uri="{FF2B5EF4-FFF2-40B4-BE49-F238E27FC236}">
                <a16:creationId xmlns:a16="http://schemas.microsoft.com/office/drawing/2014/main" id="{629F2A20-8FE1-4EA2-AE83-45314542A65B}"/>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t="2278" b="2278"/>
          <a:stretch/>
        </p:blipFill>
        <p:spPr>
          <a:xfrm>
            <a:off x="232860" y="243840"/>
            <a:ext cx="5432443" cy="6377939"/>
          </a:xfrm>
          <a:prstGeom prst="rect">
            <a:avLst/>
          </a:prstGeom>
        </p:spPr>
      </p:pic>
      <p:sp>
        <p:nvSpPr>
          <p:cNvPr id="8" name="Content Placeholder 7">
            <a:extLst>
              <a:ext uri="{FF2B5EF4-FFF2-40B4-BE49-F238E27FC236}">
                <a16:creationId xmlns:a16="http://schemas.microsoft.com/office/drawing/2014/main" id="{41FF5D4E-7134-4EA4-BA11-FE50F4576B73}"/>
              </a:ext>
            </a:extLst>
          </p:cNvPr>
          <p:cNvSpPr>
            <a:spLocks noGrp="1"/>
          </p:cNvSpPr>
          <p:nvPr>
            <p:ph idx="1"/>
          </p:nvPr>
        </p:nvSpPr>
        <p:spPr>
          <a:xfrm>
            <a:off x="6096000" y="2057400"/>
            <a:ext cx="5038844" cy="4038600"/>
          </a:xfrm>
        </p:spPr>
        <p:txBody>
          <a:bodyPr>
            <a:normAutofit/>
          </a:bodyPr>
          <a:lstStyle/>
          <a:p>
            <a:pPr marL="45720" indent="0" algn="ctr">
              <a:buNone/>
            </a:pPr>
            <a:r>
              <a:rPr lang="en-US" dirty="0" smtClean="0">
                <a:solidFill>
                  <a:srgbClr val="FFFFFF"/>
                </a:solidFill>
              </a:rPr>
              <a:t>Afshin.Abbaspour@gmail.com</a:t>
            </a:r>
            <a:endParaRPr lang="en-US" dirty="0">
              <a:solidFill>
                <a:srgbClr val="FFFFFF"/>
              </a:solidFill>
            </a:endParaRPr>
          </a:p>
          <a:p>
            <a:pPr algn="ctr"/>
            <a:endParaRPr lang="en-US" dirty="0">
              <a:solidFill>
                <a:srgbClr val="FFFFFF"/>
              </a:solidFill>
            </a:endParaRPr>
          </a:p>
        </p:txBody>
      </p:sp>
      <p:sp>
        <p:nvSpPr>
          <p:cNvPr id="26" name="Rectangle 25">
            <a:extLst>
              <a:ext uri="{FF2B5EF4-FFF2-40B4-BE49-F238E27FC236}">
                <a16:creationId xmlns:a16="http://schemas.microsoft.com/office/drawing/2014/main" id="{FCF82941-5589-49BF-B6B1-76122B2D0EA6}"/>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646983618"/>
      </p:ext>
    </p:extLst>
  </p:cSld>
  <p:clrMapOvr>
    <a:masterClrMapping/>
  </p:clrMapOvr>
  <p:timing>
    <p:tnLst>
      <p:par>
        <p:cTn id="1" dur="indefinite" restart="never" nodeType="tmRoot"/>
      </p:par>
    </p:tnLst>
  </p:timing>
</p:sld>
</file>

<file path=ppt/theme/theme1.xml><?xml version="1.0" encoding="utf-8"?>
<a:theme xmlns:a="http://schemas.openxmlformats.org/drawingml/2006/main" name="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90E45F77-AEFC-46EF-A7C1-5B338C297B02}"/>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1c2eb7a32e66fb6e4260f3771546a5e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04e1f6479c48b08974ba73b5ca973489"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04E1485-0760-4ABF-A612-28A97B86DF09}">
  <ds:schemaRefs>
    <ds:schemaRef ds:uri="http://schemas.microsoft.com/sharepoint/v3/contenttype/forms"/>
  </ds:schemaRefs>
</ds:datastoreItem>
</file>

<file path=customXml/itemProps2.xml><?xml version="1.0" encoding="utf-8"?>
<ds:datastoreItem xmlns:ds="http://schemas.openxmlformats.org/officeDocument/2006/customXml" ds:itemID="{4965EBD3-98B5-4FD2-8FAF-5D4022A9F7F4}">
  <ds:schemaRefs>
    <ds:schemaRef ds:uri="http://schemas.openxmlformats.org/package/2006/metadata/core-properties"/>
    <ds:schemaRef ds:uri="http://schemas.microsoft.com/office/2006/documentManagement/types"/>
    <ds:schemaRef ds:uri="http://purl.org/dc/dcmitype/"/>
    <ds:schemaRef ds:uri="71af3243-3dd4-4a8d-8c0d-dd76da1f02a5"/>
    <ds:schemaRef ds:uri="http://schemas.microsoft.com/office/2006/metadata/properties"/>
    <ds:schemaRef ds:uri="http://schemas.microsoft.com/office/infopath/2007/PartnerControls"/>
    <ds:schemaRef ds:uri="http://purl.org/dc/terms/"/>
    <ds:schemaRef ds:uri="16c05727-aa75-4e4a-9b5f-8a80a1165891"/>
    <ds:schemaRef ds:uri="http://www.w3.org/XML/1998/namespace"/>
    <ds:schemaRef ds:uri="http://purl.org/dc/elements/1.1/"/>
  </ds:schemaRefs>
</ds:datastoreItem>
</file>

<file path=customXml/itemProps3.xml><?xml version="1.0" encoding="utf-8"?>
<ds:datastoreItem xmlns:ds="http://schemas.openxmlformats.org/officeDocument/2006/customXml" ds:itemID="{55813238-AF3D-40EB-A3A4-550AB85131D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Tourism Facet design</Template>
  <TotalTime>0</TotalTime>
  <Words>3876</Words>
  <Application>Microsoft Office PowerPoint</Application>
  <PresentationFormat>Widescreen</PresentationFormat>
  <Paragraphs>318</Paragraphs>
  <Slides>25</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25</vt:i4>
      </vt:variant>
    </vt:vector>
  </HeadingPairs>
  <TitlesOfParts>
    <vt:vector size="34" baseType="lpstr">
      <vt:lpstr>Arial</vt:lpstr>
      <vt:lpstr>B Nazanin</vt:lpstr>
      <vt:lpstr>Corbel</vt:lpstr>
      <vt:lpstr>Corbel (Body)</vt:lpstr>
      <vt:lpstr>IRANSans</vt:lpstr>
      <vt:lpstr>MsYekan</vt:lpstr>
      <vt:lpstr>Tahoma</vt:lpstr>
      <vt:lpstr>Wingdings</vt:lpstr>
      <vt:lpstr>Basis</vt:lpstr>
      <vt:lpstr>مهارت تصمیم گیری درست</vt:lpstr>
      <vt:lpstr>تصمیم گیری چیست ؟</vt:lpstr>
      <vt:lpstr>انواع تصمیم گیری </vt:lpstr>
      <vt:lpstr>مهارت تصمیم گیری</vt:lpstr>
      <vt:lpstr>تصمیم درست / نتیجه نامطلوب  </vt:lpstr>
      <vt:lpstr>اهمیت تصمیم سازی</vt:lpstr>
      <vt:lpstr>خرده مهارت های مرتبط با تصمیم گیری درست </vt:lpstr>
      <vt:lpstr>فوبیای تصمیم گیری </vt:lpstr>
      <vt:lpstr>اولویت بندی ارزشها در تصمیم گیری </vt:lpstr>
      <vt:lpstr>چالش اخلاق و فرهنگ در تصمیم گیری </vt:lpstr>
      <vt:lpstr> ثبت و مرور تصمیمها</vt:lpstr>
      <vt:lpstr>خطا های شناختی یا خطاهای ذهنی </vt:lpstr>
      <vt:lpstr>بررسی توان مغز انسان</vt:lpstr>
      <vt:lpstr>نمونه هایی از خطاهای ذهنی </vt:lpstr>
      <vt:lpstr>دریافت گزینشی اطلاعات / خطای تایید خود </vt:lpstr>
      <vt:lpstr>ترس از دست دادن و دام حفظ وضعیت موجود</vt:lpstr>
      <vt:lpstr>تعارض شناختی (ناهماهنگی شناختی)</vt:lpstr>
      <vt:lpstr>تعارض شناختی ( کوری تصمیم گیری )</vt:lpstr>
      <vt:lpstr>خطای درک نادرست دامنه ارزیابی و مقیاس مسئله</vt:lpstr>
      <vt:lpstr>استریوتایپ</vt:lpstr>
      <vt:lpstr>خطای هاله ای یا اثر هاله ای</vt:lpstr>
      <vt:lpstr>سوگیری در قضاوت قهرمانان</vt:lpstr>
      <vt:lpstr>سوگیری (Bias)  </vt:lpstr>
      <vt:lpstr>سوگیری (Bias)  </vt:lpstr>
      <vt:lpstr>پایان</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2019-02-05T10:32:05Z</dcterms:created>
  <dcterms:modified xsi:type="dcterms:W3CDTF">2019-05-03T10:44:24Z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