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65" r:id="rId18"/>
    <p:sldId id="274" r:id="rId19"/>
    <p:sldId id="275" r:id="rId20"/>
    <p:sldId id="277" r:id="rId21"/>
    <p:sldId id="276" r:id="rId22"/>
    <p:sldId id="278" r:id="rId23"/>
    <p:sldId id="271" r:id="rId24"/>
    <p:sldId id="26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B563"/>
    <a:srgbClr val="AFA9FB"/>
    <a:srgbClr val="E8BE9F"/>
    <a:srgbClr val="E0B488"/>
    <a:srgbClr val="4372C2"/>
    <a:srgbClr val="A6B727"/>
    <a:srgbClr val="71AB47"/>
    <a:srgbClr val="44B565"/>
    <a:srgbClr val="41BC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42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4/20/2019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اجتناب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>
                <a:cs typeface="B Nazanin" panose="00000400000000000000" pitchFamily="2" charset="-78"/>
              </a:rPr>
              <a:t>اجتناب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0891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بررسی توان مغز انسان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1" y="1905064"/>
            <a:ext cx="2857500" cy="1600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30889" y="1394884"/>
            <a:ext cx="8935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یکی از پر مصرف ترین بخش های بدن او و یکی از کم مصرف ترین ابزارهای محاسباتی و تحلیل در جهان می باشد 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633171" y="2104999"/>
            <a:ext cx="71331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بخشی از این برتری خود در پردازش با انرژی پایین را از ساختار نورونی سناپس ها بدست آورده ، اما بخشی از آن با قربانی کردن دقت بدست آمده . مغز ما میان بر هایی برای خود میسازد تا جواب های سرانگشتی سریعی برای مشکلات و چالشها پیدا کند و با همین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میانبر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ها و کمی از دست دادن دقت ، با  سرعت بیشتر و مصرف انرژی کمتر به جواب برسد .  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75671" y="3694627"/>
            <a:ext cx="1072178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در طول زمان، با آزمایش و خطا و دریافت اطلاعات جدید و تجربه‌های جدید، به تدریج محیط اطراف خود را کشف می‌کند.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این میان، بسیاری از قضاوت‌ها و قاعده‌های ذهنی، به جای اینکه بر اساس منطق خشک و دیجیتال شکل بگیرند، بر پایه‌ی آمار و احتمال و فراوانی تجربه‌ها شکل می‌گیرند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(</a:t>
            </a:r>
            <a:r>
              <a:rPr lang="en-US" b="1" dirty="0" smtClean="0">
                <a:solidFill>
                  <a:srgbClr val="FF0000"/>
                </a:solidFill>
              </a:rPr>
              <a:t>Heuristic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75671" y="4766393"/>
            <a:ext cx="6766577" cy="1738695"/>
            <a:chOff x="4730878" y="4726476"/>
            <a:chExt cx="6766577" cy="1738695"/>
          </a:xfrm>
        </p:grpSpPr>
        <p:sp>
          <p:nvSpPr>
            <p:cNvPr id="7" name="Rectangle 6"/>
            <p:cNvSpPr/>
            <p:nvPr/>
          </p:nvSpPr>
          <p:spPr>
            <a:xfrm>
              <a:off x="4859383" y="4807320"/>
              <a:ext cx="5166503" cy="147732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نباید فراموش کرد که مغز انسان، برای به دست آوردن این سطح بالا از عملکرد، میان‌بر‌هایی را هم آموخته و به کار گرفته </a:t>
              </a:r>
              <a:r>
                <a:rPr lang="fa-IR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است.</a:t>
              </a:r>
              <a:r>
                <a:rPr lang="en-US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</a:t>
              </a:r>
              <a:r>
                <a:rPr lang="fa-IR" b="1" dirty="0" smtClean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میان‌برهایی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ارزشمند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که اگر چه موجب بقای نسل بشر بر روی این کره‌ی خاکی شده‌اند،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اما منشاء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بسیاری از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خطاهای قضاوتی و ادراکی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ما هم بوده‌اند.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06643" y="4795806"/>
              <a:ext cx="1238428" cy="163017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4730878" y="4726476"/>
              <a:ext cx="6766577" cy="1738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370" y="4766393"/>
            <a:ext cx="1352550" cy="342900"/>
          </a:xfrm>
          <a:prstGeom prst="rect">
            <a:avLst/>
          </a:prstGeom>
        </p:spPr>
      </p:pic>
      <p:cxnSp>
        <p:nvCxnSpPr>
          <p:cNvPr id="14" name="Elbow Connector 13"/>
          <p:cNvCxnSpPr>
            <a:stCxn id="12" idx="2"/>
            <a:endCxn id="19" idx="0"/>
          </p:cNvCxnSpPr>
          <p:nvPr/>
        </p:nvCxnSpPr>
        <p:spPr>
          <a:xfrm rot="5400000">
            <a:off x="10082784" y="4876720"/>
            <a:ext cx="729288" cy="1194435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53996" y="5104605"/>
            <a:ext cx="59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معنی</a:t>
            </a:r>
            <a:endParaRPr lang="en-US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2964" y="5838581"/>
            <a:ext cx="32944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400" dirty="0">
                <a:solidFill>
                  <a:srgbClr val="454638"/>
                </a:solidFill>
                <a:latin typeface="MsYekan"/>
              </a:rPr>
              <a:t>کشف کننده، پی برنده، اکتشافی، ابتکآری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4106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نمونه هایی از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543109" y="1744286"/>
            <a:ext cx="3063238" cy="48013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انسان‌ها. احنمال مرگ با سیل و زلزله را بیشتر از آتشسوزی برای خود میدانیم . 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حالی که آمارها نشان می‌دهند، برای هر یک از ما، احتمال مرگ ناشی از آتش‌سوزی الزاماً از احتمال مرگ در اثر زلزله یا سقوط هواپیما کمتر نیست.</a:t>
            </a:r>
          </a:p>
          <a:p>
            <a:pPr algn="justLow" rtl="1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علت این نوع ارزیابی، اطلاعاتی است که در دسترس مغز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در اثر گوش دادن به خبرها و خواندن روزنامه‌ها، حجم زیادی از اخبار مربوط به سقوط و زلزله را در دسترس دارد. به همین علت بر اساس اینکه چه چیزهایی بهتر به خاطر می‌آیند، در زمینه احتمال وقوع آنها قضاوت می‌کند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به عبارتی، اطلاعاتی که سریع‌تر بازیابی می‌شوند، محتمل‌تر فرض می‌شوند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543109" y="1359961"/>
            <a:ext cx="3063238" cy="40011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خطای در محاسبه‌ی احتمالات</a:t>
            </a:r>
            <a:endParaRPr lang="en-US" sz="2000" dirty="0"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74229" y="1757349"/>
            <a:ext cx="2377440" cy="48013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برای خرید یک خودرو، هفته‌ها وقت صرف کرده و با ده‌ها نفر صحبت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کرده‌اید.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 این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تحقیق‌ها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با قطعیت به یک نتیجه‌ی مشخص رسیده‌اید.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 خرید خودرو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یک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 را می‌بینید که می‌گوید: «من همین ماشین را داشتم. روز سوم خاموش شد 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.... ».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بر تصمیم قبلی خود باقی می‌مانید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</a:p>
          <a:p>
            <a:pPr algn="justLow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واقعیت آن است که ذهن ما برای آخرین اطلاعات بدست آمده ارزش بیشتری قایل است که این مورد میتواند نتیجه درستی نداشته باشد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74229" y="1359961"/>
            <a:ext cx="2377440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200" b="1" dirty="0">
                <a:cs typeface="B Nazanin" panose="00000400000000000000" pitchFamily="2" charset="-78"/>
              </a:rPr>
              <a:t>خطای ناشی از مهم‌تر فرض کردن آخرین اخبار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78777" y="1834689"/>
            <a:ext cx="2704011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که ماشین مورد علاقه‌ی خود را انتخاب کرده‌اید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مسیر مراجعه برای خرید ماشین،‌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یکنفر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می‌بینید. سال‌هاست از او نفرت دارید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متوجه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می‌شوید که او هم از همین ماشین خریده است.</a:t>
            </a:r>
          </a:p>
          <a:p>
            <a:pPr algn="justLow" rtl="1"/>
            <a:r>
              <a:rPr lang="fa-IR" sz="20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هم، علاقه‌ی شما به آن ماشین به اندازه‌ی قبل است؟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یکی از میان‌بُرهای ذهن ما این است که صفات را از انسان به کالا و از کالا به انسان و نیز از محیط به یک جسم سرایت می‌دهد.</a:t>
            </a:r>
          </a:p>
          <a:p>
            <a:pPr algn="justLow" rtl="1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واقع اینکه بعضا با تجربه همکاری بد با یک نفر از یک شهر یا قومیت خاص ، همه افراد از آن شهر یا قومیت خاص را نا مناسب می دانیم ناشی از چنین خطای ذهنی می باشد. </a:t>
            </a:r>
            <a:endParaRPr lang="fa-IR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78777" y="1373024"/>
            <a:ext cx="2704011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 smtClean="0">
                <a:cs typeface="B Nazanin" panose="00000400000000000000" pitchFamily="2" charset="-78"/>
              </a:rPr>
              <a:t>خطای ذهنی سرایت </a:t>
            </a:r>
            <a:r>
              <a:rPr lang="fa-IR" sz="2400" b="1" dirty="0" smtClean="0">
                <a:cs typeface="B Nazanin" panose="00000400000000000000" pitchFamily="2" charset="-78"/>
              </a:rPr>
              <a:t> </a:t>
            </a:r>
            <a:endParaRPr lang="en-US" sz="2400" b="1" dirty="0"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7383" y="1886941"/>
            <a:ext cx="2899953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نویسنده‌ای در یک مصاحبه‌ی تلویزیونی می‌گوید که ۱۸ سال گذشته را صرف نگارش آخرین کتابش کرده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ما با شنیدن این جمله، احساس می‌کنیم با یک کتاب وزین و ارزشمند طرف هستیم.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البته ممکن است فرض ما نادرست هم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نباشد. ممکن است نویسنده کند ذهن و تنبل بوده باشد . یا روش تحقیق مناسبلی نداشته و ... یکی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قواعد سرانگشتی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 میان‌بُرهای محاسباتی ذهن ما این است که تلاش و کوشش و زمانی را که صرف یک کار شده، با ارزش دستاورد آن کار هم‌ارز می‌گیرد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383" y="1373024"/>
            <a:ext cx="2899953" cy="52322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400" b="1" dirty="0">
                <a:cs typeface="B Nazanin" panose="00000400000000000000" pitchFamily="2" charset="-78"/>
              </a:rPr>
              <a:t>خطای ذهنی در ایجاد رابطه میان تلاش و کیفیت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7383" y="6076056"/>
            <a:ext cx="2899953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b="1" dirty="0" smtClean="0">
                <a:cs typeface="B Nazanin" panose="00000400000000000000" pitchFamily="2" charset="-78"/>
              </a:rPr>
              <a:t>و ...</a:t>
            </a:r>
            <a:endParaRPr lang="en-US" sz="32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31" y="448038"/>
            <a:ext cx="10745928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دریافت گزینشی اطلاعات / خطای تایید خود 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413049" y="5342155"/>
            <a:ext cx="5134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u="sng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Self Confirmation Bias</a:t>
            </a:r>
            <a:endParaRPr lang="en-US" sz="3600" b="1" u="sng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2404" y="2286899"/>
            <a:ext cx="1063585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ما بعد از تهیه یک ماشین احساس میکنیم خیلی ها در خیابان نسبت به قبل این ماشین را تهیه کرده اند ناشی از </a:t>
            </a:r>
            <a:r>
              <a:rPr lang="fa-IR" b="1" dirty="0" smtClean="0">
                <a:solidFill>
                  <a:schemeClr val="tx1"/>
                </a:solidFill>
                <a:latin typeface="IRANSans"/>
                <a:cs typeface="B Nazanin" panose="00000400000000000000" pitchFamily="2" charset="-78"/>
              </a:rPr>
              <a:t>عدم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فیلترینگ مغز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توجه و پردازش به این نوع ماشین می باشد . ما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اطلاعاتی را که دوست داریم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آن توجه کنیم را حذف یا فیلتر نمی کنیم.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483736" y="1474196"/>
            <a:ext cx="8168513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احتمالا ما نمیدانیم که خانه ما چند پله دارد ولی هرگز برای تشخیص اتمام پله ها اشتباه نمیکنیم مربوط به فیلترینگ مغز ما برای تعداد پله ها می باشد . زیرا مغز به روشی این کار را میکند که کمترین انرژی را از او بگیرد . 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47359" y="3007243"/>
            <a:ext cx="10998251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دریافت گزینشی اطلاعات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باعث می‌شود کسی که فکر کند مردم یک شهر خاص،‌ کم هوش هستند، هر روز نمونه‌های بیشتری در تایید حرف خود پیدا کند و فرد دیگری که فکر می‌کند مردم آن شهر خاص، تیزهوش هستند، هر روز نمونه‌های دیگری در تایید باورش پیدا 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تمایل به تایید خود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باعث می‌شود ما هرگز به صحت عملکرد سیستم ادراکی خود (که به دریافت گزینشی و فیلتر کردن احساسی اطلاعات مشغول است) شک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نکنیم . این تایید امنیت ذهنی ما را حفظ می نماید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t="24371"/>
          <a:stretch/>
        </p:blipFill>
        <p:spPr>
          <a:xfrm>
            <a:off x="788957" y="4556223"/>
            <a:ext cx="4781873" cy="1920516"/>
          </a:xfrm>
          <a:prstGeom prst="rect">
            <a:avLst/>
          </a:prstGeom>
        </p:spPr>
      </p:pic>
      <p:cxnSp>
        <p:nvCxnSpPr>
          <p:cNvPr id="10" name="Curved Connector 9"/>
          <p:cNvCxnSpPr>
            <a:endCxn id="6" idx="1"/>
          </p:cNvCxnSpPr>
          <p:nvPr/>
        </p:nvCxnSpPr>
        <p:spPr>
          <a:xfrm rot="5400000" flipH="1" flipV="1">
            <a:off x="1985460" y="1842412"/>
            <a:ext cx="543325" cy="453227"/>
          </a:xfrm>
          <a:prstGeom prst="curved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756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10156372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ترس از دست دادن و دام حفظ وضعیت موجود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58091" y="1404370"/>
            <a:ext cx="10006149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بررسی‌ها نشان می‌دهد که کاهش حقوق، نارضایتی بیشتری ایجاد می‌کند. به عبارت دیگر، اگر شما با افزایش حقوق خود به یک میزان مشخص، ۵ واحد رضایت بیشتر را تجربه کنید، شاید با کاهش همان عدد از حقوق خود، ۱۰ واحد و حتی بیشتر احساس نارضایتی در شما ایجاد شود!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58091" y="2108121"/>
            <a:ext cx="100061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دست آوردن، لذت بخش است. اما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رنج از دست دادن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از آن است. به همین دلیل انسانها همیشه نگران از دست دادن هستند.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ترس از دست دادن به شکل دیگری هم خودش را نشان میدهد و نامگذاری دیگری هم برای آن وجود دارد و آن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اثر مالکیت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58091" y="2820190"/>
            <a:ext cx="10006148" cy="9233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مترو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پسرک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فروش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فایل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میگذارد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آخر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واگن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سپس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میگردد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پرسد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فالتان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میخواهید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بردارم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گاها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توجیه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روانی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مردم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خریدن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(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پول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نکردن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 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8091" y="3822791"/>
            <a:ext cx="9144001" cy="646330"/>
          </a:xfrm>
          <a:prstGeom prst="rect">
            <a:avLst/>
          </a:prstGeom>
          <a:solidFill>
            <a:srgbClr val="E8BE9F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دنیل کانمن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 انسانها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فقط وقتی حاضر هستند ریسک از دست دادن ۱۰٪ سرمایه خود را بپذیرند که امید کسب ۲۰٪ سود وجود داشته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باشد . ( حداقل 20 درصد سود)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r="24133"/>
          <a:stretch/>
        </p:blipFill>
        <p:spPr>
          <a:xfrm>
            <a:off x="10315376" y="3822791"/>
            <a:ext cx="748863" cy="658055"/>
          </a:xfrm>
          <a:prstGeom prst="rect">
            <a:avLst/>
          </a:prstGeom>
          <a:ln w="6350"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477794" y="4603659"/>
            <a:ext cx="258644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میگوییم که اگر به اندازه یک روز با موبایل بازی نکند به او 10 هزار تومان جایزه میدهیم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58091" y="4580266"/>
            <a:ext cx="3788228" cy="92333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10 هزار تومان میدهیم و میگوییم هر یک ساعت که با موبایل بازی کند هزار تومان باید پرداخت کند (یا از 10 هزار تومان او کم می شود 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5185954" y="5065324"/>
            <a:ext cx="3017520" cy="1"/>
          </a:xfrm>
          <a:prstGeom prst="straightConnector1">
            <a:avLst/>
          </a:prstGeom>
          <a:ln w="762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23372" y="4603659"/>
            <a:ext cx="25426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کدام روش اثر بخش تر است ؟ </a:t>
            </a:r>
            <a:endParaRPr lang="en-US" b="1" dirty="0"/>
          </a:p>
        </p:txBody>
      </p:sp>
      <p:sp>
        <p:nvSpPr>
          <p:cNvPr id="15" name="Rectangle 14"/>
          <p:cNvSpPr/>
          <p:nvPr/>
        </p:nvSpPr>
        <p:spPr>
          <a:xfrm>
            <a:off x="440618" y="5597067"/>
            <a:ext cx="776285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روی فقدان‌های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تمرکز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می‌کنیم تا دستاردها و داشته‌های مثبت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حسرت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گذشته را میخوریم و ارزش زمان حال رو دست کم می‌گیریم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غر میزنیم و انتقاد می‌کنیم تا تمجید و تشکر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sz="1400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نقاط ضعفمان فکر می‌کنیم تا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نقاط قوت‌ . 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81481" y="580612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loss aversion </a:t>
            </a:r>
            <a:endParaRPr lang="fa-IR" sz="2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/>
            </a:endParaRPr>
          </a:p>
        </p:txBody>
      </p:sp>
    </p:spTree>
    <p:extLst>
      <p:ext uri="{BB962C8B-B14F-4D97-AF65-F5344CB8AC3E}">
        <p14:creationId xmlns:p14="http://schemas.microsoft.com/office/powerpoint/2010/main" val="1461340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loud Callout 27"/>
          <p:cNvSpPr/>
          <p:nvPr/>
        </p:nvSpPr>
        <p:spPr>
          <a:xfrm>
            <a:off x="1005840" y="1319350"/>
            <a:ext cx="1852415" cy="1272485"/>
          </a:xfrm>
          <a:prstGeom prst="cloudCallout">
            <a:avLst>
              <a:gd name="adj1" fmla="val -30000"/>
              <a:gd name="adj2" fmla="val 77898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5618118" y="4357224"/>
            <a:ext cx="6215506" cy="95410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دوست دارید در کشور بمانید، اما هم‌زمان در حال پیگیری برنامه‌ی مهاجرت خود هستید.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بی‌فایده بودن تحصیلات تکمیلی می‌گویید و در همان زمان، در جستجوی یک کلاس خوب و موثر هستید تا احتمال قبولی شما را در آزمون کارشناسی ارشد افزایش دهد.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فساد گله‌مندید؛ اما خود در حال اجرای یک تصمیم غیراخلاقی یا یک رفتار نادرست هستید.</a:t>
            </a:r>
            <a:endParaRPr lang="fa-IR" sz="1400" b="0" i="0" dirty="0">
              <a:solidFill>
                <a:srgbClr val="111111"/>
              </a:solidFill>
              <a:effectLst/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26042" y="1622750"/>
            <a:ext cx="17379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0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شناخت چیست ؟ </a:t>
            </a:r>
            <a:endParaRPr lang="en-US" sz="2000" b="1" dirty="0"/>
          </a:p>
        </p:txBody>
      </p:sp>
      <p:sp>
        <p:nvSpPr>
          <p:cNvPr id="6" name="Rectangle 5"/>
          <p:cNvSpPr/>
          <p:nvPr/>
        </p:nvSpPr>
        <p:spPr>
          <a:xfrm>
            <a:off x="2884381" y="1634675"/>
            <a:ext cx="50802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همه آن چیزی که در باره خودمان و دیگران در مغز انباشته کرده ایم ...</a:t>
            </a:r>
            <a:endParaRPr lang="en-US" dirty="0"/>
          </a:p>
        </p:txBody>
      </p:sp>
      <p:cxnSp>
        <p:nvCxnSpPr>
          <p:cNvPr id="7" name="Straight Arrow Connector 6"/>
          <p:cNvCxnSpPr>
            <a:stCxn id="6" idx="3"/>
            <a:endCxn id="4" idx="1"/>
          </p:cNvCxnSpPr>
          <p:nvPr/>
        </p:nvCxnSpPr>
        <p:spPr>
          <a:xfrm>
            <a:off x="7964618" y="1819341"/>
            <a:ext cx="2061424" cy="3464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/>
        </p:nvGrpSpPr>
        <p:grpSpPr>
          <a:xfrm>
            <a:off x="1208314" y="1486491"/>
            <a:ext cx="1512024" cy="937436"/>
            <a:chOff x="349432" y="2184511"/>
            <a:chExt cx="1512024" cy="937436"/>
          </a:xfrm>
        </p:grpSpPr>
        <p:sp>
          <p:nvSpPr>
            <p:cNvPr id="10" name="Oval 9"/>
            <p:cNvSpPr/>
            <p:nvPr/>
          </p:nvSpPr>
          <p:spPr>
            <a:xfrm>
              <a:off x="1208313" y="2388036"/>
              <a:ext cx="248195" cy="169817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764176" y="2690968"/>
              <a:ext cx="248195" cy="169817"/>
            </a:xfrm>
            <a:prstGeom prst="ellipse">
              <a:avLst/>
            </a:prstGeom>
            <a:solidFill>
              <a:srgbClr val="AFA9F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1456508" y="2690968"/>
              <a:ext cx="169817" cy="169817"/>
            </a:xfrm>
            <a:prstGeom prst="triangl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79269" y="2916939"/>
              <a:ext cx="169817" cy="169817"/>
            </a:xfrm>
            <a:prstGeom prst="triangle">
              <a:avLst/>
            </a:prstGeom>
            <a:solidFill>
              <a:schemeClr val="tx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679267" y="2259989"/>
              <a:ext cx="169817" cy="169817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73185" y="2184511"/>
              <a:ext cx="391884" cy="132536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064624" y="2619334"/>
              <a:ext cx="391884" cy="13253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7829" y="2499436"/>
              <a:ext cx="391884" cy="132536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12371" y="2890004"/>
              <a:ext cx="293914" cy="231943"/>
            </a:xfrm>
            <a:prstGeom prst="rect">
              <a:avLst/>
            </a:prstGeom>
            <a:solidFill>
              <a:srgbClr val="44B56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5-Point Star 18"/>
            <p:cNvSpPr/>
            <p:nvPr/>
          </p:nvSpPr>
          <p:spPr>
            <a:xfrm>
              <a:off x="1502228" y="2193654"/>
              <a:ext cx="248194" cy="246786"/>
            </a:xfrm>
            <a:prstGeom prst="star5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5-Point Star 19"/>
            <p:cNvSpPr/>
            <p:nvPr/>
          </p:nvSpPr>
          <p:spPr>
            <a:xfrm>
              <a:off x="349432" y="2266664"/>
              <a:ext cx="248194" cy="246786"/>
            </a:xfrm>
            <a:prstGeom prst="star5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5-Point Star 20"/>
            <p:cNvSpPr/>
            <p:nvPr/>
          </p:nvSpPr>
          <p:spPr>
            <a:xfrm>
              <a:off x="421276" y="2692441"/>
              <a:ext cx="248194" cy="246786"/>
            </a:xfrm>
            <a:prstGeom prst="star5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639388" y="2571832"/>
              <a:ext cx="222068" cy="227540"/>
            </a:xfrm>
            <a:prstGeom prst="hexagon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2352401" y="2330575"/>
            <a:ext cx="923201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فستینگر می‌گوید که </a:t>
            </a:r>
            <a:r>
              <a:rPr lang="fa-IR" b="1" i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هر دو قطعه‌ی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کوچکی از این توده‌ی انباشته‌ی شناخت را بردارید، رابطه‌ی بین آن‌ها از سه حالت خارج نیست: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به هم هیچ ارتباطی ندارند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 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 من می‌دانم پیراهنم آبی است. هم‌چنین می‌دانم تهران پایتخت ایران است.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با هم ارتباط دارند و هماهنگ هم هستند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 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 من می‌دانم سیگار ضرر دارد. ضمناً سیگار نمی‌کشم.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با هم ارتباط دارند اما ناهماهنگ هستند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 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 من از رشوه دادن بدم می‌آید. امروز رشوه دادم.</a:t>
            </a:r>
            <a:endParaRPr lang="fa-IR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r="5109"/>
          <a:stretch/>
        </p:blipFill>
        <p:spPr>
          <a:xfrm>
            <a:off x="370247" y="2477758"/>
            <a:ext cx="909913" cy="666593"/>
          </a:xfrm>
          <a:prstGeom prst="rect">
            <a:avLst/>
          </a:prstGeom>
        </p:spPr>
      </p:pic>
      <p:sp>
        <p:nvSpPr>
          <p:cNvPr id="39" name="Arc 38"/>
          <p:cNvSpPr/>
          <p:nvPr/>
        </p:nvSpPr>
        <p:spPr>
          <a:xfrm rot="4450312">
            <a:off x="11130793" y="3301466"/>
            <a:ext cx="640080" cy="729549"/>
          </a:xfrm>
          <a:prstGeom prst="arc">
            <a:avLst>
              <a:gd name="adj1" fmla="val 12512993"/>
              <a:gd name="adj2" fmla="val 3054637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9352929" y="3677789"/>
            <a:ext cx="1936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تعارض شناختی  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شناختی (ناهماهنگی شناختی)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82346" y="3642360"/>
            <a:ext cx="34836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 Cognitive Dissonance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2069" y="3482285"/>
            <a:ext cx="41017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این ناهماهنگی‌ها، نوعی فشار ذهنی ایجاد </a:t>
            </a: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می‌کنند</a:t>
            </a:r>
            <a:r>
              <a:rPr lang="en-US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.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87365" y="3780977"/>
            <a:ext cx="462819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تحمل این ناهماهنگی‌ها برای مدت طولانی امکان‌پذیر نیست.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-39187" y="4107356"/>
            <a:ext cx="56142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مکانیزم‌های متعددی برای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کاهش و حذف این </a:t>
            </a: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تعارض‌ها </a:t>
            </a: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ذهن وجود دارد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51" name="Straight Arrow Connector 50"/>
          <p:cNvCxnSpPr/>
          <p:nvPr/>
        </p:nvCxnSpPr>
        <p:spPr>
          <a:xfrm flipH="1" flipV="1">
            <a:off x="4558939" y="3642360"/>
            <a:ext cx="1401785" cy="23083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5037626" y="3873193"/>
            <a:ext cx="857783" cy="7706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 flipH="1">
            <a:off x="5561575" y="3860130"/>
            <a:ext cx="386087" cy="27932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>
            <a:off x="2111454" y="4463710"/>
            <a:ext cx="508019" cy="35662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884898" y="4879526"/>
            <a:ext cx="5950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انکار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975822" y="4892589"/>
            <a:ext cx="16546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تغییر رفتار و عادت‌ها</a:t>
            </a:r>
            <a:endParaRPr lang="en-US" sz="16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18697" y="4851142"/>
            <a:ext cx="236562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گردآوری یا ایجاد اطلاعات جدید (توسعه‌ی شناخت)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2627356" y="4485987"/>
            <a:ext cx="506351" cy="39095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2645153" y="4465948"/>
            <a:ext cx="2262972" cy="45302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713326" y="5395282"/>
            <a:ext cx="16131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من نگفتم سیگار نمیکشم گفتم کمتر میکشم .</a:t>
            </a:r>
            <a:endParaRPr lang="en-US" sz="1200" dirty="0"/>
          </a:p>
        </p:txBody>
      </p:sp>
      <p:sp>
        <p:nvSpPr>
          <p:cNvPr id="68" name="Rectangle 67"/>
          <p:cNvSpPr/>
          <p:nvPr/>
        </p:nvSpPr>
        <p:spPr>
          <a:xfrm>
            <a:off x="3238210" y="5430302"/>
            <a:ext cx="16131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این به بعد سیگار رو ترک میکنم .</a:t>
            </a:r>
            <a:endParaRPr lang="en-US" sz="1200" dirty="0"/>
          </a:p>
        </p:txBody>
      </p:sp>
      <p:sp>
        <p:nvSpPr>
          <p:cNvPr id="69" name="Rectangle 68"/>
          <p:cNvSpPr/>
          <p:nvPr/>
        </p:nvSpPr>
        <p:spPr>
          <a:xfrm>
            <a:off x="130629" y="5430302"/>
            <a:ext cx="33049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2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اصلاً همین که من در شبکه‌های اجتماعی عضو هستم و چند اکانت بسیار فاخر و علمی را دنبال می‌کنم، خود شکلی از مطالعه است</a:t>
            </a:r>
            <a:endParaRPr lang="en-US" sz="12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92625" y="6040267"/>
            <a:ext cx="31809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اصلاً </a:t>
            </a:r>
            <a:r>
              <a:rPr lang="fa-IR" sz="12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چیزی که من دادم، رشوه نبود؛ چون ارزش مادی چندانی </a:t>
            </a:r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نداشت . من زیرکانه نگاهش رو تغییر دادم </a:t>
            </a:r>
            <a:endParaRPr lang="en-US" sz="12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3305365" y="5965840"/>
            <a:ext cx="157953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سعی میکنم زمانی رو برای مطالعه بیشتر پیدا کنم .</a:t>
            </a:r>
            <a:endParaRPr lang="en-US" sz="1200" dirty="0"/>
          </a:p>
        </p:txBody>
      </p:sp>
      <p:cxnSp>
        <p:nvCxnSpPr>
          <p:cNvPr id="76" name="Straight Connector 75"/>
          <p:cNvCxnSpPr/>
          <p:nvPr/>
        </p:nvCxnSpPr>
        <p:spPr>
          <a:xfrm>
            <a:off x="3354217" y="5436357"/>
            <a:ext cx="81315" cy="11271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789813" y="5486024"/>
            <a:ext cx="107725" cy="1077463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016361" y="5529251"/>
            <a:ext cx="57607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یکی از مهمترین نتایح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ناهماهنگی یا تعارض شناختی که به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تصمیم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گیری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ارتباط دارد، 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کوری تصمیم گیری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نابینایی در تحلیل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انتخاب‌ها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ست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6954780" y="6175582"/>
            <a:ext cx="16738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smtClean="0"/>
              <a:t>Choice </a:t>
            </a:r>
            <a:r>
              <a:rPr lang="en-US" sz="1600" b="1" dirty="0"/>
              <a:t>Blindness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96721" y="6175582"/>
            <a:ext cx="18726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/>
              <a:t>Decision Blindness </a:t>
            </a:r>
          </a:p>
        </p:txBody>
      </p:sp>
    </p:spTree>
    <p:extLst>
      <p:ext uri="{BB962C8B-B14F-4D97-AF65-F5344CB8AC3E}">
        <p14:creationId xmlns:p14="http://schemas.microsoft.com/office/powerpoint/2010/main" val="872637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</a:t>
            </a:r>
            <a:r>
              <a:rPr lang="fa-IR" sz="3600" dirty="0">
                <a:cs typeface="B Nazanin" panose="00000400000000000000" pitchFamily="2" charset="-78"/>
              </a:rPr>
              <a:t>شناختی </a:t>
            </a:r>
            <a:r>
              <a:rPr lang="fa-IR" sz="3600" dirty="0">
                <a:cs typeface="B Nazanin" panose="00000400000000000000" pitchFamily="2" charset="-78"/>
              </a:rPr>
              <a:t>( کوری </a:t>
            </a:r>
            <a:r>
              <a:rPr lang="fa-IR" sz="3600" dirty="0">
                <a:cs typeface="B Nazanin" panose="00000400000000000000" pitchFamily="2" charset="-78"/>
              </a:rPr>
              <a:t>تصمیم </a:t>
            </a:r>
            <a:r>
              <a:rPr lang="fa-IR" sz="3600" dirty="0">
                <a:cs typeface="B Nazanin" panose="00000400000000000000" pitchFamily="2" charset="-78"/>
              </a:rPr>
              <a:t>گیری )</a:t>
            </a:r>
            <a:endParaRPr lang="fa-IR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98861" y="1449364"/>
            <a:ext cx="108160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کوری تصمیم گیری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به این معناست که ما گاهی خاطرات مربوط به شرایط تصمیم‌گیری خود را (خصوصاً با گذر زمان و فراموش کردن جزئیات) فراموش می‌کنیم. اما متوجه این وضعیت نمی‌شویم و درک نمی‌کنیم که اکنون نسبت به مکانیزم انتخاب خود در گذشته، بینایی کافی نداریم.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98862" y="2264897"/>
            <a:ext cx="10816045" cy="1785105"/>
            <a:chOff x="613954" y="2686482"/>
            <a:chExt cx="10816045" cy="1785105"/>
          </a:xfrm>
        </p:grpSpPr>
        <p:sp>
          <p:nvSpPr>
            <p:cNvPr id="4" name="Rectangle 3"/>
            <p:cNvSpPr/>
            <p:nvPr/>
          </p:nvSpPr>
          <p:spPr>
            <a:xfrm>
              <a:off x="613954" y="2686482"/>
              <a:ext cx="10816045" cy="40011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آزمایش پیتر یوهانسن و </a:t>
              </a:r>
              <a:r>
                <a:rPr lang="fa-IR" sz="2000" b="1" dirty="0" smtClean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همکارانش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13954" y="3086592"/>
              <a:ext cx="10816045" cy="13849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پیتر یوهانسن و همکارانش چند زوج عکس چهره را به افراد مختلف نشان می‌دادند و می‌گفتند که در هر زوج، کدام چهره زیباتر است؟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بعد از مدتی، عکسی را دوباره به همان افراد نشان دادند و پرسیدند: چرا این چهره را انتخاب کردی؟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اما یک کار زیرکانه انجام شده بود: عکس‌هایی که به افراد نشان می‌دادند، عکس‌های انتخاب شده‌ی آن‌ها نبود.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جز درصد کمی از افراد (حدود ۱۰٪)، هیچ‌کس نفهمید که این عکس‌ها را انتخاب نکرده بوده و اتفاقاً همگی، با انواع توضیحات و توصیفات، علت زیباتر بودنِ عکس را شرح دادند.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جالب این‌جاست که ۸۴٪ شرکت‌کنندگان در پایان آزمایش، در پاسخ به این سوال که آیا تعویض عکس‌ها را متوجه می‌شوید، گفته بودند که حتماً تغییر و تعویض عکس‌ها را متوجه خواهند شد.</a:t>
              </a:r>
              <a:endPara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endParaRPr>
            </a:p>
          </p:txBody>
        </p:sp>
      </p:grpSp>
      <p:sp>
        <p:nvSpPr>
          <p:cNvPr id="7" name="Rectangle 6"/>
          <p:cNvSpPr/>
          <p:nvPr/>
        </p:nvSpPr>
        <p:spPr>
          <a:xfrm>
            <a:off x="698861" y="4554616"/>
            <a:ext cx="10816045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برای انجام یک فعالیت مشخص، با جستجو در وب به دو نرم‌افزار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می‌رسید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نرم‌افزار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از همان ابتدا از شما می‌خواهد که مبلغ مشخصی را پرداخت کرده و آن را خریداری 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کنید. اما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نرم‌افزار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نسخه‌ی آزمایشی دارد و به شما اجازه می‌دهد تا مدتی از آن استفاده کنید.</a:t>
            </a:r>
          </a:p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جدای از این‌ نکته‌ی بدیهی که استفاده از نسخه‌ی آزمایشی، فرصتی برای آشناتر شدن بیشتر با نرم‌افزار است، نابینایی تصمیم‌گیری هم می‌تواند به کمک فروشنده بیاید.</a:t>
            </a:r>
          </a:p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مدتی بعد، ممکن است به خاطر نیاورید که علت انتخاب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به جای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پولی بودن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بوده است.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بلکه ذهن شما یک روایتِ هماهنگ از ماجرا ساخته و شما، مجموعه‌ای از نقاط قوت و قابلیت‌ها را به عنوان علت انتخاب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بیان می‌کنید.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861" y="4154506"/>
            <a:ext cx="10816045" cy="4001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انتخاب بین دو محصول نرم افزاری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5440" y="5952675"/>
            <a:ext cx="8961120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dirty="0">
                <a:solidFill>
                  <a:srgbClr val="00000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یکی از کاربردهای </a:t>
            </a:r>
            <a:r>
              <a:rPr lang="fa-IR" dirty="0">
                <a:solidFill>
                  <a:srgbClr val="C4161C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تکنیک ثبت و مرور تصمیم‌ها</a:t>
            </a:r>
            <a:r>
              <a:rPr lang="fa-IR" dirty="0">
                <a:solidFill>
                  <a:srgbClr val="00000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 هم، اتفاقاً کاهش اثر این خطای شناختی است.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96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شناختی (ناهماهنگی شناختی)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0772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3341914" y="1548676"/>
            <a:ext cx="7702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سوگیری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یا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بایاس 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معنای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خنثی نبودن نسبت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به یک پدیده یا رویداد یا باور یا ارزش یا … است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965EBD3-98B5-4FD2-8FAF-5D4022A9F7F4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purl.org/dc/terms/"/>
    <ds:schemaRef ds:uri="16c05727-aa75-4e4a-9b5f-8a80a1165891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3285</Words>
  <Application>Microsoft Office PowerPoint</Application>
  <PresentationFormat>Widescreen</PresentationFormat>
  <Paragraphs>272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B Nazanin</vt:lpstr>
      <vt:lpstr>Corbel</vt:lpstr>
      <vt:lpstr>Corbel (Body)</vt:lpstr>
      <vt:lpstr>IRANSans</vt:lpstr>
      <vt:lpstr>MsYekan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بررسی توان مغز انسان</vt:lpstr>
      <vt:lpstr>نمونه هایی از خطاهای ذهنی </vt:lpstr>
      <vt:lpstr>دریافت گزینشی اطلاعات / خطای تایید خود </vt:lpstr>
      <vt:lpstr>ترس از دست دادن و دام حفظ وضعیت موجود</vt:lpstr>
      <vt:lpstr>تعارض شناختی (ناهماهنگی شناختی)</vt:lpstr>
      <vt:lpstr>تعارض شناختی ( کوری تصمیم گیری )</vt:lpstr>
      <vt:lpstr>تعارض شناختی (ناهماهنگی شناختی)</vt:lpstr>
      <vt:lpstr>سوگیری (Bias)  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2019-04-20T14:05:48Z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