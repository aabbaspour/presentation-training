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876" r:id="rId4"/>
  </p:sldMasterIdLst>
  <p:sldIdLst>
    <p:sldId id="256" r:id="rId5"/>
    <p:sldId id="257" r:id="rId6"/>
    <p:sldId id="262" r:id="rId7"/>
    <p:sldId id="261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2" r:id="rId16"/>
    <p:sldId id="271" r:id="rId17"/>
    <p:sldId id="265" r:id="rId18"/>
    <p:sldId id="26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72C2"/>
    <a:srgbClr val="A6B727"/>
    <a:srgbClr val="71AB47"/>
    <a:srgbClr val="44B565"/>
    <a:srgbClr val="41BCB7"/>
    <a:srgbClr val="44B5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42" autoAdjust="0"/>
    <p:restoredTop sz="94660"/>
  </p:normalViewPr>
  <p:slideViewPr>
    <p:cSldViewPr snapToGrid="0">
      <p:cViewPr varScale="1">
        <p:scale>
          <a:sx n="73" d="100"/>
          <a:sy n="73" d="100"/>
        </p:scale>
        <p:origin x="4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AB3A824-1A51-4B26-AD58-A6D8E14F6C04}" type="datetimeFigureOut">
              <a:rPr lang="en-US" noProof="0" smtClean="0"/>
              <a:t>4/6/2019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noProof="0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178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noProof="0" smtClean="0"/>
              <a:t>4/6/2019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039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noProof="0" smtClean="0"/>
              <a:t>4/6/2019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936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noProof="0" smtClean="0"/>
              <a:t>4/6/2019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81670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noProof="0" smtClean="0"/>
              <a:t>4/6/2019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6335257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noProof="0" smtClean="0"/>
              <a:t>4/6/2019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05428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noProof="0" smtClean="0"/>
              <a:t>4/6/2019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8825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noProof="0" smtClean="0"/>
              <a:t>4/6/2019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58383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noProof="0" smtClean="0"/>
              <a:t>4/6/2019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084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noProof="0" smtClean="0"/>
              <a:t>4/6/2019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3552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noProof="0" smtClean="0"/>
              <a:t>4/6/2019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94763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3CBC1C18-307B-4F68-A007-B5B542270E8D}" type="datetimeFigureOut">
              <a:rPr lang="en-US" noProof="0" smtClean="0"/>
              <a:t>4/6/2019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r>
              <a:rPr lang="en-US" noProof="0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02258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Straight Connector 41">
            <a:extLst>
              <a:ext uri="{FF2B5EF4-FFF2-40B4-BE49-F238E27FC236}">
                <a16:creationId xmlns:a16="http://schemas.microsoft.com/office/drawing/2014/main" id="{63FED537-3AF1-4C36-9904-77B6A54D27B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5462458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50E78D6-F072-48E7-8270-20EFBDD26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8095" y="4076095"/>
            <a:ext cx="9966960" cy="1325880"/>
          </a:xfrm>
        </p:spPr>
        <p:txBody>
          <a:bodyPr>
            <a:noAutofit/>
          </a:bodyPr>
          <a:lstStyle/>
          <a:p>
            <a:r>
              <a:rPr lang="fa-IR" sz="6500" dirty="0">
                <a:cs typeface="B Nazanin" panose="00000400000000000000" pitchFamily="2" charset="-78"/>
              </a:rPr>
              <a:t>مهارت تصمیم گیری </a:t>
            </a:r>
            <a:r>
              <a:rPr lang="fa-IR" sz="6500" dirty="0" smtClean="0">
                <a:cs typeface="B Nazanin" panose="00000400000000000000" pitchFamily="2" charset="-78"/>
              </a:rPr>
              <a:t>درست</a:t>
            </a:r>
            <a:endParaRPr lang="fa-IR" sz="6500" dirty="0">
              <a:cs typeface="B Nazanin" panose="00000400000000000000" pitchFamily="2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C7BD98-5486-489C-BAA0-A69CEFF691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530" y="5598293"/>
            <a:ext cx="8767860" cy="553690"/>
          </a:xfrm>
        </p:spPr>
        <p:txBody>
          <a:bodyPr>
            <a:normAutofit/>
          </a:bodyPr>
          <a:lstStyle/>
          <a:p>
            <a:r>
              <a:rPr lang="fa-IR" sz="2000" dirty="0">
                <a:cs typeface="B Nazanin" panose="00000400000000000000" pitchFamily="2" charset="-78"/>
              </a:rPr>
              <a:t>در مدیریت و زندگی</a:t>
            </a:r>
            <a:endParaRPr lang="en-US" sz="2000" dirty="0"/>
          </a:p>
        </p:txBody>
      </p:sp>
      <p:pic>
        <p:nvPicPr>
          <p:cNvPr id="7" name="Picture 6" descr="Man looking at landscape">
            <a:extLst>
              <a:ext uri="{FF2B5EF4-FFF2-40B4-BE49-F238E27FC236}">
                <a16:creationId xmlns:a16="http://schemas.microsoft.com/office/drawing/2014/main" id="{CD9EF39B-AB41-49AB-8163-8B5FD7D2832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3840" y="256540"/>
            <a:ext cx="11704320" cy="376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050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B6193-F9F1-4C54-838F-77350B9FC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125" y="425299"/>
            <a:ext cx="9875520" cy="709749"/>
          </a:xfrm>
        </p:spPr>
        <p:txBody>
          <a:bodyPr>
            <a:normAutofit fontScale="90000"/>
          </a:bodyPr>
          <a:lstStyle/>
          <a:p>
            <a:pPr algn="r"/>
            <a:r>
              <a:rPr lang="fa-IR" sz="4800" dirty="0" smtClean="0">
                <a:cs typeface="B Nazanin" panose="00000400000000000000" pitchFamily="2" charset="-78"/>
              </a:rPr>
              <a:t>تصمیم گیری چیست ؟</a:t>
            </a:r>
            <a:endParaRPr lang="en-US" sz="4800" dirty="0">
              <a:cs typeface="B Nazanin" panose="00000400000000000000" pitchFamily="2" charset="-78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888274" y="1240973"/>
            <a:ext cx="10437223" cy="1306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>
            <a:off x="888274" y="2929010"/>
            <a:ext cx="10371909" cy="1871870"/>
            <a:chOff x="953588" y="1554480"/>
            <a:chExt cx="10371909" cy="1871870"/>
          </a:xfrm>
        </p:grpSpPr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BB4B6193-F9F1-4C54-838F-77350B9FC5DC}"/>
                </a:ext>
              </a:extLst>
            </p:cNvPr>
            <p:cNvSpPr txBox="1">
              <a:spLocks/>
            </p:cNvSpPr>
            <p:nvPr/>
          </p:nvSpPr>
          <p:spPr>
            <a:xfrm>
              <a:off x="10058400" y="1833157"/>
              <a:ext cx="1267097" cy="70974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accent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fa-IR" sz="2400" dirty="0" smtClean="0">
                  <a:solidFill>
                    <a:schemeClr val="tx1"/>
                  </a:solidFill>
                  <a:cs typeface="B Nazanin" panose="00000400000000000000" pitchFamily="2" charset="-78"/>
                </a:rPr>
                <a:t>حل مسئله </a:t>
              </a:r>
              <a:endParaRPr lang="en-US" sz="2400" dirty="0">
                <a:solidFill>
                  <a:schemeClr val="tx1"/>
                </a:solidFill>
                <a:cs typeface="B Nazanin" panose="00000400000000000000" pitchFamily="2" charset="-78"/>
              </a:endParaRP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H="1">
              <a:off x="8934994" y="2188031"/>
              <a:ext cx="1188721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flipH="1">
              <a:off x="5957667" y="2188031"/>
              <a:ext cx="1188721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9" name="Group 18"/>
            <p:cNvGrpSpPr/>
            <p:nvPr/>
          </p:nvGrpSpPr>
          <p:grpSpPr>
            <a:xfrm>
              <a:off x="7419702" y="1554480"/>
              <a:ext cx="1267097" cy="1667703"/>
              <a:chOff x="7289074" y="1554480"/>
              <a:chExt cx="1267097" cy="1667703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7289074" y="1554480"/>
                <a:ext cx="1267097" cy="27867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a-IR" sz="1200" dirty="0" smtClean="0"/>
                  <a:t>راه حل شماره 1</a:t>
                </a:r>
                <a:endParaRPr lang="en-US" sz="1200" dirty="0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7289074" y="1963785"/>
                <a:ext cx="1267097" cy="278677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a-IR" sz="1200" dirty="0" smtClean="0"/>
                  <a:t>راه حل شماره 2</a:t>
                </a:r>
                <a:endParaRPr lang="en-US" sz="1200" dirty="0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7289074" y="2355678"/>
                <a:ext cx="1267097" cy="278677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a-IR" sz="1200" dirty="0" smtClean="0"/>
                  <a:t>راه حل شماره 3</a:t>
                </a:r>
                <a:endParaRPr lang="en-US" sz="1200" dirty="0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7289074" y="2943506"/>
                <a:ext cx="1267097" cy="278677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1"/>
                <a:r>
                  <a:rPr lang="fa-IR" sz="1200" dirty="0" smtClean="0"/>
                  <a:t>راه حل شماره </a:t>
                </a:r>
                <a:r>
                  <a:rPr lang="en-US" sz="1200" dirty="0"/>
                  <a:t> </a:t>
                </a:r>
                <a:r>
                  <a:rPr lang="en-US" sz="1200" dirty="0" smtClean="0"/>
                  <a:t>n</a:t>
                </a:r>
                <a:endParaRPr lang="en-US" sz="1200" dirty="0"/>
              </a:p>
            </p:txBody>
          </p:sp>
          <p:sp>
            <p:nvSpPr>
              <p:cNvPr id="18" name="Title 1">
                <a:extLst>
                  <a:ext uri="{FF2B5EF4-FFF2-40B4-BE49-F238E27FC236}">
                    <a16:creationId xmlns:a16="http://schemas.microsoft.com/office/drawing/2014/main" id="{BB4B6193-F9F1-4C54-838F-77350B9FC5D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76457" y="2638718"/>
                <a:ext cx="457200" cy="30478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75000" lnSpcReduction="2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r"/>
                <a:r>
                  <a:rPr lang="fa-IR" sz="2400" dirty="0" smtClean="0">
                    <a:solidFill>
                      <a:schemeClr val="tx1"/>
                    </a:solidFill>
                    <a:cs typeface="B Nazanin" panose="00000400000000000000" pitchFamily="2" charset="-78"/>
                  </a:rPr>
                  <a:t>...</a:t>
                </a:r>
                <a:endParaRPr lang="en-US" sz="2400" dirty="0">
                  <a:solidFill>
                    <a:schemeClr val="tx1"/>
                  </a:solidFill>
                  <a:cs typeface="B Nazanin" panose="00000400000000000000" pitchFamily="2" charset="-78"/>
                </a:endParaRPr>
              </a:p>
            </p:txBody>
          </p:sp>
        </p:grpSp>
        <p:sp>
          <p:nvSpPr>
            <p:cNvPr id="21" name="Rectangle 20"/>
            <p:cNvSpPr/>
            <p:nvPr/>
          </p:nvSpPr>
          <p:spPr>
            <a:xfrm>
              <a:off x="4516393" y="1965572"/>
              <a:ext cx="1422184" cy="43396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7500"/>
            </a:bodyPr>
            <a:lstStyle/>
            <a:p>
              <a:pPr algn="r" defTabSz="914400">
                <a:lnSpc>
                  <a:spcPct val="90000"/>
                </a:lnSpc>
                <a:spcBef>
                  <a:spcPct val="0"/>
                </a:spcBef>
              </a:pPr>
              <a:r>
                <a:rPr lang="fa-IR" sz="2400" dirty="0">
                  <a:latin typeface="+mj-lt"/>
                  <a:ea typeface="+mj-ea"/>
                  <a:cs typeface="B Nazanin" panose="00000400000000000000" pitchFamily="2" charset="-78"/>
                </a:rPr>
                <a:t>تصمیم گیری</a:t>
              </a:r>
              <a:endParaRPr lang="en-US" sz="2400" dirty="0">
                <a:latin typeface="+mj-lt"/>
                <a:ea typeface="+mj-ea"/>
                <a:cs typeface="B Nazanin" panose="00000400000000000000" pitchFamily="2" charset="-78"/>
              </a:endParaRP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 flipH="1">
              <a:off x="3249294" y="2176025"/>
              <a:ext cx="1188721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3" name="Rectangle 22"/>
            <p:cNvSpPr/>
            <p:nvPr/>
          </p:nvSpPr>
          <p:spPr>
            <a:xfrm>
              <a:off x="2231512" y="1964515"/>
              <a:ext cx="73129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a-IR" b="1" dirty="0">
                  <a:cs typeface="B Nazanin" panose="00000400000000000000" pitchFamily="2" charset="-78"/>
                </a:rPr>
                <a:t>انتخاب</a:t>
              </a:r>
              <a:endParaRPr lang="en-US" b="1" dirty="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953588" y="2003704"/>
              <a:ext cx="1267097" cy="278677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a-IR" sz="1200" dirty="0" smtClean="0"/>
                <a:t>راه حل شماره 3</a:t>
              </a:r>
              <a:endParaRPr lang="en-US" sz="1200" dirty="0"/>
            </a:p>
          </p:txBody>
        </p:sp>
        <p:sp>
          <p:nvSpPr>
            <p:cNvPr id="25" name="Title 1">
              <a:extLst>
                <a:ext uri="{FF2B5EF4-FFF2-40B4-BE49-F238E27FC236}">
                  <a16:creationId xmlns:a16="http://schemas.microsoft.com/office/drawing/2014/main" id="{BB4B6193-F9F1-4C54-838F-77350B9FC5DC}"/>
                </a:ext>
              </a:extLst>
            </p:cNvPr>
            <p:cNvSpPr txBox="1">
              <a:spLocks/>
            </p:cNvSpPr>
            <p:nvPr/>
          </p:nvSpPr>
          <p:spPr>
            <a:xfrm>
              <a:off x="9442184" y="2716601"/>
              <a:ext cx="1883313" cy="709749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accent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fa-IR" sz="2400" dirty="0" smtClean="0">
                  <a:solidFill>
                    <a:schemeClr val="tx1"/>
                  </a:solidFill>
                  <a:cs typeface="B Nazanin" panose="00000400000000000000" pitchFamily="2" charset="-78"/>
                </a:rPr>
                <a:t>مهارت حل مسئله </a:t>
              </a:r>
              <a:endParaRPr lang="en-US" sz="2400" dirty="0">
                <a:solidFill>
                  <a:schemeClr val="tx1"/>
                </a:solidFill>
                <a:cs typeface="B Nazanin" panose="00000400000000000000" pitchFamily="2" charset="-78"/>
              </a:endParaRPr>
            </a:p>
          </p:txBody>
        </p:sp>
        <p:sp>
          <p:nvSpPr>
            <p:cNvPr id="26" name="Title 1">
              <a:extLst>
                <a:ext uri="{FF2B5EF4-FFF2-40B4-BE49-F238E27FC236}">
                  <a16:creationId xmlns:a16="http://schemas.microsoft.com/office/drawing/2014/main" id="{BB4B6193-F9F1-4C54-838F-77350B9FC5DC}"/>
                </a:ext>
              </a:extLst>
            </p:cNvPr>
            <p:cNvSpPr txBox="1">
              <a:spLocks/>
            </p:cNvSpPr>
            <p:nvPr/>
          </p:nvSpPr>
          <p:spPr>
            <a:xfrm>
              <a:off x="4211856" y="2716600"/>
              <a:ext cx="2217330" cy="709749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 anchor="ctr">
              <a:normAutofit fontScale="97500" lnSpcReduction="1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accent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fa-IR" sz="2400" dirty="0" smtClean="0">
                  <a:solidFill>
                    <a:schemeClr val="tx1"/>
                  </a:solidFill>
                  <a:cs typeface="B Nazanin" panose="00000400000000000000" pitchFamily="2" charset="-78"/>
                </a:rPr>
                <a:t>مهارت تصمیم گیری درست</a:t>
              </a:r>
              <a:endParaRPr lang="en-US" sz="2400" dirty="0">
                <a:solidFill>
                  <a:schemeClr val="tx1"/>
                </a:solidFill>
                <a:cs typeface="B Nazanin" panose="00000400000000000000" pitchFamily="2" charset="-78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574766" y="1512448"/>
            <a:ext cx="1075073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fa-IR" dirty="0">
                <a:cs typeface="B Nazanin" panose="00000400000000000000" pitchFamily="2" charset="-78"/>
              </a:rPr>
              <a:t>وقتی از </a:t>
            </a:r>
            <a:r>
              <a:rPr lang="fa-IR" b="1" dirty="0">
                <a:cs typeface="B Nazanin" panose="00000400000000000000" pitchFamily="2" charset="-78"/>
              </a:rPr>
              <a:t>تصمیم گیری</a:t>
            </a:r>
            <a:r>
              <a:rPr lang="fa-IR" dirty="0">
                <a:cs typeface="B Nazanin" panose="00000400000000000000" pitchFamily="2" charset="-78"/>
              </a:rPr>
              <a:t> حرف می‌زنیم، همیشه </a:t>
            </a:r>
            <a:r>
              <a:rPr lang="fa-IR" b="1" dirty="0">
                <a:cs typeface="B Nazanin" panose="00000400000000000000" pitchFamily="2" charset="-78"/>
              </a:rPr>
              <a:t>گزینه‌ها مشخص هستند</a:t>
            </a:r>
            <a:r>
              <a:rPr lang="fa-IR" b="1" dirty="0" smtClean="0">
                <a:cs typeface="B Nazanin" panose="00000400000000000000" pitchFamily="2" charset="-78"/>
              </a:rPr>
              <a:t>. </a:t>
            </a:r>
            <a:r>
              <a:rPr lang="fa-IR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به </a:t>
            </a:r>
            <a:r>
              <a:rPr lang="fa-IR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بیان دیگر، سوالِ </a:t>
            </a:r>
            <a:r>
              <a:rPr lang="fa-IR" b="1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تصمیم گیری </a:t>
            </a:r>
            <a:r>
              <a:rPr lang="fa-IR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این </a:t>
            </a:r>
            <a:r>
              <a:rPr lang="fa-IR" b="1" dirty="0">
                <a:solidFill>
                  <a:srgbClr val="FF0000"/>
                </a:solidFill>
                <a:latin typeface="IRANSans"/>
                <a:cs typeface="B Nazanin" panose="00000400000000000000" pitchFamily="2" charset="-78"/>
              </a:rPr>
              <a:t>نیست</a:t>
            </a:r>
            <a:r>
              <a:rPr lang="fa-IR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 </a:t>
            </a:r>
            <a:r>
              <a:rPr lang="fa-IR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که</a:t>
            </a:r>
            <a:r>
              <a:rPr lang="en-US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fa-IR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:</a:t>
            </a:r>
            <a:r>
              <a:rPr lang="fa-IR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 </a:t>
            </a:r>
            <a:r>
              <a:rPr lang="fa-IR" b="1" dirty="0">
                <a:solidFill>
                  <a:srgbClr val="002060"/>
                </a:solidFill>
                <a:latin typeface="IRANSans"/>
                <a:cs typeface="B Nazanin" panose="00000400000000000000" pitchFamily="2" charset="-78"/>
              </a:rPr>
              <a:t>چه گزینه‌هایی پیش روی من است</a:t>
            </a:r>
            <a:r>
              <a:rPr lang="fa-IR" b="1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؟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397725" y="5594308"/>
            <a:ext cx="9418320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 rtl="1"/>
            <a:r>
              <a:rPr lang="fa-IR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نقش </a:t>
            </a:r>
            <a:r>
              <a:rPr lang="fa-IR" b="1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بدنه‌ی کارشناسی</a:t>
            </a:r>
            <a:r>
              <a:rPr lang="fa-IR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 در سازمان‌ها و نیز </a:t>
            </a:r>
            <a:r>
              <a:rPr lang="fa-IR" b="1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بسیاری از مشاوران</a:t>
            </a:r>
            <a:r>
              <a:rPr lang="fa-IR" b="1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،</a:t>
            </a:r>
            <a:r>
              <a:rPr lang="en-US" b="1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fa-IR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همکاری </a:t>
            </a:r>
            <a:r>
              <a:rPr lang="fa-IR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در فازِ </a:t>
            </a:r>
            <a:r>
              <a:rPr lang="fa-IR" b="1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حل مسئله</a:t>
            </a:r>
            <a:r>
              <a:rPr lang="fa-IR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 </a:t>
            </a:r>
            <a:r>
              <a:rPr lang="fa-IR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است.</a:t>
            </a:r>
            <a:r>
              <a:rPr lang="en-US" dirty="0" smtClean="0">
                <a:cs typeface="B Nazanin" panose="00000400000000000000" pitchFamily="2" charset="-78"/>
              </a:rPr>
              <a:t> </a:t>
            </a:r>
            <a:r>
              <a:rPr lang="fa-IR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اما </a:t>
            </a:r>
            <a:r>
              <a:rPr lang="fa-IR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معمولاً </a:t>
            </a:r>
            <a:r>
              <a:rPr lang="fa-IR" b="1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مدیران</a:t>
            </a:r>
            <a:r>
              <a:rPr lang="fa-IR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 هستند که وظیفه‌ی </a:t>
            </a:r>
            <a:r>
              <a:rPr lang="fa-IR" b="1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تصمیم گیری</a:t>
            </a:r>
            <a:r>
              <a:rPr lang="fa-IR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 (انتخاب از بین گزینه‌های روی میز) را بر عهده می‌گیرند. </a:t>
            </a:r>
            <a:endParaRPr lang="en-US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28474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B6193-F9F1-4C54-838F-77350B9FC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125" y="425299"/>
            <a:ext cx="9875520" cy="709749"/>
          </a:xfrm>
        </p:spPr>
        <p:txBody>
          <a:bodyPr>
            <a:normAutofit fontScale="90000"/>
          </a:bodyPr>
          <a:lstStyle/>
          <a:p>
            <a:pPr algn="r"/>
            <a:r>
              <a:rPr lang="fa-IR" sz="4800" dirty="0" smtClean="0">
                <a:cs typeface="B Nazanin" panose="00000400000000000000" pitchFamily="2" charset="-78"/>
              </a:rPr>
              <a:t>انواع تصمیم گیری </a:t>
            </a:r>
            <a:endParaRPr lang="en-US" sz="4800" dirty="0">
              <a:cs typeface="B Nazanin" panose="00000400000000000000" pitchFamily="2" charset="-78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888274" y="1240973"/>
            <a:ext cx="10437223" cy="1306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7107922" y="1767601"/>
            <a:ext cx="289995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rgbClr val="4372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Individual </a:t>
            </a:r>
            <a:r>
              <a:rPr lang="en-US" sz="1400" dirty="0">
                <a:solidFill>
                  <a:srgbClr val="4372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Decision </a:t>
            </a:r>
            <a:r>
              <a:rPr lang="en-US" sz="1400" dirty="0" smtClean="0">
                <a:solidFill>
                  <a:srgbClr val="4372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Making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rgbClr val="41BCB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Managerial Decisions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rgbClr val="44B56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Negotiation Decisions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1AB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Societal </a:t>
            </a:r>
            <a:r>
              <a:rPr lang="en-US" sz="1400" dirty="0" smtClean="0">
                <a:solidFill>
                  <a:srgbClr val="71AB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Decisions</a:t>
            </a:r>
            <a:endParaRPr lang="en-US" sz="1400" dirty="0">
              <a:solidFill>
                <a:srgbClr val="71AB47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4703" y="1978669"/>
            <a:ext cx="3714750" cy="36766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746344" y="1963896"/>
            <a:ext cx="21553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a-IR" sz="14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بر </a:t>
            </a:r>
            <a:r>
              <a:rPr lang="fa-IR" sz="1400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اساس</a:t>
            </a:r>
            <a:endParaRPr lang="en-US" sz="1400" dirty="0" smtClean="0">
              <a:solidFill>
                <a:srgbClr val="000000"/>
              </a:solidFill>
              <a:latin typeface="IRANSans"/>
              <a:cs typeface="B Nazanin" panose="00000400000000000000" pitchFamily="2" charset="-78"/>
            </a:endParaRPr>
          </a:p>
          <a:p>
            <a:pPr algn="ctr"/>
            <a:r>
              <a:rPr lang="fa-IR" sz="14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 </a:t>
            </a:r>
            <a:r>
              <a:rPr lang="fa-IR" sz="1400" b="1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نقش تصمیم گیرنده</a:t>
            </a:r>
            <a:endParaRPr lang="en-US" sz="1400" dirty="0">
              <a:cs typeface="B Nazanin" panose="00000400000000000000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41369" y="1691901"/>
            <a:ext cx="4508001" cy="954107"/>
          </a:xfrm>
          <a:prstGeom prst="rect">
            <a:avLst/>
          </a:prstGeom>
          <a:ln w="28575">
            <a:solidFill>
              <a:srgbClr val="4372C2"/>
            </a:solidFill>
          </a:ln>
        </p:spPr>
        <p:txBody>
          <a:bodyPr wrap="square">
            <a:spAutoFit/>
          </a:bodyPr>
          <a:lstStyle/>
          <a:p>
            <a:pPr marL="171450" indent="-171450" algn="justLow" rtl="1">
              <a:buFont typeface="Wingdings" panose="05000000000000000000" pitchFamily="2" charset="2"/>
              <a:buChar char="ü"/>
            </a:pPr>
            <a:r>
              <a:rPr lang="fa-IR" sz="1400" b="1" dirty="0" smtClean="0">
                <a:solidFill>
                  <a:srgbClr val="C00000"/>
                </a:solidFill>
                <a:latin typeface="IRANSans"/>
                <a:cs typeface="B Nazanin" panose="00000400000000000000" pitchFamily="2" charset="-78"/>
              </a:rPr>
              <a:t>محوریت تصمیم </a:t>
            </a:r>
            <a:r>
              <a:rPr lang="fa-IR" sz="1400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فرد است و بیشترین اثر تصمیم بر روی خود فرد می باشد . </a:t>
            </a:r>
          </a:p>
          <a:p>
            <a:pPr marL="171450" indent="-171450" algn="justLow" rtl="1">
              <a:buFont typeface="Wingdings" panose="05000000000000000000" pitchFamily="2" charset="2"/>
              <a:buChar char="ü"/>
            </a:pPr>
            <a:r>
              <a:rPr lang="fa-IR" sz="1400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مسائلی </a:t>
            </a:r>
            <a:r>
              <a:rPr lang="fa-IR" sz="14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مانند </a:t>
            </a:r>
            <a:r>
              <a:rPr lang="fa-IR" sz="14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انتخاب بر اساس احساس</a:t>
            </a:r>
            <a:r>
              <a:rPr lang="fa-IR" sz="14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، </a:t>
            </a:r>
            <a:r>
              <a:rPr lang="fa-IR" sz="1400" b="1" dirty="0">
                <a:solidFill>
                  <a:schemeClr val="accent5">
                    <a:lumMod val="50000"/>
                  </a:schemeClr>
                </a:solidFill>
                <a:latin typeface="IRANSans"/>
                <a:cs typeface="B Nazanin" panose="00000400000000000000" pitchFamily="2" charset="-78"/>
              </a:rPr>
              <a:t>تصمیم گیری‌های شهودی</a:t>
            </a:r>
            <a:r>
              <a:rPr lang="fa-IR" sz="14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، </a:t>
            </a:r>
            <a:r>
              <a:rPr lang="fa-IR" sz="1400" b="1" dirty="0">
                <a:solidFill>
                  <a:srgbClr val="C00000"/>
                </a:solidFill>
                <a:latin typeface="IRANSans"/>
                <a:cs typeface="B Nazanin" panose="00000400000000000000" pitchFamily="2" charset="-78"/>
              </a:rPr>
              <a:t>خطاهای شناختی</a:t>
            </a:r>
            <a:r>
              <a:rPr lang="fa-IR" sz="14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 و </a:t>
            </a:r>
            <a:r>
              <a:rPr lang="fa-IR" sz="1400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... </a:t>
            </a:r>
            <a:r>
              <a:rPr lang="fa-IR" sz="14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از جمله موضوعاتی هستند که در این نوع تصمیم گیری‌ها مورد توجه قرار می‌گیرند.</a:t>
            </a:r>
            <a:endParaRPr lang="en-US" sz="1400" dirty="0">
              <a:cs typeface="B Nazanin" panose="00000400000000000000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58410" y="3606297"/>
            <a:ext cx="4165602" cy="1169551"/>
          </a:xfrm>
          <a:prstGeom prst="rect">
            <a:avLst/>
          </a:prstGeom>
          <a:ln w="28575">
            <a:solidFill>
              <a:srgbClr val="41BCB7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71450" indent="-171450" algn="justLow" rtl="1">
              <a:buFont typeface="Wingdings" panose="05000000000000000000" pitchFamily="2" charset="2"/>
              <a:buChar char="ü"/>
            </a:pPr>
            <a:r>
              <a:rPr lang="fa-IR" sz="1400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برای این تصمیمات باید با مدیران بالادستی و </a:t>
            </a:r>
            <a:r>
              <a:rPr lang="fa-IR" sz="1400" b="1" dirty="0" smtClean="0">
                <a:solidFill>
                  <a:srgbClr val="0070C0"/>
                </a:solidFill>
                <a:latin typeface="IRANSans"/>
                <a:cs typeface="B Nazanin" panose="00000400000000000000" pitchFamily="2" charset="-78"/>
              </a:rPr>
              <a:t>سازمان هماهنگی </a:t>
            </a:r>
            <a:r>
              <a:rPr lang="fa-IR" sz="1400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صورت پذیرد . </a:t>
            </a:r>
          </a:p>
          <a:p>
            <a:pPr marL="171450" indent="-171450" algn="justLow" rtl="1">
              <a:buFont typeface="Wingdings" panose="05000000000000000000" pitchFamily="2" charset="2"/>
              <a:buChar char="ü"/>
            </a:pPr>
            <a:r>
              <a:rPr lang="fa-IR" sz="1400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کسانی </a:t>
            </a:r>
            <a:r>
              <a:rPr lang="fa-IR" sz="14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که با تصمیم‌های مدیریتی مواجه می‌شوند، معمولاً ترجیح می‌دهند از </a:t>
            </a:r>
            <a:r>
              <a:rPr lang="fa-IR" sz="1400" b="1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الگوها و ابزارها </a:t>
            </a:r>
            <a:r>
              <a:rPr lang="fa-IR" sz="14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و مدل‌های شناخته شده برای تصمیم گیری استفاده کنند تا بعداً بتوانند از تصمیم‌های خود بهتر دفاع کنند.</a:t>
            </a:r>
            <a:endParaRPr lang="en-US" sz="1400" dirty="0">
              <a:solidFill>
                <a:srgbClr val="000000"/>
              </a:solidFill>
              <a:latin typeface="IRANSans"/>
              <a:cs typeface="B Nazanin" panose="00000400000000000000" pitchFamily="2" charset="-7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937068" y="5338761"/>
            <a:ext cx="4948646" cy="1169551"/>
          </a:xfrm>
          <a:prstGeom prst="rect">
            <a:avLst/>
          </a:prstGeom>
          <a:ln w="28575">
            <a:solidFill>
              <a:srgbClr val="44B563"/>
            </a:solidFill>
          </a:ln>
        </p:spPr>
        <p:txBody>
          <a:bodyPr wrap="square">
            <a:spAutoFit/>
          </a:bodyPr>
          <a:lstStyle/>
          <a:p>
            <a:pPr marL="171450" indent="-171450" algn="r" rtl="1">
              <a:buFont typeface="Wingdings" panose="05000000000000000000" pitchFamily="2" charset="2"/>
              <a:buChar char="ü"/>
            </a:pPr>
            <a:r>
              <a:rPr lang="fa-IR" sz="14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بجای یک تصمیم، با یک </a:t>
            </a:r>
            <a:r>
              <a:rPr lang="fa-IR" sz="1400" b="1" dirty="0">
                <a:solidFill>
                  <a:srgbClr val="FF0000"/>
                </a:solidFill>
                <a:latin typeface="IRANSans"/>
                <a:cs typeface="B Nazanin" panose="00000400000000000000" pitchFamily="2" charset="-78"/>
              </a:rPr>
              <a:t>زنجیره از تصمیم‌ها</a:t>
            </a:r>
            <a:r>
              <a:rPr lang="fa-IR" sz="14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 مواجه هستید</a:t>
            </a:r>
          </a:p>
          <a:p>
            <a:pPr marL="171450" indent="-171450" algn="r" rtl="1">
              <a:buFont typeface="Wingdings" panose="05000000000000000000" pitchFamily="2" charset="2"/>
              <a:buChar char="ü"/>
            </a:pPr>
            <a:r>
              <a:rPr lang="fa-IR" sz="1400" b="1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پارامتر‌های تصمیم گیری طرف مقابل </a:t>
            </a:r>
            <a:r>
              <a:rPr lang="fa-IR" sz="14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هم برای ما جهت تصمیم گیری اهمیت </a:t>
            </a:r>
            <a:r>
              <a:rPr lang="fa-IR" sz="1400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دارد.</a:t>
            </a:r>
          </a:p>
          <a:p>
            <a:pPr marL="171450" indent="-171450" algn="r" rtl="1">
              <a:buFont typeface="Wingdings" panose="05000000000000000000" pitchFamily="2" charset="2"/>
              <a:buChar char="ü"/>
            </a:pPr>
            <a:r>
              <a:rPr lang="fa-IR" sz="14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تصمیم‌های مذاکره‌ای را در بسیاری از موارد نمی‌توان به تعویق انداخت. </a:t>
            </a:r>
            <a:endParaRPr lang="fa-IR" sz="1400" dirty="0" smtClean="0">
              <a:solidFill>
                <a:srgbClr val="000000"/>
              </a:solidFill>
              <a:latin typeface="IRANSans"/>
              <a:cs typeface="B Nazanin" panose="00000400000000000000" pitchFamily="2" charset="-78"/>
            </a:endParaRPr>
          </a:p>
          <a:p>
            <a:pPr marL="171450" indent="-171450" algn="r" rtl="1">
              <a:buFont typeface="Wingdings" panose="05000000000000000000" pitchFamily="2" charset="2"/>
              <a:buChar char="ü"/>
            </a:pPr>
            <a:r>
              <a:rPr lang="fa-IR" sz="1400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چاره‌ای </a:t>
            </a:r>
            <a:r>
              <a:rPr lang="fa-IR" sz="14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ندارید جز اینکه در همان زمان، گزینه‌ی مناسب را انتخاب کنید. </a:t>
            </a:r>
            <a:endParaRPr lang="fa-IR" sz="1400" dirty="0" smtClean="0">
              <a:solidFill>
                <a:srgbClr val="000000"/>
              </a:solidFill>
              <a:latin typeface="IRANSans"/>
              <a:cs typeface="B Nazanin" panose="00000400000000000000" pitchFamily="2" charset="-78"/>
            </a:endParaRPr>
          </a:p>
          <a:p>
            <a:pPr algn="r" rtl="1"/>
            <a:r>
              <a:rPr lang="fa-IR" sz="1400" b="1" dirty="0" smtClean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( تصمیم گیری سریع )</a:t>
            </a:r>
            <a:endParaRPr lang="en-US" sz="1400" b="1" dirty="0">
              <a:solidFill>
                <a:srgbClr val="4372C2"/>
              </a:solidFill>
              <a:latin typeface="IRANSans"/>
              <a:cs typeface="B Nazanin" panose="00000400000000000000" pitchFamily="2" charset="-78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41370" y="4471738"/>
            <a:ext cx="4264436" cy="738664"/>
          </a:xfrm>
          <a:prstGeom prst="rect">
            <a:avLst/>
          </a:prstGeom>
          <a:ln w="28575">
            <a:solidFill>
              <a:srgbClr val="71AB47"/>
            </a:solidFill>
          </a:ln>
        </p:spPr>
        <p:txBody>
          <a:bodyPr wrap="square">
            <a:spAutoFit/>
          </a:bodyPr>
          <a:lstStyle/>
          <a:p>
            <a:pPr marL="171450" indent="-171450" algn="justLow" rtl="1">
              <a:buFont typeface="Wingdings" panose="05000000000000000000" pitchFamily="2" charset="2"/>
              <a:buChar char="ü"/>
            </a:pPr>
            <a:r>
              <a:rPr lang="fa-IR" sz="1400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یکی از </a:t>
            </a:r>
            <a:r>
              <a:rPr lang="fa-IR" sz="14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اهداف </a:t>
            </a:r>
            <a:r>
              <a:rPr lang="fa-IR" sz="1400" b="1" dirty="0">
                <a:solidFill>
                  <a:schemeClr val="accent2"/>
                </a:solidFill>
                <a:latin typeface="IRANSans"/>
                <a:cs typeface="B Nazanin" panose="00000400000000000000" pitchFamily="2" charset="-78"/>
              </a:rPr>
              <a:t>تفکر سیستمی </a:t>
            </a:r>
            <a:r>
              <a:rPr lang="fa-IR" sz="14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بهبود این نوع تصمیم ها می باشد . </a:t>
            </a:r>
          </a:p>
          <a:p>
            <a:pPr marL="171450" indent="-171450" algn="justLow" rtl="1">
              <a:buFont typeface="Wingdings" panose="05000000000000000000" pitchFamily="2" charset="2"/>
              <a:buChar char="ü"/>
            </a:pPr>
            <a:r>
              <a:rPr lang="fa-IR" sz="1400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استفاده </a:t>
            </a:r>
            <a:r>
              <a:rPr lang="fa-IR" sz="14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از کیسه زباله پلاستیکی یا کاغذی، خاموش کردن یا نکردن یک </a:t>
            </a:r>
            <a:r>
              <a:rPr lang="fa-IR" sz="1400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لامپ</a:t>
            </a:r>
            <a:r>
              <a:rPr lang="en-US" sz="1400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، </a:t>
            </a:r>
            <a:r>
              <a:rPr lang="fa-IR" sz="14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تنظیم کردن </a:t>
            </a:r>
            <a:r>
              <a:rPr lang="fa-IR" sz="1400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موتور و ... از این نوع تصمیم گیری ها    می باشند . </a:t>
            </a:r>
            <a:endParaRPr lang="en-US" sz="1400" dirty="0">
              <a:solidFill>
                <a:srgbClr val="000000"/>
              </a:solidFill>
              <a:latin typeface="IRANSans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3876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B6193-F9F1-4C54-838F-77350B9FC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125" y="425299"/>
            <a:ext cx="9875520" cy="709749"/>
          </a:xfrm>
        </p:spPr>
        <p:txBody>
          <a:bodyPr>
            <a:normAutofit fontScale="90000"/>
          </a:bodyPr>
          <a:lstStyle/>
          <a:p>
            <a:pPr algn="r"/>
            <a:r>
              <a:rPr lang="fa-IR" sz="4800" dirty="0" smtClean="0">
                <a:cs typeface="B Nazanin" panose="00000400000000000000" pitchFamily="2" charset="-78"/>
              </a:rPr>
              <a:t>مهارت تصمیم گیری</a:t>
            </a:r>
            <a:endParaRPr lang="en-US" sz="4800" dirty="0">
              <a:cs typeface="B Nazanin" panose="00000400000000000000" pitchFamily="2" charset="-78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888274" y="1240973"/>
            <a:ext cx="10437223" cy="1306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0" name="Title 1">
            <a:extLst>
              <a:ext uri="{FF2B5EF4-FFF2-40B4-BE49-F238E27FC236}">
                <a16:creationId xmlns:a16="http://schemas.microsoft.com/office/drawing/2014/main" id="{BB4B6193-F9F1-4C54-838F-77350B9FC5DC}"/>
              </a:ext>
            </a:extLst>
          </p:cNvPr>
          <p:cNvSpPr txBox="1">
            <a:spLocks/>
          </p:cNvSpPr>
          <p:nvPr/>
        </p:nvSpPr>
        <p:spPr>
          <a:xfrm>
            <a:off x="1802674" y="1359961"/>
            <a:ext cx="9522823" cy="573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rtl="1"/>
            <a:r>
              <a:rPr lang="fa-IR" sz="2400" dirty="0" smtClean="0">
                <a:solidFill>
                  <a:schemeClr val="tx1"/>
                </a:solidFill>
                <a:cs typeface="B Nazanin" panose="00000400000000000000" pitchFamily="2" charset="-78"/>
              </a:rPr>
              <a:t>تصمیم گیری یک </a:t>
            </a:r>
            <a:r>
              <a:rPr lang="fa-IR" sz="2400" b="1" dirty="0" smtClean="0">
                <a:solidFill>
                  <a:srgbClr val="FF0000"/>
                </a:solidFill>
                <a:cs typeface="B Nazanin" panose="00000400000000000000" pitchFamily="2" charset="-78"/>
              </a:rPr>
              <a:t>مهارت</a:t>
            </a:r>
            <a:r>
              <a:rPr lang="fa-IR" sz="24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است . ما با تجربه و تمرین و توجه</a:t>
            </a:r>
            <a:r>
              <a:rPr lang="en-US" sz="24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fa-IR" sz="2400" dirty="0" smtClean="0">
                <a:solidFill>
                  <a:schemeClr val="tx1"/>
                </a:solidFill>
                <a:cs typeface="B Nazanin" panose="00000400000000000000" pitchFamily="2" charset="-78"/>
              </a:rPr>
              <a:t>، تصمیم گیری هایمان بهبود پیدا میکند .  </a:t>
            </a:r>
            <a:endParaRPr lang="en-US" sz="2400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4959" y="2872816"/>
            <a:ext cx="981075" cy="1524000"/>
          </a:xfrm>
          <a:prstGeom prst="rect">
            <a:avLst/>
          </a:prstGeom>
        </p:spPr>
      </p:pic>
      <p:sp>
        <p:nvSpPr>
          <p:cNvPr id="31" name="Title 1">
            <a:extLst>
              <a:ext uri="{FF2B5EF4-FFF2-40B4-BE49-F238E27FC236}">
                <a16:creationId xmlns:a16="http://schemas.microsoft.com/office/drawing/2014/main" id="{BB4B6193-F9F1-4C54-838F-77350B9FC5DC}"/>
              </a:ext>
            </a:extLst>
          </p:cNvPr>
          <p:cNvSpPr txBox="1">
            <a:spLocks/>
          </p:cNvSpPr>
          <p:nvPr/>
        </p:nvSpPr>
        <p:spPr>
          <a:xfrm>
            <a:off x="1033662" y="1923087"/>
            <a:ext cx="7842340" cy="505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fa-IR" sz="1800" dirty="0" smtClean="0">
                <a:solidFill>
                  <a:schemeClr val="accent4">
                    <a:lumMod val="75000"/>
                  </a:schemeClr>
                </a:solidFill>
                <a:cs typeface="B Nazanin" panose="00000400000000000000" pitchFamily="2" charset="-78"/>
              </a:rPr>
              <a:t>تصمیماتی که </a:t>
            </a:r>
            <a:r>
              <a:rPr lang="fa-IR" sz="1800" b="1" dirty="0" smtClean="0">
                <a:solidFill>
                  <a:schemeClr val="accent4">
                    <a:lumMod val="75000"/>
                  </a:schemeClr>
                </a:solidFill>
                <a:cs typeface="B Nazanin" panose="00000400000000000000" pitchFamily="2" charset="-78"/>
              </a:rPr>
              <a:t>قادر به بیان آنها نیستیم (سخت بیان میکنیم ) </a:t>
            </a:r>
            <a:r>
              <a:rPr lang="fa-IR" sz="1800" dirty="0" smtClean="0">
                <a:solidFill>
                  <a:schemeClr val="accent4">
                    <a:lumMod val="75000"/>
                  </a:schemeClr>
                </a:solidFill>
                <a:cs typeface="B Nazanin" panose="00000400000000000000" pitchFamily="2" charset="-78"/>
              </a:rPr>
              <a:t>/ </a:t>
            </a:r>
            <a:r>
              <a:rPr lang="fa-IR" sz="1800" b="1" dirty="0" smtClean="0">
                <a:solidFill>
                  <a:schemeClr val="accent4">
                    <a:lumMod val="75000"/>
                  </a:schemeClr>
                </a:solidFill>
                <a:cs typeface="B Nazanin" panose="00000400000000000000" pitchFamily="2" charset="-78"/>
              </a:rPr>
              <a:t>شهودی</a:t>
            </a:r>
            <a:r>
              <a:rPr lang="fa-IR" sz="1800" dirty="0" smtClean="0">
                <a:solidFill>
                  <a:schemeClr val="accent4">
                    <a:lumMod val="75000"/>
                  </a:schemeClr>
                </a:solidFill>
                <a:cs typeface="B Nazanin" panose="00000400000000000000" pitchFamily="2" charset="-78"/>
              </a:rPr>
              <a:t> هستند / از ما زمان و انرژی </a:t>
            </a:r>
            <a:r>
              <a:rPr lang="fa-IR" sz="1800" dirty="0">
                <a:solidFill>
                  <a:schemeClr val="accent4">
                    <a:lumMod val="75000"/>
                  </a:schemeClr>
                </a:solidFill>
                <a:cs typeface="B Nazanin" panose="00000400000000000000" pitchFamily="2" charset="-78"/>
              </a:rPr>
              <a:t>نمیگیرند</a:t>
            </a:r>
            <a:r>
              <a:rPr lang="fa-IR" sz="1800" dirty="0" smtClean="0">
                <a:solidFill>
                  <a:schemeClr val="accent4">
                    <a:lumMod val="75000"/>
                  </a:schemeClr>
                </a:solidFill>
                <a:cs typeface="B Nazanin" panose="00000400000000000000" pitchFamily="2" charset="-78"/>
              </a:rPr>
              <a:t>  </a:t>
            </a:r>
            <a:endParaRPr lang="en-US" sz="1800" dirty="0">
              <a:solidFill>
                <a:schemeClr val="accent4">
                  <a:lumMod val="75000"/>
                </a:schemeClr>
              </a:solidFill>
              <a:cs typeface="B Nazanin" panose="00000400000000000000" pitchFamily="2" charset="-7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2934" y="3083619"/>
            <a:ext cx="1352550" cy="1066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6200000">
            <a:off x="8617653" y="2692392"/>
            <a:ext cx="981359" cy="307777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 1 </a:t>
            </a:r>
          </a:p>
        </p:txBody>
      </p:sp>
      <p:sp>
        <p:nvSpPr>
          <p:cNvPr id="32" name="Rectangle 31"/>
          <p:cNvSpPr/>
          <p:nvPr/>
        </p:nvSpPr>
        <p:spPr>
          <a:xfrm rot="16200000">
            <a:off x="8625347" y="4219650"/>
            <a:ext cx="965970" cy="30777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1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 2 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BB4B6193-F9F1-4C54-838F-77350B9FC5DC}"/>
              </a:ext>
            </a:extLst>
          </p:cNvPr>
          <p:cNvSpPr txBox="1">
            <a:spLocks/>
          </p:cNvSpPr>
          <p:nvPr/>
        </p:nvSpPr>
        <p:spPr>
          <a:xfrm>
            <a:off x="956982" y="2355528"/>
            <a:ext cx="7842340" cy="1271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این دفعه کدان طعم بستنی رو برای خوردن انتخاب کنم؟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هر روز صبح : امروز سر کار بروم یا نه ؟ 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برای رفتن به سر کار از این کوچه بگذرم یا از اون کوچه عبور کنم ؟ 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در رانندگی : الان ترمز بکنم یا نکنم ؟ 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برای یک متخصص حرفه ای نرم افزار : معماری سیستم رو قبل از پیاده سازی تعیین بکنم یا نکنم ؟ </a:t>
            </a:r>
            <a:endParaRPr lang="en-US" sz="1600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BB4B6193-F9F1-4C54-838F-77350B9FC5DC}"/>
              </a:ext>
            </a:extLst>
          </p:cNvPr>
          <p:cNvSpPr txBox="1">
            <a:spLocks/>
          </p:cNvSpPr>
          <p:nvPr/>
        </p:nvSpPr>
        <p:spPr>
          <a:xfrm>
            <a:off x="956982" y="3660358"/>
            <a:ext cx="7842340" cy="505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fa-IR" sz="1800" dirty="0" smtClean="0">
                <a:solidFill>
                  <a:schemeClr val="accent4">
                    <a:lumMod val="75000"/>
                  </a:schemeClr>
                </a:solidFill>
                <a:cs typeface="B Nazanin" panose="00000400000000000000" pitchFamily="2" charset="-78"/>
              </a:rPr>
              <a:t>تصمیماتی که </a:t>
            </a:r>
            <a:r>
              <a:rPr lang="fa-IR" sz="1800" b="1" dirty="0" smtClean="0">
                <a:solidFill>
                  <a:schemeClr val="accent4">
                    <a:lumMod val="75000"/>
                  </a:schemeClr>
                </a:solidFill>
                <a:cs typeface="B Nazanin" panose="00000400000000000000" pitchFamily="2" charset="-78"/>
              </a:rPr>
              <a:t>دلایل آن را مشخصا میدانیم و بیان میکنیم </a:t>
            </a:r>
            <a:r>
              <a:rPr lang="fa-IR" sz="1800" dirty="0" smtClean="0">
                <a:solidFill>
                  <a:schemeClr val="accent4">
                    <a:lumMod val="75000"/>
                  </a:schemeClr>
                </a:solidFill>
                <a:cs typeface="B Nazanin" panose="00000400000000000000" pitchFamily="2" charset="-78"/>
              </a:rPr>
              <a:t>/ از ما زمان و انرژی زیاد میگیرند   </a:t>
            </a:r>
            <a:endParaRPr lang="en-US" sz="1800" dirty="0">
              <a:solidFill>
                <a:schemeClr val="accent4">
                  <a:lumMod val="75000"/>
                </a:schemeClr>
              </a:solidFill>
              <a:cs typeface="B Nazanin" panose="00000400000000000000" pitchFamily="2" charset="-78"/>
            </a:endParaRP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BB4B6193-F9F1-4C54-838F-77350B9FC5DC}"/>
              </a:ext>
            </a:extLst>
          </p:cNvPr>
          <p:cNvSpPr txBox="1">
            <a:spLocks/>
          </p:cNvSpPr>
          <p:nvPr/>
        </p:nvSpPr>
        <p:spPr>
          <a:xfrm>
            <a:off x="956982" y="4128441"/>
            <a:ext cx="7842340" cy="1271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چرا این رشته دانشگاهی رو انتخاب کردم ؟ 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دلایل انتخاب همسرم چه بوده ؟ 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چرا امروز تصمیم گرفتم سر کار نروم ؟ 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کدوم معماری نرم افزار برای سیستم من مناسب است ؟ 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sz="1600" dirty="0" smtClean="0">
                <a:solidFill>
                  <a:schemeClr val="tx1"/>
                </a:solidFill>
                <a:cs typeface="B Nazanin" panose="00000400000000000000" pitchFamily="2" charset="-78"/>
              </a:rPr>
              <a:t>برای یک متخصص کم تجربه : آیا باید زمان خودم رو برای تعیین معماری سیستم صرف کنم ؟ </a:t>
            </a:r>
            <a:endParaRPr lang="en-US" sz="1600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BB4B6193-F9F1-4C54-838F-77350B9FC5DC}"/>
              </a:ext>
            </a:extLst>
          </p:cNvPr>
          <p:cNvSpPr txBox="1">
            <a:spLocks/>
          </p:cNvSpPr>
          <p:nvPr/>
        </p:nvSpPr>
        <p:spPr>
          <a:xfrm>
            <a:off x="147086" y="5561175"/>
            <a:ext cx="11511513" cy="5159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fa-IR" sz="1800" dirty="0" smtClean="0">
                <a:solidFill>
                  <a:schemeClr val="tx1"/>
                </a:solidFill>
                <a:cs typeface="B Nazanin" panose="00000400000000000000" pitchFamily="2" charset="-78"/>
              </a:rPr>
              <a:t>ما بعضا مواردی رو که باید از </a:t>
            </a:r>
            <a:r>
              <a:rPr lang="en-US" sz="1800" dirty="0" smtClean="0">
                <a:solidFill>
                  <a:schemeClr val="tx1"/>
                </a:solidFill>
                <a:cs typeface="B Nazanin" panose="00000400000000000000" pitchFamily="2" charset="-78"/>
              </a:rPr>
              <a:t>System  2 </a:t>
            </a:r>
            <a:r>
              <a:rPr lang="fa-IR" sz="18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مغز استفاده کنیم از </a:t>
            </a:r>
            <a:r>
              <a:rPr lang="en-US" sz="1800" dirty="0" smtClean="0">
                <a:solidFill>
                  <a:schemeClr val="tx1"/>
                </a:solidFill>
                <a:cs typeface="B Nazanin" panose="00000400000000000000" pitchFamily="2" charset="-78"/>
              </a:rPr>
              <a:t>System 1 </a:t>
            </a:r>
            <a:r>
              <a:rPr lang="fa-IR" sz="18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استفاده میکنیم و بعدا براش دلیل میتراشیم .  </a:t>
            </a:r>
            <a:endParaRPr lang="en-US" sz="1800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BB4B6193-F9F1-4C54-838F-77350B9FC5DC}"/>
              </a:ext>
            </a:extLst>
          </p:cNvPr>
          <p:cNvSpPr txBox="1">
            <a:spLocks/>
          </p:cNvSpPr>
          <p:nvPr/>
        </p:nvSpPr>
        <p:spPr>
          <a:xfrm>
            <a:off x="147085" y="6048338"/>
            <a:ext cx="11511513" cy="5159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fa-IR" sz="1800" dirty="0" smtClean="0">
                <a:solidFill>
                  <a:schemeClr val="tx1"/>
                </a:solidFill>
                <a:cs typeface="B Nazanin" panose="00000400000000000000" pitchFamily="2" charset="-78"/>
              </a:rPr>
              <a:t>بعضی موارد تصمیم گیری فقط برای افراد با تجربه بالا از جنس </a:t>
            </a:r>
            <a:r>
              <a:rPr lang="en-US" sz="18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System 1</a:t>
            </a:r>
            <a:r>
              <a:rPr lang="fa-IR" sz="18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است. (</a:t>
            </a:r>
            <a:r>
              <a:rPr lang="fa-IR" sz="1800" b="1" dirty="0">
                <a:solidFill>
                  <a:schemeClr val="tx1"/>
                </a:solidFill>
                <a:cs typeface="B Nazanin" panose="00000400000000000000" pitchFamily="2" charset="-78"/>
              </a:rPr>
              <a:t>آنچه جوان در آینه بیند ....  پیر در خشت خام بیند</a:t>
            </a:r>
            <a:r>
              <a:rPr lang="fa-IR" sz="1800" dirty="0" smtClean="0">
                <a:solidFill>
                  <a:schemeClr val="tx1"/>
                </a:solidFill>
                <a:cs typeface="B Nazanin" panose="00000400000000000000" pitchFamily="2" charset="-78"/>
              </a:rPr>
              <a:t> )</a:t>
            </a:r>
            <a:endParaRPr lang="en-US" sz="1800" b="1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96912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B6193-F9F1-4C54-838F-77350B9FC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125" y="425299"/>
            <a:ext cx="9875520" cy="709749"/>
          </a:xfrm>
        </p:spPr>
        <p:txBody>
          <a:bodyPr>
            <a:normAutofit fontScale="90000"/>
          </a:bodyPr>
          <a:lstStyle/>
          <a:p>
            <a:pPr algn="r"/>
            <a:r>
              <a:rPr lang="fa-IR" sz="4800" dirty="0" smtClean="0">
                <a:cs typeface="B Nazanin" panose="00000400000000000000" pitchFamily="2" charset="-78"/>
              </a:rPr>
              <a:t>تصمیم درست / نتیجه نامطلوب  </a:t>
            </a:r>
            <a:endParaRPr lang="en-US" sz="4800" dirty="0">
              <a:cs typeface="B Nazanin" panose="00000400000000000000" pitchFamily="2" charset="-78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888274" y="1240973"/>
            <a:ext cx="10437223" cy="1306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4034244" y="1581835"/>
            <a:ext cx="75038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fa-IR" dirty="0">
                <a:cs typeface="B Nazanin" panose="00000400000000000000" pitchFamily="2" charset="-78"/>
              </a:rPr>
              <a:t>یکی از اشتباهات ذهنی ما انسان‌ها این است که </a:t>
            </a:r>
            <a:r>
              <a:rPr lang="fa-IR" b="1" dirty="0">
                <a:cs typeface="B Nazanin" panose="00000400000000000000" pitchFamily="2" charset="-78"/>
              </a:rPr>
              <a:t>فرایند تصمیم </a:t>
            </a:r>
            <a:r>
              <a:rPr lang="fa-IR" dirty="0">
                <a:cs typeface="B Nazanin" panose="00000400000000000000" pitchFamily="2" charset="-78"/>
              </a:rPr>
              <a:t>را با </a:t>
            </a:r>
            <a:r>
              <a:rPr lang="fa-IR" b="1" dirty="0">
                <a:cs typeface="B Nazanin" panose="00000400000000000000" pitchFamily="2" charset="-78"/>
              </a:rPr>
              <a:t>نتیجه تصمیم </a:t>
            </a:r>
            <a:r>
              <a:rPr lang="fa-IR" dirty="0">
                <a:cs typeface="B Nazanin" panose="00000400000000000000" pitchFamily="2" charset="-78"/>
              </a:rPr>
              <a:t>اشتباه می‌گیریم</a:t>
            </a:r>
            <a:endParaRPr lang="en-US" dirty="0">
              <a:cs typeface="B Nazanin" panose="00000400000000000000" pitchFamily="2" charset="-78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391438" y="1479397"/>
            <a:ext cx="3642807" cy="520030"/>
            <a:chOff x="391438" y="1531283"/>
            <a:chExt cx="3642807" cy="446332"/>
          </a:xfrm>
        </p:grpSpPr>
        <p:sp>
          <p:nvSpPr>
            <p:cNvPr id="7" name="Rectangle 6"/>
            <p:cNvSpPr/>
            <p:nvPr/>
          </p:nvSpPr>
          <p:spPr>
            <a:xfrm>
              <a:off x="391887" y="1531283"/>
              <a:ext cx="3642358" cy="446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91438" y="1639891"/>
              <a:ext cx="163217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a-IR" sz="1200" b="1" dirty="0">
                  <a:cs typeface="B Nazanin" panose="00000400000000000000" pitchFamily="2" charset="-78"/>
                </a:rPr>
                <a:t>نتیجه </a:t>
              </a:r>
              <a:r>
                <a:rPr lang="fa-IR" sz="1200" b="1" dirty="0" smtClean="0">
                  <a:cs typeface="B Nazanin" panose="00000400000000000000" pitchFamily="2" charset="-78"/>
                </a:rPr>
                <a:t>مطلوب تصمیم گیری </a:t>
              </a:r>
              <a:endParaRPr lang="en-US" sz="1200" dirty="0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367192" y="1647539"/>
              <a:ext cx="166584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a-IR" sz="1200" b="1" dirty="0" smtClean="0">
                  <a:cs typeface="B Nazanin" panose="00000400000000000000" pitchFamily="2" charset="-78"/>
                </a:rPr>
                <a:t>فرایند درست  تصمیم گیری </a:t>
              </a:r>
              <a:endParaRPr lang="en-US" sz="1200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0895" t="7747" r="17893" b="11115"/>
            <a:stretch/>
          </p:blipFill>
          <p:spPr>
            <a:xfrm>
              <a:off x="2049048" y="1651559"/>
              <a:ext cx="319314" cy="265277"/>
            </a:xfrm>
            <a:prstGeom prst="rect">
              <a:avLst/>
            </a:prstGeom>
          </p:spPr>
        </p:pic>
      </p:grpSp>
      <p:sp>
        <p:nvSpPr>
          <p:cNvPr id="9" name="Rectangle 8"/>
          <p:cNvSpPr/>
          <p:nvPr/>
        </p:nvSpPr>
        <p:spPr>
          <a:xfrm>
            <a:off x="1393371" y="2079786"/>
            <a:ext cx="101447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fa-IR" dirty="0" smtClean="0">
                <a:cs typeface="B Nazanin" panose="00000400000000000000" pitchFamily="2" charset="-78"/>
              </a:rPr>
              <a:t>هیچ تظمینی وجود ندارد که طی کردن درست فرآیند تصمیم گیری به نتیجه مطلوب و دوست داشتنی ما منتهی شود !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91438" y="2694637"/>
            <a:ext cx="1096308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 rtl="1"/>
            <a:r>
              <a:rPr lang="fa-IR" dirty="0">
                <a:cs typeface="B Nazanin" panose="00000400000000000000" pitchFamily="2" charset="-78"/>
              </a:rPr>
              <a:t>در سه حالت ممکن است </a:t>
            </a:r>
            <a:r>
              <a:rPr lang="fa-IR" b="1" dirty="0">
                <a:cs typeface="B Nazanin" panose="00000400000000000000" pitchFamily="2" charset="-78"/>
              </a:rPr>
              <a:t>نتیجه تصمیم درست، برای ما مطلوب و دوست‌داشتنی </a:t>
            </a:r>
            <a:r>
              <a:rPr lang="fa-IR" b="1" dirty="0" smtClean="0">
                <a:cs typeface="B Nazanin" panose="00000400000000000000" pitchFamily="2" charset="-78"/>
              </a:rPr>
              <a:t>نباشد . </a:t>
            </a:r>
            <a:endParaRPr lang="en-US" b="1" dirty="0">
              <a:cs typeface="B Nazanin" panose="00000400000000000000" pitchFamily="2" charset="-78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465286" y="2974090"/>
            <a:ext cx="7985760" cy="20659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r" rtl="1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fa-IR" b="1" dirty="0">
                <a:solidFill>
                  <a:srgbClr val="111111"/>
                </a:solidFill>
                <a:latin typeface="IRANSans"/>
                <a:cs typeface="B Nazanin" panose="00000400000000000000" pitchFamily="2" charset="-78"/>
              </a:rPr>
              <a:t>هیچ‌یک از گزینه‌ها مطلوب ما </a:t>
            </a:r>
            <a:r>
              <a:rPr lang="fa-IR" b="1" dirty="0" smtClean="0">
                <a:solidFill>
                  <a:srgbClr val="111111"/>
                </a:solidFill>
                <a:latin typeface="IRANSans"/>
                <a:cs typeface="B Nazanin" panose="00000400000000000000" pitchFamily="2" charset="-78"/>
              </a:rPr>
              <a:t>نیستند</a:t>
            </a:r>
            <a:endParaRPr lang="fa-IR" b="1" dirty="0">
              <a:solidFill>
                <a:srgbClr val="111111"/>
              </a:solidFill>
              <a:latin typeface="IRANSans"/>
              <a:cs typeface="B Nazanin" panose="00000400000000000000" pitchFamily="2" charset="-78"/>
            </a:endParaRPr>
          </a:p>
          <a:p>
            <a:pPr marL="285750" indent="-285750" algn="r" rtl="1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fa-IR" b="1" dirty="0">
                <a:cs typeface="B Nazanin" panose="00000400000000000000" pitchFamily="2" charset="-78"/>
              </a:rPr>
              <a:t>عوامل پیش‌بینی‌ناپذیر </a:t>
            </a:r>
            <a:r>
              <a:rPr lang="fa-IR" b="1" dirty="0" smtClean="0">
                <a:cs typeface="B Nazanin" panose="00000400000000000000" pitchFamily="2" charset="-78"/>
              </a:rPr>
              <a:t>محیطی </a:t>
            </a:r>
          </a:p>
          <a:p>
            <a:pPr marL="285750" indent="-285750" algn="r" rtl="1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fa-IR" b="1" dirty="0">
                <a:cs typeface="B Nazanin" panose="00000400000000000000" pitchFamily="2" charset="-78"/>
              </a:rPr>
              <a:t>وقتی یکی از سناریوهای نامطلوبِ محتملِ پیش‌بینی شده رخ </a:t>
            </a:r>
            <a:r>
              <a:rPr lang="fa-IR" b="1" dirty="0" smtClean="0">
                <a:cs typeface="B Nazanin" panose="00000400000000000000" pitchFamily="2" charset="-78"/>
              </a:rPr>
              <a:t>می‌دهند</a:t>
            </a:r>
            <a:endParaRPr lang="fa-IR" b="1" dirty="0">
              <a:cs typeface="B Nazanin" panose="00000400000000000000" pitchFamily="2" charset="-78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764729" y="3957487"/>
            <a:ext cx="63882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dirty="0" smtClean="0">
                <a:cs typeface="B Nazanin" panose="00000400000000000000" pitchFamily="2" charset="-78"/>
              </a:rPr>
              <a:t>مثال :  بررسی بیشتر جهت خرید یک مدل لپ تاپ و ناگهان نایاب شدن آن مدل خاص   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3843680" y="3244266"/>
            <a:ext cx="42723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dirty="0" smtClean="0">
                <a:cs typeface="B Nazanin" panose="00000400000000000000" pitchFamily="2" charset="-78"/>
              </a:rPr>
              <a:t>مثال :  انتخاب یکی از دو استاد که هر دو رو دوست نداریم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928390" y="3311486"/>
            <a:ext cx="1850186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fa-IR" b="1" dirty="0" smtClean="0">
                <a:solidFill>
                  <a:srgbClr val="4372C2"/>
                </a:solidFill>
                <a:cs typeface="B Nazanin" panose="00000400000000000000" pitchFamily="2" charset="-78"/>
              </a:rPr>
              <a:t>انتخاب بین بد و بدتر </a:t>
            </a:r>
            <a:endParaRPr lang="en-US" b="1" dirty="0">
              <a:solidFill>
                <a:srgbClr val="4372C2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91438" y="4510826"/>
            <a:ext cx="514268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fa-IR" dirty="0" smtClean="0">
                <a:cs typeface="B Nazanin" panose="00000400000000000000" pitchFamily="2" charset="-78"/>
              </a:rPr>
              <a:t>مثال :  مربی بانجی جامپینگ به شما میگوید از بیست هزار پرش در سال اخیر فقط یک نفر فوت شده و شما هم خیلی دوست دارید که لذت پرش و هیجان آن را تجربه کنید . 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275771" y="5647191"/>
            <a:ext cx="1164430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dirty="0">
                <a:cs typeface="B Nazanin" panose="00000400000000000000" pitchFamily="2" charset="-78"/>
              </a:rPr>
              <a:t>شما لذت این پرش را با ریسک حاصل از آن مقایسه می‌کنید و می‌پرید. حتی اگر فوت شوید، با وجود نتیجه‌ی نامطلوب، فرایند </a:t>
            </a:r>
            <a:r>
              <a:rPr lang="fa-IR" sz="1600" b="1" dirty="0">
                <a:solidFill>
                  <a:schemeClr val="accent2"/>
                </a:solidFill>
                <a:cs typeface="B Nazanin" panose="00000400000000000000" pitchFamily="2" charset="-78"/>
              </a:rPr>
              <a:t>تصمیم گیری‌تان درست بوده </a:t>
            </a:r>
            <a:r>
              <a:rPr lang="fa-IR" dirty="0">
                <a:cs typeface="B Nazanin" panose="00000400000000000000" pitchFamily="2" charset="-78"/>
              </a:rPr>
              <a:t>است.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fa-IR" dirty="0">
                <a:cs typeface="B Nazanin" panose="00000400000000000000" pitchFamily="2" charset="-78"/>
              </a:rPr>
              <a:t>تنها در صورتی می‌توان گفت تصمیم شما نادرست بوده است که احتمال یک در بیست‌هزار با صفر هم‌ارز گرفته‌ باشید و به </a:t>
            </a:r>
            <a:r>
              <a:rPr lang="fa-IR" dirty="0">
                <a:solidFill>
                  <a:srgbClr val="4372C2"/>
                </a:solidFill>
                <a:cs typeface="B Nazanin" panose="00000400000000000000" pitchFamily="2" charset="-78"/>
              </a:rPr>
              <a:t>فرض اطمینان مطلق پریده باشید</a:t>
            </a:r>
            <a:r>
              <a:rPr lang="fa-IR" dirty="0">
                <a:cs typeface="B Nazanin" panose="00000400000000000000" pitchFamily="2" charset="-78"/>
              </a:rPr>
              <a:t>. در این حالت، علاوه بر نتیجه‌ی نامطلوب، فرایند </a:t>
            </a:r>
            <a:r>
              <a:rPr lang="fa-IR" dirty="0">
                <a:solidFill>
                  <a:srgbClr val="4372C2"/>
                </a:solidFill>
                <a:cs typeface="B Nazanin" panose="00000400000000000000" pitchFamily="2" charset="-78"/>
              </a:rPr>
              <a:t>تصمیم گیری شما هم نادرست بوده </a:t>
            </a:r>
            <a:r>
              <a:rPr lang="fa-IR" dirty="0">
                <a:cs typeface="B Nazanin" panose="00000400000000000000" pitchFamily="2" charset="-78"/>
              </a:rPr>
              <a:t>است.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V="1">
            <a:off x="1764729" y="5526101"/>
            <a:ext cx="9100457" cy="30317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Right Brace 22"/>
          <p:cNvSpPr/>
          <p:nvPr/>
        </p:nvSpPr>
        <p:spPr>
          <a:xfrm>
            <a:off x="11362083" y="3270846"/>
            <a:ext cx="351245" cy="1742613"/>
          </a:xfrm>
          <a:prstGeom prst="rightBrace">
            <a:avLst>
              <a:gd name="adj1" fmla="val 8333"/>
              <a:gd name="adj2" fmla="val 49167"/>
            </a:avLst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1640756" y="4127638"/>
            <a:ext cx="20604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11843536" y="2884459"/>
            <a:ext cx="3261" cy="125769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11362083" y="2893928"/>
            <a:ext cx="481453" cy="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1264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B6193-F9F1-4C54-838F-77350B9FC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125" y="425299"/>
            <a:ext cx="9875520" cy="709749"/>
          </a:xfrm>
        </p:spPr>
        <p:txBody>
          <a:bodyPr>
            <a:normAutofit fontScale="90000"/>
          </a:bodyPr>
          <a:lstStyle/>
          <a:p>
            <a:pPr algn="r"/>
            <a:r>
              <a:rPr lang="fa-IR" sz="4800" dirty="0" smtClean="0">
                <a:cs typeface="B Nazanin" panose="00000400000000000000" pitchFamily="2" charset="-78"/>
              </a:rPr>
              <a:t>اهمیت </a:t>
            </a:r>
            <a:r>
              <a:rPr lang="fa-IR" sz="4800" dirty="0">
                <a:cs typeface="B Nazanin" panose="00000400000000000000" pitchFamily="2" charset="-78"/>
              </a:rPr>
              <a:t>تصمیم </a:t>
            </a:r>
            <a:r>
              <a:rPr lang="fa-IR" sz="4800" dirty="0" smtClean="0">
                <a:cs typeface="B Nazanin" panose="00000400000000000000" pitchFamily="2" charset="-78"/>
              </a:rPr>
              <a:t>سازی</a:t>
            </a:r>
            <a:endParaRPr lang="en-US" sz="4800" dirty="0">
              <a:cs typeface="B Nazanin" panose="00000400000000000000" pitchFamily="2" charset="-78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888274" y="1240973"/>
            <a:ext cx="10437223" cy="1306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230880" y="1987619"/>
            <a:ext cx="80946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rtl="1">
              <a:buFont typeface="Wingdings" panose="05000000000000000000" pitchFamily="2" charset="2"/>
              <a:buChar char="ü"/>
            </a:pPr>
            <a:r>
              <a:rPr lang="fa-IR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کسانی که تا قبل از مرحله‌ی انتخاب نهایی، در تصمیم گیری نقش ایفا می‌کنند، </a:t>
            </a:r>
            <a:r>
              <a:rPr lang="fa-IR" b="1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تصمیم ساز</a:t>
            </a:r>
            <a:r>
              <a:rPr lang="fa-IR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 نامیده می‌شوند</a:t>
            </a:r>
            <a:r>
              <a:rPr lang="fa-IR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.</a:t>
            </a:r>
            <a:endParaRPr lang="fa-IR" dirty="0">
              <a:solidFill>
                <a:srgbClr val="000000"/>
              </a:solidFill>
              <a:latin typeface="IRANSans"/>
              <a:cs typeface="B Nazanin" panose="00000400000000000000" pitchFamily="2" charset="-78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338253" y="2461733"/>
            <a:ext cx="89872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rtl="1">
              <a:buFont typeface="Wingdings" panose="05000000000000000000" pitchFamily="2" charset="2"/>
              <a:buChar char="ü"/>
            </a:pPr>
            <a:r>
              <a:rPr lang="fa-IR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کسانی که با ارائه داده های مختلف به تصمیم گیرنده کمک میکنند که تصمیم صحیح را اتخاذ کند </a:t>
            </a:r>
            <a:r>
              <a:rPr lang="fa-IR" b="1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تصمیم یار </a:t>
            </a:r>
            <a:r>
              <a:rPr lang="fa-IR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میگویند . </a:t>
            </a:r>
            <a:endParaRPr lang="fa-IR" dirty="0">
              <a:solidFill>
                <a:srgbClr val="000000"/>
              </a:solidFill>
              <a:latin typeface="IRANSans"/>
              <a:cs typeface="B Nazanin" panose="00000400000000000000" pitchFamily="2" charset="-78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338253" y="2935847"/>
            <a:ext cx="89872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rtl="1">
              <a:buFont typeface="Wingdings" panose="05000000000000000000" pitchFamily="2" charset="2"/>
              <a:buChar char="ü"/>
            </a:pPr>
            <a:r>
              <a:rPr lang="fa-IR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کسی که از بین گزینه های مختلف بدست آمده تصمیم نهایی را اتخاذ میکند </a:t>
            </a:r>
            <a:r>
              <a:rPr lang="fa-IR" b="1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تصمیم گیر </a:t>
            </a:r>
            <a:r>
              <a:rPr lang="fa-IR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می باشد .  </a:t>
            </a:r>
            <a:endParaRPr lang="fa-IR" dirty="0">
              <a:solidFill>
                <a:srgbClr val="000000"/>
              </a:solidFill>
              <a:latin typeface="IRANSans"/>
              <a:cs typeface="B Nazanin" panose="00000400000000000000" pitchFamily="2" charset="-78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4011599" y="1254036"/>
            <a:ext cx="4190571" cy="707886"/>
            <a:chOff x="2254986" y="3297707"/>
            <a:chExt cx="4190571" cy="707886"/>
          </a:xfrm>
        </p:grpSpPr>
        <p:grpSp>
          <p:nvGrpSpPr>
            <p:cNvPr id="9" name="Group 8"/>
            <p:cNvGrpSpPr/>
            <p:nvPr/>
          </p:nvGrpSpPr>
          <p:grpSpPr>
            <a:xfrm>
              <a:off x="2254986" y="3297707"/>
              <a:ext cx="4190571" cy="707886"/>
              <a:chOff x="8120208" y="1520037"/>
              <a:chExt cx="4190571" cy="707886"/>
            </a:xfrm>
          </p:grpSpPr>
          <p:sp>
            <p:nvSpPr>
              <p:cNvPr id="3" name="Rectangle 2"/>
              <p:cNvSpPr/>
              <p:nvPr/>
            </p:nvSpPr>
            <p:spPr>
              <a:xfrm>
                <a:off x="8120208" y="1520037"/>
                <a:ext cx="4190571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a-IR" sz="2000" dirty="0" smtClean="0">
                    <a:cs typeface="B Nazanin" panose="00000400000000000000" pitchFamily="2" charset="-78"/>
                  </a:rPr>
                  <a:t>   تصمیم گیری </a:t>
                </a:r>
                <a:r>
                  <a:rPr lang="fa-IR" sz="3600" dirty="0" smtClean="0">
                    <a:cs typeface="B Nazanin" panose="00000400000000000000" pitchFamily="2" charset="-78"/>
                  </a:rPr>
                  <a:t>= </a:t>
                </a:r>
                <a:r>
                  <a:rPr lang="fa-IR" sz="2000" dirty="0" smtClean="0">
                    <a:cs typeface="B Nazanin" panose="00000400000000000000" pitchFamily="2" charset="-78"/>
                  </a:rPr>
                  <a:t> </a:t>
                </a:r>
                <a:r>
                  <a:rPr lang="fa-IR" sz="2000" dirty="0" smtClean="0">
                    <a:solidFill>
                      <a:srgbClr val="FF0000"/>
                    </a:solidFill>
                    <a:cs typeface="B Nazanin" panose="00000400000000000000" pitchFamily="2" charset="-78"/>
                  </a:rPr>
                  <a:t>تصمیم سازی </a:t>
                </a:r>
                <a:r>
                  <a:rPr lang="fa-IR" sz="4000" dirty="0">
                    <a:cs typeface="B Nazanin" panose="00000400000000000000" pitchFamily="2" charset="-78"/>
                  </a:rPr>
                  <a:t>=</a:t>
                </a:r>
                <a:r>
                  <a:rPr lang="fa-IR" sz="2000" dirty="0" smtClean="0">
                    <a:cs typeface="B Nazanin" panose="00000400000000000000" pitchFamily="2" charset="-78"/>
                  </a:rPr>
                  <a:t> تصمیم یاری</a:t>
                </a:r>
                <a:r>
                  <a:rPr lang="fa-IR" sz="2000" dirty="0" smtClean="0">
                    <a:solidFill>
                      <a:srgbClr val="FF0000"/>
                    </a:solidFill>
                    <a:cs typeface="B Nazanin" panose="00000400000000000000" pitchFamily="2" charset="-78"/>
                  </a:rPr>
                  <a:t> </a:t>
                </a:r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6" name="Straight Connector 5"/>
              <p:cNvCxnSpPr/>
              <p:nvPr/>
            </p:nvCxnSpPr>
            <p:spPr>
              <a:xfrm flipH="1">
                <a:off x="9353825" y="1804013"/>
                <a:ext cx="65314" cy="13062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4" name="Straight Connector 13"/>
            <p:cNvCxnSpPr/>
            <p:nvPr/>
          </p:nvCxnSpPr>
          <p:spPr>
            <a:xfrm flipH="1">
              <a:off x="4927693" y="3592681"/>
              <a:ext cx="65314" cy="13062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" name="Rectangle 16"/>
          <p:cNvSpPr/>
          <p:nvPr/>
        </p:nvSpPr>
        <p:spPr>
          <a:xfrm>
            <a:off x="1557744" y="3581111"/>
            <a:ext cx="9098280" cy="13388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Low" rtl="1">
              <a:lnSpc>
                <a:spcPct val="150000"/>
              </a:lnSpc>
            </a:pPr>
            <a:r>
              <a:rPr lang="fa-IR" b="1" dirty="0">
                <a:solidFill>
                  <a:srgbClr val="111111"/>
                </a:solidFill>
                <a:latin typeface="IRANSans"/>
                <a:cs typeface="B Nazanin" panose="00000400000000000000" pitchFamily="2" charset="-78"/>
              </a:rPr>
              <a:t>کارشناسان</a:t>
            </a:r>
            <a:r>
              <a:rPr lang="fa-IR" dirty="0">
                <a:solidFill>
                  <a:srgbClr val="111111"/>
                </a:solidFill>
                <a:latin typeface="IRANSans"/>
                <a:cs typeface="B Nazanin" panose="00000400000000000000" pitchFamily="2" charset="-78"/>
              </a:rPr>
              <a:t> در بسیاری از سازمان‌ها، نقش </a:t>
            </a:r>
            <a:r>
              <a:rPr lang="fa-IR" b="1" dirty="0">
                <a:solidFill>
                  <a:srgbClr val="111111"/>
                </a:solidFill>
                <a:latin typeface="IRANSans"/>
                <a:cs typeface="B Nazanin" panose="00000400000000000000" pitchFamily="2" charset="-78"/>
              </a:rPr>
              <a:t>تصمیم ساز</a:t>
            </a:r>
            <a:r>
              <a:rPr lang="fa-IR" dirty="0">
                <a:solidFill>
                  <a:srgbClr val="111111"/>
                </a:solidFill>
                <a:latin typeface="IRANSans"/>
                <a:cs typeface="B Nazanin" panose="00000400000000000000" pitchFamily="2" charset="-78"/>
              </a:rPr>
              <a:t> را به شکل رسمی برعهده دارند. به همین علت می‌شنویم که مدیران می‌گویند ما بر اساس </a:t>
            </a:r>
            <a:r>
              <a:rPr lang="fa-IR" b="1" dirty="0">
                <a:solidFill>
                  <a:srgbClr val="111111"/>
                </a:solidFill>
                <a:latin typeface="IRANSans"/>
                <a:cs typeface="B Nazanin" panose="00000400000000000000" pitchFamily="2" charset="-78"/>
              </a:rPr>
              <a:t>کارِ کارشناسی</a:t>
            </a:r>
            <a:r>
              <a:rPr lang="fa-IR" dirty="0">
                <a:solidFill>
                  <a:srgbClr val="111111"/>
                </a:solidFill>
                <a:latin typeface="IRANSans"/>
                <a:cs typeface="B Nazanin" panose="00000400000000000000" pitchFamily="2" charset="-78"/>
              </a:rPr>
              <a:t> یا </a:t>
            </a:r>
            <a:r>
              <a:rPr lang="fa-IR" b="1" dirty="0">
                <a:solidFill>
                  <a:srgbClr val="111111"/>
                </a:solidFill>
                <a:latin typeface="IRANSans"/>
                <a:cs typeface="B Nazanin" panose="00000400000000000000" pitchFamily="2" charset="-78"/>
              </a:rPr>
              <a:t>گزارش کارشناسان</a:t>
            </a:r>
            <a:r>
              <a:rPr lang="fa-IR" dirty="0">
                <a:solidFill>
                  <a:srgbClr val="111111"/>
                </a:solidFill>
                <a:latin typeface="IRANSans"/>
                <a:cs typeface="B Nazanin" panose="00000400000000000000" pitchFamily="2" charset="-78"/>
              </a:rPr>
              <a:t>، این یا آن تصمیم را گرفته‌ایم. گزارش کارشناسی، گزینه‌های محتمل و تحلیل آن‌ها را در اختیار مدیر قرار می‌دهد و نهایتاً این مدیر است که حکم نهایی (انتخاب آخر)‌ را اعلام </a:t>
            </a:r>
            <a:r>
              <a:rPr lang="fa-IR" dirty="0" smtClean="0">
                <a:solidFill>
                  <a:srgbClr val="111111"/>
                </a:solidFill>
                <a:latin typeface="IRANSans"/>
                <a:cs typeface="B Nazanin" panose="00000400000000000000" pitchFamily="2" charset="-78"/>
              </a:rPr>
              <a:t>می‌کند</a:t>
            </a:r>
            <a:r>
              <a:rPr lang="en-US" dirty="0" smtClean="0">
                <a:solidFill>
                  <a:srgbClr val="111111"/>
                </a:solidFill>
                <a:latin typeface="IRANSans"/>
                <a:cs typeface="B Nazanin" panose="00000400000000000000" pitchFamily="2" charset="-78"/>
              </a:rPr>
              <a:t>.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557744" y="5078304"/>
            <a:ext cx="9098280" cy="13388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Low" rtl="1">
              <a:lnSpc>
                <a:spcPct val="150000"/>
              </a:lnSpc>
            </a:pPr>
            <a:r>
              <a:rPr lang="fa-IR" dirty="0">
                <a:solidFill>
                  <a:srgbClr val="111111"/>
                </a:solidFill>
                <a:latin typeface="IRANSans"/>
                <a:cs typeface="B Nazanin" panose="00000400000000000000" pitchFamily="2" charset="-78"/>
              </a:rPr>
              <a:t>در سازمان‌ها و کسب و کارها، گاهی اوقات این نقش را </a:t>
            </a:r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IRANSans"/>
                <a:cs typeface="B Nazanin" panose="00000400000000000000" pitchFamily="2" charset="-78"/>
              </a:rPr>
              <a:t>مسئول دفتر</a:t>
            </a:r>
            <a:r>
              <a:rPr lang="fa-IR" dirty="0">
                <a:solidFill>
                  <a:srgbClr val="111111"/>
                </a:solidFill>
                <a:latin typeface="IRANSans"/>
                <a:cs typeface="B Nazanin" panose="00000400000000000000" pitchFamily="2" charset="-78"/>
              </a:rPr>
              <a:t> یک مدیر، ایفا می‌کند. او با انتخاب تماس‌هایی که برقرار می‌شوند (یا نمی‌شوند) و تأثیرگذاری بر پیام‌هایی که می‌توانند به دست مدیر برسند (یا محدود می‌شوند)، روی تصمیم مدیر تأثیر می‌گذارند.</a:t>
            </a:r>
          </a:p>
        </p:txBody>
      </p:sp>
    </p:spTree>
    <p:extLst>
      <p:ext uri="{BB962C8B-B14F-4D97-AF65-F5344CB8AC3E}">
        <p14:creationId xmlns:p14="http://schemas.microsoft.com/office/powerpoint/2010/main" val="2639954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B6193-F9F1-4C54-838F-77350B9FC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125" y="425299"/>
            <a:ext cx="9875520" cy="709749"/>
          </a:xfrm>
        </p:spPr>
        <p:txBody>
          <a:bodyPr>
            <a:normAutofit fontScale="90000"/>
          </a:bodyPr>
          <a:lstStyle/>
          <a:p>
            <a:pPr algn="r"/>
            <a:r>
              <a:rPr lang="fa-IR" sz="4800" dirty="0" smtClean="0">
                <a:cs typeface="B Nazanin" panose="00000400000000000000" pitchFamily="2" charset="-78"/>
              </a:rPr>
              <a:t>خرده مهارت های مرتبط با تصمیم گیری درست </a:t>
            </a:r>
            <a:endParaRPr lang="en-US" sz="4800" dirty="0">
              <a:cs typeface="B Nazanin" panose="00000400000000000000" pitchFamily="2" charset="-78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888274" y="1240973"/>
            <a:ext cx="10437223" cy="1306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2024" y="2316681"/>
            <a:ext cx="1589180" cy="236733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191484" y="1017746"/>
            <a:ext cx="2070118" cy="56323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  <a:latin typeface="IRANSans"/>
              </a:rPr>
              <a:t>Pr</a:t>
            </a:r>
            <a:r>
              <a:rPr lang="en-US" dirty="0" smtClean="0">
                <a:solidFill>
                  <a:srgbClr val="000000"/>
                </a:solidFill>
                <a:latin typeface="IRANSans"/>
              </a:rPr>
              <a:t>oblem</a:t>
            </a:r>
            <a:endParaRPr lang="fa-IR" dirty="0" smtClean="0">
              <a:solidFill>
                <a:srgbClr val="000000"/>
              </a:solidFill>
              <a:latin typeface="IRANSans"/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O</a:t>
            </a:r>
            <a:r>
              <a:rPr lang="en-US" dirty="0" smtClean="0"/>
              <a:t>bjectives</a:t>
            </a:r>
            <a:endParaRPr lang="fa-IR" dirty="0" smtClean="0"/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lternatives</a:t>
            </a:r>
            <a:endParaRPr lang="fa-IR" dirty="0" smtClean="0"/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C</a:t>
            </a:r>
            <a:r>
              <a:rPr lang="en-US" dirty="0" smtClean="0"/>
              <a:t>onsequences</a:t>
            </a:r>
            <a:endParaRPr lang="fa-IR" dirty="0" smtClean="0"/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T</a:t>
            </a:r>
            <a:r>
              <a:rPr lang="en-US" dirty="0" smtClean="0"/>
              <a:t>radeoffs</a:t>
            </a:r>
            <a:endParaRPr lang="fa-IR" dirty="0" smtClean="0"/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Uncertainties</a:t>
            </a:r>
            <a:endParaRPr lang="fa-IR" dirty="0" smtClean="0"/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/>
              <a:t>Risk </a:t>
            </a:r>
            <a:r>
              <a:rPr lang="en-US" dirty="0" smtClean="0"/>
              <a:t>Tolerance</a:t>
            </a:r>
            <a:endParaRPr lang="fa-IR" dirty="0" smtClean="0"/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/>
              <a:t>Linked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8017" y="1260508"/>
            <a:ext cx="216758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مسئله را درست تشخیص بدهیم</a:t>
            </a:r>
            <a:endParaRPr lang="en-US" sz="1600" dirty="0">
              <a:cs typeface="B Nazanin" panose="00000400000000000000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87532" y="1906518"/>
            <a:ext cx="298511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خروجی مورد انتظار ما از این تصمیم چیست؟</a:t>
            </a:r>
            <a:endParaRPr lang="en-US" sz="1600" dirty="0">
              <a:solidFill>
                <a:srgbClr val="000000"/>
              </a:solidFill>
              <a:latin typeface="IRANSans"/>
              <a:cs typeface="B Nazanin" panose="00000400000000000000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41586" y="2595200"/>
            <a:ext cx="272702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چه گزینه‌هایی پیش روی من وجود دارد؟</a:t>
            </a:r>
            <a:endParaRPr lang="en-US" sz="1600" dirty="0">
              <a:solidFill>
                <a:srgbClr val="000000"/>
              </a:solidFill>
              <a:latin typeface="IRANSans"/>
              <a:cs typeface="B Nazanin" panose="00000400000000000000" pitchFamily="2" charset="-78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298997" y="3347577"/>
            <a:ext cx="278313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 هر گزینه به چه نتیجه‌ای منتهی می‌شود؟</a:t>
            </a:r>
            <a:endParaRPr lang="en-US" sz="1600" dirty="0">
              <a:solidFill>
                <a:srgbClr val="000000"/>
              </a:solidFill>
              <a:latin typeface="IRANSans"/>
              <a:cs typeface="B Nazanin" panose="00000400000000000000" pitchFamily="2" charset="-7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64152" y="3937109"/>
            <a:ext cx="43252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برای به دست آوردن هر چیزی، چه چیزهایی را باید از دست بدهم؟</a:t>
            </a:r>
            <a:endParaRPr lang="en-US" sz="1600" dirty="0">
              <a:solidFill>
                <a:srgbClr val="000000"/>
              </a:solidFill>
              <a:latin typeface="IRANSans"/>
              <a:cs typeface="B Nazanin" panose="00000400000000000000" pitchFamily="2" charset="-78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80822" y="4759275"/>
            <a:ext cx="372089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چه چیزهایی را نمی‌دانم؟ چه چیزهایی را نمی‌توانم بدانم؟</a:t>
            </a:r>
            <a:endParaRPr lang="en-US" sz="1600" dirty="0">
              <a:solidFill>
                <a:srgbClr val="000000"/>
              </a:solidFill>
              <a:latin typeface="IRANSans"/>
              <a:cs typeface="B Nazanin" panose="00000400000000000000" pitchFamily="2" charset="-78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37861" y="5425370"/>
            <a:ext cx="20377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تحمل ریسک من چقدر است؟</a:t>
            </a:r>
            <a:endParaRPr lang="en-US" sz="1600" dirty="0">
              <a:solidFill>
                <a:srgbClr val="000000"/>
              </a:solidFill>
              <a:latin typeface="IRANSans"/>
              <a:cs typeface="B Nazanin" panose="00000400000000000000" pitchFamily="2" charset="-78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111791" y="6079274"/>
            <a:ext cx="298992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تصمیم‌های مرتبط با این تصمیم، چه هستند؟</a:t>
            </a:r>
            <a:endParaRPr lang="en-US" sz="1600" dirty="0">
              <a:solidFill>
                <a:srgbClr val="000000"/>
              </a:solidFill>
              <a:latin typeface="IRANSans"/>
              <a:cs typeface="B Nazanin" panose="00000400000000000000" pitchFamily="2" charset="-78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3528" y="2366599"/>
            <a:ext cx="1555750" cy="233854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Rectangle 14"/>
          <p:cNvSpPr/>
          <p:nvPr/>
        </p:nvSpPr>
        <p:spPr>
          <a:xfrm>
            <a:off x="736600" y="1583291"/>
            <a:ext cx="68857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fa-IR" sz="1200" b="1" dirty="0">
                <a:solidFill>
                  <a:srgbClr val="FF0000"/>
                </a:solidFill>
                <a:latin typeface="IRANSans"/>
                <a:cs typeface="B Nazanin" panose="00000400000000000000" pitchFamily="2" charset="-78"/>
              </a:rPr>
              <a:t>آیا واقعاً الان بحث سر این است که باید کنکور پزشکی بدهم یا مهندسی؟ یا ماجرای اصلی این است که اصلاً کنکور بدهم یا نه.</a:t>
            </a:r>
            <a:endParaRPr lang="en-US" sz="1200" b="1" dirty="0">
              <a:solidFill>
                <a:srgbClr val="FF0000"/>
              </a:solidFill>
              <a:cs typeface="B Nazanin" panose="00000400000000000000" pitchFamily="2" charset="-78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30200" y="2256986"/>
            <a:ext cx="72921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fa-IR" sz="1200" b="1" dirty="0">
                <a:solidFill>
                  <a:srgbClr val="FF0000"/>
                </a:solidFill>
                <a:latin typeface="IRANSans"/>
                <a:cs typeface="B Nazanin" panose="00000400000000000000" pitchFamily="2" charset="-78"/>
              </a:rPr>
              <a:t>اگر می‌خواهم در مورد مهاجرت تصمیم بگیرم، هدف نهایی و خروجی مورد انتظارم چیست؟ به دنبال رفاه مادی هستم؟ زندگی در محیطی کم‌تنش‌تر؟ </a:t>
            </a:r>
            <a:endParaRPr lang="en-US" sz="1200" b="1" dirty="0">
              <a:solidFill>
                <a:srgbClr val="FF0000"/>
              </a:solidFill>
              <a:latin typeface="IRANSans"/>
              <a:cs typeface="B Nazanin" panose="00000400000000000000" pitchFamily="2" charset="-78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28600" y="2900745"/>
            <a:ext cx="78469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r" rtl="1">
              <a:buFont typeface="Wingdings" panose="05000000000000000000" pitchFamily="2" charset="2"/>
              <a:buChar char="ü"/>
            </a:pPr>
            <a:r>
              <a:rPr lang="fa-IR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گاهی اوقات، ما تنها یک راه پیش رو داریم. اما متوقف می‌شویم و احساس می‌کنیم که با یک تصمیم </a:t>
            </a:r>
            <a:r>
              <a:rPr lang="fa-IR" sz="1200" b="1" dirty="0" smtClean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مواجهیم</a:t>
            </a:r>
            <a:r>
              <a:rPr lang="fa-IR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fa-IR" sz="1200" b="1" dirty="0" smtClean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و در مقابل </a:t>
            </a:r>
            <a:r>
              <a:rPr lang="en-US" sz="1200" b="1" dirty="0" smtClean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fa-IR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بعضی وقت‌ها، واقعاً گزینه‌های متعددی می‌توانند وجود داشته باشند. اما ذهن ما از دیدن گزینه‌ها یا خلق گزینه‌ها ناتوان است</a:t>
            </a:r>
            <a:endParaRPr lang="en-US" sz="1200" b="1" dirty="0">
              <a:solidFill>
                <a:srgbClr val="4372C2"/>
              </a:solidFill>
              <a:latin typeface="IRANSans"/>
              <a:cs typeface="B Nazanin" panose="00000400000000000000" pitchFamily="2" charset="-78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332822" y="3631903"/>
            <a:ext cx="628954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fa-IR" sz="1200" b="1" dirty="0">
                <a:solidFill>
                  <a:srgbClr val="FF0000"/>
                </a:solidFill>
                <a:latin typeface="IRANSans"/>
                <a:cs typeface="B Nazanin" panose="00000400000000000000" pitchFamily="2" charset="-78"/>
              </a:rPr>
              <a:t>اگر امروز به عنوان اعتراض در جلسه‌ی شرکت حاضر نشوم، فردا چه اتفاقی خواهد افتاد؟</a:t>
            </a:r>
            <a:endParaRPr lang="en-US" sz="1200" b="1" dirty="0">
              <a:solidFill>
                <a:srgbClr val="FF0000"/>
              </a:solidFill>
              <a:latin typeface="IRANSans"/>
              <a:cs typeface="B Nazanin" panose="00000400000000000000" pitchFamily="2" charset="-78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28601" y="4265751"/>
            <a:ext cx="78400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r" rtl="1">
              <a:buFont typeface="Wingdings" panose="05000000000000000000" pitchFamily="2" charset="2"/>
              <a:buChar char="ü"/>
            </a:pPr>
            <a:r>
              <a:rPr lang="fa-IR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هر به دست آوردنی، با از دست دادنی همراه است و مهم است که من، به همان اندازه که به دستاوردهای هر انتخاب فکر می‌کنم، با خودم بیندیشم که هر انتخاب، من را از چه فرصت‌ها و هدف‌هایی دور می‌کند و کدامیک از داشته‌هایم را از من می‌گیرد.</a:t>
            </a:r>
            <a:endParaRPr lang="en-US" sz="1200" b="1" dirty="0">
              <a:solidFill>
                <a:srgbClr val="4372C2"/>
              </a:solidFill>
              <a:latin typeface="IRANSans"/>
              <a:cs typeface="B Nazanin" panose="00000400000000000000" pitchFamily="2" charset="-78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27000" y="5027295"/>
            <a:ext cx="79416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r" rtl="1">
              <a:buFont typeface="Wingdings" panose="05000000000000000000" pitchFamily="2" charset="2"/>
              <a:buChar char="ü"/>
            </a:pP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بعضی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چیزها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را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 smtClean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نمی</a:t>
            </a:r>
            <a:r>
              <a:rPr lang="fa-IR" sz="1200" b="1" dirty="0" smtClean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 smtClean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دانیم</a:t>
            </a:r>
            <a:r>
              <a:rPr lang="en-US" sz="1200" b="1" dirty="0" smtClean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و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بعضی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چیزها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را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 smtClean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نمی</a:t>
            </a:r>
            <a:r>
              <a:rPr lang="fa-IR" sz="1200" b="1" dirty="0" smtClean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 smtClean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توانیم</a:t>
            </a:r>
            <a:r>
              <a:rPr lang="en-US" sz="1200" b="1" dirty="0" smtClean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بدانیم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. </a:t>
            </a:r>
            <a:r>
              <a:rPr lang="fa-IR" sz="1200" b="1" dirty="0" smtClean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 smtClean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این</a:t>
            </a:r>
            <a:r>
              <a:rPr lang="en-US" sz="1200" b="1" dirty="0" smtClean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دو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را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نباید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با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هم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اشتباه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گرفت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. </a:t>
            </a:r>
            <a:r>
              <a:rPr lang="fa-IR" sz="1200" b="1" dirty="0" smtClean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 smtClean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آنچه</a:t>
            </a:r>
            <a:r>
              <a:rPr lang="en-US" sz="1200" b="1" dirty="0" smtClean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 smtClean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نمی</a:t>
            </a:r>
            <a:r>
              <a:rPr lang="fa-IR" sz="1200" b="1" dirty="0" smtClean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 smtClean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دانیم</a:t>
            </a:r>
            <a:r>
              <a:rPr lang="en-US" sz="1200" b="1" dirty="0" smtClean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در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اثر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بررسی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مشخص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میشود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و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انچه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 smtClean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نمی</a:t>
            </a:r>
            <a:r>
              <a:rPr lang="fa-IR" sz="1200" b="1" dirty="0" smtClean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 smtClean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توانیم</a:t>
            </a:r>
            <a:r>
              <a:rPr lang="en-US" sz="1200" b="1" dirty="0" smtClean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بدانیم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ابهام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اجتناب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ناپذیر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است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. </a:t>
            </a:r>
            <a:r>
              <a:rPr lang="fa-IR" sz="1200" b="1" dirty="0" smtClean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 smtClean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ابهامی</a:t>
            </a:r>
            <a:r>
              <a:rPr lang="en-US" sz="1200" b="1" dirty="0" smtClean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که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فقط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پس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از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انتخاب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رفع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می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شود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5681557"/>
            <a:ext cx="78400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r" rtl="1">
              <a:buFont typeface="Wingdings" panose="05000000000000000000" pitchFamily="2" charset="2"/>
              <a:buChar char="ü"/>
            </a:pP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ما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انسان‌ها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از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نظر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میزان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تحمل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ریسک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با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یکدیگر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تفاوت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داریم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.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گاهی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اوقات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دو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فرد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متفاوت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در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شرایط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کاملا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یکسان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باید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گزینه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های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متفاوتی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را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انتخاب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کنند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.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گون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سطح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ریسک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پذیری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آنها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متفاوت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en-US" sz="1200" b="1" dirty="0" err="1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است</a:t>
            </a:r>
            <a:r>
              <a:rPr lang="en-US" sz="12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 .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26366" y="6331906"/>
            <a:ext cx="6096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fa-IR" sz="1200" b="1" dirty="0" smtClean="0">
                <a:solidFill>
                  <a:srgbClr val="FF0000"/>
                </a:solidFill>
                <a:latin typeface="IRANSans"/>
                <a:cs typeface="B Nazanin" panose="00000400000000000000" pitchFamily="2" charset="-78"/>
              </a:rPr>
              <a:t>اگر تصمیم بگیرم که به دانشگاه برم ، چه تصمیمات دیگری را باید بگیرم ؟ چه تصمیماتی حذف می شود ؟ </a:t>
            </a:r>
            <a:endParaRPr lang="en-US" sz="1200" b="1" dirty="0">
              <a:solidFill>
                <a:srgbClr val="FF0000"/>
              </a:solidFill>
              <a:latin typeface="IRANSans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1538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B6193-F9F1-4C54-838F-77350B9FC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125" y="425299"/>
            <a:ext cx="9875520" cy="709749"/>
          </a:xfrm>
        </p:spPr>
        <p:txBody>
          <a:bodyPr>
            <a:normAutofit fontScale="90000"/>
          </a:bodyPr>
          <a:lstStyle/>
          <a:p>
            <a:pPr algn="r"/>
            <a:r>
              <a:rPr lang="fa-IR" sz="4800" dirty="0" smtClean="0">
                <a:cs typeface="B Nazanin" panose="00000400000000000000" pitchFamily="2" charset="-78"/>
              </a:rPr>
              <a:t>فوبیای تصمیم گیری </a:t>
            </a:r>
            <a:endParaRPr lang="en-US" sz="4800" dirty="0">
              <a:cs typeface="B Nazanin" panose="00000400000000000000" pitchFamily="2" charset="-78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888274" y="1240973"/>
            <a:ext cx="10437223" cy="1306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16781"/>
          <a:stretch/>
        </p:blipFill>
        <p:spPr>
          <a:xfrm>
            <a:off x="478563" y="1307709"/>
            <a:ext cx="2143125" cy="178348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621688" y="1685536"/>
            <a:ext cx="906562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rtl="1">
              <a:buFont typeface="Wingdings" panose="05000000000000000000" pitchFamily="2" charset="2"/>
              <a:buChar char="ü"/>
            </a:pPr>
            <a:r>
              <a:rPr lang="fa-IR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همه‌ی مشکلات ما در تصمیم گیری،‌ الزاماً به علت ضعف در مهارت تصمیم گیری </a:t>
            </a:r>
            <a:r>
              <a:rPr lang="fa-IR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نیستند. گاهی</a:t>
            </a:r>
            <a:r>
              <a:rPr lang="fa-IR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 </a:t>
            </a:r>
            <a:r>
              <a:rPr lang="fa-IR" b="1" dirty="0">
                <a:solidFill>
                  <a:srgbClr val="FF0000"/>
                </a:solidFill>
                <a:latin typeface="IRANSans"/>
                <a:cs typeface="B Nazanin" panose="00000400000000000000" pitchFamily="2" charset="-78"/>
              </a:rPr>
              <a:t>ترس از تصمیم گیری</a:t>
            </a:r>
            <a:r>
              <a:rPr lang="fa-IR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 است که ما را به سوی انتخاب‌های اشتباه سوق </a:t>
            </a:r>
            <a:r>
              <a:rPr lang="fa-IR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می‌دهد </a:t>
            </a:r>
            <a:r>
              <a:rPr lang="fa-IR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. </a:t>
            </a:r>
            <a:r>
              <a:rPr lang="fa-IR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این ترس </a:t>
            </a:r>
            <a:r>
              <a:rPr lang="fa-IR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از تصمیم گیری به حدی جدی است که برای آن یک نام اختصاصی هم در نظر گرفته شده است: </a:t>
            </a:r>
            <a:r>
              <a:rPr lang="fa-IR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  </a:t>
            </a:r>
            <a:r>
              <a:rPr lang="en-US" b="1" dirty="0" err="1" smtClean="0">
                <a:solidFill>
                  <a:srgbClr val="FF0000"/>
                </a:solidFill>
                <a:latin typeface="IRANSans"/>
                <a:cs typeface="B Nazanin" panose="00000400000000000000" pitchFamily="2" charset="-78"/>
              </a:rPr>
              <a:t>Decidophobia</a:t>
            </a:r>
            <a:r>
              <a:rPr lang="fa-IR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 </a:t>
            </a:r>
            <a:endParaRPr lang="fa-IR" dirty="0">
              <a:solidFill>
                <a:srgbClr val="000000"/>
              </a:solidFill>
              <a:latin typeface="IRANSans"/>
              <a:cs typeface="B Nazanin" panose="00000400000000000000" pitchFamily="2" charset="-7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78563" y="3330162"/>
            <a:ext cx="111695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rtl="1">
              <a:buFont typeface="Wingdings" panose="05000000000000000000" pitchFamily="2" charset="2"/>
              <a:buChar char="ü"/>
            </a:pPr>
            <a:r>
              <a:rPr lang="fa-IR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به </a:t>
            </a:r>
            <a:r>
              <a:rPr lang="fa-IR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دلیل</a:t>
            </a:r>
            <a:r>
              <a:rPr lang="en-US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fa-IR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همین ترس از تصمیم گیری </a:t>
            </a:r>
            <a:r>
              <a:rPr lang="fa-IR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است که ما گاهی از تصمیم های </a:t>
            </a:r>
            <a:r>
              <a:rPr lang="fa-IR" b="1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ماکروسکوپیک</a:t>
            </a:r>
            <a:r>
              <a:rPr lang="fa-IR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 (</a:t>
            </a:r>
            <a:r>
              <a:rPr lang="fa-IR" dirty="0">
                <a:solidFill>
                  <a:srgbClr val="0070C0"/>
                </a:solidFill>
                <a:latin typeface="IRANSans"/>
                <a:cs typeface="B Nazanin" panose="00000400000000000000" pitchFamily="2" charset="-78"/>
              </a:rPr>
              <a:t>این رابطه را قطع کنم یا ادامه بدهم؟</a:t>
            </a:r>
            <a:r>
              <a:rPr lang="fa-IR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) به تصمیم های </a:t>
            </a:r>
            <a:r>
              <a:rPr lang="fa-IR" b="1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میکروسکوپیک</a:t>
            </a:r>
            <a:r>
              <a:rPr lang="fa-IR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 (</a:t>
            </a:r>
            <a:r>
              <a:rPr lang="fa-IR" dirty="0">
                <a:solidFill>
                  <a:srgbClr val="0070C0"/>
                </a:solidFill>
                <a:latin typeface="IRANSans"/>
                <a:cs typeface="B Nazanin" panose="00000400000000000000" pitchFamily="2" charset="-78"/>
              </a:rPr>
              <a:t>آیا این رابطه را می‌شود فعلاً برای چند ماه ادامه داد؟)</a:t>
            </a:r>
            <a:r>
              <a:rPr lang="fa-IR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 فرار می‌کنیم</a:t>
            </a:r>
            <a:r>
              <a:rPr lang="fa-IR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.</a:t>
            </a:r>
            <a:endParaRPr lang="en-US" dirty="0">
              <a:solidFill>
                <a:srgbClr val="000000"/>
              </a:solidFill>
              <a:latin typeface="IRANSans"/>
              <a:cs typeface="B Nazanin" panose="00000400000000000000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72937" y="4053143"/>
            <a:ext cx="8089856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a-IR" b="1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با تقسیم یک گاو به دو قسمت، دو گوساله نخواهیم داشت. بلکه یک گاو مرده خواهیم داشت</a:t>
            </a:r>
            <a:r>
              <a:rPr lang="fa-IR" b="1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.</a:t>
            </a:r>
            <a:endParaRPr lang="fa-IR" dirty="0">
              <a:solidFill>
                <a:srgbClr val="000000"/>
              </a:solidFill>
              <a:latin typeface="IRANSans"/>
              <a:cs typeface="B Nazanin" panose="00000400000000000000" pitchFamily="2" charset="-7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272937" y="4605747"/>
            <a:ext cx="8771708" cy="33855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a-IR" sz="1600" b="1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ما با خرد کردن یک تصمیم به تصمیمهای کوچک‌تر، عملاً اصل آن تصمیم را کنار گذاشته و سرگرم انتخابهای دیگری شده ایم.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00613" y="3779538"/>
            <a:ext cx="86594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sz="1400" b="1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 </a:t>
            </a:r>
            <a:r>
              <a:rPr lang="fa-IR" sz="1400" b="1" dirty="0">
                <a:solidFill>
                  <a:srgbClr val="C4161C"/>
                </a:solidFill>
                <a:latin typeface="IRANSans"/>
                <a:cs typeface="B Nazanin" panose="00000400000000000000" pitchFamily="2" charset="-78"/>
              </a:rPr>
              <a:t>پیتر سنگه</a:t>
            </a:r>
            <a:endParaRPr lang="en-US" sz="1400" b="1" dirty="0">
              <a:cs typeface="B Nazanin" panose="00000400000000000000" pitchFamily="2" charset="-78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1335" y="4067698"/>
            <a:ext cx="167866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en-US" sz="1400" b="1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#</a:t>
            </a:r>
            <a:r>
              <a:rPr lang="fa-IR" sz="1400" b="1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کتاب</a:t>
            </a:r>
            <a:r>
              <a:rPr lang="en-US" sz="1400" b="1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_</a:t>
            </a:r>
            <a:r>
              <a:rPr lang="fa-IR" sz="1400" b="1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پنجمین</a:t>
            </a:r>
            <a:r>
              <a:rPr lang="en-US" sz="1400" b="1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_</a:t>
            </a:r>
            <a:r>
              <a:rPr lang="fa-IR" sz="1400" b="1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فرمان </a:t>
            </a:r>
            <a:endParaRPr lang="en-US" sz="1400" b="1" dirty="0">
              <a:cs typeface="B Nazanin" panose="00000400000000000000" pitchFamily="2" charset="-78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8297" y="4379792"/>
            <a:ext cx="12202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sz="1400" b="1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#تفکر_سیستمی</a:t>
            </a:r>
            <a:endParaRPr lang="en-US" sz="1400" b="1" dirty="0">
              <a:cs typeface="B Nazanin" panose="00000400000000000000" pitchFamily="2" charset="-78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22069" y="4810695"/>
            <a:ext cx="1158280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fa-IR" b="1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فعلاً اولویت من نیست</a:t>
            </a:r>
          </a:p>
          <a:p>
            <a:pPr marL="285750" indent="-285750" algn="r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fa-IR" b="1" dirty="0">
                <a:cs typeface="B Nazanin" panose="00000400000000000000" pitchFamily="2" charset="-78"/>
              </a:rPr>
              <a:t>باید از یک مشاور کمک </a:t>
            </a:r>
            <a:r>
              <a:rPr lang="fa-IR" b="1" dirty="0" smtClean="0">
                <a:cs typeface="B Nazanin" panose="00000400000000000000" pitchFamily="2" charset="-78"/>
              </a:rPr>
              <a:t>بگیرم</a:t>
            </a:r>
            <a:endParaRPr lang="en-US" b="1" dirty="0" smtClean="0">
              <a:cs typeface="B Nazanin" panose="00000400000000000000" pitchFamily="2" charset="-78"/>
            </a:endParaRPr>
          </a:p>
          <a:p>
            <a:pPr marL="285750" indent="-285750" algn="r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fa-IR" b="1" dirty="0" smtClean="0">
                <a:cs typeface="B Nazanin" panose="00000400000000000000" pitchFamily="2" charset="-78"/>
              </a:rPr>
              <a:t>به </a:t>
            </a:r>
            <a:r>
              <a:rPr lang="fa-IR" b="1" dirty="0">
                <a:cs typeface="B Nazanin" panose="00000400000000000000" pitchFamily="2" charset="-78"/>
              </a:rPr>
              <a:t>اطلاعات بیشتری نیاز </a:t>
            </a:r>
            <a:r>
              <a:rPr lang="fa-IR" b="1" dirty="0" smtClean="0">
                <a:cs typeface="B Nazanin" panose="00000400000000000000" pitchFamily="2" charset="-78"/>
              </a:rPr>
              <a:t>دارم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708546"/>
            <a:ext cx="3575276" cy="473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a-IR" b="1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قانع شدن به یک تغییر </a:t>
            </a:r>
            <a:r>
              <a:rPr lang="fa-IR" b="1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کوچک</a:t>
            </a:r>
            <a:r>
              <a:rPr lang="en-US" b="1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fa-IR" b="1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تر</a:t>
            </a:r>
            <a:endParaRPr lang="fa-IR" b="1" dirty="0">
              <a:solidFill>
                <a:srgbClr val="000000"/>
              </a:solidFill>
              <a:latin typeface="IRANSans"/>
              <a:cs typeface="B Nazanin" panose="00000400000000000000" pitchFamily="2" charset="-78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00185" y="5094068"/>
            <a:ext cx="9190685" cy="33855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a-IR" sz="1600" b="1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تصمیم نگرفتن خود یک تصمیم است . اگر تصمیم گرفته ام فردا به استعفا فکر کنم در واقع تصمیم گرفته ام که امروز استعفا ندهم . </a:t>
            </a:r>
            <a:endParaRPr lang="fa-IR" sz="1600" dirty="0">
              <a:solidFill>
                <a:srgbClr val="000000"/>
              </a:solidFill>
              <a:latin typeface="IRANSans"/>
              <a:cs typeface="B Nazanin" panose="00000400000000000000" pitchFamily="2" charset="-78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00185" y="5590604"/>
            <a:ext cx="8639311" cy="33855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a-IR" sz="1600" b="1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fa-IR" sz="1600" b="1" dirty="0">
                <a:solidFill>
                  <a:srgbClr val="FF0000"/>
                </a:solidFill>
                <a:latin typeface="IRANSans"/>
                <a:cs typeface="B Nazanin" panose="00000400000000000000" pitchFamily="2" charset="-78"/>
              </a:rPr>
              <a:t>اگر</a:t>
            </a:r>
            <a:r>
              <a:rPr lang="fa-IR" sz="1600" b="1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fa-IR" sz="1600" b="1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ما پاسخ </a:t>
            </a:r>
            <a:r>
              <a:rPr lang="fa-IR" sz="1600" b="1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را – تقریباً با قطعیت – می‌دانیم، </a:t>
            </a:r>
            <a:r>
              <a:rPr lang="fa-IR" sz="1600" b="1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احتمالا، </a:t>
            </a:r>
            <a:r>
              <a:rPr lang="fa-IR" sz="1600" b="1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مشورت گرفتن یکی از مکانیزمهای ما برای فرار از تصمیم گیری است.</a:t>
            </a:r>
            <a:endParaRPr lang="en-US" sz="1600" b="1" dirty="0">
              <a:solidFill>
                <a:srgbClr val="000000"/>
              </a:solidFill>
              <a:latin typeface="IRANSans"/>
              <a:cs typeface="B Nazanin" panose="00000400000000000000" pitchFamily="2" charset="-78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00185" y="6111126"/>
            <a:ext cx="8012295" cy="33855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/>
            <a:r>
              <a:rPr lang="fa-IR" sz="1600" b="1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  بخاطر داشته باشیم </a:t>
            </a:r>
            <a:r>
              <a:rPr lang="fa-IR" sz="1600" b="1" dirty="0" smtClean="0">
                <a:solidFill>
                  <a:srgbClr val="FF0000"/>
                </a:solidFill>
                <a:latin typeface="IRANSans"/>
                <a:cs typeface="B Nazanin" panose="00000400000000000000" pitchFamily="2" charset="-78"/>
              </a:rPr>
              <a:t>گاهی</a:t>
            </a:r>
            <a:r>
              <a:rPr lang="fa-IR" sz="1600" b="1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 !!!  هزینه های تصمیم نگرفتن بیشتر از هزینه های یک تصمیم  غلط می باشد . </a:t>
            </a:r>
            <a:endParaRPr lang="en-US" sz="1600" b="1" dirty="0">
              <a:solidFill>
                <a:srgbClr val="000000"/>
              </a:solidFill>
              <a:latin typeface="IRANSans"/>
              <a:cs typeface="B Nazanin" panose="00000400000000000000" pitchFamily="2" charset="-78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75306" y="657874"/>
            <a:ext cx="37689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fa-IR" b="1" dirty="0">
                <a:solidFill>
                  <a:srgbClr val="A6B727"/>
                </a:solidFill>
                <a:cs typeface="B Nazanin" panose="00000400000000000000" pitchFamily="2" charset="-78"/>
              </a:rPr>
              <a:t>برای فرار از تصمیم گیری معمولا چه میکنیم ؟ </a:t>
            </a:r>
            <a:endParaRPr lang="en-US" b="1" dirty="0">
              <a:solidFill>
                <a:srgbClr val="A6B727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25049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B6193-F9F1-4C54-838F-77350B9FC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125" y="425299"/>
            <a:ext cx="9875520" cy="709749"/>
          </a:xfrm>
        </p:spPr>
        <p:txBody>
          <a:bodyPr>
            <a:normAutofit fontScale="90000"/>
          </a:bodyPr>
          <a:lstStyle/>
          <a:p>
            <a:pPr algn="r"/>
            <a:r>
              <a:rPr lang="fa-IR" sz="4800" dirty="0" smtClean="0">
                <a:cs typeface="B Nazanin" panose="00000400000000000000" pitchFamily="2" charset="-78"/>
              </a:rPr>
              <a:t>اولویت بندی ارزشها در تصمیم گیری </a:t>
            </a:r>
            <a:endParaRPr lang="en-US" sz="4800" dirty="0">
              <a:cs typeface="B Nazanin" panose="00000400000000000000" pitchFamily="2" charset="-78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888274" y="1240973"/>
            <a:ext cx="10437223" cy="1306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6" name="Group 5"/>
          <p:cNvGrpSpPr/>
          <p:nvPr/>
        </p:nvGrpSpPr>
        <p:grpSpPr>
          <a:xfrm>
            <a:off x="3873137" y="1359961"/>
            <a:ext cx="3977641" cy="2643081"/>
            <a:chOff x="659674" y="1359961"/>
            <a:chExt cx="3977641" cy="2643081"/>
          </a:xfrm>
        </p:grpSpPr>
        <p:pic>
          <p:nvPicPr>
            <p:cNvPr id="1026" name="Picture 2" descr="https://motamem.org/wp-content/uploads/2015/09/value-vs-criteria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674" y="1359961"/>
              <a:ext cx="3977641" cy="26430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Oval 4"/>
            <p:cNvSpPr/>
            <p:nvPr/>
          </p:nvSpPr>
          <p:spPr>
            <a:xfrm>
              <a:off x="1903911" y="3663408"/>
              <a:ext cx="757646" cy="339634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" name="Straight Arrow Connector 8"/>
          <p:cNvCxnSpPr/>
          <p:nvPr/>
        </p:nvCxnSpPr>
        <p:spPr>
          <a:xfrm>
            <a:off x="7811589" y="2521133"/>
            <a:ext cx="548640" cy="0"/>
          </a:xfrm>
          <a:prstGeom prst="straightConnector1">
            <a:avLst/>
          </a:prstGeom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3363686" y="2547259"/>
            <a:ext cx="568235" cy="0"/>
          </a:xfrm>
          <a:prstGeom prst="straightConnector1">
            <a:avLst/>
          </a:prstGeom>
          <a:ln w="57150" cap="flat" cmpd="sng" algn="ctr">
            <a:solidFill>
              <a:srgbClr val="4372C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00650" y="1392755"/>
            <a:ext cx="10679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 b="1">
                <a:cs typeface="B Nazanin" panose="00000400000000000000" pitchFamily="2" charset="-78"/>
              </a:defRPr>
            </a:lvl1pPr>
          </a:lstStyle>
          <a:p>
            <a:r>
              <a:rPr lang="fa-IR" sz="2400" dirty="0">
                <a:solidFill>
                  <a:srgbClr val="4372C2"/>
                </a:solidFill>
              </a:rPr>
              <a:t>معیار ها </a:t>
            </a:r>
            <a:endParaRPr lang="en-US" sz="2400" dirty="0">
              <a:solidFill>
                <a:srgbClr val="4372C2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204662" y="1387998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2400" b="1" dirty="0" smtClean="0">
                <a:solidFill>
                  <a:srgbClr val="C00000"/>
                </a:solidFill>
                <a:cs typeface="B Nazanin" panose="00000400000000000000" pitchFamily="2" charset="-78"/>
              </a:rPr>
              <a:t>ارزش ها </a:t>
            </a:r>
            <a:endParaRPr lang="en-US" sz="2400" b="1" dirty="0">
              <a:solidFill>
                <a:srgbClr val="C00000"/>
              </a:solidFill>
              <a:cs typeface="B Nazanin" panose="00000400000000000000" pitchFamily="2" charset="-78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1058092" y="1860387"/>
            <a:ext cx="180267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9017454" y="1886513"/>
            <a:ext cx="180267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10461" y="1975111"/>
            <a:ext cx="361695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l" rtl="1">
              <a:buFont typeface="Wingdings" panose="05000000000000000000" pitchFamily="2" charset="2"/>
              <a:buChar char="ü"/>
            </a:pPr>
            <a:r>
              <a:rPr lang="fa-IR" sz="1200" b="1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ما معمولاً در تعیین و بررسی معیارها، مشکل چندانی نداریم.</a:t>
            </a:r>
            <a:endParaRPr lang="en-US" sz="1200" dirty="0">
              <a:cs typeface="B Nazanin" panose="00000400000000000000" pitchFamily="2" charset="-78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438608" y="1975616"/>
            <a:ext cx="308283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r" rtl="1">
              <a:buFont typeface="Wingdings" panose="05000000000000000000" pitchFamily="2" charset="2"/>
              <a:buChar char="ü"/>
            </a:pPr>
            <a:r>
              <a:rPr lang="fa-IR" sz="1200" b="1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تعیین ارزشها کار چندان دشواری نیست </a:t>
            </a:r>
            <a:endParaRPr lang="en-US" sz="1200" dirty="0">
              <a:cs typeface="B Nazanin" panose="00000400000000000000" pitchFamily="2" charset="-78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334104" y="2471503"/>
            <a:ext cx="31873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r" rtl="1">
              <a:buFont typeface="Wingdings" panose="05000000000000000000" pitchFamily="2" charset="2"/>
              <a:buChar char="ü"/>
            </a:pPr>
            <a:r>
              <a:rPr lang="fa-IR" sz="1200" b="1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اولویت بندی ارزشها میتواند یک چالش مهم تاثیر گذار در تصمیم گیری باشد . </a:t>
            </a:r>
            <a:endParaRPr lang="en-US" sz="1200" dirty="0">
              <a:cs typeface="B Nazanin" panose="00000400000000000000" pitchFamily="2" charset="-78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81070" y="2824477"/>
            <a:ext cx="34373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r" rtl="1">
              <a:buFont typeface="Wingdings" panose="05000000000000000000" pitchFamily="2" charset="2"/>
              <a:buChar char="ü"/>
            </a:pPr>
            <a:r>
              <a:rPr lang="fa-IR" sz="1200" b="1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در تعریفی بسیار ساده، هر پارامتری که وجود یا عدم وجود آن در گزینه‌ی نهایی شما حائز اهمیت است، یک معیار محسوب می‌شود.</a:t>
            </a:r>
            <a:endParaRPr lang="en-US" sz="1200" b="1" dirty="0">
              <a:solidFill>
                <a:srgbClr val="000000"/>
              </a:solidFill>
              <a:latin typeface="IRANSans"/>
              <a:cs typeface="B Nazanin" panose="00000400000000000000" pitchFamily="2" charset="-78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325122" y="3067158"/>
            <a:ext cx="31873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r" rtl="1">
              <a:buFont typeface="Wingdings" panose="05000000000000000000" pitchFamily="2" charset="2"/>
              <a:buChar char="ü"/>
            </a:pPr>
            <a:r>
              <a:rPr lang="fa-IR" sz="1200" b="1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اولویت بندی ارزشها، در اولویت بندی معیار ها نیز موثر است که مبنای تصمیم گیری و انتخاب می باشد . </a:t>
            </a:r>
            <a:endParaRPr lang="en-US" sz="1200" dirty="0">
              <a:cs typeface="B Nazanin" panose="00000400000000000000" pitchFamily="2" charset="-78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41316" y="4189961"/>
            <a:ext cx="10731137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r" rtl="1"/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هر زمان که در مقایسه‌ی دو </a:t>
            </a:r>
            <a:r>
              <a:rPr lang="fa-IR" sz="1600" b="1" dirty="0">
                <a:solidFill>
                  <a:srgbClr val="C00000"/>
                </a:solidFill>
                <a:latin typeface="IRANSans"/>
                <a:cs typeface="B Nazanin" panose="00000400000000000000" pitchFamily="2" charset="-78"/>
              </a:rPr>
              <a:t>ارزش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 یا دو </a:t>
            </a:r>
            <a:r>
              <a:rPr lang="fa-IR" sz="1600" b="1" dirty="0">
                <a:solidFill>
                  <a:srgbClr val="4372C2"/>
                </a:solidFill>
                <a:latin typeface="IRANSans"/>
                <a:cs typeface="B Nazanin" panose="00000400000000000000" pitchFamily="2" charset="-78"/>
              </a:rPr>
              <a:t>معیار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 مختلف </a:t>
            </a:r>
            <a:r>
              <a:rPr lang="en-US" sz="1600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 X 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و </a:t>
            </a:r>
            <a:r>
              <a:rPr lang="en-US" sz="1600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 Y 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دچار تردید شدید، می‌توانید دو سناریوی ذهنی طراحی کنید که در یکی از آنها </a:t>
            </a:r>
            <a:r>
              <a:rPr lang="en-US" sz="1600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  X </a:t>
            </a:r>
            <a:r>
              <a:rPr lang="fa-IR" sz="1600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به 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صورت کامل تامین شده و </a:t>
            </a:r>
            <a:r>
              <a:rPr lang="en-US" sz="1600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 Y  </a:t>
            </a:r>
            <a:r>
              <a:rPr lang="fa-IR" sz="1600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به 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هیچ وجه تامین نشده است. در سناریوی دوم، </a:t>
            </a:r>
            <a:r>
              <a:rPr lang="en-US" sz="1600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 Y </a:t>
            </a:r>
            <a:r>
              <a:rPr lang="fa-IR" sz="1600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به 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صورت کامل تامین شده و </a:t>
            </a:r>
            <a:r>
              <a:rPr lang="en-US" sz="1600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 X </a:t>
            </a:r>
            <a:r>
              <a:rPr lang="fa-IR" sz="16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تامین نشده است. در این حالت، احتمالاً‌ انتخاب شما راحت‌تر خواهد بود.</a:t>
            </a:r>
            <a:endParaRPr lang="en-US" sz="1600" dirty="0">
              <a:cs typeface="B Nazanin" panose="00000400000000000000" pitchFamily="2" charset="-78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58092" y="5081757"/>
            <a:ext cx="10128068" cy="138499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 rtl="1"/>
            <a:r>
              <a:rPr lang="fa-IR" sz="14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فرض کنیم در حال انتخاب یک همکار برای شرکت هستیم.</a:t>
            </a:r>
          </a:p>
          <a:p>
            <a:pPr algn="just" rtl="1"/>
            <a:r>
              <a:rPr lang="fa-IR" sz="14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قاعدتاً ارزش‌های سازمانی در نهایت به چند معیار منتهی شده‌اند که </a:t>
            </a:r>
            <a:r>
              <a:rPr lang="fa-IR" sz="1400" b="1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صداقت</a:t>
            </a:r>
            <a:r>
              <a:rPr lang="fa-IR" sz="14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 و </a:t>
            </a:r>
            <a:r>
              <a:rPr lang="fa-IR" sz="1400" b="1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هوش</a:t>
            </a:r>
            <a:r>
              <a:rPr lang="fa-IR" sz="14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، دو مورد از آنهاست.</a:t>
            </a:r>
          </a:p>
          <a:p>
            <a:pPr algn="just" rtl="1"/>
            <a:r>
              <a:rPr lang="fa-IR" sz="14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اما نمی‌دانیم کدامیک مهم‌تر است (هر چه فکر می‌کنیم به جمع‌بندی نهایی نمی‌رسیم).</a:t>
            </a:r>
          </a:p>
          <a:p>
            <a:pPr algn="just" rtl="1"/>
            <a:r>
              <a:rPr lang="fa-IR" sz="14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برای مقایسه صداقت و هوش در انتخاب یک همکار جدید (یا حتی شریک عاطفی)، یک </a:t>
            </a:r>
            <a:r>
              <a:rPr lang="fa-IR" sz="1400" b="1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فرد تیزهوش</a:t>
            </a:r>
            <a:r>
              <a:rPr lang="fa-IR" sz="14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 را در نظر بگیرید که حتی یک جمله‌ی راست هم از دهانش در نمی‌آید.</a:t>
            </a:r>
          </a:p>
          <a:p>
            <a:pPr algn="just" rtl="1"/>
            <a:r>
              <a:rPr lang="fa-IR" sz="14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حالا او را با یک </a:t>
            </a:r>
            <a:r>
              <a:rPr lang="fa-IR" sz="1400" b="1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فرد بسیار کم استعداد و با درک ضعیف</a:t>
            </a:r>
            <a:r>
              <a:rPr lang="fa-IR" sz="14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 مقایسه کنید که یک حرف دروغ هم از دهانش در نمی‌آید.</a:t>
            </a:r>
          </a:p>
          <a:p>
            <a:pPr algn="just" rtl="1"/>
            <a:r>
              <a:rPr lang="fa-IR" sz="1400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حالا تصمیم بگیرید که در صورت اجبار به انتخاب بین این دو، کدام را به عنوان یک همکار (یا شریک عاطفی) ترجیح می‌دهید.</a:t>
            </a:r>
          </a:p>
        </p:txBody>
      </p:sp>
    </p:spTree>
    <p:extLst>
      <p:ext uri="{BB962C8B-B14F-4D97-AF65-F5344CB8AC3E}">
        <p14:creationId xmlns:p14="http://schemas.microsoft.com/office/powerpoint/2010/main" val="2259022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B6193-F9F1-4C54-838F-77350B9FC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397568"/>
            <a:ext cx="9875520" cy="709749"/>
          </a:xfrm>
        </p:spPr>
        <p:txBody>
          <a:bodyPr>
            <a:normAutofit/>
          </a:bodyPr>
          <a:lstStyle/>
          <a:p>
            <a:pPr algn="r"/>
            <a:r>
              <a:rPr lang="fa-IR" sz="4000" dirty="0" smtClean="0">
                <a:cs typeface="B Nazanin" panose="00000400000000000000" pitchFamily="2" charset="-78"/>
              </a:rPr>
              <a:t>چالش اخلاق و فرهنگ در تصمیم گیری </a:t>
            </a:r>
            <a:endParaRPr lang="en-US" sz="4000" dirty="0">
              <a:cs typeface="B Nazanin" panose="00000400000000000000" pitchFamily="2" charset="-78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888274" y="1175658"/>
            <a:ext cx="10437223" cy="1306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ÙØ³Ø¦ÙÙ ØªØ±Ø§ÙÙØ§ - ÙÙÙÙÙâØ§Û Ø§Ø² Ø§Ø®ÙØ§Ù ÙÙØ´ ÙØµÙÙØ¹Û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277" y="1396620"/>
            <a:ext cx="3772523" cy="1287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948197" y="2094071"/>
            <a:ext cx="1148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cs typeface="B Nazanin" panose="00000400000000000000" pitchFamily="2" charset="-78"/>
              </a:defRPr>
            </a:lvl1pPr>
          </a:lstStyle>
          <a:p>
            <a:r>
              <a:rPr lang="fa-IR" sz="1400" dirty="0">
                <a:solidFill>
                  <a:srgbClr val="FF0000"/>
                </a:solidFill>
              </a:rPr>
              <a:t>فرد قانون مدار  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48197" y="1547027"/>
            <a:ext cx="14526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1400" b="1" dirty="0" smtClean="0">
                <a:solidFill>
                  <a:srgbClr val="4372C2"/>
                </a:solidFill>
                <a:cs typeface="B Nazanin" panose="00000400000000000000" pitchFamily="2" charset="-78"/>
              </a:rPr>
              <a:t>افراد متخلف از قانون</a:t>
            </a:r>
            <a:endParaRPr lang="en-US" sz="1400" b="1" dirty="0">
              <a:solidFill>
                <a:srgbClr val="4372C2"/>
              </a:solidFill>
              <a:cs typeface="B Nazanin" panose="00000400000000000000" pitchFamily="2" charset="-78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13869" y="1201784"/>
            <a:ext cx="1342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cs typeface="B Nazanin" panose="00000400000000000000" pitchFamily="2" charset="-78"/>
              </a:defRPr>
            </a:lvl1pPr>
          </a:lstStyle>
          <a:p>
            <a:r>
              <a:rPr lang="fa-IR" dirty="0" smtClean="0">
                <a:solidFill>
                  <a:srgbClr val="00B050"/>
                </a:solidFill>
              </a:rPr>
              <a:t>تصمیم گیرنده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00198" y="1625018"/>
            <a:ext cx="3972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cs typeface="B Nazanin" panose="00000400000000000000" pitchFamily="2" charset="-78"/>
              </a:defRPr>
            </a:lvl1pPr>
          </a:lstStyle>
          <a:p>
            <a:r>
              <a:rPr lang="fa-IR" dirty="0" smtClean="0">
                <a:solidFill>
                  <a:schemeClr val="accent2">
                    <a:lumMod val="75000"/>
                  </a:schemeClr>
                </a:solidFill>
              </a:rPr>
              <a:t>مثال کلاسیک قطار و سوزن بان در تصمیم گیری 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56056" y="1625018"/>
            <a:ext cx="21329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a-IR" b="1" i="1" dirty="0">
                <a:latin typeface="Corbel (Body)"/>
              </a:rPr>
              <a:t>)</a:t>
            </a:r>
            <a:r>
              <a:rPr lang="en-US" b="1" i="1" dirty="0">
                <a:latin typeface="Corbel (Body)"/>
              </a:rPr>
              <a:t>Trolley </a:t>
            </a:r>
            <a:r>
              <a:rPr lang="en-US" b="1" i="1" dirty="0" smtClean="0">
                <a:latin typeface="Corbel (Body)"/>
              </a:rPr>
              <a:t>Problem</a:t>
            </a:r>
            <a:r>
              <a:rPr lang="fa-IR" b="1" i="1" dirty="0" smtClean="0">
                <a:latin typeface="Corbel (Body)"/>
              </a:rPr>
              <a:t>(</a:t>
            </a:r>
            <a:endParaRPr lang="en-US" b="1" i="1" dirty="0">
              <a:latin typeface="Corbel (Body)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2608" y="2760154"/>
            <a:ext cx="5149570" cy="199884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710" y="3008396"/>
            <a:ext cx="3357371" cy="235973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5"/>
          <a:srcRect b="8497"/>
          <a:stretch/>
        </p:blipFill>
        <p:spPr>
          <a:xfrm>
            <a:off x="8857085" y="2799343"/>
            <a:ext cx="3045156" cy="3788070"/>
          </a:xfrm>
          <a:prstGeom prst="rect">
            <a:avLst/>
          </a:prstGeom>
          <a:ln>
            <a:solidFill>
              <a:srgbClr val="00B050"/>
            </a:solidFill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1536" y="4842030"/>
            <a:ext cx="5085589" cy="174538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04801" y="5368127"/>
            <a:ext cx="30812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http://</a:t>
            </a:r>
            <a:r>
              <a:rPr lang="en-US" b="1" dirty="0">
                <a:solidFill>
                  <a:srgbClr val="0070C0"/>
                </a:solidFill>
              </a:rPr>
              <a:t>moralmachine</a:t>
            </a:r>
            <a:r>
              <a:rPr lang="en-US" dirty="0">
                <a:solidFill>
                  <a:srgbClr val="0070C0"/>
                </a:solidFill>
              </a:rPr>
              <a:t>.mit.edu/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442" y="5830780"/>
            <a:ext cx="2247731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 rtl="1"/>
            <a:r>
              <a:rPr lang="fa-IR" b="1" dirty="0" smtClean="0">
                <a:solidFill>
                  <a:srgbClr val="FF0000"/>
                </a:solidFill>
                <a:latin typeface="IRANSans"/>
                <a:cs typeface="B Nazanin" panose="00000400000000000000" pitchFamily="2" charset="-78"/>
              </a:rPr>
              <a:t>بررسی ۴۰ </a:t>
            </a:r>
            <a:r>
              <a:rPr lang="fa-IR" b="1" dirty="0">
                <a:solidFill>
                  <a:srgbClr val="FF0000"/>
                </a:solidFill>
                <a:latin typeface="IRANSans"/>
                <a:cs typeface="B Nazanin" panose="00000400000000000000" pitchFamily="2" charset="-78"/>
              </a:rPr>
              <a:t>میلیون تصمیم </a:t>
            </a:r>
            <a:r>
              <a:rPr lang="fa-IR" b="1" dirty="0" smtClean="0">
                <a:solidFill>
                  <a:srgbClr val="FF0000"/>
                </a:solidFill>
                <a:latin typeface="IRANSans"/>
                <a:cs typeface="B Nazanin" panose="00000400000000000000" pitchFamily="2" charset="-78"/>
              </a:rPr>
              <a:t> </a:t>
            </a:r>
          </a:p>
          <a:p>
            <a:pPr algn="ctr" rtl="1"/>
            <a:r>
              <a:rPr lang="fa-IR" b="1" dirty="0" smtClean="0">
                <a:solidFill>
                  <a:srgbClr val="FF0000"/>
                </a:solidFill>
                <a:latin typeface="IRANSans"/>
                <a:cs typeface="B Nazanin" panose="00000400000000000000" pitchFamily="2" charset="-78"/>
              </a:rPr>
              <a:t>در ۲۳۳</a:t>
            </a:r>
            <a:r>
              <a:rPr lang="en-US" b="1" dirty="0" smtClean="0">
                <a:solidFill>
                  <a:srgbClr val="FF0000"/>
                </a:solidFill>
                <a:latin typeface="IRANSans"/>
                <a:cs typeface="B Nazanin" panose="00000400000000000000" pitchFamily="2" charset="-78"/>
              </a:rPr>
              <a:t> </a:t>
            </a:r>
            <a:r>
              <a:rPr lang="fa-IR" b="1" dirty="0" smtClean="0">
                <a:solidFill>
                  <a:srgbClr val="FF0000"/>
                </a:solidFill>
                <a:latin typeface="IRANSans"/>
                <a:cs typeface="B Nazanin" panose="00000400000000000000" pitchFamily="2" charset="-78"/>
              </a:rPr>
              <a:t>فرهنگ (کشو</a:t>
            </a:r>
            <a:r>
              <a:rPr lang="fa-IR" b="1" dirty="0">
                <a:solidFill>
                  <a:srgbClr val="FF0000"/>
                </a:solidFill>
                <a:latin typeface="IRANSans"/>
                <a:cs typeface="B Nazanin" panose="00000400000000000000" pitchFamily="2" charset="-78"/>
              </a:rPr>
              <a:t>ر</a:t>
            </a:r>
            <a:r>
              <a:rPr lang="fa-IR" b="1" dirty="0" smtClean="0">
                <a:solidFill>
                  <a:srgbClr val="FF0000"/>
                </a:solidFill>
                <a:latin typeface="IRANSans"/>
                <a:cs typeface="B Nazanin" panose="00000400000000000000" pitchFamily="2" charset="-78"/>
              </a:rPr>
              <a:t>)</a:t>
            </a:r>
            <a:endParaRPr lang="en-US" b="1" dirty="0">
              <a:solidFill>
                <a:srgbClr val="FF0000"/>
              </a:solidFill>
              <a:cs typeface="B Nazanin" panose="00000400000000000000" pitchFamily="2" charset="-78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903538" y="2692735"/>
            <a:ext cx="2518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a-IR" b="1" dirty="0">
                <a:solidFill>
                  <a:srgbClr val="0070C0"/>
                </a:solidFill>
                <a:cs typeface="B Nazanin" panose="00000400000000000000" pitchFamily="2" charset="-78"/>
              </a:rPr>
              <a:t>ترجیح به حفظ جان جوان‌تر‌ها</a:t>
            </a:r>
            <a:endParaRPr lang="en-US" dirty="0">
              <a:solidFill>
                <a:srgbClr val="0070C0"/>
              </a:solidFill>
              <a:cs typeface="B Nazanin" panose="00000400000000000000" pitchFamily="2" charset="-78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952611" y="4828967"/>
            <a:ext cx="23823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a-IR" b="1" dirty="0">
                <a:solidFill>
                  <a:srgbClr val="0070C0"/>
                </a:solidFill>
                <a:cs typeface="B Nazanin" panose="00000400000000000000" pitchFamily="2" charset="-78"/>
              </a:rPr>
              <a:t>ترجیح به حفظ جان </a:t>
            </a:r>
            <a:r>
              <a:rPr lang="fa-IR" b="1" dirty="0" smtClean="0">
                <a:solidFill>
                  <a:srgbClr val="0070C0"/>
                </a:solidFill>
                <a:cs typeface="B Nazanin" panose="00000400000000000000" pitchFamily="2" charset="-78"/>
              </a:rPr>
              <a:t>پیاده ها</a:t>
            </a:r>
            <a:endParaRPr lang="en-US" dirty="0">
              <a:solidFill>
                <a:srgbClr val="0070C0"/>
              </a:solidFill>
              <a:cs typeface="B Nazanin" panose="00000400000000000000" pitchFamily="2" charset="-78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134955" y="2432984"/>
            <a:ext cx="26292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a-IR" b="1" dirty="0">
                <a:solidFill>
                  <a:srgbClr val="0070C0"/>
                </a:solidFill>
                <a:cs typeface="B Nazanin" panose="00000400000000000000" pitchFamily="2" charset="-78"/>
              </a:rPr>
              <a:t>ترجیح به حفظ جان </a:t>
            </a:r>
            <a:r>
              <a:rPr lang="fa-IR" b="1" dirty="0" smtClean="0">
                <a:solidFill>
                  <a:srgbClr val="0070C0"/>
                </a:solidFill>
                <a:cs typeface="B Nazanin" panose="00000400000000000000" pitchFamily="2" charset="-78"/>
              </a:rPr>
              <a:t>موارد دیگر</a:t>
            </a:r>
            <a:endParaRPr lang="en-US" dirty="0">
              <a:solidFill>
                <a:srgbClr val="0070C0"/>
              </a:solidFill>
              <a:cs typeface="B Nazanin" panose="00000400000000000000" pitchFamily="2" charset="-78"/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256489" y="2691859"/>
            <a:ext cx="8609796" cy="4565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3713128" y="4759398"/>
            <a:ext cx="5101302" cy="3720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112151" y="2667744"/>
            <a:ext cx="1096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b="1" dirty="0" smtClean="0">
                <a:solidFill>
                  <a:schemeClr val="accent2">
                    <a:lumMod val="75000"/>
                  </a:schemeClr>
                </a:solidFill>
                <a:cs typeface="B Nazanin" panose="00000400000000000000" pitchFamily="2" charset="-78"/>
              </a:rPr>
              <a:t>مثالی دیگر </a:t>
            </a:r>
            <a:endParaRPr lang="en-US" b="1" dirty="0">
              <a:solidFill>
                <a:schemeClr val="accent2">
                  <a:lumMod val="75000"/>
                </a:schemeClr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32889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B6193-F9F1-4C54-838F-77350B9FC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125" y="425299"/>
            <a:ext cx="9875520" cy="70974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r"/>
            <a:r>
              <a:rPr lang="fa-IR" sz="4800" dirty="0">
                <a:cs typeface="B Nazanin" panose="00000400000000000000" pitchFamily="2" charset="-78"/>
              </a:rPr>
              <a:t> ثبت و مرور تصمیمها</a:t>
            </a:r>
            <a:endParaRPr lang="en-US" sz="4800" dirty="0">
              <a:cs typeface="B Nazanin" panose="00000400000000000000" pitchFamily="2" charset="-78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888274" y="1240973"/>
            <a:ext cx="10437223" cy="1306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61702" y="1411742"/>
            <a:ext cx="10672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b="1" dirty="0">
                <a:cs typeface="B Nazanin" panose="00000400000000000000" pitchFamily="2" charset="-78"/>
              </a:rPr>
              <a:t>مدیرانی که بعد از ده یا بیست سال تجربه، همچنان تصمیمهای بدیهی را اشتباه می‌گیرند، مشکلی در تجربه تصمیم گیری </a:t>
            </a:r>
            <a:r>
              <a:rPr lang="fa-IR" b="1" dirty="0" smtClean="0">
                <a:cs typeface="B Nazanin" panose="00000400000000000000" pitchFamily="2" charset="-78"/>
              </a:rPr>
              <a:t>ندارند. بلکه </a:t>
            </a:r>
            <a:r>
              <a:rPr lang="fa-IR" b="1" dirty="0">
                <a:cs typeface="B Nazanin" panose="00000400000000000000" pitchFamily="2" charset="-78"/>
              </a:rPr>
              <a:t>ضعف آنها در </a:t>
            </a:r>
            <a:r>
              <a:rPr lang="fa-IR" b="1" dirty="0">
                <a:solidFill>
                  <a:srgbClr val="C00000"/>
                </a:solidFill>
                <a:cs typeface="B Nazanin" panose="00000400000000000000" pitchFamily="2" charset="-78"/>
              </a:rPr>
              <a:t>یادگیری از تصمیم های قبلی</a:t>
            </a:r>
            <a:r>
              <a:rPr lang="fa-IR" b="1" dirty="0">
                <a:cs typeface="B Nazanin" panose="00000400000000000000" pitchFamily="2" charset="-78"/>
              </a:rPr>
              <a:t> است</a:t>
            </a:r>
            <a:r>
              <a:rPr lang="fa-IR" b="1" dirty="0" smtClean="0">
                <a:cs typeface="B Nazanin" panose="00000400000000000000" pitchFamily="2" charset="-78"/>
              </a:rPr>
              <a:t>. </a:t>
            </a:r>
            <a:endParaRPr lang="fa-IR" b="1" dirty="0">
              <a:cs typeface="B Nazanin" panose="00000400000000000000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92331" y="2228842"/>
            <a:ext cx="10633166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Low" rtl="1"/>
            <a:r>
              <a:rPr lang="fa-IR" dirty="0">
                <a:cs typeface="B Nazanin" panose="00000400000000000000" pitchFamily="2" charset="-78"/>
              </a:rPr>
              <a:t>حافظه، ابزار مطمئنی برای مرور تصمیم‌ها نیست. ذهن ما به </a:t>
            </a:r>
            <a:r>
              <a:rPr lang="fa-IR" b="1" dirty="0">
                <a:solidFill>
                  <a:srgbClr val="4372C2"/>
                </a:solidFill>
                <a:cs typeface="B Nazanin" panose="00000400000000000000" pitchFamily="2" charset="-78"/>
              </a:rPr>
              <a:t>خطاهای شناختی </a:t>
            </a:r>
            <a:r>
              <a:rPr lang="fa-IR" dirty="0">
                <a:cs typeface="B Nazanin" panose="00000400000000000000" pitchFamily="2" charset="-78"/>
              </a:rPr>
              <a:t>متعددی گرفتار است و حافظه هم معمولاً بیش از آنکه در خدمت منطقِ ما باشد، در تسخیرخطاهای شناختی است</a:t>
            </a:r>
            <a:r>
              <a:rPr lang="fa-IR" dirty="0" smtClean="0">
                <a:cs typeface="B Nazanin" panose="00000400000000000000" pitchFamily="2" charset="-78"/>
              </a:rPr>
              <a:t>. متاسفانه </a:t>
            </a:r>
            <a:r>
              <a:rPr lang="fa-IR" dirty="0">
                <a:cs typeface="B Nazanin" panose="00000400000000000000" pitchFamily="2" charset="-78"/>
              </a:rPr>
              <a:t> ذهن ما خاطرات را به تدریج </a:t>
            </a:r>
            <a:r>
              <a:rPr lang="fa-IR" b="1" dirty="0">
                <a:cs typeface="B Nazanin" panose="00000400000000000000" pitchFamily="2" charset="-78"/>
              </a:rPr>
              <a:t>تحریف</a:t>
            </a:r>
            <a:r>
              <a:rPr lang="fa-IR" dirty="0">
                <a:cs typeface="B Nazanin" panose="00000400000000000000" pitchFamily="2" charset="-78"/>
              </a:rPr>
              <a:t> می‌کند و آنچه ما امروز درباره شرایط تصمیم گیری به خاطر می‌آوریم، الزاماً با آنچه واقعاً در آن زمان وجود داشته یکسان نیست.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1703" y="3296815"/>
            <a:ext cx="107637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fa-IR" b="1" dirty="0">
                <a:solidFill>
                  <a:srgbClr val="002060"/>
                </a:solidFill>
                <a:cs typeface="B Nazanin" panose="00000400000000000000" pitchFamily="2" charset="-78"/>
              </a:rPr>
              <a:t>یکی از بهترین روش‌ها برای بهبود کیفیت تصمیم گیری، ثبت تصمیم‌هاست</a:t>
            </a:r>
            <a:r>
              <a:rPr lang="fa-IR" b="1" dirty="0" smtClean="0">
                <a:solidFill>
                  <a:srgbClr val="002060"/>
                </a:solidFill>
                <a:cs typeface="B Nazanin" panose="00000400000000000000" pitchFamily="2" charset="-78"/>
              </a:rPr>
              <a:t>.  ( </a:t>
            </a:r>
            <a:r>
              <a:rPr lang="fa-IR" b="1" i="1" dirty="0" smtClean="0">
                <a:solidFill>
                  <a:srgbClr val="002060"/>
                </a:solidFill>
                <a:cs typeface="B Nazanin" panose="00000400000000000000" pitchFamily="2" charset="-78"/>
              </a:rPr>
              <a:t>به همراه شرایط ، معیارها و پارامتر های تصمیم گیری در آن زمان </a:t>
            </a:r>
            <a:r>
              <a:rPr lang="fa-IR" b="1" dirty="0" smtClean="0">
                <a:solidFill>
                  <a:srgbClr val="002060"/>
                </a:solidFill>
                <a:cs typeface="B Nazanin" panose="00000400000000000000" pitchFamily="2" charset="-78"/>
              </a:rPr>
              <a:t>) مثال : </a:t>
            </a:r>
            <a:r>
              <a:rPr lang="fa-IR" dirty="0">
                <a:solidFill>
                  <a:srgbClr val="002060"/>
                </a:solidFill>
                <a:cs typeface="B Nazanin" panose="00000400000000000000" pitchFamily="2" charset="-78"/>
              </a:rPr>
              <a:t>چه گزینه‌هایی پیش روی من بود؟</a:t>
            </a:r>
            <a:r>
              <a:rPr lang="en-US" dirty="0">
                <a:solidFill>
                  <a:srgbClr val="002060"/>
                </a:solidFill>
                <a:cs typeface="B Nazanin" panose="00000400000000000000" pitchFamily="2" charset="-78"/>
              </a:rPr>
              <a:t> </a:t>
            </a:r>
            <a:r>
              <a:rPr lang="fa-IR" dirty="0">
                <a:solidFill>
                  <a:srgbClr val="002060"/>
                </a:solidFill>
                <a:cs typeface="B Nazanin" panose="00000400000000000000" pitchFamily="2" charset="-78"/>
              </a:rPr>
              <a:t>چقدر به انتخاب خودم مطمئنم؟</a:t>
            </a:r>
            <a:r>
              <a:rPr lang="en-US" dirty="0">
                <a:solidFill>
                  <a:srgbClr val="002060"/>
                </a:solidFill>
                <a:cs typeface="B Nazanin" panose="00000400000000000000" pitchFamily="2" charset="-78"/>
              </a:rPr>
              <a:t>  </a:t>
            </a:r>
            <a:r>
              <a:rPr lang="fa-IR" dirty="0">
                <a:solidFill>
                  <a:srgbClr val="002060"/>
                </a:solidFill>
                <a:cs typeface="B Nazanin" panose="00000400000000000000" pitchFamily="2" charset="-78"/>
              </a:rPr>
              <a:t>افراد موافق و مخالف با </a:t>
            </a:r>
            <a:r>
              <a:rPr lang="fa-IR" dirty="0" smtClean="0">
                <a:solidFill>
                  <a:srgbClr val="002060"/>
                </a:solidFill>
                <a:cs typeface="B Nazanin" panose="00000400000000000000" pitchFamily="2" charset="-78"/>
              </a:rPr>
              <a:t>انتخاب من </a:t>
            </a:r>
            <a:r>
              <a:rPr lang="fa-IR" dirty="0">
                <a:solidFill>
                  <a:srgbClr val="002060"/>
                </a:solidFill>
                <a:cs typeface="B Nazanin" panose="00000400000000000000" pitchFamily="2" charset="-78"/>
              </a:rPr>
              <a:t>و دلایل آنها چیست </a:t>
            </a:r>
            <a:r>
              <a:rPr lang="fa-IR" dirty="0" smtClean="0">
                <a:solidFill>
                  <a:srgbClr val="002060"/>
                </a:solidFill>
                <a:cs typeface="B Nazanin" panose="00000400000000000000" pitchFamily="2" charset="-78"/>
              </a:rPr>
              <a:t>؟ چه مواردی الان برام قطعی است و چه مواردی رو حدس میزنم ؟ چقدر برای این تصمیم زمان دارم ؟ چقدر عجله دارم ؟ و ..... </a:t>
            </a:r>
            <a:endParaRPr lang="en-US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540213" y="4423007"/>
            <a:ext cx="47852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r" rtl="1">
              <a:buFont typeface="Wingdings" panose="05000000000000000000" pitchFamily="2" charset="2"/>
              <a:buChar char="v"/>
            </a:pPr>
            <a:r>
              <a:rPr lang="fa-IR" b="1" dirty="0" smtClean="0">
                <a:solidFill>
                  <a:srgbClr val="C00000"/>
                </a:solidFill>
                <a:cs typeface="B Nazanin" panose="00000400000000000000" pitchFamily="2" charset="-78"/>
              </a:rPr>
              <a:t>هرگز نمیتوان و نباید همه تصمیمهای خود را ثبت کنید .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897718" y="4753150"/>
            <a:ext cx="78694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dirty="0" smtClean="0">
                <a:cs typeface="B Nazanin" panose="00000400000000000000" pitchFamily="2" charset="-78"/>
              </a:rPr>
              <a:t>برای ثبت تصمیم ها موضوع ، استراتژی و ... مشخص کنید ! (مثلا تصمیمات مهم در مورد جذب منابع انسانی)  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744576" y="5127852"/>
            <a:ext cx="75809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r" rtl="1">
              <a:buFont typeface="Wingdings" panose="05000000000000000000" pitchFamily="2" charset="2"/>
              <a:buChar char="v"/>
            </a:pPr>
            <a:r>
              <a:rPr lang="fa-IR" b="1" dirty="0" smtClean="0">
                <a:solidFill>
                  <a:srgbClr val="C00000"/>
                </a:solidFill>
                <a:cs typeface="B Nazanin" panose="00000400000000000000" pitchFamily="2" charset="-78"/>
              </a:rPr>
              <a:t>الزاما در مورد همه تصمیمات نمی توانید به همه سوالات مشخص شده به یکباره پاسخ دهید. 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141101" y="5452625"/>
            <a:ext cx="86260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dirty="0">
                <a:cs typeface="B Nazanin" panose="00000400000000000000" pitchFamily="2" charset="-78"/>
              </a:rPr>
              <a:t>هر از چند گاهی سوالات را مرور و تکمیل </a:t>
            </a:r>
            <a:r>
              <a:rPr lang="fa-IR" dirty="0" smtClean="0">
                <a:cs typeface="B Nazanin" panose="00000400000000000000" pitchFamily="2" charset="-78"/>
              </a:rPr>
              <a:t>کنید و در مورد هر تصمیم مشخص کنید که چه سوالاتی را ثبت خواهید کرد .  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703719" y="5821957"/>
            <a:ext cx="46217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r" rtl="1">
              <a:buFont typeface="Wingdings" panose="05000000000000000000" pitchFamily="2" charset="2"/>
              <a:buChar char="v"/>
            </a:pPr>
            <a:r>
              <a:rPr lang="fa-IR" b="1" dirty="0">
                <a:solidFill>
                  <a:srgbClr val="C00000"/>
                </a:solidFill>
                <a:cs typeface="B Nazanin" panose="00000400000000000000" pitchFamily="2" charset="-78"/>
              </a:rPr>
              <a:t> ارزش اصلی این نوع ثبت کردن در مرور تصمیم است.</a:t>
            </a:r>
            <a:endParaRPr lang="en-US" b="1" dirty="0">
              <a:solidFill>
                <a:srgbClr val="C00000"/>
              </a:solidFill>
              <a:cs typeface="B Nazanin" panose="00000400000000000000" pitchFamily="2" charset="-78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365520" y="6184546"/>
            <a:ext cx="8401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dirty="0" smtClean="0">
                <a:cs typeface="B Nazanin" panose="00000400000000000000" pitchFamily="2" charset="-78"/>
              </a:rPr>
              <a:t>همین </a:t>
            </a:r>
            <a:r>
              <a:rPr lang="fa-IR" dirty="0">
                <a:cs typeface="B Nazanin" panose="00000400000000000000" pitchFamily="2" charset="-78"/>
              </a:rPr>
              <a:t>که گزارش امروز خود را بعداً بخوانید قطعاً مفید و آموزنده است و برای شما تداعی‌های بسیاری ایجاد خواهد کرد.</a:t>
            </a:r>
            <a:endParaRPr lang="en-US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08343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B6193-F9F1-4C54-838F-77350B9FC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125" y="425299"/>
            <a:ext cx="9875520" cy="709749"/>
          </a:xfrm>
        </p:spPr>
        <p:txBody>
          <a:bodyPr>
            <a:normAutofit fontScale="90000"/>
          </a:bodyPr>
          <a:lstStyle/>
          <a:p>
            <a:pPr algn="r"/>
            <a:r>
              <a:rPr lang="fa-IR" sz="4800" dirty="0" smtClean="0">
                <a:cs typeface="B Nazanin" panose="00000400000000000000" pitchFamily="2" charset="-78"/>
              </a:rPr>
              <a:t>خطا های شناختی یا خطاهای ذهنی </a:t>
            </a:r>
            <a:endParaRPr lang="en-US" sz="4800" dirty="0">
              <a:cs typeface="B Nazanin" panose="00000400000000000000" pitchFamily="2" charset="-78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888274" y="1240973"/>
            <a:ext cx="10437223" cy="1306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0277161" y="1977167"/>
            <a:ext cx="1266629" cy="27699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Cognitive Errors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06284" y="1693428"/>
            <a:ext cx="1627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a-IR" b="1" dirty="0">
                <a:cs typeface="B Nazanin" panose="00000400000000000000" pitchFamily="2" charset="-78"/>
              </a:rPr>
              <a:t>خطا های شناختی 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3174277" y="1508762"/>
            <a:ext cx="65575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fa-IR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هنگام </a:t>
            </a:r>
            <a:r>
              <a:rPr lang="fa-IR" b="1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تحلیل</a:t>
            </a:r>
            <a:r>
              <a:rPr lang="fa-IR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 و </a:t>
            </a:r>
            <a:r>
              <a:rPr lang="fa-IR" b="1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تفسیر</a:t>
            </a:r>
            <a:r>
              <a:rPr lang="fa-IR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 و </a:t>
            </a:r>
            <a:r>
              <a:rPr lang="fa-IR" b="1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قضاوت</a:t>
            </a:r>
            <a:r>
              <a:rPr lang="fa-IR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 در مورد رویدادها ما را به دام خود گرفتار </a:t>
            </a:r>
            <a:r>
              <a:rPr lang="fa-IR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می‌کنند .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9008" y="1885796"/>
            <a:ext cx="95228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fa-IR" dirty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اکثر خطاهای شناختی به مرور زمان و در اثر زندگی طولانی‌ مدت انسان بر روی کره زمین، در مغز ما شکل </a:t>
            </a:r>
            <a:r>
              <a:rPr lang="fa-IR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گرفته‌اند . </a:t>
            </a:r>
            <a:r>
              <a:rPr lang="fa-IR" b="1" dirty="0" smtClean="0">
                <a:solidFill>
                  <a:srgbClr val="C00000"/>
                </a:solidFill>
                <a:latin typeface="IRANSans"/>
                <a:cs typeface="B Nazanin" panose="00000400000000000000" pitchFamily="2" charset="-78"/>
              </a:rPr>
              <a:t>(مدل ذهنی)</a:t>
            </a:r>
            <a:endParaRPr lang="en-US" b="1" dirty="0">
              <a:solidFill>
                <a:srgbClr val="C00000"/>
              </a:solidFill>
              <a:latin typeface="IRANSans"/>
              <a:cs typeface="B Nazanin" panose="00000400000000000000" pitchFamily="2" charset="-78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97282" y="2239766"/>
            <a:ext cx="86345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fa-IR" dirty="0" smtClean="0">
                <a:solidFill>
                  <a:srgbClr val="000000"/>
                </a:solidFill>
                <a:latin typeface="IRANSans"/>
                <a:cs typeface="B Nazanin" panose="00000400000000000000" pitchFamily="2" charset="-78"/>
              </a:rPr>
              <a:t>برخی از این مدل های ذهنی به تفکر سریع و تصمیم گیری بهتر ما کمک میکنند اما بعضا هزینه هایی نیز در بر دارند . </a:t>
            </a:r>
            <a:endParaRPr lang="en-US" dirty="0">
              <a:solidFill>
                <a:srgbClr val="000000"/>
              </a:solidFill>
              <a:latin typeface="IRANSans"/>
              <a:cs typeface="B Nazanin" panose="00000400000000000000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7828" y="2712274"/>
            <a:ext cx="9418456" cy="584775"/>
          </a:xfrm>
          <a:prstGeom prst="rect">
            <a:avLst/>
          </a:prstGeom>
          <a:ln w="28575">
            <a:prstDash val="soli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Low" rtl="1"/>
            <a:r>
              <a:rPr lang="en-US" sz="1600" dirty="0" err="1">
                <a:cs typeface="B Nazanin" panose="00000400000000000000" pitchFamily="2" charset="-78"/>
              </a:rPr>
              <a:t>انسان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امروز</a:t>
            </a:r>
            <a:r>
              <a:rPr lang="en-US" sz="1600" dirty="0">
                <a:cs typeface="B Nazanin" panose="00000400000000000000" pitchFamily="2" charset="-78"/>
              </a:rPr>
              <a:t> ، </a:t>
            </a:r>
            <a:r>
              <a:rPr lang="en-US" sz="1600" dirty="0" err="1">
                <a:cs typeface="B Nazanin" panose="00000400000000000000" pitchFamily="2" charset="-78"/>
              </a:rPr>
              <a:t>وقتی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از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همکاری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با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فردی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در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یک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شهر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متضرر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می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شود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به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این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نتیجه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میرسد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که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بهتر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است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با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هیچ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یک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از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افراد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آن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شهر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همکاری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نکند</a:t>
            </a:r>
            <a:r>
              <a:rPr lang="en-US" sz="1600" dirty="0">
                <a:cs typeface="B Nazanin" panose="00000400000000000000" pitchFamily="2" charset="-78"/>
              </a:rPr>
              <a:t> . </a:t>
            </a:r>
            <a:r>
              <a:rPr lang="en-US" sz="1600" dirty="0" err="1">
                <a:cs typeface="B Nazanin" panose="00000400000000000000" pitchFamily="2" charset="-78"/>
              </a:rPr>
              <a:t>او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این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 smtClean="0">
                <a:cs typeface="B Nazanin" panose="00000400000000000000" pitchFamily="2" charset="-78"/>
              </a:rPr>
              <a:t>تجربه</a:t>
            </a:r>
            <a:r>
              <a:rPr lang="fa-IR" sz="1600" dirty="0" smtClean="0">
                <a:cs typeface="B Nazanin" panose="00000400000000000000" pitchFamily="2" charset="-78"/>
              </a:rPr>
              <a:t> </a:t>
            </a:r>
            <a:r>
              <a:rPr lang="fa-IR" sz="1600" b="1" dirty="0">
                <a:solidFill>
                  <a:srgbClr val="C00000"/>
                </a:solidFill>
                <a:latin typeface="IRANSans"/>
                <a:cs typeface="B Nazanin" panose="00000400000000000000" pitchFamily="2" charset="-78"/>
              </a:rPr>
              <a:t>(مدل ذهنی</a:t>
            </a:r>
            <a:r>
              <a:rPr lang="fa-IR" sz="1600" b="1" dirty="0" smtClean="0">
                <a:solidFill>
                  <a:srgbClr val="C00000"/>
                </a:solidFill>
                <a:latin typeface="IRANSans"/>
                <a:cs typeface="B Nazanin" panose="00000400000000000000" pitchFamily="2" charset="-78"/>
              </a:rPr>
              <a:t>)</a:t>
            </a:r>
            <a:r>
              <a:rPr lang="en-US" sz="1600" dirty="0" smtClean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را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درست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مانند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cs typeface="B Nazanin" panose="00000400000000000000" pitchFamily="2" charset="-78"/>
              </a:rPr>
              <a:t>تجربه</a:t>
            </a:r>
            <a:r>
              <a:rPr lang="en-US" sz="1600" b="1" dirty="0">
                <a:solidFill>
                  <a:srgbClr val="0070C0"/>
                </a:solidFill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cs typeface="B Nazanin" panose="00000400000000000000" pitchFamily="2" charset="-78"/>
              </a:rPr>
              <a:t>خوردن</a:t>
            </a:r>
            <a:r>
              <a:rPr lang="en-US" sz="1600" b="1" dirty="0">
                <a:solidFill>
                  <a:srgbClr val="0070C0"/>
                </a:solidFill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cs typeface="B Nazanin" panose="00000400000000000000" pitchFamily="2" charset="-78"/>
              </a:rPr>
              <a:t>میوه</a:t>
            </a:r>
            <a:r>
              <a:rPr lang="en-US" sz="1600" b="1" dirty="0">
                <a:solidFill>
                  <a:srgbClr val="0070C0"/>
                </a:solidFill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cs typeface="B Nazanin" panose="00000400000000000000" pitchFamily="2" charset="-78"/>
              </a:rPr>
              <a:t>قرمز</a:t>
            </a:r>
            <a:r>
              <a:rPr lang="en-US" sz="1600" b="1" dirty="0">
                <a:solidFill>
                  <a:srgbClr val="0070C0"/>
                </a:solidFill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cs typeface="B Nazanin" panose="00000400000000000000" pitchFamily="2" charset="-78"/>
              </a:rPr>
              <a:t>مرگبار</a:t>
            </a:r>
            <a:r>
              <a:rPr lang="en-US" sz="1600" b="1" dirty="0">
                <a:solidFill>
                  <a:srgbClr val="0070C0"/>
                </a:solidFill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به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دوستانش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هم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منتقل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 smtClean="0">
                <a:cs typeface="B Nazanin" panose="00000400000000000000" pitchFamily="2" charset="-78"/>
              </a:rPr>
              <a:t>می</a:t>
            </a:r>
            <a:r>
              <a:rPr lang="fa-IR" sz="1600" dirty="0" smtClean="0">
                <a:cs typeface="B Nazanin" panose="00000400000000000000" pitchFamily="2" charset="-78"/>
              </a:rPr>
              <a:t> </a:t>
            </a:r>
            <a:r>
              <a:rPr lang="en-US" sz="1600" dirty="0" err="1" smtClean="0">
                <a:cs typeface="B Nazanin" panose="00000400000000000000" pitchFamily="2" charset="-78"/>
              </a:rPr>
              <a:t>نماید</a:t>
            </a:r>
            <a:r>
              <a:rPr lang="en-US" sz="1600" dirty="0" smtClean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تا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آنها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هم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از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این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اشتباه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در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امان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600" dirty="0" err="1">
                <a:cs typeface="B Nazanin" panose="00000400000000000000" pitchFamily="2" charset="-78"/>
              </a:rPr>
              <a:t>باشند</a:t>
            </a:r>
            <a:r>
              <a:rPr lang="en-US" sz="1600" dirty="0">
                <a:cs typeface="B Nazanin" panose="00000400000000000000" pitchFamily="2" charset="-78"/>
              </a:rPr>
              <a:t> .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56904" y="2793710"/>
            <a:ext cx="1507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r" rtl="1">
              <a:buFont typeface="Wingdings" panose="05000000000000000000" pitchFamily="2" charset="2"/>
              <a:buChar char="v"/>
            </a:pPr>
            <a:r>
              <a:rPr lang="fa-IR" b="1" dirty="0" smtClean="0">
                <a:cs typeface="B Nazanin" panose="00000400000000000000" pitchFamily="2" charset="-78"/>
              </a:rPr>
              <a:t>خطای تعمیم </a:t>
            </a:r>
            <a:endParaRPr lang="en-US" b="1" dirty="0"/>
          </a:p>
        </p:txBody>
      </p:sp>
      <p:sp>
        <p:nvSpPr>
          <p:cNvPr id="12" name="Rectangle 11"/>
          <p:cNvSpPr/>
          <p:nvPr/>
        </p:nvSpPr>
        <p:spPr>
          <a:xfrm>
            <a:off x="1980028" y="3431039"/>
            <a:ext cx="26432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1"/>
            <a:r>
              <a:rPr lang="fa-IR" b="1" dirty="0">
                <a:solidFill>
                  <a:srgbClr val="C00000"/>
                </a:solidFill>
                <a:latin typeface="IRANSans"/>
              </a:rPr>
              <a:t> </a:t>
            </a:r>
            <a:r>
              <a:rPr lang="fa-IR" b="1" dirty="0">
                <a:solidFill>
                  <a:srgbClr val="C00000"/>
                </a:solidFill>
                <a:cs typeface="B Nazanin" panose="00000400000000000000" pitchFamily="2" charset="-78"/>
              </a:rPr>
              <a:t>خطاهای </a:t>
            </a:r>
            <a:r>
              <a:rPr lang="fa-IR" b="1" dirty="0" smtClean="0">
                <a:solidFill>
                  <a:srgbClr val="C00000"/>
                </a:solidFill>
                <a:cs typeface="B Nazanin" panose="00000400000000000000" pitchFamily="2" charset="-78"/>
              </a:rPr>
              <a:t>شناختی </a:t>
            </a:r>
            <a:r>
              <a:rPr lang="fa-IR" b="1" dirty="0">
                <a:solidFill>
                  <a:srgbClr val="C00000"/>
                </a:solidFill>
                <a:cs typeface="B Nazanin" panose="00000400000000000000" pitchFamily="2" charset="-78"/>
              </a:rPr>
              <a:t>نوع </a:t>
            </a:r>
            <a:r>
              <a:rPr lang="fa-IR" b="1" dirty="0">
                <a:solidFill>
                  <a:srgbClr val="C00000"/>
                </a:solidFill>
                <a:cs typeface="B Nazanin" panose="00000400000000000000" pitchFamily="2" charset="-78"/>
              </a:rPr>
              <a:t>سوگیری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090" y="4202290"/>
            <a:ext cx="4532780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en-US" sz="1600" b="1" dirty="0" err="1">
                <a:cs typeface="B Nazanin" panose="00000400000000000000" pitchFamily="2" charset="-78"/>
              </a:rPr>
              <a:t>اعتماد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به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نفس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بیش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از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حد</a:t>
            </a:r>
            <a:r>
              <a:rPr lang="en-US" sz="1600" b="1" dirty="0">
                <a:cs typeface="B Nazanin" panose="00000400000000000000" pitchFamily="2" charset="-78"/>
              </a:rPr>
              <a:t> (Overconfidence Bias)</a:t>
            </a:r>
          </a:p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en-US" sz="1600" b="1" dirty="0" err="1">
                <a:cs typeface="B Nazanin" panose="00000400000000000000" pitchFamily="2" charset="-78"/>
              </a:rPr>
              <a:t>خطای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تایید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خود</a:t>
            </a:r>
            <a:r>
              <a:rPr lang="en-US" sz="1600" b="1" dirty="0">
                <a:cs typeface="B Nazanin" panose="00000400000000000000" pitchFamily="2" charset="-78"/>
              </a:rPr>
              <a:t> (Confirmation Bias)</a:t>
            </a:r>
          </a:p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en-US" sz="1600" b="1" dirty="0" err="1">
                <a:cs typeface="B Nazanin" panose="00000400000000000000" pitchFamily="2" charset="-78"/>
              </a:rPr>
              <a:t>تمرکز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بر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آخرین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اطلاعات</a:t>
            </a:r>
            <a:r>
              <a:rPr lang="en-US" sz="1600" b="1" dirty="0">
                <a:cs typeface="B Nazanin" panose="00000400000000000000" pitchFamily="2" charset="-78"/>
              </a:rPr>
              <a:t> (</a:t>
            </a:r>
            <a:r>
              <a:rPr lang="en-US" sz="1600" b="1" dirty="0" err="1">
                <a:cs typeface="B Nazanin" panose="00000400000000000000" pitchFamily="2" charset="-78"/>
              </a:rPr>
              <a:t>Recency</a:t>
            </a:r>
            <a:r>
              <a:rPr lang="en-US" sz="1600" b="1" dirty="0">
                <a:cs typeface="B Nazanin" panose="00000400000000000000" pitchFamily="2" charset="-78"/>
              </a:rPr>
              <a:t> Bias)</a:t>
            </a:r>
          </a:p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en-US" sz="1600" b="1" dirty="0" err="1">
                <a:cs typeface="B Nazanin" panose="00000400000000000000" pitchFamily="2" charset="-78"/>
              </a:rPr>
              <a:t>خطای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تمرکز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بر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اطلاعات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در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دسترس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fa-IR" sz="1600" b="1" dirty="0" smtClean="0">
                <a:cs typeface="B Nazanin" panose="00000400000000000000" pitchFamily="2" charset="-78"/>
              </a:rPr>
              <a:t>(</a:t>
            </a:r>
            <a:r>
              <a:rPr lang="en-US" sz="1600" b="1" dirty="0">
                <a:cs typeface="B Nazanin" panose="00000400000000000000" pitchFamily="2" charset="-78"/>
              </a:rPr>
              <a:t>Availability Bias</a:t>
            </a:r>
            <a:r>
              <a:rPr lang="fa-IR" sz="1600" b="1" dirty="0" smtClean="0">
                <a:cs typeface="B Nazanin" panose="00000400000000000000" pitchFamily="2" charset="-78"/>
              </a:rPr>
              <a:t>)</a:t>
            </a:r>
            <a:endParaRPr lang="en-US" sz="1600" b="1" dirty="0">
              <a:cs typeface="B Nazanin" panose="00000400000000000000" pitchFamily="2" charset="-78"/>
            </a:endParaRPr>
          </a:p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en-US" sz="1600" b="1" dirty="0" err="1">
                <a:cs typeface="B Nazanin" panose="00000400000000000000" pitchFamily="2" charset="-78"/>
              </a:rPr>
              <a:t>اجتناب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از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تعارض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شناختی</a:t>
            </a:r>
            <a:r>
              <a:rPr lang="en-US" sz="1600" b="1" dirty="0">
                <a:cs typeface="B Nazanin" panose="00000400000000000000" pitchFamily="2" charset="-78"/>
              </a:rPr>
              <a:t> (Cognitive Dissonance)</a:t>
            </a:r>
          </a:p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en-US" sz="1600" b="1" dirty="0" err="1">
                <a:cs typeface="B Nazanin" panose="00000400000000000000" pitchFamily="2" charset="-78"/>
              </a:rPr>
              <a:t>تفکر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کلیشه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ای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یا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استریوتایپ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fa-IR" sz="1600" b="1" dirty="0" smtClean="0">
                <a:cs typeface="B Nazanin" panose="00000400000000000000" pitchFamily="2" charset="-78"/>
              </a:rPr>
              <a:t>(</a:t>
            </a:r>
            <a:r>
              <a:rPr lang="en-US" sz="1600" b="1" dirty="0">
                <a:cs typeface="B Nazanin" panose="00000400000000000000" pitchFamily="2" charset="-78"/>
              </a:rPr>
              <a:t>Stereotype</a:t>
            </a:r>
            <a:r>
              <a:rPr lang="fa-IR" sz="1600" b="1" dirty="0" smtClean="0">
                <a:cs typeface="B Nazanin" panose="00000400000000000000" pitchFamily="2" charset="-78"/>
              </a:rPr>
              <a:t>)</a:t>
            </a:r>
            <a:endParaRPr lang="en-US" sz="1600" b="1" dirty="0">
              <a:cs typeface="B Nazanin" panose="00000400000000000000" pitchFamily="2" charset="-78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401425" y="3434400"/>
            <a:ext cx="26432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1"/>
            <a:r>
              <a:rPr lang="fa-IR" b="1" dirty="0">
                <a:solidFill>
                  <a:srgbClr val="0070C0"/>
                </a:solidFill>
                <a:latin typeface="IRANSans"/>
              </a:rPr>
              <a:t> </a:t>
            </a:r>
            <a:r>
              <a:rPr lang="fa-IR" b="1" dirty="0">
                <a:solidFill>
                  <a:srgbClr val="0070C0"/>
                </a:solidFill>
                <a:cs typeface="B Nazanin" panose="00000400000000000000" pitchFamily="2" charset="-78"/>
              </a:rPr>
              <a:t>خطاهای </a:t>
            </a:r>
            <a:r>
              <a:rPr lang="fa-IR" b="1" dirty="0" smtClean="0">
                <a:solidFill>
                  <a:srgbClr val="0070C0"/>
                </a:solidFill>
                <a:cs typeface="B Nazanin" panose="00000400000000000000" pitchFamily="2" charset="-78"/>
              </a:rPr>
              <a:t>شناختی </a:t>
            </a:r>
            <a:r>
              <a:rPr lang="fa-IR" b="1" dirty="0">
                <a:solidFill>
                  <a:srgbClr val="0070C0"/>
                </a:solidFill>
                <a:cs typeface="B Nazanin" panose="00000400000000000000" pitchFamily="2" charset="-78"/>
              </a:rPr>
              <a:t>نوع </a:t>
            </a:r>
            <a:r>
              <a:rPr lang="fa-IR" b="1" dirty="0">
                <a:solidFill>
                  <a:srgbClr val="0070C0"/>
                </a:solidFill>
                <a:cs typeface="B Nazanin" panose="00000400000000000000" pitchFamily="2" charset="-78"/>
              </a:rPr>
              <a:t>تحریف</a:t>
            </a:r>
            <a:endParaRPr lang="fa-IR" b="1" dirty="0">
              <a:solidFill>
                <a:srgbClr val="0070C0"/>
              </a:solidFill>
              <a:cs typeface="B Nazanin" panose="00000400000000000000" pitchFamily="2" charset="-78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878286" y="3934362"/>
            <a:ext cx="5535659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en-US" sz="1600" b="1" dirty="0" err="1">
                <a:cs typeface="B Nazanin" panose="00000400000000000000" pitchFamily="2" charset="-78"/>
              </a:rPr>
              <a:t>تفکر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همه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یا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هیچ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fa-IR" sz="1600" b="1" dirty="0" smtClean="0">
                <a:cs typeface="B Nazanin" panose="00000400000000000000" pitchFamily="2" charset="-78"/>
              </a:rPr>
              <a:t>(</a:t>
            </a:r>
            <a:r>
              <a:rPr lang="en-US" sz="1600" b="1" dirty="0" smtClean="0">
                <a:cs typeface="B Nazanin" panose="00000400000000000000" pitchFamily="2" charset="-78"/>
              </a:rPr>
              <a:t> </a:t>
            </a:r>
            <a:r>
              <a:rPr lang="en-US" sz="1600" b="1" dirty="0">
                <a:cs typeface="B Nazanin" panose="00000400000000000000" pitchFamily="2" charset="-78"/>
              </a:rPr>
              <a:t>All or </a:t>
            </a:r>
            <a:r>
              <a:rPr lang="en-US" sz="1600" b="1" dirty="0" smtClean="0">
                <a:cs typeface="B Nazanin" panose="00000400000000000000" pitchFamily="2" charset="-78"/>
              </a:rPr>
              <a:t>nothing</a:t>
            </a:r>
            <a:r>
              <a:rPr lang="fa-IR" sz="1600" b="1" dirty="0" smtClean="0">
                <a:cs typeface="B Nazanin" panose="00000400000000000000" pitchFamily="2" charset="-78"/>
              </a:rPr>
              <a:t>)</a:t>
            </a:r>
            <a:endParaRPr lang="en-US" sz="1600" b="1" dirty="0">
              <a:cs typeface="B Nazanin" panose="00000400000000000000" pitchFamily="2" charset="-78"/>
            </a:endParaRPr>
          </a:p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en-US" sz="1600" b="1" dirty="0" err="1">
                <a:cs typeface="B Nazanin" panose="00000400000000000000" pitchFamily="2" charset="-78"/>
              </a:rPr>
              <a:t>تعمیم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دادن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fa-IR" sz="1600" b="1" dirty="0" smtClean="0">
                <a:cs typeface="B Nazanin" panose="00000400000000000000" pitchFamily="2" charset="-78"/>
              </a:rPr>
              <a:t>(</a:t>
            </a:r>
            <a:r>
              <a:rPr lang="en-US" sz="1600" b="1" dirty="0">
                <a:cs typeface="B Nazanin" panose="00000400000000000000" pitchFamily="2" charset="-78"/>
              </a:rPr>
              <a:t>Over-generalization</a:t>
            </a:r>
            <a:r>
              <a:rPr lang="fa-IR" sz="1600" b="1" dirty="0" smtClean="0">
                <a:cs typeface="B Nazanin" panose="00000400000000000000" pitchFamily="2" charset="-78"/>
              </a:rPr>
              <a:t>)</a:t>
            </a:r>
            <a:endParaRPr lang="en-US" sz="1600" b="1" dirty="0">
              <a:cs typeface="B Nazanin" panose="00000400000000000000" pitchFamily="2" charset="-78"/>
            </a:endParaRPr>
          </a:p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en-US" sz="1600" b="1" dirty="0" err="1">
                <a:cs typeface="B Nazanin" panose="00000400000000000000" pitchFamily="2" charset="-78"/>
              </a:rPr>
              <a:t>بایدها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fa-IR" sz="1600" b="1" dirty="0" smtClean="0">
                <a:cs typeface="B Nazanin" panose="00000400000000000000" pitchFamily="2" charset="-78"/>
              </a:rPr>
              <a:t>(</a:t>
            </a:r>
            <a:r>
              <a:rPr lang="en-US" sz="1600" b="1" dirty="0" smtClean="0">
                <a:cs typeface="B Nazanin" panose="00000400000000000000" pitchFamily="2" charset="-78"/>
              </a:rPr>
              <a:t> </a:t>
            </a:r>
            <a:r>
              <a:rPr lang="en-US" sz="1600" b="1" dirty="0">
                <a:cs typeface="B Nazanin" panose="00000400000000000000" pitchFamily="2" charset="-78"/>
              </a:rPr>
              <a:t>Should Statements </a:t>
            </a:r>
            <a:r>
              <a:rPr lang="fa-IR" sz="1600" b="1" dirty="0" smtClean="0">
                <a:cs typeface="B Nazanin" panose="00000400000000000000" pitchFamily="2" charset="-78"/>
              </a:rPr>
              <a:t>)</a:t>
            </a:r>
          </a:p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en-US" sz="1600" b="1" dirty="0" err="1" smtClean="0">
                <a:cs typeface="B Nazanin" panose="00000400000000000000" pitchFamily="2" charset="-78"/>
              </a:rPr>
              <a:t>برچسب</a:t>
            </a:r>
            <a:r>
              <a:rPr lang="en-US" sz="1600" b="1" dirty="0" smtClean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گذاری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بر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روی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خود</a:t>
            </a:r>
            <a:r>
              <a:rPr lang="en-US" sz="1600" b="1" dirty="0">
                <a:cs typeface="B Nazanin" panose="00000400000000000000" pitchFamily="2" charset="-78"/>
              </a:rPr>
              <a:t> و </a:t>
            </a:r>
            <a:r>
              <a:rPr lang="en-US" sz="1600" b="1" dirty="0" err="1">
                <a:cs typeface="B Nazanin" panose="00000400000000000000" pitchFamily="2" charset="-78"/>
              </a:rPr>
              <a:t>دیگران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fa-IR" sz="1600" b="1" dirty="0" smtClean="0">
                <a:cs typeface="B Nazanin" panose="00000400000000000000" pitchFamily="2" charset="-78"/>
              </a:rPr>
              <a:t>(</a:t>
            </a:r>
            <a:r>
              <a:rPr lang="en-US" sz="1600" b="1" dirty="0" smtClean="0">
                <a:cs typeface="B Nazanin" panose="00000400000000000000" pitchFamily="2" charset="-78"/>
              </a:rPr>
              <a:t> Labeling</a:t>
            </a:r>
            <a:r>
              <a:rPr lang="fa-IR" sz="1600" b="1" dirty="0" smtClean="0">
                <a:cs typeface="B Nazanin" panose="00000400000000000000" pitchFamily="2" charset="-78"/>
              </a:rPr>
              <a:t>)</a:t>
            </a:r>
            <a:endParaRPr lang="en-US" sz="1600" b="1" dirty="0">
              <a:cs typeface="B Nazanin" panose="00000400000000000000" pitchFamily="2" charset="-78"/>
            </a:endParaRPr>
          </a:p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en-US" sz="1600" b="1" dirty="0" err="1">
                <a:cs typeface="B Nazanin" panose="00000400000000000000" pitchFamily="2" charset="-78"/>
              </a:rPr>
              <a:t>بزرگنمایی</a:t>
            </a:r>
            <a:r>
              <a:rPr lang="en-US" sz="1600" b="1" dirty="0">
                <a:cs typeface="B Nazanin" panose="00000400000000000000" pitchFamily="2" charset="-78"/>
              </a:rPr>
              <a:t> و </a:t>
            </a:r>
            <a:r>
              <a:rPr lang="en-US" sz="1600" b="1" dirty="0" err="1">
                <a:cs typeface="B Nazanin" panose="00000400000000000000" pitchFamily="2" charset="-78"/>
              </a:rPr>
              <a:t>کوچکنمایی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fa-IR" sz="1600" b="1" dirty="0" smtClean="0">
                <a:cs typeface="B Nazanin" panose="00000400000000000000" pitchFamily="2" charset="-78"/>
              </a:rPr>
              <a:t>(</a:t>
            </a:r>
            <a:r>
              <a:rPr lang="en-US" sz="1600" b="1" dirty="0">
                <a:cs typeface="B Nazanin" panose="00000400000000000000" pitchFamily="2" charset="-78"/>
              </a:rPr>
              <a:t>Magnification / </a:t>
            </a:r>
            <a:r>
              <a:rPr lang="en-US" sz="1600" b="1" dirty="0" smtClean="0">
                <a:cs typeface="B Nazanin" panose="00000400000000000000" pitchFamily="2" charset="-78"/>
              </a:rPr>
              <a:t>Minimization </a:t>
            </a:r>
            <a:r>
              <a:rPr lang="fa-IR" sz="1600" b="1" dirty="0" smtClean="0">
                <a:cs typeface="B Nazanin" panose="00000400000000000000" pitchFamily="2" charset="-78"/>
              </a:rPr>
              <a:t>)</a:t>
            </a:r>
            <a:r>
              <a:rPr lang="en-US" sz="1600" b="1" dirty="0" smtClean="0">
                <a:cs typeface="B Nazanin" panose="00000400000000000000" pitchFamily="2" charset="-78"/>
              </a:rPr>
              <a:t> </a:t>
            </a:r>
            <a:endParaRPr lang="fa-IR" sz="1600" b="1" dirty="0" smtClean="0">
              <a:cs typeface="B Nazanin" panose="00000400000000000000" pitchFamily="2" charset="-78"/>
            </a:endParaRPr>
          </a:p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en-US" sz="1600" b="1" dirty="0" err="1" smtClean="0">
                <a:cs typeface="B Nazanin" panose="00000400000000000000" pitchFamily="2" charset="-78"/>
              </a:rPr>
              <a:t>حذف</a:t>
            </a:r>
            <a:r>
              <a:rPr lang="en-US" sz="1600" b="1" dirty="0" smtClean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رویدادها</a:t>
            </a:r>
            <a:r>
              <a:rPr lang="en-US" sz="1600" b="1" dirty="0">
                <a:cs typeface="B Nazanin" panose="00000400000000000000" pitchFamily="2" charset="-78"/>
              </a:rPr>
              <a:t> و </a:t>
            </a:r>
            <a:r>
              <a:rPr lang="en-US" sz="1600" b="1" dirty="0" err="1">
                <a:cs typeface="B Nazanin" panose="00000400000000000000" pitchFamily="2" charset="-78"/>
              </a:rPr>
              <a:t>اطلاعات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مثبت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fa-IR" sz="1600" b="1" dirty="0" smtClean="0">
                <a:cs typeface="B Nazanin" panose="00000400000000000000" pitchFamily="2" charset="-78"/>
              </a:rPr>
              <a:t>(</a:t>
            </a:r>
            <a:r>
              <a:rPr lang="en-US" sz="1600" b="1" dirty="0">
                <a:cs typeface="B Nazanin" panose="00000400000000000000" pitchFamily="2" charset="-78"/>
              </a:rPr>
              <a:t>Disqualifying </a:t>
            </a:r>
            <a:r>
              <a:rPr lang="en-US" sz="1600" b="1" dirty="0" smtClean="0">
                <a:cs typeface="B Nazanin" panose="00000400000000000000" pitchFamily="2" charset="-78"/>
              </a:rPr>
              <a:t>Positives</a:t>
            </a:r>
            <a:r>
              <a:rPr lang="fa-IR" sz="1600" b="1" dirty="0" smtClean="0">
                <a:cs typeface="B Nazanin" panose="00000400000000000000" pitchFamily="2" charset="-78"/>
              </a:rPr>
              <a:t>)</a:t>
            </a:r>
          </a:p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en-US" sz="1600" b="1" dirty="0" smtClean="0">
                <a:cs typeface="B Nazanin" panose="00000400000000000000" pitchFamily="2" charset="-78"/>
              </a:rPr>
              <a:t> </a:t>
            </a:r>
            <a:r>
              <a:rPr lang="en-US" sz="1600" b="1" dirty="0" err="1" smtClean="0">
                <a:cs typeface="B Nazanin" panose="00000400000000000000" pitchFamily="2" charset="-78"/>
              </a:rPr>
              <a:t>پریدن</a:t>
            </a:r>
            <a:r>
              <a:rPr lang="en-US" sz="1600" b="1" dirty="0" smtClean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به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نتیجه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بدون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طی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شدن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مسیر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fa-IR" sz="1600" b="1" dirty="0" smtClean="0">
                <a:cs typeface="B Nazanin" panose="00000400000000000000" pitchFamily="2" charset="-78"/>
              </a:rPr>
              <a:t>(</a:t>
            </a:r>
            <a:r>
              <a:rPr lang="en-US" sz="1600" b="1" dirty="0">
                <a:cs typeface="B Nazanin" panose="00000400000000000000" pitchFamily="2" charset="-78"/>
              </a:rPr>
              <a:t>Jumping to Conclusions</a:t>
            </a:r>
            <a:r>
              <a:rPr lang="fa-IR" sz="1600" b="1" dirty="0" smtClean="0">
                <a:cs typeface="B Nazanin" panose="00000400000000000000" pitchFamily="2" charset="-78"/>
              </a:rPr>
              <a:t>)</a:t>
            </a:r>
            <a:r>
              <a:rPr lang="en-US" sz="1600" b="1" dirty="0" smtClean="0">
                <a:cs typeface="B Nazanin" panose="00000400000000000000" pitchFamily="2" charset="-78"/>
              </a:rPr>
              <a:t> </a:t>
            </a:r>
            <a:endParaRPr lang="fa-IR" sz="1600" b="1" dirty="0" smtClean="0">
              <a:cs typeface="B Nazanin" panose="00000400000000000000" pitchFamily="2" charset="-78"/>
            </a:endParaRPr>
          </a:p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en-US" sz="1600" b="1" dirty="0" err="1" smtClean="0">
                <a:cs typeface="B Nazanin" panose="00000400000000000000" pitchFamily="2" charset="-78"/>
              </a:rPr>
              <a:t>شخصی</a:t>
            </a:r>
            <a:r>
              <a:rPr lang="en-US" sz="1600" b="1" dirty="0" smtClean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کردن</a:t>
            </a:r>
            <a:r>
              <a:rPr lang="en-US" sz="1600" b="1" dirty="0">
                <a:cs typeface="B Nazanin" panose="00000400000000000000" pitchFamily="2" charset="-78"/>
              </a:rPr>
              <a:t> و </a:t>
            </a:r>
            <a:r>
              <a:rPr lang="en-US" sz="1600" b="1" dirty="0" err="1">
                <a:cs typeface="B Nazanin" panose="00000400000000000000" pitchFamily="2" charset="-78"/>
              </a:rPr>
              <a:t>به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خودگرفتن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fa-IR" sz="1600" b="1" dirty="0" smtClean="0">
                <a:cs typeface="B Nazanin" panose="00000400000000000000" pitchFamily="2" charset="-78"/>
              </a:rPr>
              <a:t>(</a:t>
            </a:r>
            <a:r>
              <a:rPr lang="en-US" sz="1600" b="1" dirty="0">
                <a:cs typeface="B Nazanin" panose="00000400000000000000" pitchFamily="2" charset="-78"/>
              </a:rPr>
              <a:t>Personalization</a:t>
            </a:r>
            <a:r>
              <a:rPr lang="fa-IR" sz="1600" b="1" dirty="0" smtClean="0">
                <a:cs typeface="B Nazanin" panose="00000400000000000000" pitchFamily="2" charset="-78"/>
              </a:rPr>
              <a:t>)</a:t>
            </a:r>
            <a:endParaRPr lang="en-US" sz="1600" b="1" dirty="0">
              <a:cs typeface="B Nazanin" panose="00000400000000000000" pitchFamily="2" charset="-78"/>
            </a:endParaRPr>
          </a:p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en-US" sz="1600" b="1" dirty="0" err="1">
                <a:cs typeface="B Nazanin" panose="00000400000000000000" pitchFamily="2" charset="-78"/>
              </a:rPr>
              <a:t>ذهن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خوانی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fa-IR" sz="1600" b="1" dirty="0" smtClean="0">
                <a:cs typeface="B Nazanin" panose="00000400000000000000" pitchFamily="2" charset="-78"/>
              </a:rPr>
              <a:t>(</a:t>
            </a:r>
            <a:r>
              <a:rPr lang="en-US" sz="1600" b="1" dirty="0" smtClean="0">
                <a:cs typeface="B Nazanin" panose="00000400000000000000" pitchFamily="2" charset="-78"/>
              </a:rPr>
              <a:t> Mindreading</a:t>
            </a:r>
            <a:r>
              <a:rPr lang="fa-IR" sz="1600" b="1" dirty="0" smtClean="0">
                <a:cs typeface="B Nazanin" panose="00000400000000000000" pitchFamily="2" charset="-78"/>
              </a:rPr>
              <a:t>)</a:t>
            </a:r>
            <a:endParaRPr lang="en-US" sz="1600" b="1" dirty="0">
              <a:cs typeface="B Nazanin" panose="00000400000000000000" pitchFamily="2" charset="-78"/>
            </a:endParaRPr>
          </a:p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en-US" sz="1600" b="1" dirty="0" err="1">
                <a:cs typeface="B Nazanin" panose="00000400000000000000" pitchFamily="2" charset="-78"/>
              </a:rPr>
              <a:t>خطای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هاله</a:t>
            </a:r>
            <a:r>
              <a:rPr lang="en-US" sz="1600" b="1" dirty="0">
                <a:cs typeface="B Nazanin" panose="00000400000000000000" pitchFamily="2" charset="-78"/>
              </a:rPr>
              <a:t> </a:t>
            </a:r>
            <a:r>
              <a:rPr lang="en-US" sz="1600" b="1" dirty="0" err="1">
                <a:cs typeface="B Nazanin" panose="00000400000000000000" pitchFamily="2" charset="-78"/>
              </a:rPr>
              <a:t>ای</a:t>
            </a:r>
            <a:r>
              <a:rPr lang="en-US" sz="1600" b="1" dirty="0">
                <a:cs typeface="B Nazanin" panose="00000400000000000000" pitchFamily="2" charset="-78"/>
              </a:rPr>
              <a:t> (Halo Effect</a:t>
            </a:r>
            <a:r>
              <a:rPr lang="en-US" sz="1600" b="1" dirty="0" smtClean="0">
                <a:cs typeface="B Nazanin" panose="00000400000000000000" pitchFamily="2" charset="-78"/>
              </a:rPr>
              <a:t>)</a:t>
            </a:r>
            <a:endParaRPr lang="en-US" sz="1600" b="1" dirty="0">
              <a:cs typeface="B Nazanin" panose="00000400000000000000" pitchFamily="2" charset="-78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5878286" y="3565030"/>
            <a:ext cx="13063" cy="2874959"/>
          </a:xfrm>
          <a:prstGeom prst="line">
            <a:avLst/>
          </a:prstGeom>
          <a:ln w="28575">
            <a:solidFill>
              <a:schemeClr val="accent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1078693" y="2502359"/>
            <a:ext cx="55496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a-IR" sz="1600" dirty="0" smtClean="0">
                <a:cs typeface="B Nazanin" panose="00000400000000000000" pitchFamily="2" charset="-78"/>
              </a:rPr>
              <a:t>مثال :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54369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B6193-F9F1-4C54-838F-77350B9FC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125" y="425299"/>
            <a:ext cx="9875520" cy="709749"/>
          </a:xfrm>
        </p:spPr>
        <p:txBody>
          <a:bodyPr>
            <a:normAutofit fontScale="90000"/>
          </a:bodyPr>
          <a:lstStyle/>
          <a:p>
            <a:pPr algn="r"/>
            <a:r>
              <a:rPr lang="fa-IR" sz="4800" dirty="0" smtClean="0">
                <a:cs typeface="B Nazanin" panose="00000400000000000000" pitchFamily="2" charset="-78"/>
              </a:rPr>
              <a:t>تصمیم گیری چیست ؟</a:t>
            </a:r>
            <a:endParaRPr lang="en-US" sz="4800" dirty="0">
              <a:cs typeface="B Nazanin" panose="00000400000000000000" pitchFamily="2" charset="-78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888274" y="1240973"/>
            <a:ext cx="10437223" cy="1306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9509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B6193-F9F1-4C54-838F-77350B9FC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125" y="425299"/>
            <a:ext cx="9875520" cy="709749"/>
          </a:xfrm>
        </p:spPr>
        <p:txBody>
          <a:bodyPr>
            <a:normAutofit fontScale="90000"/>
          </a:bodyPr>
          <a:lstStyle/>
          <a:p>
            <a:pPr algn="r"/>
            <a:r>
              <a:rPr lang="fa-IR" sz="4800" dirty="0" smtClean="0">
                <a:cs typeface="B Nazanin" panose="00000400000000000000" pitchFamily="2" charset="-78"/>
              </a:rPr>
              <a:t>تصمیم گیری چیست ؟</a:t>
            </a:r>
            <a:endParaRPr lang="en-US" sz="4800" dirty="0">
              <a:cs typeface="B Nazanin" panose="00000400000000000000" pitchFamily="2" charset="-78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888274" y="1240973"/>
            <a:ext cx="10437223" cy="1306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3951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3DC42C2-6B58-404C-B339-2C72808A5BE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D81407-D1A6-42DD-AE7A-4FA34ACD1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609600"/>
            <a:ext cx="5038844" cy="1356360"/>
          </a:xfrm>
        </p:spPr>
        <p:txBody>
          <a:bodyPr>
            <a:normAutofit/>
          </a:bodyPr>
          <a:lstStyle/>
          <a:p>
            <a:pPr algn="ctr"/>
            <a:r>
              <a:rPr lang="fa-IR" sz="8000" dirty="0" smtClean="0">
                <a:solidFill>
                  <a:srgbClr val="FFFFFF"/>
                </a:solidFill>
                <a:cs typeface="B Nazanin" panose="00000400000000000000" pitchFamily="2" charset="-78"/>
              </a:rPr>
              <a:t>پایان</a:t>
            </a:r>
            <a:endParaRPr lang="en-US" dirty="0">
              <a:solidFill>
                <a:srgbClr val="FFFFFF"/>
              </a:solidFill>
              <a:cs typeface="B Nazanin" panose="00000400000000000000" pitchFamily="2" charset="-78"/>
            </a:endParaRPr>
          </a:p>
        </p:txBody>
      </p:sp>
      <p:pic>
        <p:nvPicPr>
          <p:cNvPr id="4" name="Picture 3" descr="Two people climbing a mountain">
            <a:extLst>
              <a:ext uri="{FF2B5EF4-FFF2-40B4-BE49-F238E27FC236}">
                <a16:creationId xmlns:a16="http://schemas.microsoft.com/office/drawing/2014/main" id="{629F2A20-8FE1-4EA2-AE83-45314542A65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278" b="2278"/>
          <a:stretch/>
        </p:blipFill>
        <p:spPr>
          <a:xfrm>
            <a:off x="232860" y="243840"/>
            <a:ext cx="5432443" cy="6377939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FF5D4E-7134-4EA4-BA11-FE50F4576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057400"/>
            <a:ext cx="5038844" cy="4038600"/>
          </a:xfrm>
        </p:spPr>
        <p:txBody>
          <a:bodyPr>
            <a:normAutofit/>
          </a:bodyPr>
          <a:lstStyle/>
          <a:p>
            <a:pPr marL="45720" indent="0" algn="ctr">
              <a:buNone/>
            </a:pPr>
            <a:r>
              <a:rPr lang="en-US" dirty="0" smtClean="0">
                <a:solidFill>
                  <a:srgbClr val="FFFFFF"/>
                </a:solidFill>
              </a:rPr>
              <a:t>Afshin.Abbaspour@gmail.com</a:t>
            </a:r>
            <a:endParaRPr lang="en-US" dirty="0">
              <a:solidFill>
                <a:srgbClr val="FFFFFF"/>
              </a:solidFill>
            </a:endParaRPr>
          </a:p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CF82941-5589-49BF-B6B1-76122B2D0EA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00" y="243840"/>
            <a:ext cx="11724640" cy="6377939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46983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04E1485-0760-4ABF-A612-28A97B86DF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5813238-AF3D-40EB-A3A4-550AB85131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965EBD3-98B5-4FD2-8FAF-5D4022A9F7F4}">
  <ds:schemaRefs>
    <ds:schemaRef ds:uri="http://purl.org/dc/elements/1.1/"/>
    <ds:schemaRef ds:uri="http://schemas.openxmlformats.org/package/2006/metadata/core-properties"/>
    <ds:schemaRef ds:uri="http://www.w3.org/XML/1998/namespace"/>
    <ds:schemaRef ds:uri="16c05727-aa75-4e4a-9b5f-8a80a1165891"/>
    <ds:schemaRef ds:uri="http://schemas.microsoft.com/office/2006/documentManagement/types"/>
    <ds:schemaRef ds:uri="http://purl.org/dc/terms/"/>
    <ds:schemaRef ds:uri="http://schemas.microsoft.com/office/infopath/2007/PartnerControls"/>
    <ds:schemaRef ds:uri="71af3243-3dd4-4a8d-8c0d-dd76da1f02a5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Tourism Facet design</Template>
  <TotalTime>0</TotalTime>
  <Words>1747</Words>
  <Application>Microsoft Office PowerPoint</Application>
  <PresentationFormat>Widescreen</PresentationFormat>
  <Paragraphs>184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B Nazanin</vt:lpstr>
      <vt:lpstr>Corbel</vt:lpstr>
      <vt:lpstr>Corbel (Body)</vt:lpstr>
      <vt:lpstr>IRANSans</vt:lpstr>
      <vt:lpstr>Tahoma</vt:lpstr>
      <vt:lpstr>Wingdings</vt:lpstr>
      <vt:lpstr>Basis</vt:lpstr>
      <vt:lpstr>مهارت تصمیم گیری درست</vt:lpstr>
      <vt:lpstr>تصمیم گیری چیست ؟</vt:lpstr>
      <vt:lpstr>انواع تصمیم گیری </vt:lpstr>
      <vt:lpstr>مهارت تصمیم گیری</vt:lpstr>
      <vt:lpstr>تصمیم درست / نتیجه نامطلوب  </vt:lpstr>
      <vt:lpstr>اهمیت تصمیم سازی</vt:lpstr>
      <vt:lpstr>خرده مهارت های مرتبط با تصمیم گیری درست </vt:lpstr>
      <vt:lpstr>فوبیای تصمیم گیری </vt:lpstr>
      <vt:lpstr>اولویت بندی ارزشها در تصمیم گیری </vt:lpstr>
      <vt:lpstr>چالش اخلاق و فرهنگ در تصمیم گیری </vt:lpstr>
      <vt:lpstr> ثبت و مرور تصمیمها</vt:lpstr>
      <vt:lpstr>خطا های شناختی یا خطاهای ذهنی </vt:lpstr>
      <vt:lpstr>تصمیم گیری چیست ؟</vt:lpstr>
      <vt:lpstr>تصمیم گیری چیست ؟</vt:lpstr>
      <vt:lpstr>پایان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2019-02-05T10:32:05Z</dcterms:created>
  <dcterms:modified xsi:type="dcterms:W3CDTF">2019-04-06T05:53:41Z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