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876" r:id="rId4"/>
  </p:sldMasterIdLst>
  <p:sldIdLst>
    <p:sldId id="256" r:id="rId5"/>
    <p:sldId id="257" r:id="rId6"/>
    <p:sldId id="262" r:id="rId7"/>
    <p:sldId id="261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2" r:id="rId16"/>
    <p:sldId id="273" r:id="rId17"/>
    <p:sldId id="265" r:id="rId18"/>
    <p:sldId id="274" r:id="rId19"/>
    <p:sldId id="275" r:id="rId20"/>
    <p:sldId id="276" r:id="rId21"/>
    <p:sldId id="277" r:id="rId22"/>
    <p:sldId id="271" r:id="rId23"/>
    <p:sldId id="260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BE9F"/>
    <a:srgbClr val="E0B488"/>
    <a:srgbClr val="4372C2"/>
    <a:srgbClr val="AFA9FB"/>
    <a:srgbClr val="A6B727"/>
    <a:srgbClr val="71AB47"/>
    <a:srgbClr val="44B565"/>
    <a:srgbClr val="41BCB7"/>
    <a:srgbClr val="44B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42" autoAdjust="0"/>
    <p:restoredTop sz="94660"/>
  </p:normalViewPr>
  <p:slideViewPr>
    <p:cSldViewPr snapToGrid="0">
      <p:cViewPr>
        <p:scale>
          <a:sx n="66" d="100"/>
          <a:sy n="66" d="100"/>
        </p:scale>
        <p:origin x="774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926080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7200" b="1" cap="all" baseline="0">
                <a:solidFill>
                  <a:srgbClr val="FFFFFF"/>
                </a:solidFill>
              </a:defRPr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rgbClr val="FFFFFF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noProof="0" smtClean="0"/>
              <a:t>Click to edit Master subtitle style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9AB3A824-1A51-4B26-AD58-A6D8E14F6C04}" type="datetimeFigureOut">
              <a:rPr lang="en-US" noProof="0" smtClean="0"/>
              <a:t>4/17/2019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8" name="Straight Connector 7"/>
          <p:cNvCxnSpPr/>
          <p:nvPr/>
        </p:nvCxnSpPr>
        <p:spPr>
          <a:xfrm>
            <a:off x="1978660" y="3733800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178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162C4-EDD9-4389-A98B-B87ECEA2A816}" type="datetimeFigureOut">
              <a:rPr lang="en-US" noProof="0" smtClean="0"/>
              <a:t>4/17/2019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2039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173575"/>
            <a:ext cx="9966960" cy="2926080"/>
          </a:xfrm>
        </p:spPr>
        <p:txBody>
          <a:bodyPr anchor="b">
            <a:noAutofit/>
          </a:bodyPr>
          <a:lstStyle>
            <a:lvl1pPr algn="ctr">
              <a:lnSpc>
                <a:spcPct val="85000"/>
              </a:lnSpc>
              <a:defRPr sz="7200" b="0" cap="all" baseline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ctr">
              <a:buNone/>
              <a:defRPr sz="2200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059C3-6A89-4494-99FF-5A4D6FFD50EB}" type="datetimeFigureOut">
              <a:rPr lang="en-US" noProof="0" smtClean="0"/>
              <a:t>4/17/2019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981200" y="4020408"/>
            <a:ext cx="8229601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936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3000" y="2057399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67612" y="2057400"/>
            <a:ext cx="4754880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54B2F-12DE-47F5-8894-472B206D2E1E}" type="datetimeFigureOut">
              <a:rPr lang="en-US" noProof="0" smtClean="0"/>
              <a:t>4/17/2019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816700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01511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3000" y="2721483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69173" y="1999032"/>
            <a:ext cx="475488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69173" y="2719322"/>
            <a:ext cx="475488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BC1C18-307B-4F68-A007-B5B542270E8D}" type="datetimeFigureOut">
              <a:rPr lang="en-US" noProof="0" smtClean="0"/>
              <a:t>4/17/2019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63352574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F3416-4057-4DAA-829D-4CA07428D088}" type="datetimeFigureOut">
              <a:rPr lang="en-US" noProof="0" smtClean="0"/>
              <a:t>4/17/2019</a:t>
            </a:fld>
            <a:endParaRPr lang="en-U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05428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D9284-D300-4297-87F7-E791DCC15DB1}" type="datetimeFigureOut">
              <a:rPr lang="en-US" noProof="0" smtClean="0"/>
              <a:t>4/17/2019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98825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525BB-DA17-4BA0-B3C8-3AC3ABC827E6}" type="datetimeFigureOut">
              <a:rPr lang="en-US" noProof="0" smtClean="0"/>
              <a:t>4/17/2019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583836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 smtClean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C4C9A-3960-41CF-A4E9-2A8FB932454B}" type="datetimeFigureOut">
              <a:rPr lang="en-US" noProof="0" smtClean="0"/>
              <a:t>4/17/2019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740848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57E33E-8B18-4087-B112-809917729534}" type="datetimeFigureOut">
              <a:rPr lang="en-US" noProof="0" smtClean="0"/>
              <a:t>4/17/2019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35526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 noProof="0" smtClean="0"/>
              <a:t>Edit Master text styles</a:t>
            </a:r>
          </a:p>
          <a:p>
            <a:pPr lvl="1"/>
            <a:r>
              <a:rPr lang="en-US" noProof="0" smtClean="0"/>
              <a:t>Second level</a:t>
            </a:r>
          </a:p>
          <a:p>
            <a:pPr lvl="2"/>
            <a:r>
              <a:rPr lang="en-US" noProof="0" smtClean="0"/>
              <a:t>Third level</a:t>
            </a:r>
          </a:p>
          <a:p>
            <a:pPr lvl="3"/>
            <a:r>
              <a:rPr lang="en-US" noProof="0" smtClean="0"/>
              <a:t>Fourth level</a:t>
            </a:r>
          </a:p>
          <a:p>
            <a:pPr lvl="4"/>
            <a:r>
              <a:rPr lang="en-US" noProof="0" smtClean="0"/>
              <a:t>Fifth level</a:t>
            </a:r>
            <a:endParaRPr lang="en-US" noProof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FFE419-2371-464F-8239-3959401C3561}" type="datetimeFigureOut">
              <a:rPr lang="en-US" noProof="0" smtClean="0"/>
              <a:t>4/17/2019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994763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3000" y="609600"/>
            <a:ext cx="9875520" cy="13563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smtClean="0"/>
              <a:t>Click to edit Master title style</a:t>
            </a:r>
            <a:endParaRPr lang="en-US" noProof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2057400"/>
            <a:ext cx="9872871" cy="4038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42996" y="6223828"/>
            <a:ext cx="23290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accent1"/>
                </a:solidFill>
              </a:defRPr>
            </a:lvl1pPr>
          </a:lstStyle>
          <a:p>
            <a:fld id="{3CBC1C18-307B-4F68-A007-B5B542270E8D}" type="datetimeFigureOut">
              <a:rPr lang="en-US" noProof="0" smtClean="0"/>
              <a:t>4/17/2019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49148" y="6223828"/>
            <a:ext cx="471777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accent1"/>
                </a:solidFill>
              </a:defRPr>
            </a:lvl1pPr>
          </a:lstStyle>
          <a:p>
            <a:r>
              <a:rPr lang="en-US" noProof="0" dirty="0"/>
              <a:t>
             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9530" y="6223828"/>
            <a:ext cx="17062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accent1"/>
                </a:solidFill>
              </a:defRPr>
            </a:lvl1pPr>
          </a:lstStyle>
          <a:p>
            <a:fld id="{6D22F896-40B5-4ADD-8801-0D06FADFA095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022588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accent1"/>
        </a:buClr>
        <a:buSzPct val="80000"/>
        <a:buFont typeface="Corbel" pitchFamily="34" charset="0"/>
        <a:buChar char="•"/>
        <a:defRPr sz="22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Corbel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0" name="Straight Connector 41">
            <a:extLst>
              <a:ext uri="{FF2B5EF4-FFF2-40B4-BE49-F238E27FC236}">
                <a16:creationId xmlns:a16="http://schemas.microsoft.com/office/drawing/2014/main" id="{63FED537-3AF1-4C36-9904-77B6A54D27B5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978660" y="5462458"/>
            <a:ext cx="8229601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050E78D6-F072-48E7-8270-20EFBDD26F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8095" y="4076095"/>
            <a:ext cx="9966960" cy="1325880"/>
          </a:xfrm>
        </p:spPr>
        <p:txBody>
          <a:bodyPr>
            <a:noAutofit/>
          </a:bodyPr>
          <a:lstStyle/>
          <a:p>
            <a:r>
              <a:rPr lang="fa-IR" sz="6500" dirty="0">
                <a:cs typeface="B Nazanin" panose="00000400000000000000" pitchFamily="2" charset="-78"/>
              </a:rPr>
              <a:t>مهارت تصمیم گیری </a:t>
            </a:r>
            <a:r>
              <a:rPr lang="fa-IR" sz="6500" dirty="0" smtClean="0">
                <a:cs typeface="B Nazanin" panose="00000400000000000000" pitchFamily="2" charset="-78"/>
              </a:rPr>
              <a:t>درست</a:t>
            </a:r>
            <a:endParaRPr lang="fa-IR" sz="6500" dirty="0">
              <a:cs typeface="B Nazanin" panose="00000400000000000000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7BD98-5486-489C-BAA0-A69CEFF691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530" y="5598293"/>
            <a:ext cx="8767860" cy="553690"/>
          </a:xfrm>
        </p:spPr>
        <p:txBody>
          <a:bodyPr>
            <a:normAutofit/>
          </a:bodyPr>
          <a:lstStyle/>
          <a:p>
            <a:r>
              <a:rPr lang="fa-IR" sz="2000" dirty="0">
                <a:cs typeface="B Nazanin" panose="00000400000000000000" pitchFamily="2" charset="-78"/>
              </a:rPr>
              <a:t>در مدیریت و زندگی</a:t>
            </a:r>
            <a:endParaRPr lang="en-US" sz="2000" dirty="0"/>
          </a:p>
        </p:txBody>
      </p:sp>
      <p:pic>
        <p:nvPicPr>
          <p:cNvPr id="7" name="Picture 6" descr="Man looking at landscape">
            <a:extLst>
              <a:ext uri="{FF2B5EF4-FFF2-40B4-BE49-F238E27FC236}">
                <a16:creationId xmlns:a16="http://schemas.microsoft.com/office/drawing/2014/main" id="{CD9EF39B-AB41-49AB-8163-8B5FD7D283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3840" y="256540"/>
            <a:ext cx="11704320" cy="376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050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27" name="Group 26"/>
          <p:cNvGrpSpPr/>
          <p:nvPr/>
        </p:nvGrpSpPr>
        <p:grpSpPr>
          <a:xfrm>
            <a:off x="888274" y="2929010"/>
            <a:ext cx="10371909" cy="1871870"/>
            <a:chOff x="953588" y="1554480"/>
            <a:chExt cx="10371909" cy="1871870"/>
          </a:xfrm>
        </p:grpSpPr>
        <p:sp>
          <p:nvSpPr>
            <p:cNvPr id="9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10058400" y="1833157"/>
              <a:ext cx="1267097" cy="709749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حل مسئله 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cxnSp>
          <p:nvCxnSpPr>
            <p:cNvPr id="11" name="Straight Arrow Connector 10"/>
            <p:cNvCxnSpPr/>
            <p:nvPr/>
          </p:nvCxnSpPr>
          <p:spPr>
            <a:xfrm flipH="1">
              <a:off x="8934994" y="2188031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 flipH="1">
              <a:off x="5957667" y="2188031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9" name="Group 18"/>
            <p:cNvGrpSpPr/>
            <p:nvPr/>
          </p:nvGrpSpPr>
          <p:grpSpPr>
            <a:xfrm>
              <a:off x="7419702" y="1554480"/>
              <a:ext cx="1267097" cy="1667703"/>
              <a:chOff x="7289074" y="1554480"/>
              <a:chExt cx="1267097" cy="1667703"/>
            </a:xfrm>
          </p:grpSpPr>
          <p:sp>
            <p:nvSpPr>
              <p:cNvPr id="14" name="Rectangle 13"/>
              <p:cNvSpPr/>
              <p:nvPr/>
            </p:nvSpPr>
            <p:spPr>
              <a:xfrm>
                <a:off x="7289074" y="1554480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1</a:t>
                </a:r>
                <a:endParaRPr lang="en-US" sz="1200" dirty="0"/>
              </a:p>
            </p:txBody>
          </p:sp>
          <p:sp>
            <p:nvSpPr>
              <p:cNvPr id="15" name="Rectangle 14"/>
              <p:cNvSpPr/>
              <p:nvPr/>
            </p:nvSpPr>
            <p:spPr>
              <a:xfrm>
                <a:off x="7289074" y="1963785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2</a:t>
                </a:r>
                <a:endParaRPr lang="en-US" sz="1200" dirty="0"/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7289074" y="2355678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a-IR" sz="1200" dirty="0" smtClean="0"/>
                  <a:t>راه حل شماره 3</a:t>
                </a:r>
                <a:endParaRPr lang="en-US" sz="1200" dirty="0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7289074" y="2943506"/>
                <a:ext cx="1267097" cy="278677"/>
              </a:xfrm>
              <a:prstGeom prst="rec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1"/>
                <a:r>
                  <a:rPr lang="fa-IR" sz="1200" dirty="0" smtClean="0"/>
                  <a:t>راه حل شماره </a:t>
                </a:r>
                <a:r>
                  <a:rPr lang="en-US" sz="1200" dirty="0"/>
                  <a:t> </a:t>
                </a:r>
                <a:r>
                  <a:rPr lang="en-US" sz="1200" dirty="0" smtClean="0"/>
                  <a:t>n</a:t>
                </a:r>
                <a:endParaRPr lang="en-US" sz="1200" dirty="0"/>
              </a:p>
            </p:txBody>
          </p:sp>
          <p:sp>
            <p:nvSpPr>
              <p:cNvPr id="18" name="Title 1">
                <a:extLst>
                  <a:ext uri="{FF2B5EF4-FFF2-40B4-BE49-F238E27FC236}">
                    <a16:creationId xmlns:a16="http://schemas.microsoft.com/office/drawing/2014/main" id="{BB4B6193-F9F1-4C54-838F-77350B9FC5D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6457" y="2638718"/>
                <a:ext cx="457200" cy="304788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 fontScale="75000" lnSpcReduction="20000"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accent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pPr algn="r"/>
                <a:r>
                  <a:rPr lang="fa-IR" sz="2400" dirty="0" smtClean="0">
                    <a:solidFill>
                      <a:schemeClr val="tx1"/>
                    </a:solidFill>
                    <a:cs typeface="B Nazanin" panose="00000400000000000000" pitchFamily="2" charset="-78"/>
                  </a:rPr>
                  <a:t>...</a:t>
                </a:r>
                <a:endParaRPr lang="en-US" sz="2400" dirty="0">
                  <a:solidFill>
                    <a:schemeClr val="tx1"/>
                  </a:solidFill>
                  <a:cs typeface="B Nazanin" panose="00000400000000000000" pitchFamily="2" charset="-78"/>
                </a:endParaRPr>
              </a:p>
            </p:txBody>
          </p:sp>
        </p:grpSp>
        <p:sp>
          <p:nvSpPr>
            <p:cNvPr id="21" name="Rectangle 20"/>
            <p:cNvSpPr/>
            <p:nvPr/>
          </p:nvSpPr>
          <p:spPr>
            <a:xfrm>
              <a:off x="4516393" y="1965572"/>
              <a:ext cx="1422184" cy="433965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 fontScale="97500"/>
            </a:bodyPr>
            <a:lstStyle/>
            <a:p>
              <a:pPr algn="r" defTabSz="914400">
                <a:lnSpc>
                  <a:spcPct val="90000"/>
                </a:lnSpc>
                <a:spcBef>
                  <a:spcPct val="0"/>
                </a:spcBef>
              </a:pPr>
              <a:r>
                <a:rPr lang="fa-IR" sz="2400" dirty="0">
                  <a:latin typeface="+mj-lt"/>
                  <a:ea typeface="+mj-ea"/>
                  <a:cs typeface="B Nazanin" panose="00000400000000000000" pitchFamily="2" charset="-78"/>
                </a:rPr>
                <a:t>تصمیم گیری</a:t>
              </a:r>
              <a:endParaRPr lang="en-US" sz="2400" dirty="0">
                <a:latin typeface="+mj-lt"/>
                <a:ea typeface="+mj-ea"/>
                <a:cs typeface="B Nazanin" panose="00000400000000000000" pitchFamily="2" charset="-78"/>
              </a:endParaRPr>
            </a:p>
          </p:txBody>
        </p:sp>
        <p:cxnSp>
          <p:nvCxnSpPr>
            <p:cNvPr id="22" name="Straight Arrow Connector 21"/>
            <p:cNvCxnSpPr/>
            <p:nvPr/>
          </p:nvCxnSpPr>
          <p:spPr>
            <a:xfrm flipH="1">
              <a:off x="3249294" y="2176025"/>
              <a:ext cx="1188721" cy="0"/>
            </a:xfrm>
            <a:prstGeom prst="straightConnector1">
              <a:avLst/>
            </a:prstGeom>
            <a:ln w="76200"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23" name="Rectangle 22"/>
            <p:cNvSpPr/>
            <p:nvPr/>
          </p:nvSpPr>
          <p:spPr>
            <a:xfrm>
              <a:off x="2231512" y="1964515"/>
              <a:ext cx="73129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b="1" dirty="0">
                  <a:cs typeface="B Nazanin" panose="00000400000000000000" pitchFamily="2" charset="-78"/>
                </a:rPr>
                <a:t>انتخاب</a:t>
              </a:r>
              <a:endParaRPr lang="en-US" b="1" dirty="0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953588" y="2003704"/>
              <a:ext cx="1267097" cy="278677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a-IR" sz="1200" dirty="0" smtClean="0"/>
                <a:t>راه حل شماره 3</a:t>
              </a:r>
              <a:endParaRPr lang="en-US" sz="1200" dirty="0"/>
            </a:p>
          </p:txBody>
        </p:sp>
        <p:sp>
          <p:nvSpPr>
            <p:cNvPr id="25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9442184" y="2716601"/>
              <a:ext cx="1883313" cy="709749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 anchor="ctr">
              <a:normAutofit fontScale="975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مهارت حل مسئله 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  <p:sp>
          <p:nvSpPr>
            <p:cNvPr id="26" name="Title 1">
              <a:extLst>
                <a:ext uri="{FF2B5EF4-FFF2-40B4-BE49-F238E27FC236}">
                  <a16:creationId xmlns:a16="http://schemas.microsoft.com/office/drawing/2014/main" id="{BB4B6193-F9F1-4C54-838F-77350B9FC5DC}"/>
                </a:ext>
              </a:extLst>
            </p:cNvPr>
            <p:cNvSpPr txBox="1">
              <a:spLocks/>
            </p:cNvSpPr>
            <p:nvPr/>
          </p:nvSpPr>
          <p:spPr>
            <a:xfrm>
              <a:off x="4211856" y="2716600"/>
              <a:ext cx="2217330" cy="709749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vert="horz" lIns="91440" tIns="45720" rIns="91440" bIns="45720" rtlCol="0" anchor="ctr">
              <a:normAutofit fontScale="97500" lnSpcReduction="10000"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chemeClr val="accent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fa-IR" sz="2400" dirty="0" smtClean="0">
                  <a:solidFill>
                    <a:schemeClr val="tx1"/>
                  </a:solidFill>
                  <a:cs typeface="B Nazanin" panose="00000400000000000000" pitchFamily="2" charset="-78"/>
                </a:rPr>
                <a:t>مهارت تصمیم گیری درست</a:t>
              </a:r>
              <a:endParaRPr lang="en-US" sz="2400" dirty="0">
                <a:solidFill>
                  <a:schemeClr val="tx1"/>
                </a:solidFill>
                <a:cs typeface="B Nazanin" panose="00000400000000000000" pitchFamily="2" charset="-78"/>
              </a:endParaRPr>
            </a:p>
          </p:txBody>
        </p:sp>
      </p:grpSp>
      <p:sp>
        <p:nvSpPr>
          <p:cNvPr id="28" name="Rectangle 27"/>
          <p:cNvSpPr/>
          <p:nvPr/>
        </p:nvSpPr>
        <p:spPr>
          <a:xfrm>
            <a:off x="574766" y="1512448"/>
            <a:ext cx="1075073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cs typeface="B Nazanin" panose="00000400000000000000" pitchFamily="2" charset="-78"/>
              </a:rPr>
              <a:t>وقتی از </a:t>
            </a:r>
            <a:r>
              <a:rPr lang="fa-IR" b="1" dirty="0">
                <a:cs typeface="B Nazanin" panose="00000400000000000000" pitchFamily="2" charset="-78"/>
              </a:rPr>
              <a:t>تصمیم گیری</a:t>
            </a:r>
            <a:r>
              <a:rPr lang="fa-IR" dirty="0">
                <a:cs typeface="B Nazanin" panose="00000400000000000000" pitchFamily="2" charset="-78"/>
              </a:rPr>
              <a:t> حرف می‌زنیم، همیشه </a:t>
            </a:r>
            <a:r>
              <a:rPr lang="fa-IR" b="1" dirty="0">
                <a:cs typeface="B Nazanin" panose="00000400000000000000" pitchFamily="2" charset="-78"/>
              </a:rPr>
              <a:t>گزینه‌ها مشخص هستند</a:t>
            </a:r>
            <a:r>
              <a:rPr lang="fa-IR" b="1" dirty="0" smtClean="0">
                <a:cs typeface="B Nazanin" panose="00000400000000000000" pitchFamily="2" charset="-78"/>
              </a:rPr>
              <a:t>.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بیان دیگر، سوالِ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گیری 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 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نیست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: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b="1" dirty="0">
                <a:solidFill>
                  <a:srgbClr val="002060"/>
                </a:solidFill>
                <a:latin typeface="IRANSans"/>
                <a:cs typeface="B Nazanin" panose="00000400000000000000" pitchFamily="2" charset="-78"/>
              </a:rPr>
              <a:t>چه گزینه‌هایی پیش روی من است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؟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397725" y="5594308"/>
            <a:ext cx="9418320" cy="64633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نقش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بدنه‌ی کارشناسی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در سازمان‌ها و نیز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بسیاری از مشاوران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</a:t>
            </a:r>
            <a:r>
              <a:rPr lang="en-US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همکاری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فازِ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حل مسئله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است.</a:t>
            </a:r>
            <a:r>
              <a:rPr lang="en-US" dirty="0" smtClean="0"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معمولاً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مدیران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هستند که وظیفه‌ی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(انتخاب از بین گزینه‌های روی میز) را بر عهده می‌گیرند. 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28474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انواع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7107922" y="1767601"/>
            <a:ext cx="289995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Individual </a:t>
            </a:r>
            <a:r>
              <a:rPr lang="en-US" sz="1400" dirty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Decision </a:t>
            </a:r>
            <a:r>
              <a:rPr lang="en-US" sz="1400" dirty="0" smtClean="0">
                <a:solidFill>
                  <a:srgbClr val="4372C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Making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1BCB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Managerial Decisions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 smtClean="0">
                <a:solidFill>
                  <a:srgbClr val="44B565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Negotiation Decisions</a:t>
            </a:r>
          </a:p>
          <a:p>
            <a:pPr marL="285750" indent="-285750" algn="just" rtl="1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71AB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Societal </a:t>
            </a:r>
            <a:r>
              <a:rPr lang="en-US" sz="1400" dirty="0" smtClean="0">
                <a:solidFill>
                  <a:srgbClr val="71AB4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Decisions</a:t>
            </a:r>
            <a:endParaRPr lang="en-US" sz="1400" dirty="0">
              <a:solidFill>
                <a:srgbClr val="71AB4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703" y="1978669"/>
            <a:ext cx="3714750" cy="36766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746344" y="1963896"/>
            <a:ext cx="215537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اساس</a:t>
            </a:r>
            <a:endParaRPr lang="en-US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ctr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نقش تصمیم گیرنده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41369" y="1691901"/>
            <a:ext cx="4508001" cy="954107"/>
          </a:xfrm>
          <a:prstGeom prst="rect">
            <a:avLst/>
          </a:prstGeom>
          <a:ln w="28575">
            <a:solidFill>
              <a:srgbClr val="4372C2"/>
            </a:solidFill>
          </a:ln>
        </p:spPr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محوریت تصمیم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است و بیشترین اثر تصمیم بر روی خود فرد می باشد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مسائلی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مانند </a:t>
            </a:r>
            <a:r>
              <a:rPr lang="fa-IR" sz="14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 بر اساس احساس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chemeClr val="accent5">
                    <a:lumMod val="50000"/>
                  </a:schemeClr>
                </a:solidFill>
                <a:latin typeface="IRANSans"/>
                <a:cs typeface="B Nazanin" panose="00000400000000000000" pitchFamily="2" charset="-78"/>
              </a:rPr>
              <a:t>تصمیم گیری‌های شهودی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خطاهای شناختی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...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جمله موضوعاتی هستند که در این نوع تصمیم گیری‌ها مورد توجه قرار می‌گیرند.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58410" y="3606297"/>
            <a:ext cx="4165602" cy="1169551"/>
          </a:xfrm>
          <a:prstGeom prst="rect">
            <a:avLst/>
          </a:prstGeom>
          <a:ln w="28575">
            <a:solidFill>
              <a:srgbClr val="41BCB7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این تصمیمات باید با مدیران بالادستی و </a:t>
            </a:r>
            <a:r>
              <a:rPr lang="fa-IR" sz="1400" b="1" dirty="0" smtClean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سازمان هماهنگی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پذیرد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 با تصمیم‌های مدیریتی مواجه می‌شوند، معمولاً ترجیح می‌دهند از 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الگوها و ابزارها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 مدل‌های شناخته شده برای تصمیم گیری استفاده کنند تا بعداً بتوانند از تصمیم‌های خود بهتر دفاع کنند.</a:t>
            </a:r>
            <a:endParaRPr lang="en-US" sz="14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937068" y="5338761"/>
            <a:ext cx="4948646" cy="1169551"/>
          </a:xfrm>
          <a:prstGeom prst="rect">
            <a:avLst/>
          </a:prstGeom>
          <a:ln w="28575">
            <a:solidFill>
              <a:srgbClr val="44B563"/>
            </a:solidFill>
          </a:ln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بجای یک تصمیم، با یک </a:t>
            </a:r>
            <a:r>
              <a:rPr lang="fa-IR" sz="14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زنجیره از تصمیم‌ها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مواجه هستید</a:t>
            </a: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پارامتر‌های تصمیم گیری طرف مقابل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 برای ما جهت تصمیم گیری اهمیت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دارد.</a:t>
            </a: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تصمیم‌های مذاکره‌ای را در بسیاری از موارد نمی‌توان به تعویق انداخت. </a:t>
            </a:r>
            <a:endParaRPr lang="fa-IR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چاره‌ای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ندارید جز اینکه در همان زمان، گزینه‌ی مناسب را انتخاب کنید. </a:t>
            </a:r>
            <a:endParaRPr lang="fa-IR" sz="1400" dirty="0" smtClean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r" rtl="1"/>
            <a:r>
              <a:rPr lang="fa-IR" sz="14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( تصمیم گیری سریع )</a:t>
            </a:r>
            <a:endParaRPr lang="en-US" sz="14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41370" y="4471738"/>
            <a:ext cx="4264436" cy="738664"/>
          </a:xfrm>
          <a:prstGeom prst="rect">
            <a:avLst/>
          </a:prstGeom>
          <a:ln w="28575">
            <a:solidFill>
              <a:srgbClr val="71AB47"/>
            </a:solidFill>
          </a:ln>
        </p:spPr>
        <p:txBody>
          <a:bodyPr wrap="square">
            <a:spAutoFit/>
          </a:bodyPr>
          <a:lstStyle/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یکی از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اهداف </a:t>
            </a:r>
            <a:r>
              <a:rPr lang="fa-IR" sz="1400" b="1" dirty="0">
                <a:solidFill>
                  <a:schemeClr val="accent2"/>
                </a:solidFill>
                <a:latin typeface="IRANSans"/>
                <a:cs typeface="B Nazanin" panose="00000400000000000000" pitchFamily="2" charset="-78"/>
              </a:rPr>
              <a:t>تفکر سیستمی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بهبود این نوع تصمیم ها می باشد . </a:t>
            </a:r>
          </a:p>
          <a:p>
            <a:pPr marL="171450" indent="-171450" algn="justLow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استفاده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کیسه زباله پلاستیکی یا کاغذی، خاموش کردن یا نکردن یک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لامپ</a:t>
            </a:r>
            <a:r>
              <a:rPr lang="en-US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تنظیم کردن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موتور و ... از این نوع تصمیم گیری ها    می باشند . </a:t>
            </a:r>
            <a:endParaRPr lang="en-US" sz="14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6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مهارت تصمیم گیری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0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802674" y="1359961"/>
            <a:ext cx="9522823" cy="573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rtl="1"/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تصمیم گیری یک </a:t>
            </a:r>
            <a:r>
              <a:rPr lang="fa-IR" sz="2400" b="1" dirty="0" smtClean="0">
                <a:solidFill>
                  <a:srgbClr val="FF0000"/>
                </a:solidFill>
                <a:cs typeface="B Nazanin" panose="00000400000000000000" pitchFamily="2" charset="-78"/>
              </a:rPr>
              <a:t>مهارت</a:t>
            </a:r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 . ما با تجربه و تمرین و توجه</a:t>
            </a:r>
            <a:r>
              <a:rPr lang="en-US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</a:t>
            </a:r>
            <a:r>
              <a:rPr lang="fa-IR" sz="24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، تصمیم گیری هایمان بهبود پیدا میکند .  </a:t>
            </a:r>
            <a:endParaRPr lang="en-US" sz="24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4959" y="2872816"/>
            <a:ext cx="981075" cy="1524000"/>
          </a:xfrm>
          <a:prstGeom prst="rect">
            <a:avLst/>
          </a:prstGeom>
        </p:spPr>
      </p:pic>
      <p:sp>
        <p:nvSpPr>
          <p:cNvPr id="31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033662" y="1923087"/>
            <a:ext cx="7842340" cy="505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تصمیماتی که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قادر به بیان آنها نیستیم (سخت بیان میکنیم ) 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/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شهودی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 هستند / از ما زمان و انرژی </a:t>
            </a:r>
            <a:r>
              <a:rPr lang="fa-IR" sz="1800" dirty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نمیگیرند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  </a:t>
            </a:r>
            <a:endParaRPr lang="en-US" sz="1800" dirty="0">
              <a:solidFill>
                <a:schemeClr val="accent4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2934" y="3083619"/>
            <a:ext cx="1352550" cy="1066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 rot="16200000">
            <a:off x="8617653" y="2692392"/>
            <a:ext cx="981359" cy="307777"/>
          </a:xfrm>
          <a:prstGeom prst="rect">
            <a:avLst/>
          </a:prstGeom>
        </p:spPr>
        <p:style>
          <a:lnRef idx="1">
            <a:schemeClr val="accent3"/>
          </a:lnRef>
          <a:fillRef idx="3">
            <a:schemeClr val="accent3"/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 1 </a:t>
            </a:r>
          </a:p>
        </p:txBody>
      </p:sp>
      <p:sp>
        <p:nvSpPr>
          <p:cNvPr id="32" name="Rectangle 31"/>
          <p:cNvSpPr/>
          <p:nvPr/>
        </p:nvSpPr>
        <p:spPr>
          <a:xfrm rot="16200000">
            <a:off x="8625347" y="4219650"/>
            <a:ext cx="965970" cy="307777"/>
          </a:xfrm>
          <a:prstGeom prst="rect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/>
          <a:p>
            <a:r>
              <a:rPr lang="en-US" sz="1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System 2 </a:t>
            </a:r>
            <a:endParaRPr lang="en-US" sz="1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33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2355528"/>
            <a:ext cx="7842340" cy="12715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این دفعه کدان طعم بستنی رو برای خوردن انتخاب کنم؟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هر روز صبح : امروز سر کار بروم یا نه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رفتن به سر کار از این کوچه بگذرم یا از اون کوچه عبور کنم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در رانندگی : الان ترمز بکنم یا نکنم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یک متخصص حرفه ای نرم افزار : معماری سیستم رو قبل از پیاده سازی تعیین بکنم یا نکنم ؟ </a:t>
            </a:r>
            <a:endParaRPr lang="en-US" sz="16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3660358"/>
            <a:ext cx="7842340" cy="5050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تصمیماتی که </a:t>
            </a:r>
            <a:r>
              <a:rPr lang="fa-IR" sz="1800" b="1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دلایل آن را مشخصا میدانیم و بیان میکنیم </a:t>
            </a:r>
            <a:r>
              <a:rPr lang="fa-IR" sz="1800" dirty="0" smtClean="0">
                <a:solidFill>
                  <a:schemeClr val="accent4">
                    <a:lumMod val="75000"/>
                  </a:schemeClr>
                </a:solidFill>
                <a:cs typeface="B Nazanin" panose="00000400000000000000" pitchFamily="2" charset="-78"/>
              </a:rPr>
              <a:t>/ از ما زمان و انرژی زیاد میگیرند   </a:t>
            </a:r>
            <a:endParaRPr lang="en-US" sz="1800" dirty="0">
              <a:solidFill>
                <a:schemeClr val="accent4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  <p:sp>
        <p:nvSpPr>
          <p:cNvPr id="35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956982" y="4128441"/>
            <a:ext cx="7842340" cy="12715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چرا این رشته دانشگاهی رو انتخاب کردم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دلایل انتخاب همسرم چه بوده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چرا امروز تصمیم گرفتم سر کار نروم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کدوم معماری نرم افزار برای سیستم من مناسب است ؟ 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sz="16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برای یک متخصص کم تجربه : آیا باید زمان خودم رو برای تعیین معماری سیستم صرف کنم ؟ </a:t>
            </a:r>
            <a:endParaRPr lang="en-US" sz="16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6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47086" y="5561175"/>
            <a:ext cx="11511513" cy="515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ما بعضا مواردی رو که باید از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System  2 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مغز استفاده کنیم از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System 1 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استفاده میکنیم و بعدا براش دلیل میتراشیم .  </a:t>
            </a:r>
            <a:endParaRPr lang="en-US" sz="1800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 txBox="1">
            <a:spLocks/>
          </p:cNvSpPr>
          <p:nvPr/>
        </p:nvSpPr>
        <p:spPr>
          <a:xfrm>
            <a:off x="147085" y="6048338"/>
            <a:ext cx="11511513" cy="5159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بعضی موارد تصمیم گیری فقط برای افراد با تجربه بالا از جنس </a:t>
            </a:r>
            <a:r>
              <a:rPr lang="en-US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System 1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است. (</a:t>
            </a:r>
            <a:r>
              <a:rPr lang="fa-IR" sz="1800" b="1" dirty="0">
                <a:solidFill>
                  <a:schemeClr val="tx1"/>
                </a:solidFill>
                <a:cs typeface="B Nazanin" panose="00000400000000000000" pitchFamily="2" charset="-78"/>
              </a:rPr>
              <a:t>آنچه جوان در آینه بیند ....  پیر در خشت خام بیند</a:t>
            </a:r>
            <a:r>
              <a:rPr lang="fa-IR" sz="1800" dirty="0" smtClean="0">
                <a:solidFill>
                  <a:schemeClr val="tx1"/>
                </a:solidFill>
                <a:cs typeface="B Nazanin" panose="00000400000000000000" pitchFamily="2" charset="-78"/>
              </a:rPr>
              <a:t> )</a:t>
            </a:r>
            <a:endParaRPr lang="en-US" sz="1800" b="1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969126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درست / نتیجه نامطلوب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4034244" y="1581835"/>
            <a:ext cx="750388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cs typeface="B Nazanin" panose="00000400000000000000" pitchFamily="2" charset="-78"/>
              </a:rPr>
              <a:t>یکی از اشتباهات ذهنی ما انسان‌ها این است که </a:t>
            </a:r>
            <a:r>
              <a:rPr lang="fa-IR" b="1" dirty="0">
                <a:cs typeface="B Nazanin" panose="00000400000000000000" pitchFamily="2" charset="-78"/>
              </a:rPr>
              <a:t>فرایند تصمیم </a:t>
            </a:r>
            <a:r>
              <a:rPr lang="fa-IR" dirty="0">
                <a:cs typeface="B Nazanin" panose="00000400000000000000" pitchFamily="2" charset="-78"/>
              </a:rPr>
              <a:t>را با </a:t>
            </a:r>
            <a:r>
              <a:rPr lang="fa-IR" b="1" dirty="0">
                <a:cs typeface="B Nazanin" panose="00000400000000000000" pitchFamily="2" charset="-78"/>
              </a:rPr>
              <a:t>نتیجه تصمیم </a:t>
            </a:r>
            <a:r>
              <a:rPr lang="fa-IR" dirty="0">
                <a:cs typeface="B Nazanin" panose="00000400000000000000" pitchFamily="2" charset="-78"/>
              </a:rPr>
              <a:t>اشتباه می‌گیریم</a:t>
            </a:r>
            <a:endParaRPr lang="en-US" dirty="0">
              <a:cs typeface="B Nazanin" panose="00000400000000000000" pitchFamily="2" charset="-78"/>
            </a:endParaRPr>
          </a:p>
        </p:txBody>
      </p:sp>
      <p:grpSp>
        <p:nvGrpSpPr>
          <p:cNvPr id="10" name="Group 9"/>
          <p:cNvGrpSpPr/>
          <p:nvPr/>
        </p:nvGrpSpPr>
        <p:grpSpPr>
          <a:xfrm>
            <a:off x="391438" y="1479397"/>
            <a:ext cx="3642807" cy="520030"/>
            <a:chOff x="391438" y="1531283"/>
            <a:chExt cx="3642807" cy="446332"/>
          </a:xfrm>
        </p:grpSpPr>
        <p:sp>
          <p:nvSpPr>
            <p:cNvPr id="7" name="Rectangle 6"/>
            <p:cNvSpPr/>
            <p:nvPr/>
          </p:nvSpPr>
          <p:spPr>
            <a:xfrm>
              <a:off x="391887" y="1531283"/>
              <a:ext cx="3642358" cy="446332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91438" y="1639891"/>
              <a:ext cx="1632178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sz="1200" b="1" dirty="0">
                  <a:cs typeface="B Nazanin" panose="00000400000000000000" pitchFamily="2" charset="-78"/>
                </a:rPr>
                <a:t>نتیجه </a:t>
              </a:r>
              <a:r>
                <a:rPr lang="fa-IR" sz="1200" b="1" dirty="0" smtClean="0">
                  <a:cs typeface="B Nazanin" panose="00000400000000000000" pitchFamily="2" charset="-78"/>
                </a:rPr>
                <a:t>مطلوب تصمیم گیری </a:t>
              </a:r>
              <a:endParaRPr lang="en-US" sz="1200" dirty="0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367192" y="1647539"/>
              <a:ext cx="166584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fa-IR" sz="1200" b="1" dirty="0" smtClean="0">
                  <a:cs typeface="B Nazanin" panose="00000400000000000000" pitchFamily="2" charset="-78"/>
                </a:rPr>
                <a:t>فرایند درست  تصمیم گیری </a:t>
              </a:r>
              <a:endParaRPr lang="en-US" sz="1200" dirty="0"/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0895" t="7747" r="17893" b="11115"/>
            <a:stretch/>
          </p:blipFill>
          <p:spPr>
            <a:xfrm>
              <a:off x="2049048" y="1651559"/>
              <a:ext cx="319314" cy="265277"/>
            </a:xfrm>
            <a:prstGeom prst="rect">
              <a:avLst/>
            </a:prstGeom>
          </p:spPr>
        </p:pic>
      </p:grpSp>
      <p:sp>
        <p:nvSpPr>
          <p:cNvPr id="9" name="Rectangle 8"/>
          <p:cNvSpPr/>
          <p:nvPr/>
        </p:nvSpPr>
        <p:spPr>
          <a:xfrm>
            <a:off x="1393371" y="2079786"/>
            <a:ext cx="1014475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 smtClean="0">
                <a:cs typeface="B Nazanin" panose="00000400000000000000" pitchFamily="2" charset="-78"/>
              </a:rPr>
              <a:t>هیچ تظمینی وجود ندارد که طی کردن درست فرآیند تصمیم گیری به نتیجه مطلوب و دوست داشتنی ما منتهی شود !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91438" y="2694637"/>
            <a:ext cx="10963087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در سه حالت ممکن است </a:t>
            </a:r>
            <a:r>
              <a:rPr lang="fa-IR" b="1" dirty="0">
                <a:cs typeface="B Nazanin" panose="00000400000000000000" pitchFamily="2" charset="-78"/>
              </a:rPr>
              <a:t>نتیجه تصمیم درست، برای ما مطلوب و دوست‌داشتنی </a:t>
            </a:r>
            <a:r>
              <a:rPr lang="fa-IR" b="1" dirty="0" smtClean="0">
                <a:cs typeface="B Nazanin" panose="00000400000000000000" pitchFamily="2" charset="-78"/>
              </a:rPr>
              <a:t>نباشد . 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465286" y="2974090"/>
            <a:ext cx="7985760" cy="20659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هیچ‌یک از گزینه‌ها مطلوب ما </a:t>
            </a:r>
            <a:r>
              <a:rPr lang="fa-IR" b="1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نیستند</a:t>
            </a:r>
            <a:endParaRPr lang="fa-IR" b="1" dirty="0">
              <a:solidFill>
                <a:srgbClr val="111111"/>
              </a:solidFill>
              <a:latin typeface="IRANSans"/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عوامل پیش‌بینی‌ناپذیر </a:t>
            </a:r>
            <a:r>
              <a:rPr lang="fa-IR" b="1" dirty="0" smtClean="0">
                <a:cs typeface="B Nazanin" panose="00000400000000000000" pitchFamily="2" charset="-78"/>
              </a:rPr>
              <a:t>محیطی </a:t>
            </a:r>
          </a:p>
          <a:p>
            <a:pPr marL="285750" indent="-285750" algn="r" rtl="1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وقتی یکی از سناریوهای نامطلوبِ محتملِ پیش‌بینی شده رخ </a:t>
            </a:r>
            <a:r>
              <a:rPr lang="fa-IR" b="1" dirty="0" smtClean="0">
                <a:cs typeface="B Nazanin" panose="00000400000000000000" pitchFamily="2" charset="-78"/>
              </a:rPr>
              <a:t>می‌دهند</a:t>
            </a:r>
            <a:endParaRPr lang="fa-IR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764729" y="3957487"/>
            <a:ext cx="63882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بررسی بیشتر جهت خرید یک مدل لپ تاپ و ناگهان نایاب شدن آن مدل خاص   </a:t>
            </a: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3843680" y="3244266"/>
            <a:ext cx="42723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انتخاب یکی از دو استاد که هر دو رو دوست نداریم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928390" y="3311486"/>
            <a:ext cx="1850186" cy="369332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fa-IR" b="1" dirty="0" smtClean="0">
                <a:solidFill>
                  <a:srgbClr val="4372C2"/>
                </a:solidFill>
                <a:cs typeface="B Nazanin" panose="00000400000000000000" pitchFamily="2" charset="-78"/>
              </a:rPr>
              <a:t>انتخاب بین بد و بدتر </a:t>
            </a:r>
            <a:endParaRPr lang="en-US" b="1" dirty="0">
              <a:solidFill>
                <a:srgbClr val="4372C2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91438" y="4510826"/>
            <a:ext cx="5142687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مثال :  مربی بانجی جامپینگ به شما میگوید از بیست هزار پرش در سال اخیر فقط یک نفر فوت شده و شما هم خیلی دوست دارید که لذت پرش و هیجان آن را تجربه کنید . </a:t>
            </a:r>
            <a:endParaRPr lang="en-US" dirty="0"/>
          </a:p>
        </p:txBody>
      </p:sp>
      <p:sp>
        <p:nvSpPr>
          <p:cNvPr id="18" name="Rectangle 17"/>
          <p:cNvSpPr/>
          <p:nvPr/>
        </p:nvSpPr>
        <p:spPr>
          <a:xfrm>
            <a:off x="275771" y="5647191"/>
            <a:ext cx="1164430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شما لذت این پرش را با ریسک حاصل از آن مقایسه می‌کنید و می‌پرید. حتی اگر فوت شوید، با وجود نتیجه‌ی نامطلوب، فرایند </a:t>
            </a:r>
            <a:r>
              <a:rPr lang="fa-IR" sz="1600" b="1" dirty="0">
                <a:solidFill>
                  <a:schemeClr val="accent2"/>
                </a:solidFill>
                <a:cs typeface="B Nazanin" panose="00000400000000000000" pitchFamily="2" charset="-78"/>
              </a:rPr>
              <a:t>تصمیم گیری‌تان درست بوده </a:t>
            </a:r>
            <a:r>
              <a:rPr lang="fa-IR" dirty="0">
                <a:cs typeface="B Nazanin" panose="00000400000000000000" pitchFamily="2" charset="-78"/>
              </a:rPr>
              <a:t>است.</a:t>
            </a:r>
          </a:p>
          <a:p>
            <a:pPr marL="285750" indent="-285750" algn="r" rtl="1">
              <a:buFont typeface="Arial" panose="020B0604020202020204" pitchFamily="34" charset="0"/>
              <a:buChar char="•"/>
            </a:pPr>
            <a:r>
              <a:rPr lang="fa-IR" dirty="0">
                <a:cs typeface="B Nazanin" panose="00000400000000000000" pitchFamily="2" charset="-78"/>
              </a:rPr>
              <a:t>تنها در صورتی می‌توان گفت تصمیم شما نادرست بوده است که احتمال یک در بیست‌هزار با صفر هم‌ارز گرفته‌ باشید و به </a:t>
            </a:r>
            <a:r>
              <a:rPr lang="fa-IR" dirty="0">
                <a:solidFill>
                  <a:srgbClr val="4372C2"/>
                </a:solidFill>
                <a:cs typeface="B Nazanin" panose="00000400000000000000" pitchFamily="2" charset="-78"/>
              </a:rPr>
              <a:t>فرض اطمینان مطلق پریده باشید</a:t>
            </a:r>
            <a:r>
              <a:rPr lang="fa-IR" dirty="0">
                <a:cs typeface="B Nazanin" panose="00000400000000000000" pitchFamily="2" charset="-78"/>
              </a:rPr>
              <a:t>. در این حالت، علاوه بر نتیجه‌ی نامطلوب، فرایند </a:t>
            </a:r>
            <a:r>
              <a:rPr lang="fa-IR" dirty="0">
                <a:solidFill>
                  <a:srgbClr val="4372C2"/>
                </a:solidFill>
                <a:cs typeface="B Nazanin" panose="00000400000000000000" pitchFamily="2" charset="-78"/>
              </a:rPr>
              <a:t>تصمیم گیری شما هم نادرست بوده </a:t>
            </a:r>
            <a:r>
              <a:rPr lang="fa-IR" dirty="0">
                <a:cs typeface="B Nazanin" panose="00000400000000000000" pitchFamily="2" charset="-78"/>
              </a:rPr>
              <a:t>است.</a:t>
            </a:r>
          </a:p>
        </p:txBody>
      </p:sp>
      <p:cxnSp>
        <p:nvCxnSpPr>
          <p:cNvPr id="20" name="Straight Connector 19"/>
          <p:cNvCxnSpPr/>
          <p:nvPr/>
        </p:nvCxnSpPr>
        <p:spPr>
          <a:xfrm flipV="1">
            <a:off x="1764729" y="5526101"/>
            <a:ext cx="9100457" cy="30317"/>
          </a:xfrm>
          <a:prstGeom prst="line">
            <a:avLst/>
          </a:prstGeom>
          <a:ln>
            <a:prstDash val="lgDash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3" name="Right Brace 22"/>
          <p:cNvSpPr/>
          <p:nvPr/>
        </p:nvSpPr>
        <p:spPr>
          <a:xfrm>
            <a:off x="11362083" y="3270846"/>
            <a:ext cx="351245" cy="1742613"/>
          </a:xfrm>
          <a:prstGeom prst="rightBrace">
            <a:avLst>
              <a:gd name="adj1" fmla="val 8333"/>
              <a:gd name="adj2" fmla="val 49167"/>
            </a:avLst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1640756" y="4127638"/>
            <a:ext cx="206041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11843536" y="2884459"/>
            <a:ext cx="3261" cy="12576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/>
          <p:nvPr/>
        </p:nvCxnSpPr>
        <p:spPr>
          <a:xfrm>
            <a:off x="11362083" y="2893928"/>
            <a:ext cx="481453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264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اهمیت </a:t>
            </a:r>
            <a:r>
              <a:rPr lang="fa-IR" sz="4800" dirty="0">
                <a:cs typeface="B Nazanin" panose="00000400000000000000" pitchFamily="2" charset="-78"/>
              </a:rPr>
              <a:t>تصمیم </a:t>
            </a:r>
            <a:r>
              <a:rPr lang="fa-IR" sz="4800" dirty="0" smtClean="0">
                <a:cs typeface="B Nazanin" panose="00000400000000000000" pitchFamily="2" charset="-78"/>
              </a:rPr>
              <a:t>سازی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230880" y="1987619"/>
            <a:ext cx="809461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که تا قبل از مرحله‌ی انتخاب نهایی، در تصمیم گیری نقش ایفا می‌کنند،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ساز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نامیده می‌شوند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38253" y="2461733"/>
            <a:ext cx="8987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کسانی که با ارائه داده های مختلف به تصمیم گیرنده کمک میکنند که تصمیم صحیح را اتخاذ کند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یار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میگویند .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338253" y="2935847"/>
            <a:ext cx="898724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کسی که از بین گزینه های مختلف بدست آمده تصمیم نهایی را اتخاذ میکند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گیر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 باشد . 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16" name="Group 15"/>
          <p:cNvGrpSpPr/>
          <p:nvPr/>
        </p:nvGrpSpPr>
        <p:grpSpPr>
          <a:xfrm>
            <a:off x="4011599" y="1254036"/>
            <a:ext cx="4190571" cy="707886"/>
            <a:chOff x="2254986" y="3297707"/>
            <a:chExt cx="4190571" cy="707886"/>
          </a:xfrm>
        </p:grpSpPr>
        <p:grpSp>
          <p:nvGrpSpPr>
            <p:cNvPr id="9" name="Group 8"/>
            <p:cNvGrpSpPr/>
            <p:nvPr/>
          </p:nvGrpSpPr>
          <p:grpSpPr>
            <a:xfrm>
              <a:off x="2254986" y="3297707"/>
              <a:ext cx="4190571" cy="707886"/>
              <a:chOff x="8120208" y="1520037"/>
              <a:chExt cx="4190571" cy="707886"/>
            </a:xfrm>
          </p:grpSpPr>
          <p:sp>
            <p:nvSpPr>
              <p:cNvPr id="3" name="Rectangle 2"/>
              <p:cNvSpPr/>
              <p:nvPr/>
            </p:nvSpPr>
            <p:spPr>
              <a:xfrm>
                <a:off x="8120208" y="1520037"/>
                <a:ext cx="4190571" cy="70788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fa-IR" sz="2000" dirty="0" smtClean="0">
                    <a:cs typeface="B Nazanin" panose="00000400000000000000" pitchFamily="2" charset="-78"/>
                  </a:rPr>
                  <a:t>   تصمیم گیری </a:t>
                </a:r>
                <a:r>
                  <a:rPr lang="fa-IR" sz="3600" dirty="0" smtClean="0">
                    <a:cs typeface="B Nazanin" panose="00000400000000000000" pitchFamily="2" charset="-78"/>
                  </a:rPr>
                  <a:t>= </a:t>
                </a:r>
                <a:r>
                  <a:rPr lang="fa-IR" sz="2000" dirty="0" smtClean="0">
                    <a:cs typeface="B Nazanin" panose="00000400000000000000" pitchFamily="2" charset="-78"/>
                  </a:rPr>
                  <a:t> </a:t>
                </a:r>
                <a:r>
                  <a:rPr lang="fa-IR" sz="2000" dirty="0" smtClean="0">
                    <a:solidFill>
                      <a:srgbClr val="FF0000"/>
                    </a:solidFill>
                    <a:cs typeface="B Nazanin" panose="00000400000000000000" pitchFamily="2" charset="-78"/>
                  </a:rPr>
                  <a:t>تصمیم سازی </a:t>
                </a:r>
                <a:r>
                  <a:rPr lang="fa-IR" sz="4000" dirty="0">
                    <a:cs typeface="B Nazanin" panose="00000400000000000000" pitchFamily="2" charset="-78"/>
                  </a:rPr>
                  <a:t>=</a:t>
                </a:r>
                <a:r>
                  <a:rPr lang="fa-IR" sz="2000" dirty="0" smtClean="0">
                    <a:cs typeface="B Nazanin" panose="00000400000000000000" pitchFamily="2" charset="-78"/>
                  </a:rPr>
                  <a:t> تصمیم یاری</a:t>
                </a:r>
                <a:r>
                  <a:rPr lang="fa-IR" sz="2000" dirty="0" smtClean="0">
                    <a:solidFill>
                      <a:srgbClr val="FF0000"/>
                    </a:solidFill>
                    <a:cs typeface="B Nazanin" panose="00000400000000000000" pitchFamily="2" charset="-78"/>
                  </a:rPr>
                  <a:t> </a:t>
                </a:r>
                <a:endParaRPr lang="en-US" sz="2000" dirty="0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6" name="Straight Connector 5"/>
              <p:cNvCxnSpPr/>
              <p:nvPr/>
            </p:nvCxnSpPr>
            <p:spPr>
              <a:xfrm flipH="1">
                <a:off x="9353825" y="1804013"/>
                <a:ext cx="65314" cy="130628"/>
              </a:xfrm>
              <a:prstGeom prst="lin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4" name="Straight Connector 13"/>
            <p:cNvCxnSpPr/>
            <p:nvPr/>
          </p:nvCxnSpPr>
          <p:spPr>
            <a:xfrm flipH="1">
              <a:off x="4927693" y="3592681"/>
              <a:ext cx="65314" cy="13062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7" name="Rectangle 16"/>
          <p:cNvSpPr/>
          <p:nvPr/>
        </p:nvSpPr>
        <p:spPr>
          <a:xfrm>
            <a:off x="1557744" y="3581111"/>
            <a:ext cx="9098280" cy="13388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>
              <a:lnSpc>
                <a:spcPct val="150000"/>
              </a:lnSpc>
            </a:pP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کارشناسان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در بسیاری از سازمان‌ها، نقش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تصمیم ساز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را به شکل رسمی برعهده دارند. به همین علت می‌شنویم که مدیران می‌گویند ما بر اساس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کارِ کارشناسی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یا </a:t>
            </a:r>
            <a:r>
              <a:rPr lang="fa-IR" b="1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گزارش کارشناسان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، این یا آن تصمیم را گرفته‌ایم. گزارش کارشناسی، گزینه‌های محتمل و تحلیل آن‌ها را در اختیار مدیر قرار می‌دهد و نهایتاً این مدیر است که حکم نهایی (انتخاب آخر)‌ را اعلام </a:t>
            </a:r>
            <a:r>
              <a:rPr lang="fa-IR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می‌کند</a:t>
            </a:r>
            <a:r>
              <a:rPr lang="en-US" dirty="0" smtClean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557744" y="5078304"/>
            <a:ext cx="9098280" cy="13388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>
              <a:lnSpc>
                <a:spcPct val="150000"/>
              </a:lnSpc>
            </a:pP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در سازمان‌ها و کسب و کارها، گاهی اوقات این نقش را </a:t>
            </a:r>
            <a:r>
              <a:rPr lang="fa-IR" b="1" dirty="0">
                <a:solidFill>
                  <a:schemeClr val="accent2">
                    <a:lumMod val="75000"/>
                  </a:schemeClr>
                </a:solidFill>
                <a:latin typeface="IRANSans"/>
                <a:cs typeface="B Nazanin" panose="00000400000000000000" pitchFamily="2" charset="-78"/>
              </a:rPr>
              <a:t>مسئول دفتر</a:t>
            </a:r>
            <a:r>
              <a:rPr lang="fa-IR" dirty="0">
                <a:solidFill>
                  <a:srgbClr val="111111"/>
                </a:solidFill>
                <a:latin typeface="IRANSans"/>
                <a:cs typeface="B Nazanin" panose="00000400000000000000" pitchFamily="2" charset="-78"/>
              </a:rPr>
              <a:t> یک مدیر، ایفا می‌کند. او با انتخاب تماس‌هایی که برقرار می‌شوند (یا نمی‌شوند) و تأثیرگذاری بر پیام‌هایی که می‌توانند به دست مدیر برسند (یا محدود می‌شوند)، روی تصمیم مدیر تأثیر می‌گذارند.</a:t>
            </a:r>
          </a:p>
        </p:txBody>
      </p:sp>
    </p:spTree>
    <p:extLst>
      <p:ext uri="{BB962C8B-B14F-4D97-AF65-F5344CB8AC3E}">
        <p14:creationId xmlns:p14="http://schemas.microsoft.com/office/powerpoint/2010/main" val="26399549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خرده مهارت های مرتبط با تصمیم گیری درست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2024" y="2316681"/>
            <a:ext cx="1589180" cy="236733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191484" y="1017746"/>
            <a:ext cx="2070118" cy="563231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  <a:latin typeface="IRANSans"/>
              </a:rPr>
              <a:t>Pr</a:t>
            </a:r>
            <a:r>
              <a:rPr lang="en-US" dirty="0" smtClean="0">
                <a:solidFill>
                  <a:srgbClr val="000000"/>
                </a:solidFill>
                <a:latin typeface="IRANSans"/>
              </a:rPr>
              <a:t>oblem</a:t>
            </a:r>
            <a:endParaRPr lang="fa-IR" dirty="0" smtClean="0">
              <a:solidFill>
                <a:srgbClr val="000000"/>
              </a:solidFill>
              <a:latin typeface="IRANSans"/>
            </a:endParaRPr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O</a:t>
            </a:r>
            <a:r>
              <a:rPr lang="en-US" dirty="0" smtClean="0"/>
              <a:t>bjectives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A</a:t>
            </a:r>
            <a:r>
              <a:rPr lang="en-US" dirty="0" smtClean="0"/>
              <a:t>lternatives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C</a:t>
            </a:r>
            <a:r>
              <a:rPr lang="en-US" dirty="0" smtClean="0"/>
              <a:t>onsequences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FF0000"/>
                </a:solidFill>
              </a:rPr>
              <a:t>T</a:t>
            </a:r>
            <a:r>
              <a:rPr lang="en-US" dirty="0" smtClean="0"/>
              <a:t>radeoffs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 smtClean="0"/>
              <a:t>Uncertainties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Risk </a:t>
            </a:r>
            <a:r>
              <a:rPr lang="en-US" dirty="0" smtClean="0"/>
              <a:t>Tolerance</a:t>
            </a:r>
            <a:endParaRPr lang="fa-IR" dirty="0" smtClean="0"/>
          </a:p>
          <a:p>
            <a:pPr marL="285750" indent="-285750"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en-US" dirty="0"/>
              <a:t>Linked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08017" y="1260508"/>
            <a:ext cx="216758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مسئله را درست تشخیص بدهیم</a:t>
            </a:r>
            <a:endParaRPr lang="en-US" sz="1600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87532" y="1906518"/>
            <a:ext cx="298511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خروجی مورد انتظار ما از این تصمیم چیست؟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41586" y="2595200"/>
            <a:ext cx="2727029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چه گزینه‌هایی پیش روی من وجود دارد؟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298997" y="3347577"/>
            <a:ext cx="278313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هر گزینه به چه نتیجه‌ای منتهی می‌شود؟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764152" y="3937109"/>
            <a:ext cx="432522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به دست آوردن هر چیزی، چه چیزهایی را باید از دست بدهم؟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80822" y="4759275"/>
            <a:ext cx="372089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چه چیزهایی را نمی‌دانم؟ چه چیزهایی را نمی‌توانم بدانم؟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37861" y="5425370"/>
            <a:ext cx="20377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تحمل ریسک من چقدر است؟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111791" y="6079274"/>
            <a:ext cx="298992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تصمیم‌های مرتبط با این تصمیم، چه هستند؟</a:t>
            </a:r>
            <a:endParaRPr lang="en-US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3528" y="2366599"/>
            <a:ext cx="1555750" cy="23385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736600" y="1583291"/>
            <a:ext cx="68857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آیا واقعاً الان بحث سر این است که باید کنکور پزشکی بدهم یا مهندسی؟ یا ماجرای اصلی این است که اصلاً کنکور بدهم یا نه.</a:t>
            </a:r>
            <a:endParaRPr lang="en-US" sz="1200" b="1" dirty="0">
              <a:solidFill>
                <a:srgbClr val="FF0000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30200" y="2256986"/>
            <a:ext cx="729216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می‌خواهم در مورد مهاجرت تصمیم بگیرم، هدف نهایی و خروجی مورد انتظارم چیست؟ به دنبال رفاه مادی هستم؟ زندگی در محیطی کم‌تنش‌تر؟ 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28600" y="2900745"/>
            <a:ext cx="784699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گاهی اوقات، ما تنها یک راه پیش رو داریم. اما متوقف می‌شویم و احساس می‌کنیم که با یک تصمیم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مواجهیم</a:t>
            </a: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و در مقابل 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 وقت‌ها، واقعاً گزینه‌های متعددی می‌توانند وجود داشته باشند. اما ذهن ما از دیدن گزینه‌ها یا خلق گزینه‌ها ناتوان است</a:t>
            </a:r>
            <a:endParaRPr lang="en-US" sz="12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1332822" y="3631903"/>
            <a:ext cx="628954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امروز به عنوان اعتراض در جلسه‌ی شرکت حاضر نشوم، فردا چه اتفاقی خواهد افتاد؟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28601" y="4265751"/>
            <a:ext cx="78400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هر به دست آوردنی، با از دست دادنی همراه است و مهم است که من، به همان اندازه که به دستاوردهای هر انتخاب فکر می‌کنم، با خودم بیندیشم که هر انتخاب، من را از چه فرصت‌ها و هدف‌هایی دور می‌کند و کدامیک از داشته‌هایم را از من می‌گیرد.</a:t>
            </a:r>
            <a:endParaRPr lang="en-US" sz="1200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127000" y="5027295"/>
            <a:ext cx="79416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چیزها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بعضی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چیزها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توانیم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بدانیم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این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دو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نباید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اشتباه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گرفت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آنچه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اثر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بررسی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مشخص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میشود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انچه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نمی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توانیم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بدانیم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ابهام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اجتناب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ناپذیر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fa-IR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ابهامی</a:t>
            </a:r>
            <a:r>
              <a:rPr lang="en-US" sz="1200" b="1" dirty="0" smtClean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فقط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پس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رفع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شود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8600" y="5681557"/>
            <a:ext cx="784001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انسان‌ها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نظر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میزان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تحمل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ریسک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یکدیگر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داریم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گاهی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اوقات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دو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فرد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شرایط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کاملا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یکسان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باید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گزینه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های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انتخاب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کنند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گون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سطح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ریسک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پذیری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آنها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متفاوت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sz="1200" b="1" dirty="0" err="1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sz="12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 .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26366" y="6331906"/>
            <a:ext cx="6096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Arial" panose="020B0604020202020204" pitchFamily="34" charset="0"/>
              <a:buChar char="•"/>
            </a:pPr>
            <a:r>
              <a:rPr lang="fa-IR" sz="12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 تصمیم بگیرم که به دانشگاه برم ، چه تصمیمات دیگری را باید بگیرم ؟ چه تصمیماتی حذف می شود ؟ </a:t>
            </a:r>
            <a:endParaRPr lang="en-US" sz="1200" b="1" dirty="0">
              <a:solidFill>
                <a:srgbClr val="FF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91538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فوبیای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b="16781"/>
          <a:stretch/>
        </p:blipFill>
        <p:spPr>
          <a:xfrm>
            <a:off x="478563" y="1307709"/>
            <a:ext cx="2143125" cy="178348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621688" y="1685536"/>
            <a:ext cx="9065623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همه‌ی مشکلات ما در تصمیم گیری،‌ الزاماً به علت ضعف در مهارت تصمیم گیری 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نیستند. گاهی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ترس از تصمیم 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است که ما را به سوی انتخاب‌های اشتباه سوق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می‌دهد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 ترس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تصمیم گیری به حدی جدی است که برای آن یک نام اختصاصی هم در نظر گرفته شده است: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</a:t>
            </a:r>
            <a:r>
              <a:rPr lang="en-US" b="1" dirty="0" err="1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Decidophobia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78563" y="3330162"/>
            <a:ext cx="1116955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دلیل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همین ترس از تصمیم گیری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 که ما گاهی از تصمیم های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ماکروسکوپیک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</a:t>
            </a:r>
            <a:r>
              <a:rPr lang="fa-IR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این رابطه را قطع کنم یا ادامه بدهم؟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 به تصمیم های 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میکروسکوپیک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(</a:t>
            </a:r>
            <a:r>
              <a:rPr lang="fa-IR" dirty="0">
                <a:solidFill>
                  <a:srgbClr val="0070C0"/>
                </a:solidFill>
                <a:latin typeface="IRANSans"/>
                <a:cs typeface="B Nazanin" panose="00000400000000000000" pitchFamily="2" charset="-78"/>
              </a:rPr>
              <a:t>آیا این رابطه را می‌شود فعلاً برای چند ماه ادامه داد؟)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فرار می‌کنیم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272937" y="4053143"/>
            <a:ext cx="8089856" cy="369332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 تقسیم یک گاو به دو قسمت، دو گوساله نخواهیم داشت. بلکه یک گاو مرده خواهیم داشت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272937" y="4605747"/>
            <a:ext cx="8771708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با خرد کردن یک تصمیم به تصمیمهای کوچک‌تر، عملاً اصل آن تصمیم را کنار گذاشته و سرگرم انتخابهای دیگری شده ایم.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00613" y="3779538"/>
            <a:ext cx="8659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</a:t>
            </a:r>
            <a:r>
              <a:rPr lang="fa-IR" sz="1400" b="1" dirty="0">
                <a:solidFill>
                  <a:srgbClr val="C4161C"/>
                </a:solidFill>
                <a:latin typeface="IRANSans"/>
                <a:cs typeface="B Nazanin" panose="00000400000000000000" pitchFamily="2" charset="-78"/>
              </a:rPr>
              <a:t>پیتر سنگه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1335" y="4067698"/>
            <a:ext cx="167866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#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کتاب</a:t>
            </a:r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_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پنجمین</a:t>
            </a:r>
            <a:r>
              <a:rPr lang="en-US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_</a:t>
            </a:r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فرمان 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18297" y="4379792"/>
            <a:ext cx="12202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sz="14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#تفکر_سیستمی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22069" y="4810695"/>
            <a:ext cx="11582807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فعلاً اولویت من نیست</a:t>
            </a: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cs typeface="B Nazanin" panose="00000400000000000000" pitchFamily="2" charset="-78"/>
              </a:rPr>
              <a:t>باید از یک مشاور کمک </a:t>
            </a:r>
            <a:r>
              <a:rPr lang="fa-IR" b="1" dirty="0" smtClean="0">
                <a:cs typeface="B Nazanin" panose="00000400000000000000" pitchFamily="2" charset="-78"/>
              </a:rPr>
              <a:t>بگیرم</a:t>
            </a:r>
            <a:endParaRPr lang="en-US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fa-IR" b="1" dirty="0" smtClean="0">
                <a:cs typeface="B Nazanin" panose="00000400000000000000" pitchFamily="2" charset="-78"/>
              </a:rPr>
              <a:t>به </a:t>
            </a:r>
            <a:r>
              <a:rPr lang="fa-IR" b="1" dirty="0">
                <a:cs typeface="B Nazanin" panose="00000400000000000000" pitchFamily="2" charset="-78"/>
              </a:rPr>
              <a:t>اطلاعات بیشتری نیاز </a:t>
            </a:r>
            <a:r>
              <a:rPr lang="fa-IR" b="1" dirty="0" smtClean="0">
                <a:cs typeface="B Nazanin" panose="00000400000000000000" pitchFamily="2" charset="-78"/>
              </a:rPr>
              <a:t>دارم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708546"/>
            <a:ext cx="3575276" cy="4732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rtl="1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قانع شدن به یک تغییر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کوچک</a:t>
            </a:r>
            <a:r>
              <a:rPr lang="en-US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تر</a:t>
            </a:r>
            <a:endParaRPr lang="fa-IR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00185" y="5094068"/>
            <a:ext cx="9190685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تصمیم نگرفتن خود یک تصمیم است . اگر تصمیم گرفته ام فردا به استعفا فکر کنم در واقع تصمیم گرفته ام که امروز استعفا ندهم . </a:t>
            </a:r>
            <a:endParaRPr lang="fa-IR" sz="1600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00185" y="5590604"/>
            <a:ext cx="8639311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اگر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پاسخ 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 – تقریباً با قطعیت – می‌دانیم، 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احتمالا، </a:t>
            </a:r>
            <a:r>
              <a:rPr lang="fa-IR" sz="16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مشورت گرفتن یکی از مکانیزمهای ما برای فرار از تصمیم گیری است.</a:t>
            </a:r>
            <a:endParaRPr lang="en-US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00185" y="6111126"/>
            <a:ext cx="8012295" cy="33855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بخاطر داشته باشیم </a:t>
            </a:r>
            <a:r>
              <a:rPr lang="fa-IR" sz="1600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گاهی</a:t>
            </a:r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!!!  هزینه های تصمیم نگرفتن بیشتر از هزینه های یک تصمیم  غلط می باشد . </a:t>
            </a:r>
            <a:endParaRPr lang="en-US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3675306" y="657874"/>
            <a:ext cx="37689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fa-IR" b="1" dirty="0">
                <a:solidFill>
                  <a:srgbClr val="A6B727"/>
                </a:solidFill>
                <a:cs typeface="B Nazanin" panose="00000400000000000000" pitchFamily="2" charset="-78"/>
              </a:rPr>
              <a:t>برای فرار از تصمیم گیری معمولا چه میکنیم ؟ </a:t>
            </a:r>
            <a:endParaRPr lang="en-US" b="1" dirty="0">
              <a:solidFill>
                <a:srgbClr val="A6B727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2250494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اولویت بندی ارزشها در تصمیم گیری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6" name="Group 5"/>
          <p:cNvGrpSpPr/>
          <p:nvPr/>
        </p:nvGrpSpPr>
        <p:grpSpPr>
          <a:xfrm>
            <a:off x="3873137" y="1359961"/>
            <a:ext cx="3977641" cy="2643081"/>
            <a:chOff x="659674" y="1359961"/>
            <a:chExt cx="3977641" cy="2643081"/>
          </a:xfrm>
        </p:grpSpPr>
        <p:pic>
          <p:nvPicPr>
            <p:cNvPr id="1026" name="Picture 2" descr="https://motamem.org/wp-content/uploads/2015/09/value-vs-criteria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9674" y="1359961"/>
              <a:ext cx="3977641" cy="26430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Oval 4"/>
            <p:cNvSpPr/>
            <p:nvPr/>
          </p:nvSpPr>
          <p:spPr>
            <a:xfrm>
              <a:off x="1903911" y="3663408"/>
              <a:ext cx="757646" cy="339634"/>
            </a:xfrm>
            <a:prstGeom prst="ellips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" name="Straight Arrow Connector 8"/>
          <p:cNvCxnSpPr/>
          <p:nvPr/>
        </p:nvCxnSpPr>
        <p:spPr>
          <a:xfrm>
            <a:off x="7811589" y="2521133"/>
            <a:ext cx="548640" cy="0"/>
          </a:xfrm>
          <a:prstGeom prst="straightConnector1">
            <a:avLst/>
          </a:prstGeom>
          <a:ln w="571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3363686" y="2547259"/>
            <a:ext cx="568235" cy="0"/>
          </a:xfrm>
          <a:prstGeom prst="straightConnector1">
            <a:avLst/>
          </a:prstGeom>
          <a:ln w="57150" cap="flat" cmpd="sng" algn="ctr">
            <a:solidFill>
              <a:srgbClr val="4372C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300650" y="1392755"/>
            <a:ext cx="10679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2800" b="1">
                <a:cs typeface="B Nazanin" panose="00000400000000000000" pitchFamily="2" charset="-78"/>
              </a:defRPr>
            </a:lvl1pPr>
          </a:lstStyle>
          <a:p>
            <a:r>
              <a:rPr lang="fa-IR" sz="2400" dirty="0">
                <a:solidFill>
                  <a:srgbClr val="4372C2"/>
                </a:solidFill>
              </a:rPr>
              <a:t>معیار ها </a:t>
            </a:r>
            <a:endParaRPr lang="en-US" sz="2400" dirty="0">
              <a:solidFill>
                <a:srgbClr val="4372C2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204662" y="1387998"/>
            <a:ext cx="1112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2400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ارزش ها </a:t>
            </a:r>
            <a:endParaRPr lang="en-US" sz="2400" b="1" dirty="0">
              <a:solidFill>
                <a:srgbClr val="C00000"/>
              </a:solidFill>
              <a:cs typeface="B Nazanin" panose="00000400000000000000" pitchFamily="2" charset="-78"/>
            </a:endParaRPr>
          </a:p>
        </p:txBody>
      </p:sp>
      <p:cxnSp>
        <p:nvCxnSpPr>
          <p:cNvPr id="17" name="Straight Connector 16"/>
          <p:cNvCxnSpPr/>
          <p:nvPr/>
        </p:nvCxnSpPr>
        <p:spPr>
          <a:xfrm>
            <a:off x="1058092" y="1860387"/>
            <a:ext cx="18026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9017454" y="1886513"/>
            <a:ext cx="18026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210461" y="1975111"/>
            <a:ext cx="3616957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l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معمولاً در تعیین و بررسی معیارها، مشکل چندانی نداریم.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438608" y="1975616"/>
            <a:ext cx="30828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تعیین ارزشها کار چندان دشواری نیست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334104" y="2471503"/>
            <a:ext cx="31873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اولویت بندی ارزشها میتواند یک چالش مهم تاثیر گذار در تصمیم گیری باشد .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81070" y="2824477"/>
            <a:ext cx="343734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تعریفی بسیار ساده، هر پارامتری که وجود یا عدم وجود آن در گزینه‌ی نهایی شما حائز اهمیت است، یک معیار محسوب می‌شود.</a:t>
            </a:r>
            <a:endParaRPr lang="en-US" sz="12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325122" y="3067158"/>
            <a:ext cx="318733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 algn="r" rtl="1">
              <a:buFont typeface="Wingdings" panose="05000000000000000000" pitchFamily="2" charset="2"/>
              <a:buChar char="ü"/>
            </a:pPr>
            <a:r>
              <a:rPr lang="fa-IR" sz="12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اولویت بندی ارزشها، در اولویت بندی معیار ها نیز موثر است که مبنای تصمیم گیری و انتخاب می باشد . </a:t>
            </a:r>
            <a:endParaRPr lang="en-US" sz="1200" dirty="0">
              <a:cs typeface="B Nazanin" panose="00000400000000000000" pitchFamily="2" charset="-78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41316" y="4189961"/>
            <a:ext cx="10731137" cy="58477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هر زمان که در مقایسه‌ی دو </a:t>
            </a:r>
            <a:r>
              <a:rPr lang="fa-IR" sz="16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ارزش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یا دو </a:t>
            </a:r>
            <a:r>
              <a:rPr lang="fa-IR" sz="16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معیار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مختلف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X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دچار تردید شدید، می‌توانید دو سناریوی ذهنی طراحی کنید که در یکی از آنها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 X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کامل تامین شده 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هیچ وجه تامین نشده است. در سناریوی دوم،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Y </a:t>
            </a:r>
            <a:r>
              <a:rPr lang="fa-IR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صورت کامل تامین شده و </a:t>
            </a:r>
            <a:r>
              <a:rPr lang="en-US" sz="16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X </a:t>
            </a:r>
            <a:r>
              <a:rPr lang="fa-IR" sz="16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تامین نشده است. در این حالت، احتمالاً‌ انتخاب شما راحت‌تر خواهد بود.</a:t>
            </a:r>
            <a:endParaRPr lang="en-US" sz="1600" dirty="0">
              <a:cs typeface="B Nazanin" panose="00000400000000000000" pitchFamily="2" charset="-78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058092" y="5081757"/>
            <a:ext cx="10128068" cy="138499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کنیم در حال انتخاب یک همکار برای شرکت هستیم.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قاعدتاً ارزش‌های سازمانی در نهایت به چند معیار منتهی شده‌اند که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صداقت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هوش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دو مورد از آنهاست.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 نمی‌دانیم کدامیک مهم‌تر است (هر چه فکر می‌کنیم به جمع‌بندی نهایی نمی‌رسیم).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 مقایسه صداقت و هوش در انتخاب یک همکار جدید (یا حتی شریک عاطفی)، یک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تیزهوش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را در نظر بگیرید که حتی یک جمله‌ی راست هم از دهانش در نمی‌آید.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حالا او را با یک </a:t>
            </a:r>
            <a:r>
              <a:rPr lang="fa-IR" sz="14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فرد بسیار کم استعداد و با درک ضعیف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مقایسه کنید که یک حرف دروغ هم از دهانش در نمی‌آید.</a:t>
            </a:r>
          </a:p>
          <a:p>
            <a:pPr algn="just" rtl="1"/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حالا تصمیم بگیرید که در صورت اجبار به انتخاب بین این دو، کدام را به عنوان یک همکار (یا شریک عاطفی) ترجیح می‌دهید.</a:t>
            </a:r>
          </a:p>
        </p:txBody>
      </p:sp>
    </p:spTree>
    <p:extLst>
      <p:ext uri="{BB962C8B-B14F-4D97-AF65-F5344CB8AC3E}">
        <p14:creationId xmlns:p14="http://schemas.microsoft.com/office/powerpoint/2010/main" val="2259022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0200" y="397568"/>
            <a:ext cx="9875520" cy="709749"/>
          </a:xfrm>
        </p:spPr>
        <p:txBody>
          <a:bodyPr>
            <a:normAutofit/>
          </a:bodyPr>
          <a:lstStyle/>
          <a:p>
            <a:pPr algn="r"/>
            <a:r>
              <a:rPr lang="fa-IR" sz="4000" dirty="0" smtClean="0">
                <a:cs typeface="B Nazanin" panose="00000400000000000000" pitchFamily="2" charset="-78"/>
              </a:rPr>
              <a:t>چالش اخلاق و فرهنگ در تصمیم گیری </a:t>
            </a:r>
            <a:endParaRPr lang="en-US" sz="40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175658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ÙØ³Ø¦ÙÙ ØªØ±Ø§ÙÙØ§ - ÙÙÙÙÙâØ§Û Ø§Ø² Ø§Ø®ÙØ§Ù ÙÙØ´ ÙØµÙÙØ¹Û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277" y="1396620"/>
            <a:ext cx="3772523" cy="1287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3948197" y="2094071"/>
            <a:ext cx="1148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sz="1400" dirty="0">
                <a:solidFill>
                  <a:srgbClr val="FF0000"/>
                </a:solidFill>
              </a:rPr>
              <a:t>فرد قانون مدار  </a:t>
            </a:r>
            <a:endParaRPr lang="en-US" sz="1400" dirty="0">
              <a:solidFill>
                <a:srgbClr val="FF000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948197" y="1547027"/>
            <a:ext cx="14526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sz="1400" b="1" dirty="0" smtClean="0">
                <a:solidFill>
                  <a:srgbClr val="4372C2"/>
                </a:solidFill>
                <a:cs typeface="B Nazanin" panose="00000400000000000000" pitchFamily="2" charset="-78"/>
              </a:rPr>
              <a:t>افراد متخلف از قانون</a:t>
            </a:r>
            <a:endParaRPr lang="en-US" sz="1400" b="1" dirty="0">
              <a:solidFill>
                <a:srgbClr val="4372C2"/>
              </a:solidFill>
              <a:cs typeface="B Nazanin" panose="00000400000000000000" pitchFamily="2" charset="-78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813869" y="1201784"/>
            <a:ext cx="1342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dirty="0" smtClean="0">
                <a:solidFill>
                  <a:srgbClr val="00B050"/>
                </a:solidFill>
              </a:rPr>
              <a:t>تصمیم گیرنده 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700198" y="1625018"/>
            <a:ext cx="3972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b="1">
                <a:cs typeface="B Nazanin" panose="00000400000000000000" pitchFamily="2" charset="-78"/>
              </a:defRPr>
            </a:lvl1pPr>
          </a:lstStyle>
          <a:p>
            <a:r>
              <a:rPr lang="fa-IR" dirty="0" smtClean="0">
                <a:solidFill>
                  <a:schemeClr val="accent2">
                    <a:lumMod val="75000"/>
                  </a:schemeClr>
                </a:solidFill>
              </a:rPr>
              <a:t>مثال کلاسیک قطار و سوزن بان در تصمیم گیری 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756056" y="1625018"/>
            <a:ext cx="21329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i="1" dirty="0">
                <a:latin typeface="Corbel (Body)"/>
              </a:rPr>
              <a:t>)</a:t>
            </a:r>
            <a:r>
              <a:rPr lang="en-US" b="1" i="1" dirty="0">
                <a:latin typeface="Corbel (Body)"/>
              </a:rPr>
              <a:t>Trolley </a:t>
            </a:r>
            <a:r>
              <a:rPr lang="en-US" b="1" i="1" dirty="0" smtClean="0">
                <a:latin typeface="Corbel (Body)"/>
              </a:rPr>
              <a:t>Problem</a:t>
            </a:r>
            <a:r>
              <a:rPr lang="fa-IR" b="1" i="1" dirty="0" smtClean="0">
                <a:latin typeface="Corbel (Body)"/>
              </a:rPr>
              <a:t>(</a:t>
            </a:r>
            <a:endParaRPr lang="en-US" b="1" i="1" dirty="0">
              <a:latin typeface="Corbel (Body)"/>
            </a:endParaRP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2608" y="2760154"/>
            <a:ext cx="5149570" cy="199884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710" y="3008396"/>
            <a:ext cx="3357371" cy="2359731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5"/>
          <a:srcRect b="8497"/>
          <a:stretch/>
        </p:blipFill>
        <p:spPr>
          <a:xfrm>
            <a:off x="8857085" y="2799343"/>
            <a:ext cx="3045156" cy="378807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1536" y="4842030"/>
            <a:ext cx="5085589" cy="174538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04801" y="5368127"/>
            <a:ext cx="30812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http://</a:t>
            </a:r>
            <a:r>
              <a:rPr lang="en-US" b="1" dirty="0">
                <a:solidFill>
                  <a:srgbClr val="0070C0"/>
                </a:solidFill>
              </a:rPr>
              <a:t>moralmachine</a:t>
            </a:r>
            <a:r>
              <a:rPr lang="en-US" dirty="0">
                <a:solidFill>
                  <a:srgbClr val="0070C0"/>
                </a:solidFill>
              </a:rPr>
              <a:t>.mit.edu/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442" y="5830780"/>
            <a:ext cx="2247731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rtl="1"/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بررسی ۴۰ 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میلیون تصمیم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</a:t>
            </a:r>
          </a:p>
          <a:p>
            <a:pPr algn="ctr" rtl="1"/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در ۲۳۳</a:t>
            </a:r>
            <a:r>
              <a:rPr lang="en-US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فرهنگ (کشو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ر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)</a:t>
            </a:r>
            <a:endParaRPr lang="en-US" b="1" dirty="0">
              <a:solidFill>
                <a:srgbClr val="FF0000"/>
              </a:solidFill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903538" y="2692735"/>
            <a:ext cx="25186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جوان‌تر‌ها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952611" y="4828967"/>
            <a:ext cx="23823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پیاده ها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134955" y="2432984"/>
            <a:ext cx="26292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ترجیح به حفظ جان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موارد دیگر</a:t>
            </a:r>
            <a:endParaRPr lang="en-US" dirty="0">
              <a:solidFill>
                <a:srgbClr val="0070C0"/>
              </a:solidFill>
              <a:cs typeface="B Nazanin" panose="00000400000000000000" pitchFamily="2" charset="-78"/>
            </a:endParaRPr>
          </a:p>
        </p:txBody>
      </p:sp>
      <p:cxnSp>
        <p:nvCxnSpPr>
          <p:cNvPr id="20" name="Straight Connector 19"/>
          <p:cNvCxnSpPr/>
          <p:nvPr/>
        </p:nvCxnSpPr>
        <p:spPr>
          <a:xfrm>
            <a:off x="256489" y="2691859"/>
            <a:ext cx="8609796" cy="4565"/>
          </a:xfrm>
          <a:prstGeom prst="line">
            <a:avLst/>
          </a:prstGeom>
          <a:ln w="9525" cap="flat" cmpd="sng" algn="ctr">
            <a:solidFill>
              <a:schemeClr val="accent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3713128" y="4759398"/>
            <a:ext cx="5101302" cy="3720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1112151" y="2667744"/>
            <a:ext cx="10967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a-IR" b="1" dirty="0" smtClean="0">
                <a:solidFill>
                  <a:schemeClr val="accent2">
                    <a:lumMod val="75000"/>
                  </a:schemeClr>
                </a:solidFill>
                <a:cs typeface="B Nazanin" panose="00000400000000000000" pitchFamily="2" charset="-78"/>
              </a:rPr>
              <a:t>مثالی دیگر </a:t>
            </a:r>
            <a:endParaRPr lang="en-US" b="1" dirty="0">
              <a:solidFill>
                <a:schemeClr val="accent2">
                  <a:lumMod val="75000"/>
                </a:schemeClr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032889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r"/>
            <a:r>
              <a:rPr lang="fa-IR" sz="4800" dirty="0">
                <a:cs typeface="B Nazanin" panose="00000400000000000000" pitchFamily="2" charset="-78"/>
              </a:rPr>
              <a:t> ثبت و مرور تصمیمها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561702" y="1411742"/>
            <a:ext cx="106723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b="1" dirty="0">
                <a:cs typeface="B Nazanin" panose="00000400000000000000" pitchFamily="2" charset="-78"/>
              </a:rPr>
              <a:t>مدیرانی که بعد از ده یا بیست سال تجربه، همچنان تصمیمهای بدیهی را اشتباه می‌گیرند، مشکلی در تجربه تصمیم گیری </a:t>
            </a:r>
            <a:r>
              <a:rPr lang="fa-IR" b="1" dirty="0" smtClean="0">
                <a:cs typeface="B Nazanin" panose="00000400000000000000" pitchFamily="2" charset="-78"/>
              </a:rPr>
              <a:t>ندارند. بلکه </a:t>
            </a:r>
            <a:r>
              <a:rPr lang="fa-IR" b="1" dirty="0">
                <a:cs typeface="B Nazanin" panose="00000400000000000000" pitchFamily="2" charset="-78"/>
              </a:rPr>
              <a:t>ضعف آنها در 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یادگیری از تصمیم های قبلی</a:t>
            </a:r>
            <a:r>
              <a:rPr lang="fa-IR" b="1" dirty="0">
                <a:cs typeface="B Nazanin" panose="00000400000000000000" pitchFamily="2" charset="-78"/>
              </a:rPr>
              <a:t> است</a:t>
            </a:r>
            <a:r>
              <a:rPr lang="fa-IR" b="1" dirty="0" smtClean="0">
                <a:cs typeface="B Nazanin" panose="00000400000000000000" pitchFamily="2" charset="-78"/>
              </a:rPr>
              <a:t>. </a:t>
            </a:r>
            <a:endParaRPr lang="fa-IR" b="1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92331" y="2228842"/>
            <a:ext cx="10633166" cy="9233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Low" rtl="1"/>
            <a:r>
              <a:rPr lang="fa-IR" dirty="0">
                <a:cs typeface="B Nazanin" panose="00000400000000000000" pitchFamily="2" charset="-78"/>
              </a:rPr>
              <a:t>حافظه، ابزار مطمئنی برای مرور تصمیم‌ها نیست. ذهن ما به </a:t>
            </a:r>
            <a:r>
              <a:rPr lang="fa-IR" b="1" dirty="0">
                <a:solidFill>
                  <a:srgbClr val="4372C2"/>
                </a:solidFill>
                <a:cs typeface="B Nazanin" panose="00000400000000000000" pitchFamily="2" charset="-78"/>
              </a:rPr>
              <a:t>خطاهای شناختی </a:t>
            </a:r>
            <a:r>
              <a:rPr lang="fa-IR" dirty="0">
                <a:cs typeface="B Nazanin" panose="00000400000000000000" pitchFamily="2" charset="-78"/>
              </a:rPr>
              <a:t>متعددی گرفتار است و حافظه هم معمولاً بیش از آنکه در خدمت منطقِ ما باشد، در تسخیرخطاهای شناختی است</a:t>
            </a:r>
            <a:r>
              <a:rPr lang="fa-IR" dirty="0" smtClean="0">
                <a:cs typeface="B Nazanin" panose="00000400000000000000" pitchFamily="2" charset="-78"/>
              </a:rPr>
              <a:t>. متاسفانه </a:t>
            </a:r>
            <a:r>
              <a:rPr lang="fa-IR" dirty="0">
                <a:cs typeface="B Nazanin" panose="00000400000000000000" pitchFamily="2" charset="-78"/>
              </a:rPr>
              <a:t> ذهن ما خاطرات را به تدریج </a:t>
            </a:r>
            <a:r>
              <a:rPr lang="fa-IR" b="1" dirty="0">
                <a:cs typeface="B Nazanin" panose="00000400000000000000" pitchFamily="2" charset="-78"/>
              </a:rPr>
              <a:t>تحریف</a:t>
            </a:r>
            <a:r>
              <a:rPr lang="fa-IR" dirty="0">
                <a:cs typeface="B Nazanin" panose="00000400000000000000" pitchFamily="2" charset="-78"/>
              </a:rPr>
              <a:t> می‌کند و آنچه ما امروز درباره شرایط تصمیم گیری به خاطر می‌آوریم، الزاماً با آنچه واقعاً در آن زمان وجود داشته یکسان نیست.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61703" y="3296815"/>
            <a:ext cx="107637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>
                <a:solidFill>
                  <a:srgbClr val="002060"/>
                </a:solidFill>
                <a:cs typeface="B Nazanin" panose="00000400000000000000" pitchFamily="2" charset="-78"/>
              </a:rPr>
              <a:t>یکی از بهترین روش‌ها برای بهبود کیفیت تصمیم گیری، ثبت تصمیم‌هاست</a:t>
            </a:r>
            <a:r>
              <a:rPr lang="fa-IR" b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.  ( </a:t>
            </a:r>
            <a:r>
              <a:rPr lang="fa-IR" b="1" i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به همراه شرایط ، معیارها و پارامتر های تصمیم گیری در آن زمان </a:t>
            </a:r>
            <a:r>
              <a:rPr lang="fa-IR" b="1" dirty="0" smtClean="0">
                <a:solidFill>
                  <a:srgbClr val="002060"/>
                </a:solidFill>
                <a:cs typeface="B Nazanin" panose="00000400000000000000" pitchFamily="2" charset="-78"/>
              </a:rPr>
              <a:t>) مثال :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چه گزینه‌هایی پیش روی من بود؟</a:t>
            </a:r>
            <a:r>
              <a:rPr lang="en-US" dirty="0">
                <a:solidFill>
                  <a:srgbClr val="002060"/>
                </a:solidFill>
                <a:cs typeface="B Nazanin" panose="00000400000000000000" pitchFamily="2" charset="-78"/>
              </a:rPr>
              <a:t>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چقدر به انتخاب خودم مطمئنم؟</a:t>
            </a:r>
            <a:r>
              <a:rPr lang="en-US" dirty="0">
                <a:solidFill>
                  <a:srgbClr val="002060"/>
                </a:solidFill>
                <a:cs typeface="B Nazanin" panose="00000400000000000000" pitchFamily="2" charset="-78"/>
              </a:rPr>
              <a:t> 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افراد موافق و مخالف با </a:t>
            </a:r>
            <a:r>
              <a:rPr lang="fa-IR" dirty="0" smtClean="0">
                <a:solidFill>
                  <a:srgbClr val="002060"/>
                </a:solidFill>
                <a:cs typeface="B Nazanin" panose="00000400000000000000" pitchFamily="2" charset="-78"/>
              </a:rPr>
              <a:t>انتخاب من </a:t>
            </a:r>
            <a:r>
              <a:rPr lang="fa-IR" dirty="0">
                <a:solidFill>
                  <a:srgbClr val="002060"/>
                </a:solidFill>
                <a:cs typeface="B Nazanin" panose="00000400000000000000" pitchFamily="2" charset="-78"/>
              </a:rPr>
              <a:t>و دلایل آنها چیست </a:t>
            </a:r>
            <a:r>
              <a:rPr lang="fa-IR" dirty="0" smtClean="0">
                <a:solidFill>
                  <a:srgbClr val="002060"/>
                </a:solidFill>
                <a:cs typeface="B Nazanin" panose="00000400000000000000" pitchFamily="2" charset="-78"/>
              </a:rPr>
              <a:t>؟ چه مواردی الان برام قطعی است و چه مواردی رو حدس میزنم ؟ چقدر برای این تصمیم زمان دارم ؟ چقدر عجله دارم ؟ و ..... </a:t>
            </a:r>
            <a:endParaRPr lang="en-US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540213" y="4423007"/>
            <a:ext cx="47852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هرگز نمیتوان و نباید همه تصمیمهای خود را ثبت کنید 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897718" y="4753150"/>
            <a:ext cx="786946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برای ثبت تصمیم ها موضوع ، استراتژی و ... مشخص کنید ! (مثلا تصمیمات مهم در مورد جذب منابع انسانی)  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744576" y="5127852"/>
            <a:ext cx="75809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الزاما در مورد همه تصمیمات نمی توانید به همه سوالات مشخص شده به یکباره پاسخ دهید. 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141101" y="5452625"/>
            <a:ext cx="862607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>
                <a:cs typeface="B Nazanin" panose="00000400000000000000" pitchFamily="2" charset="-78"/>
              </a:rPr>
              <a:t>هر از چند گاهی سوالات را مرور و تکمیل </a:t>
            </a:r>
            <a:r>
              <a:rPr lang="fa-IR" dirty="0" smtClean="0">
                <a:cs typeface="B Nazanin" panose="00000400000000000000" pitchFamily="2" charset="-78"/>
              </a:rPr>
              <a:t>کنید و در مورد هر تصمیم مشخص کنید که چه سوالاتی را ثبت خواهید کرد .  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703719" y="5821957"/>
            <a:ext cx="46217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 ارزش اصلی این نوع ثبت کردن در مرور تصمیم است.</a:t>
            </a:r>
            <a:endParaRPr lang="en-US" b="1" dirty="0">
              <a:solidFill>
                <a:srgbClr val="C00000"/>
              </a:solidFill>
              <a:cs typeface="B Nazanin" panose="00000400000000000000" pitchFamily="2" charset="-78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5520" y="6184546"/>
            <a:ext cx="84016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 rtl="1"/>
            <a:r>
              <a:rPr lang="fa-IR" dirty="0" smtClean="0">
                <a:cs typeface="B Nazanin" panose="00000400000000000000" pitchFamily="2" charset="-78"/>
              </a:rPr>
              <a:t>همین </a:t>
            </a:r>
            <a:r>
              <a:rPr lang="fa-IR" dirty="0">
                <a:cs typeface="B Nazanin" panose="00000400000000000000" pitchFamily="2" charset="-78"/>
              </a:rPr>
              <a:t>که گزارش امروز خود را بعداً بخوانید قطعاً مفید و آموزنده است و برای شما تداعی‌های بسیاری ایجاد خواهد کرد.</a:t>
            </a:r>
            <a:endParaRPr lang="en-US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5083439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خطا های شناختی یا خطاهای ذهنی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0277161" y="1977167"/>
            <a:ext cx="1266629" cy="276999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1200" dirty="0">
                <a:solidFill>
                  <a:schemeClr val="accent1">
                    <a:lumMod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Cognitive Errors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06284" y="1693428"/>
            <a:ext cx="16273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cs typeface="B Nazanin" panose="00000400000000000000" pitchFamily="2" charset="-78"/>
              </a:rPr>
              <a:t>خطا های شناختی </a:t>
            </a:r>
            <a:endParaRPr lang="en-US" b="1" dirty="0"/>
          </a:p>
        </p:txBody>
      </p:sp>
      <p:sp>
        <p:nvSpPr>
          <p:cNvPr id="5" name="Rectangle 4"/>
          <p:cNvSpPr/>
          <p:nvPr/>
        </p:nvSpPr>
        <p:spPr>
          <a:xfrm>
            <a:off x="3174277" y="1508762"/>
            <a:ext cx="655755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هنگام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تحلیل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تفسیر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و </a:t>
            </a:r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قضاوت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در مورد رویدادها ما را به دام خود گرفتار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می‌کنند .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9008" y="1885796"/>
            <a:ext cx="95228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اکثر خطاهای شناختی به مرور زمان و در اثر زندگی طولانی‌ مدت انسان بر روی کره زمین، در مغز ما شکل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گرفته‌اند . 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(مدل ذهنی)</a:t>
            </a:r>
            <a:endParaRPr lang="en-US" b="1" dirty="0">
              <a:solidFill>
                <a:srgbClr val="C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97282" y="2239766"/>
            <a:ext cx="86345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برخی از این مدل های ذهنی به تفکر سریع و تصمیم گیری بهتر ما کمک میکنند اما بعضا هزینه هایی نیز در بر دارند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87828" y="2712274"/>
            <a:ext cx="9418456" cy="584775"/>
          </a:xfrm>
          <a:prstGeom prst="rect">
            <a:avLst/>
          </a:prstGeom>
          <a:ln w="28575">
            <a:prstDash val="solid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en-US" sz="1600" dirty="0" err="1">
                <a:cs typeface="B Nazanin" panose="00000400000000000000" pitchFamily="2" charset="-78"/>
              </a:rPr>
              <a:t>انسان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امروز</a:t>
            </a:r>
            <a:r>
              <a:rPr lang="en-US" sz="1600" dirty="0">
                <a:cs typeface="B Nazanin" panose="00000400000000000000" pitchFamily="2" charset="-78"/>
              </a:rPr>
              <a:t> ، </a:t>
            </a:r>
            <a:r>
              <a:rPr lang="en-US" sz="1600" dirty="0" err="1">
                <a:cs typeface="B Nazanin" panose="00000400000000000000" pitchFamily="2" charset="-78"/>
              </a:rPr>
              <a:t>وقتی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همکاری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فردی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یک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شهر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متضرر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شود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نتیجه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میرسد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که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بهتر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است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هیچ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یک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افراد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آن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شهر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همکاری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نکند</a:t>
            </a:r>
            <a:r>
              <a:rPr lang="en-US" sz="1600" dirty="0">
                <a:cs typeface="B Nazanin" panose="00000400000000000000" pitchFamily="2" charset="-78"/>
              </a:rPr>
              <a:t> . </a:t>
            </a:r>
            <a:r>
              <a:rPr lang="en-US" sz="1600" dirty="0" err="1">
                <a:cs typeface="B Nazanin" panose="00000400000000000000" pitchFamily="2" charset="-78"/>
              </a:rPr>
              <a:t>او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تجربه</a:t>
            </a:r>
            <a:r>
              <a:rPr lang="fa-IR" sz="1600" dirty="0" smtClean="0">
                <a:cs typeface="B Nazanin" panose="00000400000000000000" pitchFamily="2" charset="-78"/>
              </a:rPr>
              <a:t> </a:t>
            </a:r>
            <a:r>
              <a:rPr lang="fa-IR" sz="1600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(مدل ذهنی</a:t>
            </a:r>
            <a:r>
              <a:rPr lang="fa-IR" sz="1600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)</a:t>
            </a:r>
            <a:r>
              <a:rPr lang="en-US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را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درست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مانند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تجربه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خوردن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میوه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قرمز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solidFill>
                  <a:srgbClr val="0070C0"/>
                </a:solidFill>
                <a:cs typeface="B Nazanin" panose="00000400000000000000" pitchFamily="2" charset="-78"/>
              </a:rPr>
              <a:t>مرگبار</a:t>
            </a:r>
            <a:r>
              <a:rPr lang="en-US" sz="1600" b="1" dirty="0">
                <a:solidFill>
                  <a:srgbClr val="0070C0"/>
                </a:solidFill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دوستانش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منتقل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می</a:t>
            </a:r>
            <a:r>
              <a:rPr lang="fa-IR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 smtClean="0">
                <a:cs typeface="B Nazanin" panose="00000400000000000000" pitchFamily="2" charset="-78"/>
              </a:rPr>
              <a:t>نماید</a:t>
            </a:r>
            <a:r>
              <a:rPr lang="en-US" sz="1600" dirty="0" smtClean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تا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آنها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هم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از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این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اشتباه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در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امان</a:t>
            </a:r>
            <a:r>
              <a:rPr lang="en-US" sz="1600" dirty="0">
                <a:cs typeface="B Nazanin" panose="00000400000000000000" pitchFamily="2" charset="-78"/>
              </a:rPr>
              <a:t> </a:t>
            </a:r>
            <a:r>
              <a:rPr lang="en-US" sz="1600" dirty="0" err="1">
                <a:cs typeface="B Nazanin" panose="00000400000000000000" pitchFamily="2" charset="-78"/>
              </a:rPr>
              <a:t>باشند</a:t>
            </a:r>
            <a:r>
              <a:rPr lang="en-US" sz="1600" dirty="0">
                <a:cs typeface="B Nazanin" panose="00000400000000000000" pitchFamily="2" charset="-78"/>
              </a:rPr>
              <a:t> . 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56904" y="2793710"/>
            <a:ext cx="15071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v"/>
            </a:pPr>
            <a:r>
              <a:rPr lang="fa-IR" b="1" dirty="0" smtClean="0">
                <a:cs typeface="B Nazanin" panose="00000400000000000000" pitchFamily="2" charset="-78"/>
              </a:rPr>
              <a:t>خطای تعمیم </a:t>
            </a:r>
            <a:endParaRPr lang="en-US" b="1" dirty="0"/>
          </a:p>
        </p:txBody>
      </p:sp>
      <p:sp>
        <p:nvSpPr>
          <p:cNvPr id="12" name="Rectangle 11"/>
          <p:cNvSpPr/>
          <p:nvPr/>
        </p:nvSpPr>
        <p:spPr>
          <a:xfrm>
            <a:off x="1980028" y="3431039"/>
            <a:ext cx="26432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/>
            <a:r>
              <a:rPr lang="fa-IR" b="1" dirty="0">
                <a:solidFill>
                  <a:srgbClr val="C00000"/>
                </a:solidFill>
                <a:latin typeface="IRANSans"/>
              </a:rPr>
              <a:t> 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خطاهای </a:t>
            </a:r>
            <a:r>
              <a:rPr lang="fa-IR" b="1" dirty="0" smtClean="0">
                <a:solidFill>
                  <a:srgbClr val="C00000"/>
                </a:solidFill>
                <a:cs typeface="B Nazanin" panose="00000400000000000000" pitchFamily="2" charset="-78"/>
              </a:rPr>
              <a:t>شناختی </a:t>
            </a:r>
            <a:r>
              <a:rPr lang="fa-IR" b="1" dirty="0">
                <a:solidFill>
                  <a:srgbClr val="C00000"/>
                </a:solidFill>
                <a:cs typeface="B Nazanin" panose="00000400000000000000" pitchFamily="2" charset="-78"/>
              </a:rPr>
              <a:t>نوع سوگیری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090" y="4202290"/>
            <a:ext cx="4532780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اعتماد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نفس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بیش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حد</a:t>
            </a:r>
            <a:r>
              <a:rPr lang="en-US" sz="1600" b="1" dirty="0">
                <a:cs typeface="B Nazanin" panose="00000400000000000000" pitchFamily="2" charset="-78"/>
              </a:rPr>
              <a:t> (Overconfidence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تایید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</a:t>
            </a:r>
            <a:r>
              <a:rPr lang="en-US" sz="1600" b="1" dirty="0">
                <a:cs typeface="B Nazanin" panose="00000400000000000000" pitchFamily="2" charset="-78"/>
              </a:rPr>
              <a:t> (Confirmation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تمرکز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آخرین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(</a:t>
            </a:r>
            <a:r>
              <a:rPr lang="en-US" sz="1600" b="1" dirty="0" err="1">
                <a:cs typeface="B Nazanin" panose="00000400000000000000" pitchFamily="2" charset="-78"/>
              </a:rPr>
              <a:t>Recency</a:t>
            </a:r>
            <a:r>
              <a:rPr lang="en-US" sz="1600" b="1" dirty="0">
                <a:cs typeface="B Nazanin" panose="00000400000000000000" pitchFamily="2" charset="-78"/>
              </a:rPr>
              <a:t> Bias)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تمرکز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دسترس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Availability Bias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>
                <a:cs typeface="B Nazanin" panose="00000400000000000000" pitchFamily="2" charset="-78"/>
              </a:rPr>
              <a:t>اجتناب </a:t>
            </a:r>
            <a:r>
              <a:rPr lang="en-US" sz="1600" b="1" dirty="0" err="1">
                <a:cs typeface="B Nazanin" panose="00000400000000000000" pitchFamily="2" charset="-78"/>
              </a:rPr>
              <a:t>از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تعارض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شناختی</a:t>
            </a:r>
            <a:r>
              <a:rPr lang="en-US" sz="1600" b="1" dirty="0">
                <a:cs typeface="B Nazanin" panose="00000400000000000000" pitchFamily="2" charset="-78"/>
              </a:rPr>
              <a:t> (Cognitive Dissonance)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تفکر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کلیشه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یا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استریوتایپ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Stereotype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401425" y="3434400"/>
            <a:ext cx="26432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rtl="1"/>
            <a:r>
              <a:rPr lang="fa-IR" b="1" dirty="0">
                <a:solidFill>
                  <a:srgbClr val="0070C0"/>
                </a:solidFill>
                <a:latin typeface="IRANSans"/>
              </a:rPr>
              <a:t> </a:t>
            </a:r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خطاهای </a:t>
            </a:r>
            <a:r>
              <a:rPr lang="fa-IR" b="1" dirty="0" smtClean="0">
                <a:solidFill>
                  <a:srgbClr val="0070C0"/>
                </a:solidFill>
                <a:cs typeface="B Nazanin" panose="00000400000000000000" pitchFamily="2" charset="-78"/>
              </a:rPr>
              <a:t>شناختی </a:t>
            </a:r>
            <a:r>
              <a:rPr lang="fa-IR" b="1" dirty="0">
                <a:solidFill>
                  <a:srgbClr val="0070C0"/>
                </a:solidFill>
                <a:cs typeface="B Nazanin" panose="00000400000000000000" pitchFamily="2" charset="-78"/>
              </a:rPr>
              <a:t>نوع تحریف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08916" y="3934362"/>
            <a:ext cx="553565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تفکر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همه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یا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هیچ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>
                <a:cs typeface="B Nazanin" panose="00000400000000000000" pitchFamily="2" charset="-78"/>
              </a:rPr>
              <a:t>All or </a:t>
            </a:r>
            <a:r>
              <a:rPr lang="en-US" sz="1600" b="1" dirty="0" smtClean="0">
                <a:cs typeface="B Nazanin" panose="00000400000000000000" pitchFamily="2" charset="-78"/>
              </a:rPr>
              <a:t>nothing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تعمیم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دادن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Over-generalization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بایدها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>
                <a:cs typeface="B Nazanin" panose="00000400000000000000" pitchFamily="2" charset="-78"/>
              </a:rPr>
              <a:t>Should Statements 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برچسب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گذاری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روی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دیگران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Labeling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بزرگنمایی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کوچکنمایی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Magnification / </a:t>
            </a:r>
            <a:r>
              <a:rPr lang="en-US" sz="1600" b="1" dirty="0" smtClean="0">
                <a:cs typeface="B Nazanin" panose="00000400000000000000" pitchFamily="2" charset="-78"/>
              </a:rPr>
              <a:t>Minimization 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endParaRPr lang="fa-IR" sz="1600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حذف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رویدادها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اطلاعات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مثبت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Disqualifying </a:t>
            </a:r>
            <a:r>
              <a:rPr lang="en-US" sz="1600" b="1" dirty="0" smtClean="0">
                <a:cs typeface="B Nazanin" panose="00000400000000000000" pitchFamily="2" charset="-78"/>
              </a:rPr>
              <a:t>Positives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 smtClean="0">
                <a:cs typeface="B Nazanin" panose="00000400000000000000" pitchFamily="2" charset="-78"/>
              </a:rPr>
              <a:t>پریدن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نتیجه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بدون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طی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شدن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مسیر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Jumping to Conclusions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endParaRPr lang="fa-IR" sz="1600" b="1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 smtClean="0">
                <a:cs typeface="B Nazanin" panose="00000400000000000000" pitchFamily="2" charset="-78"/>
              </a:rPr>
              <a:t>شخصی</a:t>
            </a:r>
            <a:r>
              <a:rPr lang="en-US" sz="1600" b="1" dirty="0" smtClean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کردن</a:t>
            </a:r>
            <a:r>
              <a:rPr lang="en-US" sz="1600" b="1" dirty="0">
                <a:cs typeface="B Nazanin" panose="00000400000000000000" pitchFamily="2" charset="-78"/>
              </a:rPr>
              <a:t> و </a:t>
            </a:r>
            <a:r>
              <a:rPr lang="en-US" sz="1600" b="1" dirty="0" err="1">
                <a:cs typeface="B Nazanin" panose="00000400000000000000" pitchFamily="2" charset="-78"/>
              </a:rPr>
              <a:t>به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خودگرفتن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>
                <a:cs typeface="B Nazanin" panose="00000400000000000000" pitchFamily="2" charset="-78"/>
              </a:rPr>
              <a:t>Personalization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ذهن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خوانی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fa-IR" sz="1600" b="1" dirty="0" smtClean="0">
                <a:cs typeface="B Nazanin" panose="00000400000000000000" pitchFamily="2" charset="-78"/>
              </a:rPr>
              <a:t>(</a:t>
            </a:r>
            <a:r>
              <a:rPr lang="en-US" sz="1600" b="1" dirty="0" smtClean="0">
                <a:cs typeface="B Nazanin" panose="00000400000000000000" pitchFamily="2" charset="-78"/>
              </a:rPr>
              <a:t> Mindreading</a:t>
            </a:r>
            <a:r>
              <a:rPr lang="fa-IR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en-US" sz="1600" b="1" dirty="0" err="1">
                <a:cs typeface="B Nazanin" panose="00000400000000000000" pitchFamily="2" charset="-78"/>
              </a:rPr>
              <a:t>خطای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هاله</a:t>
            </a:r>
            <a:r>
              <a:rPr lang="en-US" sz="1600" b="1" dirty="0">
                <a:cs typeface="B Nazanin" panose="00000400000000000000" pitchFamily="2" charset="-78"/>
              </a:rPr>
              <a:t> </a:t>
            </a:r>
            <a:r>
              <a:rPr lang="en-US" sz="1600" b="1" dirty="0" err="1">
                <a:cs typeface="B Nazanin" panose="00000400000000000000" pitchFamily="2" charset="-78"/>
              </a:rPr>
              <a:t>ای</a:t>
            </a:r>
            <a:r>
              <a:rPr lang="en-US" sz="1600" b="1" dirty="0">
                <a:cs typeface="B Nazanin" panose="00000400000000000000" pitchFamily="2" charset="-78"/>
              </a:rPr>
              <a:t> (Halo Effect</a:t>
            </a:r>
            <a:r>
              <a:rPr lang="en-US" sz="1600" b="1" dirty="0" smtClean="0">
                <a:cs typeface="B Nazanin" panose="00000400000000000000" pitchFamily="2" charset="-78"/>
              </a:rPr>
              <a:t>)</a:t>
            </a:r>
            <a:endParaRPr lang="en-US" sz="1600" b="1" dirty="0">
              <a:cs typeface="B Nazanin" panose="00000400000000000000" pitchFamily="2" charset="-78"/>
            </a:endParaRPr>
          </a:p>
        </p:txBody>
      </p:sp>
      <p:cxnSp>
        <p:nvCxnSpPr>
          <p:cNvPr id="18" name="Straight Connector 17"/>
          <p:cNvCxnSpPr/>
          <p:nvPr/>
        </p:nvCxnSpPr>
        <p:spPr>
          <a:xfrm>
            <a:off x="5878286" y="3565030"/>
            <a:ext cx="13063" cy="2874959"/>
          </a:xfrm>
          <a:prstGeom prst="line">
            <a:avLst/>
          </a:prstGeom>
          <a:ln w="28575">
            <a:solidFill>
              <a:schemeClr val="accent1"/>
            </a:solidFill>
            <a:prstDash val="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1078693" y="2502359"/>
            <a:ext cx="5549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600" dirty="0" smtClean="0">
                <a:cs typeface="B Nazanin" panose="00000400000000000000" pitchFamily="2" charset="-78"/>
              </a:rPr>
              <a:t>مثال :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54369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بررسی توان مغز انسان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671" y="1905064"/>
            <a:ext cx="2857500" cy="1600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1830889" y="1394884"/>
            <a:ext cx="893545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یکی از پر مصرف ترین بخش های بدن او و یکی از کم مصرف ترین ابزارهای محاسباتی و تحلیل در جهان می باشد . 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3633171" y="2104999"/>
            <a:ext cx="713317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بخشی از این برتری خود در پردازش با انرژی پایین را از ساختار نورونی سناپس ها بدست آورده ، اما بخشی از آن با قربانی کردن دقت بدست آمده . مغز ما میان بر هایی برای خود میسازد تا جواب های سرانگشتی سریعی برای مشکلات و چالشها پیدا کند و با همین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میانبر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ها و کمی از دست دادن دقت ، با  سرعت بیشتر و مصرف انرژی کمتر به جواب برسد .  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775671" y="3694627"/>
            <a:ext cx="1072178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انسان در طول زمان، با آزمایش و خطا و دریافت اطلاعات جدید و تجربه‌های جدید، به تدریج محیط اطراف خود را کشف می‌کند.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این میان، بسیاری از قضاوت‌ها و قاعده‌های ذهنی، به جای اینکه بر اساس منطق خشک و دیجیتال شکل بگیرند، بر پایه‌ی آمار و احتمال و فراوانی تجربه‌ها شکل می‌گیرند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 (</a:t>
            </a:r>
            <a:r>
              <a:rPr lang="en-US" b="1" dirty="0" smtClean="0">
                <a:solidFill>
                  <a:srgbClr val="FF0000"/>
                </a:solidFill>
              </a:rPr>
              <a:t>Heuristic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775671" y="4766393"/>
            <a:ext cx="6766577" cy="1738695"/>
            <a:chOff x="4730878" y="4726476"/>
            <a:chExt cx="6766577" cy="1738695"/>
          </a:xfrm>
        </p:grpSpPr>
        <p:sp>
          <p:nvSpPr>
            <p:cNvPr id="7" name="Rectangle 6"/>
            <p:cNvSpPr/>
            <p:nvPr/>
          </p:nvSpPr>
          <p:spPr>
            <a:xfrm>
              <a:off x="4859383" y="4807320"/>
              <a:ext cx="5166503" cy="1477328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justLow" rtl="1"/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نباید فراموش کرد که مغز انسان، برای به دست آوردن این سطح بالا از عملکرد، میان‌بر‌هایی را هم آموخته و به کار گرفته </a:t>
              </a:r>
              <a:r>
                <a:rPr lang="fa-IR" dirty="0" smtClean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است.</a:t>
              </a:r>
              <a:r>
                <a:rPr lang="en-US" dirty="0" smtClean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 </a:t>
              </a:r>
              <a:r>
                <a:rPr lang="fa-IR" b="1" dirty="0" smtClean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میان‌برهایی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ارزشمند 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که اگر چه موجب بقای نسل بشر بر روی این کره‌ی خاکی شده‌اند،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اما منشاء 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بسیاری از </a:t>
              </a:r>
              <a:r>
                <a:rPr lang="fa-IR" b="1" dirty="0">
                  <a:solidFill>
                    <a:srgbClr val="FF0000"/>
                  </a:solidFill>
                  <a:latin typeface="IRANSans"/>
                  <a:cs typeface="B Nazanin" panose="00000400000000000000" pitchFamily="2" charset="-78"/>
                </a:rPr>
                <a:t>خطاهای قضاوتی و ادراکی</a:t>
              </a:r>
              <a:r>
                <a:rPr lang="fa-IR" dirty="0">
                  <a:solidFill>
                    <a:srgbClr val="000000"/>
                  </a:solidFill>
                  <a:latin typeface="IRANSans"/>
                  <a:cs typeface="B Nazanin" panose="00000400000000000000" pitchFamily="2" charset="-78"/>
                </a:rPr>
                <a:t> ما هم بوده‌اند.</a:t>
              </a:r>
            </a:p>
          </p:txBody>
        </p:sp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06643" y="4795806"/>
              <a:ext cx="1238428" cy="1630176"/>
            </a:xfrm>
            <a:prstGeom prst="rect">
              <a:avLst/>
            </a:prstGeom>
          </p:spPr>
        </p:pic>
        <p:sp>
          <p:nvSpPr>
            <p:cNvPr id="10" name="Rectangle 9"/>
            <p:cNvSpPr/>
            <p:nvPr/>
          </p:nvSpPr>
          <p:spPr>
            <a:xfrm>
              <a:off x="4730878" y="4726476"/>
              <a:ext cx="6766577" cy="173869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8370" y="4766393"/>
            <a:ext cx="1352550" cy="342900"/>
          </a:xfrm>
          <a:prstGeom prst="rect">
            <a:avLst/>
          </a:prstGeom>
        </p:spPr>
      </p:pic>
      <p:cxnSp>
        <p:nvCxnSpPr>
          <p:cNvPr id="14" name="Elbow Connector 13"/>
          <p:cNvCxnSpPr>
            <a:stCxn id="12" idx="2"/>
            <a:endCxn id="19" idx="0"/>
          </p:cNvCxnSpPr>
          <p:nvPr/>
        </p:nvCxnSpPr>
        <p:spPr>
          <a:xfrm rot="5400000">
            <a:off x="10082784" y="4876720"/>
            <a:ext cx="729288" cy="1194435"/>
          </a:xfrm>
          <a:prstGeom prst="bentConnector3">
            <a:avLst>
              <a:gd name="adj1" fmla="val 50000"/>
            </a:avLst>
          </a:prstGeom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9853996" y="5104605"/>
            <a:ext cx="5934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معنی</a:t>
            </a:r>
            <a:endParaRPr lang="en-US" b="1" dirty="0">
              <a:solidFill>
                <a:srgbClr val="4372C2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02964" y="5838581"/>
            <a:ext cx="329449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sz="1400" dirty="0">
                <a:solidFill>
                  <a:srgbClr val="454638"/>
                </a:solidFill>
                <a:latin typeface="MsYekan"/>
              </a:rPr>
              <a:t>کشف کننده، پی برنده، اکتشافی، ابتکآری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91279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9977" y="44106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نمونه هایی از خطاهای ذهنی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8543109" y="1744286"/>
            <a:ext cx="3063238" cy="48013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اکثر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انسان‌ها. احنمال مرگ با سیل و زلزله را بیشتر از آتشسوزی برای خود میدانیم . 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حالی که آمارها نشان می‌دهند، برای هر یک از ما، احتمال مرگ ناشی از آتش‌سوزی الزاماً از احتمال مرگ در اثر زلزله یا سقوط هواپیما کمتر نیست.</a:t>
            </a:r>
          </a:p>
          <a:p>
            <a:pPr algn="justLow" rtl="1"/>
            <a:r>
              <a:rPr lang="fa-IR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علت این نوع ارزیابی، اطلاعاتی است که در دسترس مغز است.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مغز در اثر گوش دادن به خبرها و خواندن روزنامه‌ها، حجم زیادی از اخبار مربوط به سقوط و زلزله را در دسترس دارد. به همین علت بر اساس اینکه چه چیزهایی بهتر به خاطر می‌آیند، در زمینه احتمال وقوع آنها قضاوت می‌کند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به عبارتی، اطلاعاتی که سریع‌تر بازیابی می‌شوند، محتمل‌تر فرض می‌شوند</a:t>
            </a:r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b="1" dirty="0">
              <a:solidFill>
                <a:srgbClr val="C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8543109" y="1359961"/>
            <a:ext cx="3063238" cy="400110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000" b="1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خطای در محاسبه‌ی احتمالات</a:t>
            </a:r>
            <a:endParaRPr lang="en-US" sz="2000" dirty="0"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074229" y="1757349"/>
            <a:ext cx="2377440" cy="480131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کنید برای خرید یک خودرو، هفته‌ها وقت صرف کرده و با ده‌ها نفر صحبت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کرده‌اید.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اثر این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تحقیق‌ها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با قطعیت به یک نتیجه‌ی مشخص رسیده‌اید.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هنگام خرید خودرو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، یک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مشتری را می‌بینید که می‌گوید: «من همین ماشین را داشتم. روز سوم خاموش شد و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.... ».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آیا هنوز بر تصمیم قبلی خود باقی می‌مانید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؟</a:t>
            </a:r>
          </a:p>
          <a:p>
            <a:pPr algn="justLow" rtl="1"/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واقعیت آن است که ذهن ما برای آخرین اطلاعات بدست آمده ارزش بیشتری قایل است که این مورد میتواند نتیجه درستی نداشته باشد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. 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074229" y="1359961"/>
            <a:ext cx="2377440" cy="461665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200" b="1" dirty="0">
                <a:cs typeface="B Nazanin" panose="00000400000000000000" pitchFamily="2" charset="-78"/>
              </a:rPr>
              <a:t>خطای ناشی از مهم‌تر فرض کردن آخرین اخبار</a:t>
            </a:r>
            <a:endParaRPr lang="en-US" sz="1400" b="1" dirty="0">
              <a:cs typeface="B Nazanin" panose="00000400000000000000" pitchFamily="2" charset="-78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278777" y="1834689"/>
            <a:ext cx="2704011" cy="470898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فرض کنید که ماشین مورد علاقه‌ی خود را انتخاب کرده‌اید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مسیر مراجعه برای خرید ماشین،‌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یکنفر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 می‌بینید. سال‌هاست از او نفرت دارید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. متوجه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می‌شوید که او هم از همین ماشین خریده است.</a:t>
            </a:r>
          </a:p>
          <a:p>
            <a:pPr algn="justLow" rtl="1"/>
            <a:r>
              <a:rPr lang="fa-IR" sz="20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آیا هنوز هم، علاقه‌ی شما به آن ماشین به اندازه‌ی قبل است؟</a:t>
            </a:r>
          </a:p>
          <a:p>
            <a:pPr algn="justLow" rtl="1"/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یکی از میان‌بُرهای ذهن ما این است که صفات را از انسان به کالا و از کالا به انسان و نیز از محیط به یک جسم سرایت می‌دهد.</a:t>
            </a:r>
          </a:p>
          <a:p>
            <a:pPr algn="justLow" rtl="1"/>
            <a:r>
              <a:rPr lang="fa-IR" sz="1600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واقع اینکه بعضا با تجربه همکاری بد با یک نفر از یک شهر یا قومیت خاص ، همه افراد از آن شهر یا قومیت خاص را نا مناسب می دانیم ناشی از چنین خطای ذهنی می باشد. </a:t>
            </a:r>
            <a:endParaRPr lang="fa-IR" sz="1600" b="1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278777" y="1373024"/>
            <a:ext cx="2704011" cy="461665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000" b="1" dirty="0" smtClean="0">
                <a:cs typeface="B Nazanin" panose="00000400000000000000" pitchFamily="2" charset="-78"/>
              </a:rPr>
              <a:t>خطای ذهنی سرایت </a:t>
            </a:r>
            <a:r>
              <a:rPr lang="fa-IR" sz="2400" b="1" dirty="0" smtClean="0">
                <a:cs typeface="B Nazanin" panose="00000400000000000000" pitchFamily="2" charset="-78"/>
              </a:rPr>
              <a:t> </a:t>
            </a:r>
            <a:endParaRPr lang="en-US" sz="2400" b="1" dirty="0"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87383" y="1886941"/>
            <a:ext cx="2899953" cy="4247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نویسنده‌ای در یک مصاحبه‌ی تلویزیونی می‌گوید که ۱۸ سال گذشته را صرف نگارش آخرین کتابش کرده است.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بسیاری از ما با شنیدن این جمله، احساس می‌کنیم با یک کتاب وزین و ارزشمند طرف هستیم.</a:t>
            </a:r>
          </a:p>
          <a:p>
            <a:pPr algn="justLow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البته ممکن است فرض ما نادرست هم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نباشد. ممکن است نویسنده کند ذهن و تنبل بوده باشد . یا روش تحقیق مناسبلی نداشته و ... یکی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 قواعد سرانگشتی </a:t>
            </a:r>
            <a:r>
              <a:rPr lang="fa-IR" b="1" dirty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و میان‌بُرهای محاسباتی ذهن ما این است که تلاش و کوشش و زمانی را که صرف یک کار شده، با ارزش دستاورد آن کار هم‌ارز می‌گیرد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7383" y="1373024"/>
            <a:ext cx="2899953" cy="523220"/>
          </a:xfrm>
          <a:prstGeom prst="rect">
            <a:avLst/>
          </a:prstGeom>
          <a:solidFill>
            <a:srgbClr val="AFA9FB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1400" b="1" dirty="0">
                <a:cs typeface="B Nazanin" panose="00000400000000000000" pitchFamily="2" charset="-78"/>
              </a:rPr>
              <a:t>خطای ذهنی در ایجاد رابطه میان تلاش و کیفیت</a:t>
            </a:r>
            <a:endParaRPr lang="en-US" b="1" dirty="0">
              <a:cs typeface="B Nazanin" panose="00000400000000000000" pitchFamily="2" charset="-78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87383" y="6076056"/>
            <a:ext cx="2899953" cy="46166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a-IR" sz="2400" b="1" dirty="0" smtClean="0">
                <a:cs typeface="B Nazanin" panose="00000400000000000000" pitchFamily="2" charset="-78"/>
              </a:rPr>
              <a:t>و ...</a:t>
            </a:r>
            <a:endParaRPr lang="en-US" sz="32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4139516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2331" y="448038"/>
            <a:ext cx="10745928" cy="709749"/>
          </a:xfrm>
        </p:spPr>
        <p:txBody>
          <a:bodyPr>
            <a:normAutofit/>
          </a:bodyPr>
          <a:lstStyle/>
          <a:p>
            <a:pPr algn="r"/>
            <a:r>
              <a:rPr lang="fa-IR" sz="3600" dirty="0" smtClean="0">
                <a:cs typeface="B Nazanin" panose="00000400000000000000" pitchFamily="2" charset="-78"/>
              </a:rPr>
              <a:t>دریافت گزینشی اطلاعات / خطای </a:t>
            </a:r>
            <a:r>
              <a:rPr lang="fa-IR" sz="3600" dirty="0" smtClean="0">
                <a:cs typeface="B Nazanin" panose="00000400000000000000" pitchFamily="2" charset="-78"/>
              </a:rPr>
              <a:t>تایید خود </a:t>
            </a:r>
            <a:endParaRPr lang="en-US" sz="36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6413049" y="5342155"/>
            <a:ext cx="51347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u="sng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/>
              </a:rPr>
              <a:t>Self Confirmation Bias</a:t>
            </a:r>
            <a:endParaRPr lang="en-US" sz="3600" b="1" u="sng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2404" y="2286899"/>
            <a:ext cx="10635855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اینکه ما بعد از تهیه یک ماشین احساس میکنیم خیلی ها در خیابان نسبت به قبل این ماشین را تهیه کرده اند ناشی از </a:t>
            </a:r>
            <a:r>
              <a:rPr lang="fa-IR" b="1" dirty="0" smtClean="0">
                <a:solidFill>
                  <a:schemeClr val="tx1"/>
                </a:solidFill>
                <a:latin typeface="IRANSans"/>
                <a:cs typeface="B Nazanin" panose="00000400000000000000" pitchFamily="2" charset="-78"/>
              </a:rPr>
              <a:t>عدم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 فیلترینگ مغز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 توجه و پردازش به این نوع ماشین می باشد . ما </a:t>
            </a:r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اطلاعاتی را که دوست داریم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آن توجه کنیم را حذف یا فیلتر نمی کنیم. 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2483736" y="1474196"/>
            <a:ext cx="8168513" cy="646331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اینکه احتمالا ما نمیدانیم که خانه ما چند پله دارد ولی هرگز برای تشخیص اتمام پله ها اشتباه نمیکنیم مربوط به فیلترینگ مغز ما برای تعداد پله ها می باشد . زیرا مغز به روشی این کار را میکند که کمترین انرژی را از او بگیرد . 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547359" y="3007243"/>
            <a:ext cx="10998251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 rtl="1">
              <a:lnSpc>
                <a:spcPct val="150000"/>
              </a:lnSpc>
            </a:pPr>
            <a:r>
              <a:rPr lang="fa-IR" sz="2000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دریافت گزینشی اطلاعات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باعث می‌شود کسی که فکر کند مردم یک شهر خاص،‌ کم هوش هستند، هر روز نمونه‌های بیشتری در تایید حرف خود پیدا کند و فرد دیگری که فکر می‌کند مردم آن شهر خاص، تیزهوش هستند، هر روز نمونه‌های دیگری در تایید باورش پیدا کند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  <a:p>
            <a:pPr algn="r" rtl="1">
              <a:lnSpc>
                <a:spcPct val="150000"/>
              </a:lnSpc>
            </a:pPr>
            <a:r>
              <a:rPr lang="fa-IR" sz="2000" b="1" dirty="0">
                <a:solidFill>
                  <a:srgbClr val="4372C2"/>
                </a:solidFill>
                <a:latin typeface="IRANSans"/>
                <a:cs typeface="B Nazanin" panose="00000400000000000000" pitchFamily="2" charset="-78"/>
              </a:rPr>
              <a:t>تمایل به تایید خود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 باعث می‌شود ما هرگز به صحت عملکرد سیستم ادراکی خود (که به دریافت گزینشی و فیلتر کردن احساسی اطلاعات مشغول است) شک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نکنیم . این تایید امنیت ذهنی ما را حفظ می نماید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t="24371"/>
          <a:stretch/>
        </p:blipFill>
        <p:spPr>
          <a:xfrm>
            <a:off x="788957" y="4556223"/>
            <a:ext cx="4781873" cy="1920516"/>
          </a:xfrm>
          <a:prstGeom prst="rect">
            <a:avLst/>
          </a:prstGeom>
        </p:spPr>
      </p:pic>
      <p:cxnSp>
        <p:nvCxnSpPr>
          <p:cNvPr id="10" name="Curved Connector 9"/>
          <p:cNvCxnSpPr>
            <a:endCxn id="6" idx="1"/>
          </p:cNvCxnSpPr>
          <p:nvPr/>
        </p:nvCxnSpPr>
        <p:spPr>
          <a:xfrm rot="5400000" flipH="1" flipV="1">
            <a:off x="1985460" y="1842412"/>
            <a:ext cx="543325" cy="453227"/>
          </a:xfrm>
          <a:prstGeom prst="curved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756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10156372" cy="709749"/>
          </a:xfrm>
        </p:spPr>
        <p:txBody>
          <a:bodyPr>
            <a:normAutofit/>
          </a:bodyPr>
          <a:lstStyle/>
          <a:p>
            <a:pPr algn="r"/>
            <a:r>
              <a:rPr lang="fa-IR" sz="3600" dirty="0" smtClean="0">
                <a:cs typeface="B Nazanin" panose="00000400000000000000" pitchFamily="2" charset="-78"/>
              </a:rPr>
              <a:t>ترس از دست دادن و دام حفظ وضعیت موجود</a:t>
            </a:r>
            <a:endParaRPr lang="en-US" sz="36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1058091" y="1404370"/>
            <a:ext cx="10006149" cy="64633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بررسی‌ها نشان می‌دهد که کاهش حقوق، نارضایتی بیشتری ایجاد می‌کند. به عبارت دیگر، اگر شما با افزایش حقوق خود به یک میزان مشخص، ۵ واحد رضایت بیشتر را تجربه کنید، شاید با کاهش همان عدد از حقوق خود، ۱۰ واحد و حتی بیشتر احساس نارضایتی در شما ایجاد شود!</a:t>
            </a:r>
            <a:endParaRPr lang="en-US" dirty="0">
              <a:cs typeface="B Nazanin" panose="00000400000000000000" pitchFamily="2" charset="-78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058091" y="2108121"/>
            <a:ext cx="10006149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دست آوردن، لذت بخش است. اما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رنج از دست دادن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از آن است. به همین دلیل انسانها همیشه نگران از دست دادن هستند.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 ترس از دست دادن به شکل دیگری هم خودش را نشان میدهد و نامگذاری دیگری هم برای آن وجود دارد و آن </a:t>
            </a:r>
            <a:r>
              <a:rPr lang="fa-IR" b="1" dirty="0" smtClean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اثر مالکیت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58091" y="2820190"/>
            <a:ext cx="10006148" cy="9233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85750" indent="-285750" algn="justLow" rtl="1">
              <a:buFont typeface="Wingdings" panose="05000000000000000000" pitchFamily="2" charset="2"/>
              <a:buChar char="ü"/>
            </a:pP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مترو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پسرک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فروش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فایل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مشتریان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میگذارد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آخر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واگن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سپس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میگردد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پرسد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فالتان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میخواهید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یا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آن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بردارم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گاها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"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این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توجیه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اثر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روانی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برای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مردم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خریدن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(</a:t>
            </a:r>
            <a:r>
              <a:rPr lang="en-US" dirty="0" err="1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پول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)</a:t>
            </a:r>
            <a:r>
              <a:rPr lang="en-US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سخت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اما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باز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نکردن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و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از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دادن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فالی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که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همین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الان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روی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پای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اوست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سخت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تر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است</a:t>
            </a:r>
            <a:r>
              <a:rPr lang="en-US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! 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8091" y="3822791"/>
            <a:ext cx="9144001" cy="646330"/>
          </a:xfrm>
          <a:prstGeom prst="rect">
            <a:avLst/>
          </a:prstGeom>
          <a:solidFill>
            <a:srgbClr val="E8BE9F"/>
          </a:solidFill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b="1" dirty="0" smtClean="0">
                <a:solidFill>
                  <a:srgbClr val="C00000"/>
                </a:solidFill>
                <a:latin typeface="IRANSans"/>
                <a:cs typeface="B Nazanin" panose="00000400000000000000" pitchFamily="2" charset="-78"/>
              </a:rPr>
              <a:t>دنیل کانمن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: انسانها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فقط وقتی حاضر هستند ریسک از دست دادن ۱۰٪ سرمایه خود را بپذیرند که امید کسب ۲۰٪ سود وجود داشته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باشد . ( حداقل 20 درصد سود)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rcRect r="24133"/>
          <a:stretch/>
        </p:blipFill>
        <p:spPr>
          <a:xfrm>
            <a:off x="10315376" y="3822791"/>
            <a:ext cx="748863" cy="658055"/>
          </a:xfrm>
          <a:prstGeom prst="rect">
            <a:avLst/>
          </a:prstGeom>
          <a:ln w="6350">
            <a:solidFill>
              <a:srgbClr val="FF0000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8477794" y="4603659"/>
            <a:ext cx="2586445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کودک میگوییم که اگر به اندازه یک روز با موبایل بازی نکند به او 10 هزار تومان جایزه میدهیم . 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1058091" y="4580266"/>
            <a:ext cx="3788228" cy="92333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r" rtl="1"/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کودک 10 هزار تومان میدهیم و میگوییم هر یک ساعت که با موبایل بازی کند هزار تومان باید پرداخت کند (یا از 10 هزار تومان او کم می شود )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  <p:cxnSp>
        <p:nvCxnSpPr>
          <p:cNvPr id="12" name="Straight Arrow Connector 11"/>
          <p:cNvCxnSpPr/>
          <p:nvPr/>
        </p:nvCxnSpPr>
        <p:spPr>
          <a:xfrm flipV="1">
            <a:off x="5185954" y="5065324"/>
            <a:ext cx="3017520" cy="1"/>
          </a:xfrm>
          <a:prstGeom prst="straightConnector1">
            <a:avLst/>
          </a:prstGeom>
          <a:ln w="762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5423372" y="4603659"/>
            <a:ext cx="25426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a-IR" b="1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کدام روش اثر بخش تر است ؟ </a:t>
            </a:r>
            <a:endParaRPr lang="en-US" b="1" dirty="0"/>
          </a:p>
        </p:txBody>
      </p:sp>
      <p:sp>
        <p:nvSpPr>
          <p:cNvPr id="15" name="Rectangle 14"/>
          <p:cNvSpPr/>
          <p:nvPr/>
        </p:nvSpPr>
        <p:spPr>
          <a:xfrm>
            <a:off x="440618" y="5597067"/>
            <a:ext cx="7762856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ما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روی فقدان‌های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تمرکز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می‌کنیم تا دستاردها و داشته‌های مثبت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حسرت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گذشته را میخوریم و ارزش زمان حال رو دست کم می‌گیریم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غر میزنیم و انتقاد می‌کنیم تا تمجید و تشکر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fa-IR" sz="1400" dirty="0" smtClean="0">
              <a:cs typeface="B Nazanin" panose="00000400000000000000" pitchFamily="2" charset="-78"/>
            </a:endParaRPr>
          </a:p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بیشتر </a:t>
            </a:r>
            <a:r>
              <a:rPr lang="fa-IR" sz="1400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نقاط ضعفمان فکر می‌کنیم تا </a:t>
            </a:r>
            <a:r>
              <a:rPr lang="fa-IR" sz="1400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نقاط قوت‌ . </a:t>
            </a:r>
            <a:endParaRPr lang="en-US" sz="1400" dirty="0">
              <a:cs typeface="B Nazanin" panose="00000400000000000000" pitchFamily="2" charset="-78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481481" y="5806123"/>
            <a:ext cx="258275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IRANSans"/>
              </a:rPr>
              <a:t>loss aversion </a:t>
            </a:r>
            <a:endParaRPr lang="fa-IR" sz="28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IRANSans"/>
            </a:endParaRPr>
          </a:p>
        </p:txBody>
      </p:sp>
    </p:spTree>
    <p:extLst>
      <p:ext uri="{BB962C8B-B14F-4D97-AF65-F5344CB8AC3E}">
        <p14:creationId xmlns:p14="http://schemas.microsoft.com/office/powerpoint/2010/main" val="14613409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89617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/>
            <a:r>
              <a:rPr lang="fa-IR" sz="4800" dirty="0" smtClean="0">
                <a:cs typeface="B Nazanin" panose="00000400000000000000" pitchFamily="2" charset="-78"/>
              </a:rPr>
              <a:t>تصمیم گیری چیست ؟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2637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B6193-F9F1-4C54-838F-77350B9FC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9125" y="425299"/>
            <a:ext cx="9875520" cy="709749"/>
          </a:xfrm>
        </p:spPr>
        <p:txBody>
          <a:bodyPr>
            <a:normAutofit fontScale="90000"/>
          </a:bodyPr>
          <a:lstStyle/>
          <a:p>
            <a:pPr algn="r" rtl="1"/>
            <a:r>
              <a:rPr lang="fa-IR" sz="4800" dirty="0" smtClean="0">
                <a:cs typeface="B Nazanin" panose="00000400000000000000" pitchFamily="2" charset="-78"/>
              </a:rPr>
              <a:t>سوگیری (</a:t>
            </a:r>
            <a:r>
              <a:rPr lang="en-US" dirty="0" smtClean="0"/>
              <a:t>Bias</a:t>
            </a:r>
            <a:r>
              <a:rPr lang="fa-IR" sz="4800" dirty="0" smtClean="0">
                <a:cs typeface="B Nazanin" panose="00000400000000000000" pitchFamily="2" charset="-78"/>
              </a:rPr>
              <a:t>)  </a:t>
            </a:r>
            <a:endParaRPr lang="en-US" sz="4800" dirty="0">
              <a:cs typeface="B Nazanin" panose="00000400000000000000" pitchFamily="2" charset="-78"/>
            </a:endParaRPr>
          </a:p>
        </p:txBody>
      </p:sp>
      <p:cxnSp>
        <p:nvCxnSpPr>
          <p:cNvPr id="8" name="Straight Connector 7"/>
          <p:cNvCxnSpPr/>
          <p:nvPr/>
        </p:nvCxnSpPr>
        <p:spPr>
          <a:xfrm>
            <a:off x="888274" y="1240973"/>
            <a:ext cx="10437223" cy="13063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" name="Rectangle 2"/>
          <p:cNvSpPr/>
          <p:nvPr/>
        </p:nvSpPr>
        <p:spPr>
          <a:xfrm>
            <a:off x="3341914" y="1548676"/>
            <a:ext cx="770273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r" rtl="1">
              <a:buFont typeface="Wingdings" panose="05000000000000000000" pitchFamily="2" charset="2"/>
              <a:buChar char="ü"/>
            </a:pP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سوگیری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یا 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بایاس ، 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به معنای </a:t>
            </a:r>
            <a:r>
              <a:rPr lang="fa-IR" b="1" dirty="0">
                <a:solidFill>
                  <a:srgbClr val="FF0000"/>
                </a:solidFill>
                <a:latin typeface="IRANSans"/>
                <a:cs typeface="B Nazanin" panose="00000400000000000000" pitchFamily="2" charset="-78"/>
              </a:rPr>
              <a:t>خنثی نبودن نسبت</a:t>
            </a:r>
            <a:r>
              <a:rPr lang="fa-IR" dirty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 به یک پدیده یا رویداد یا باور یا ارزش یا … است</a:t>
            </a:r>
            <a:r>
              <a:rPr lang="fa-IR" dirty="0" smtClean="0">
                <a:solidFill>
                  <a:srgbClr val="000000"/>
                </a:solidFill>
                <a:latin typeface="IRANSans"/>
                <a:cs typeface="B Nazanin" panose="00000400000000000000" pitchFamily="2" charset="-78"/>
              </a:rPr>
              <a:t>.</a:t>
            </a:r>
            <a:endParaRPr lang="en-US" dirty="0">
              <a:solidFill>
                <a:srgbClr val="000000"/>
              </a:solidFill>
              <a:latin typeface="IRANSans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599509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3DC42C2-6B58-404C-B339-2C72808A5BE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D81407-D1A6-42DD-AE7A-4FA34ACD1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609600"/>
            <a:ext cx="5038844" cy="1356360"/>
          </a:xfrm>
        </p:spPr>
        <p:txBody>
          <a:bodyPr>
            <a:normAutofit/>
          </a:bodyPr>
          <a:lstStyle/>
          <a:p>
            <a:pPr algn="ctr"/>
            <a:r>
              <a:rPr lang="fa-IR" sz="8000" dirty="0" smtClean="0">
                <a:solidFill>
                  <a:srgbClr val="FFFFFF"/>
                </a:solidFill>
                <a:cs typeface="B Nazanin" panose="00000400000000000000" pitchFamily="2" charset="-78"/>
              </a:rPr>
              <a:t>پایان</a:t>
            </a:r>
            <a:endParaRPr lang="en-US" dirty="0">
              <a:solidFill>
                <a:srgbClr val="FFFFFF"/>
              </a:solidFill>
              <a:cs typeface="B Nazanin" panose="00000400000000000000" pitchFamily="2" charset="-78"/>
            </a:endParaRPr>
          </a:p>
        </p:txBody>
      </p:sp>
      <p:pic>
        <p:nvPicPr>
          <p:cNvPr id="4" name="Picture 3" descr="Two people climbing a mountain">
            <a:extLst>
              <a:ext uri="{FF2B5EF4-FFF2-40B4-BE49-F238E27FC236}">
                <a16:creationId xmlns:a16="http://schemas.microsoft.com/office/drawing/2014/main" id="{629F2A20-8FE1-4EA2-AE83-45314542A6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278" b="2278"/>
          <a:stretch/>
        </p:blipFill>
        <p:spPr>
          <a:xfrm>
            <a:off x="232860" y="243840"/>
            <a:ext cx="5432443" cy="6377939"/>
          </a:xfrm>
          <a:prstGeom prst="rect">
            <a:avLst/>
          </a:prstGeo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FF5D4E-7134-4EA4-BA11-FE50F457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2057400"/>
            <a:ext cx="5038844" cy="4038600"/>
          </a:xfrm>
        </p:spPr>
        <p:txBody>
          <a:bodyPr>
            <a:normAutofit/>
          </a:bodyPr>
          <a:lstStyle/>
          <a:p>
            <a:pPr marL="45720" indent="0" algn="ctr">
              <a:buNone/>
            </a:pPr>
            <a:r>
              <a:rPr lang="en-US" dirty="0" smtClean="0">
                <a:solidFill>
                  <a:srgbClr val="FFFFFF"/>
                </a:solidFill>
              </a:rPr>
              <a:t>Afshin.Abbaspour@gmail.com</a:t>
            </a:r>
            <a:endParaRPr lang="en-US" dirty="0">
              <a:solidFill>
                <a:srgbClr val="FFFFFF"/>
              </a:solidFill>
            </a:endParaRPr>
          </a:p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CF82941-5589-49BF-B6B1-76122B2D0EA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00" y="243840"/>
            <a:ext cx="11724640" cy="6377939"/>
          </a:xfrm>
          <a:prstGeom prst="rect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6469836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90E45F77-AEFC-46EF-A7C1-5B338C297B02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1c2eb7a32e66fb6e4260f3771546a5e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04e1f6479c48b08974ba73b5ca973489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04E1485-0760-4ABF-A612-28A97B86DF0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965EBD3-98B5-4FD2-8FAF-5D4022A9F7F4}">
  <ds:schemaRefs>
    <ds:schemaRef ds:uri="16c05727-aa75-4e4a-9b5f-8a80a1165891"/>
    <ds:schemaRef ds:uri="71af3243-3dd4-4a8d-8c0d-dd76da1f02a5"/>
    <ds:schemaRef ds:uri="http://schemas.microsoft.com/office/infopath/2007/PartnerControls"/>
    <ds:schemaRef ds:uri="http://www.w3.org/XML/1998/namespace"/>
    <ds:schemaRef ds:uri="http://purl.org/dc/elements/1.1/"/>
    <ds:schemaRef ds:uri="http://purl.org/dc/terms/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55813238-AF3D-40EB-A3A4-550AB85131D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Tourism Facet design</Template>
  <TotalTime>0</TotalTime>
  <Words>2914</Words>
  <Application>Microsoft Office PowerPoint</Application>
  <PresentationFormat>Widescreen</PresentationFormat>
  <Paragraphs>234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Arial</vt:lpstr>
      <vt:lpstr>B Nazanin</vt:lpstr>
      <vt:lpstr>Corbel</vt:lpstr>
      <vt:lpstr>Corbel (Body)</vt:lpstr>
      <vt:lpstr>IRANSans</vt:lpstr>
      <vt:lpstr>MsYekan</vt:lpstr>
      <vt:lpstr>Tahoma</vt:lpstr>
      <vt:lpstr>Wingdings</vt:lpstr>
      <vt:lpstr>Basis</vt:lpstr>
      <vt:lpstr>مهارت تصمیم گیری درست</vt:lpstr>
      <vt:lpstr>تصمیم گیری چیست ؟</vt:lpstr>
      <vt:lpstr>انواع تصمیم گیری </vt:lpstr>
      <vt:lpstr>مهارت تصمیم گیری</vt:lpstr>
      <vt:lpstr>تصمیم درست / نتیجه نامطلوب  </vt:lpstr>
      <vt:lpstr>اهمیت تصمیم سازی</vt:lpstr>
      <vt:lpstr>خرده مهارت های مرتبط با تصمیم گیری درست </vt:lpstr>
      <vt:lpstr>فوبیای تصمیم گیری </vt:lpstr>
      <vt:lpstr>اولویت بندی ارزشها در تصمیم گیری </vt:lpstr>
      <vt:lpstr>چالش اخلاق و فرهنگ در تصمیم گیری </vt:lpstr>
      <vt:lpstr> ثبت و مرور تصمیمها</vt:lpstr>
      <vt:lpstr>خطا های شناختی یا خطاهای ذهنی </vt:lpstr>
      <vt:lpstr>بررسی توان مغز انسان</vt:lpstr>
      <vt:lpstr>نمونه هایی از خطاهای ذهنی </vt:lpstr>
      <vt:lpstr>دریافت گزینشی اطلاعات / خطای تایید خود </vt:lpstr>
      <vt:lpstr>ترس از دست دادن و دام حفظ وضعیت موجود</vt:lpstr>
      <vt:lpstr>تصمیم گیری چیست ؟</vt:lpstr>
      <vt:lpstr>تصمیم گیری چیست ؟</vt:lpstr>
      <vt:lpstr>سوگیری (Bias)  </vt:lpstr>
      <vt:lpstr>پایان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2019-02-05T10:32:05Z</dcterms:created>
  <dcterms:modified xsi:type="dcterms:W3CDTF">2019-04-17T06:47:31Z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