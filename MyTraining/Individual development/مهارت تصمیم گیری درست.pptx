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gif" ContentType="image/gif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emovePersonalInfoOnSave="1" autoCompressPictures="0">
  <p:sldMasterIdLst>
    <p:sldMasterId id="2147483876" r:id="rId4"/>
  </p:sldMasterIdLst>
  <p:sldIdLst>
    <p:sldId id="256" r:id="rId5"/>
    <p:sldId id="257" r:id="rId6"/>
    <p:sldId id="262" r:id="rId7"/>
    <p:sldId id="261" r:id="rId8"/>
    <p:sldId id="263" r:id="rId9"/>
    <p:sldId id="264" r:id="rId10"/>
    <p:sldId id="266" r:id="rId11"/>
    <p:sldId id="267" r:id="rId12"/>
    <p:sldId id="268" r:id="rId13"/>
    <p:sldId id="269" r:id="rId14"/>
    <p:sldId id="270" r:id="rId15"/>
    <p:sldId id="272" r:id="rId16"/>
    <p:sldId id="273" r:id="rId17"/>
    <p:sldId id="265" r:id="rId18"/>
    <p:sldId id="274" r:id="rId19"/>
    <p:sldId id="275" r:id="rId20"/>
    <p:sldId id="271" r:id="rId21"/>
    <p:sldId id="260" r:id="rId2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4372C2"/>
    <a:srgbClr val="AFA9FB"/>
    <a:srgbClr val="A6B727"/>
    <a:srgbClr val="71AB47"/>
    <a:srgbClr val="44B565"/>
    <a:srgbClr val="41BCB7"/>
    <a:srgbClr val="44B56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042" autoAdjust="0"/>
    <p:restoredTop sz="94660"/>
  </p:normalViewPr>
  <p:slideViewPr>
    <p:cSldViewPr snapToGrid="0">
      <p:cViewPr varScale="1">
        <p:scale>
          <a:sx n="68" d="100"/>
          <a:sy n="68" d="100"/>
        </p:scale>
        <p:origin x="90" y="1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tableStyles" Target="tableStyles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theme" Target="theme/theme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viewProps" Target="viewProp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presProps" Target="presProp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231140" y="243840"/>
            <a:ext cx="11724640" cy="6377939"/>
          </a:xfrm>
          <a:prstGeom prst="rect">
            <a:avLst/>
          </a:prstGeom>
          <a:solidFill>
            <a:schemeClr val="accent1"/>
          </a:solidFill>
          <a:ln w="12700"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09980" y="882376"/>
            <a:ext cx="9966960" cy="2926080"/>
          </a:xfrm>
        </p:spPr>
        <p:txBody>
          <a:bodyPr anchor="b">
            <a:normAutofit/>
          </a:bodyPr>
          <a:lstStyle>
            <a:lvl1pPr algn="ctr">
              <a:lnSpc>
                <a:spcPct val="85000"/>
              </a:lnSpc>
              <a:defRPr sz="7200" b="1" cap="all" baseline="0">
                <a:solidFill>
                  <a:srgbClr val="FFFFFF"/>
                </a:solidFill>
              </a:defRPr>
            </a:lvl1pPr>
          </a:lstStyle>
          <a:p>
            <a:r>
              <a:rPr lang="en-US" noProof="0" smtClean="0"/>
              <a:t>Click to edit Master title style</a:t>
            </a:r>
            <a:endParaRPr lang="en-US" noProof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09530" y="3869634"/>
            <a:ext cx="8767860" cy="1388165"/>
          </a:xfrm>
        </p:spPr>
        <p:txBody>
          <a:bodyPr>
            <a:normAutofit/>
          </a:bodyPr>
          <a:lstStyle>
            <a:lvl1pPr marL="0" indent="0" algn="ctr">
              <a:buNone/>
              <a:defRPr sz="2200">
                <a:solidFill>
                  <a:srgbClr val="FFFFFF"/>
                </a:solidFill>
              </a:defRPr>
            </a:lvl1pPr>
            <a:lvl2pPr marL="457200" indent="0" algn="ctr">
              <a:buNone/>
              <a:defRPr sz="2200"/>
            </a:lvl2pPr>
            <a:lvl3pPr marL="914400" indent="0" algn="ctr">
              <a:buNone/>
              <a:defRPr sz="22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 noProof="0" smtClean="0"/>
              <a:t>Click to edit Master subtitle style</a:t>
            </a:r>
            <a:endParaRPr lang="en-US" noProof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fld id="{9AB3A824-1A51-4B26-AD58-A6D8E14F6C04}" type="datetimeFigureOut">
              <a:rPr lang="en-US" noProof="0" smtClean="0"/>
              <a:t>4/15/2019</a:t>
            </a:fld>
            <a:endParaRPr lang="en-US" noProof="0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rPr lang="en-US" noProof="0" dirty="0"/>
              <a:t>
              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fld id="{6D22F896-40B5-4ADD-8801-0D06FADFA095}" type="slidenum">
              <a:rPr lang="en-US" noProof="0" smtClean="0"/>
              <a:t>‹#›</a:t>
            </a:fld>
            <a:endParaRPr lang="en-US" noProof="0" dirty="0"/>
          </a:p>
        </p:txBody>
      </p:sp>
      <p:cxnSp>
        <p:nvCxnSpPr>
          <p:cNvPr id="8" name="Straight Connector 7"/>
          <p:cNvCxnSpPr/>
          <p:nvPr/>
        </p:nvCxnSpPr>
        <p:spPr>
          <a:xfrm>
            <a:off x="1978660" y="3733800"/>
            <a:ext cx="8229601" cy="0"/>
          </a:xfrm>
          <a:prstGeom prst="line">
            <a:avLst/>
          </a:prstGeom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51787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smtClean="0"/>
              <a:t>Click to edit Master title style</a:t>
            </a:r>
            <a:endParaRPr lang="en-US" noProof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noProof="0" smtClean="0"/>
              <a:t>Edit Master text styles</a:t>
            </a:r>
          </a:p>
          <a:p>
            <a:pPr lvl="1"/>
            <a:r>
              <a:rPr lang="en-US" noProof="0" smtClean="0"/>
              <a:t>Second level</a:t>
            </a:r>
          </a:p>
          <a:p>
            <a:pPr lvl="2"/>
            <a:r>
              <a:rPr lang="en-US" noProof="0" smtClean="0"/>
              <a:t>Third level</a:t>
            </a:r>
          </a:p>
          <a:p>
            <a:pPr lvl="3"/>
            <a:r>
              <a:rPr lang="en-US" noProof="0" smtClean="0"/>
              <a:t>Fourth level</a:t>
            </a:r>
          </a:p>
          <a:p>
            <a:pPr lvl="4"/>
            <a:r>
              <a:rPr lang="en-US" noProof="0" smtClean="0"/>
              <a:t>Fifth level</a:t>
            </a:r>
            <a:endParaRPr lang="en-US" noProof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D162C4-EDD9-4389-A98B-B87ECEA2A816}" type="datetimeFigureOut">
              <a:rPr lang="en-US" noProof="0" smtClean="0"/>
              <a:t>4/15/2019</a:t>
            </a:fld>
            <a:endParaRPr lang="en-US" noProof="0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 dirty="0"/>
              <a:t>
              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noProof="0" smtClean="0"/>
              <a:t>‹#›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47203900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06424" y="1173575"/>
            <a:ext cx="9966960" cy="2926080"/>
          </a:xfrm>
        </p:spPr>
        <p:txBody>
          <a:bodyPr anchor="b">
            <a:noAutofit/>
          </a:bodyPr>
          <a:lstStyle>
            <a:lvl1pPr algn="ctr">
              <a:lnSpc>
                <a:spcPct val="85000"/>
              </a:lnSpc>
              <a:defRPr sz="7200" b="0" cap="all" baseline="0"/>
            </a:lvl1pPr>
          </a:lstStyle>
          <a:p>
            <a:r>
              <a:rPr lang="en-US" noProof="0" smtClean="0"/>
              <a:t>Click to edit Master title style</a:t>
            </a:r>
            <a:endParaRPr lang="en-US" noProof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709928" y="4154520"/>
            <a:ext cx="8769096" cy="1363806"/>
          </a:xfrm>
        </p:spPr>
        <p:txBody>
          <a:bodyPr anchor="t">
            <a:normAutofit/>
          </a:bodyPr>
          <a:lstStyle>
            <a:lvl1pPr marL="0" indent="0" algn="ctr">
              <a:buNone/>
              <a:defRPr sz="2200">
                <a:solidFill>
                  <a:schemeClr val="accent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noProof="0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5059C3-6A89-4494-99FF-5A4D6FFD50EB}" type="datetimeFigureOut">
              <a:rPr lang="en-US" noProof="0" smtClean="0"/>
              <a:t>4/15/2019</a:t>
            </a:fld>
            <a:endParaRPr lang="en-US" noProof="0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 dirty="0"/>
              <a:t>
              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noProof="0" smtClean="0"/>
              <a:t>‹#›</a:t>
            </a:fld>
            <a:endParaRPr lang="en-US" noProof="0" dirty="0"/>
          </a:p>
        </p:txBody>
      </p:sp>
      <p:cxnSp>
        <p:nvCxnSpPr>
          <p:cNvPr id="7" name="Straight Connector 6"/>
          <p:cNvCxnSpPr/>
          <p:nvPr/>
        </p:nvCxnSpPr>
        <p:spPr>
          <a:xfrm>
            <a:off x="1981200" y="4020408"/>
            <a:ext cx="8229601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3936035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smtClean="0"/>
              <a:t>Click to edit Master title style</a:t>
            </a:r>
            <a:endParaRPr lang="en-US" noProof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3000" y="2057399"/>
            <a:ext cx="4754880" cy="4023360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noProof="0" smtClean="0"/>
              <a:t>Edit Master text styles</a:t>
            </a:r>
          </a:p>
          <a:p>
            <a:pPr lvl="1"/>
            <a:r>
              <a:rPr lang="en-US" noProof="0" smtClean="0"/>
              <a:t>Second level</a:t>
            </a:r>
          </a:p>
          <a:p>
            <a:pPr lvl="2"/>
            <a:r>
              <a:rPr lang="en-US" noProof="0" smtClean="0"/>
              <a:t>Third level</a:t>
            </a:r>
          </a:p>
          <a:p>
            <a:pPr lvl="3"/>
            <a:r>
              <a:rPr lang="en-US" noProof="0" smtClean="0"/>
              <a:t>Fourth level</a:t>
            </a:r>
          </a:p>
          <a:p>
            <a:pPr lvl="4"/>
            <a:r>
              <a:rPr lang="en-US" noProof="0" smtClean="0"/>
              <a:t>Fifth level</a:t>
            </a:r>
            <a:endParaRPr lang="en-US" noProof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67612" y="2057400"/>
            <a:ext cx="4754880" cy="4023360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noProof="0" smtClean="0"/>
              <a:t>Edit Master text styles</a:t>
            </a:r>
          </a:p>
          <a:p>
            <a:pPr lvl="1"/>
            <a:r>
              <a:rPr lang="en-US" noProof="0" smtClean="0"/>
              <a:t>Second level</a:t>
            </a:r>
          </a:p>
          <a:p>
            <a:pPr lvl="2"/>
            <a:r>
              <a:rPr lang="en-US" noProof="0" smtClean="0"/>
              <a:t>Third level</a:t>
            </a:r>
          </a:p>
          <a:p>
            <a:pPr lvl="3"/>
            <a:r>
              <a:rPr lang="en-US" noProof="0" smtClean="0"/>
              <a:t>Fourth level</a:t>
            </a:r>
          </a:p>
          <a:p>
            <a:pPr lvl="4"/>
            <a:r>
              <a:rPr lang="en-US" noProof="0" smtClean="0"/>
              <a:t>Fifth level</a:t>
            </a:r>
            <a:endParaRPr lang="en-US" noProof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954B2F-12DE-47F5-8894-472B206D2E1E}" type="datetimeFigureOut">
              <a:rPr lang="en-US" noProof="0" smtClean="0"/>
              <a:t>4/15/2019</a:t>
            </a:fld>
            <a:endParaRPr lang="en-US" noProof="0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 dirty="0"/>
              <a:t>
              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noProof="0" smtClean="0"/>
              <a:t>‹#›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18167004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smtClean="0"/>
              <a:t>Click to edit Master title style</a:t>
            </a:r>
            <a:endParaRPr lang="en-US" noProof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3000" y="2001511"/>
            <a:ext cx="4754880" cy="777240"/>
          </a:xfrm>
        </p:spPr>
        <p:txBody>
          <a:bodyPr anchor="ctr"/>
          <a:lstStyle>
            <a:lvl1pPr marL="0" indent="0">
              <a:spcBef>
                <a:spcPts val="0"/>
              </a:spcBef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noProof="0" smtClean="0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3000" y="2721483"/>
            <a:ext cx="4754880" cy="3383280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noProof="0" smtClean="0"/>
              <a:t>Edit Master text styles</a:t>
            </a:r>
          </a:p>
          <a:p>
            <a:pPr lvl="1"/>
            <a:r>
              <a:rPr lang="en-US" noProof="0" smtClean="0"/>
              <a:t>Second level</a:t>
            </a:r>
          </a:p>
          <a:p>
            <a:pPr lvl="2"/>
            <a:r>
              <a:rPr lang="en-US" noProof="0" smtClean="0"/>
              <a:t>Third level</a:t>
            </a:r>
          </a:p>
          <a:p>
            <a:pPr lvl="3"/>
            <a:r>
              <a:rPr lang="en-US" noProof="0" smtClean="0"/>
              <a:t>Fourth level</a:t>
            </a:r>
          </a:p>
          <a:p>
            <a:pPr lvl="4"/>
            <a:r>
              <a:rPr lang="en-US" noProof="0" smtClean="0"/>
              <a:t>Fifth level</a:t>
            </a:r>
            <a:endParaRPr lang="en-US" noProof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69173" y="1999032"/>
            <a:ext cx="4754880" cy="777240"/>
          </a:xfrm>
        </p:spPr>
        <p:txBody>
          <a:bodyPr anchor="ctr"/>
          <a:lstStyle>
            <a:lvl1pPr marL="0" indent="0">
              <a:spcBef>
                <a:spcPts val="0"/>
              </a:spcBef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noProof="0" smtClean="0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69173" y="2719322"/>
            <a:ext cx="4754880" cy="3383280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noProof="0" smtClean="0"/>
              <a:t>Edit Master text styles</a:t>
            </a:r>
          </a:p>
          <a:p>
            <a:pPr lvl="1"/>
            <a:r>
              <a:rPr lang="en-US" noProof="0" smtClean="0"/>
              <a:t>Second level</a:t>
            </a:r>
          </a:p>
          <a:p>
            <a:pPr lvl="2"/>
            <a:r>
              <a:rPr lang="en-US" noProof="0" smtClean="0"/>
              <a:t>Third level</a:t>
            </a:r>
          </a:p>
          <a:p>
            <a:pPr lvl="3"/>
            <a:r>
              <a:rPr lang="en-US" noProof="0" smtClean="0"/>
              <a:t>Fourth level</a:t>
            </a:r>
          </a:p>
          <a:p>
            <a:pPr lvl="4"/>
            <a:r>
              <a:rPr lang="en-US" noProof="0" smtClean="0"/>
              <a:t>Fifth level</a:t>
            </a:r>
            <a:endParaRPr lang="en-US" noProof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BC1C18-307B-4F68-A007-B5B542270E8D}" type="datetimeFigureOut">
              <a:rPr lang="en-US" noProof="0" smtClean="0"/>
              <a:t>4/15/2019</a:t>
            </a:fld>
            <a:endParaRPr lang="en-US" noProof="0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 dirty="0"/>
              <a:t>
              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noProof="0" smtClean="0"/>
              <a:pPr/>
              <a:t>‹#›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1963352574"/>
      </p:ext>
    </p:extLst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smtClean="0"/>
              <a:t>Click to edit Master title style</a:t>
            </a:r>
            <a:endParaRPr lang="en-US" noProof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AF3416-4057-4DAA-829D-4CA07428D088}" type="datetimeFigureOut">
              <a:rPr lang="en-US" noProof="0" smtClean="0"/>
              <a:t>4/15/2019</a:t>
            </a:fld>
            <a:endParaRPr lang="en-US" noProof="0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 dirty="0"/>
              <a:t>
             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noProof="0" smtClean="0"/>
              <a:t>‹#›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0054287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1D9284-D300-4297-87F7-E791DCC15DB1}" type="datetimeFigureOut">
              <a:rPr lang="en-US" noProof="0" smtClean="0"/>
              <a:t>4/15/2019</a:t>
            </a:fld>
            <a:endParaRPr lang="en-US" noProof="0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 dirty="0"/>
              <a:t>
             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noProof="0" smtClean="0"/>
              <a:t>‹#›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988259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3000" y="1097280"/>
            <a:ext cx="3931920" cy="1737360"/>
          </a:xfrm>
        </p:spPr>
        <p:txBody>
          <a:bodyPr anchor="b">
            <a:noAutofit/>
          </a:bodyPr>
          <a:lstStyle>
            <a:lvl1pPr>
              <a:lnSpc>
                <a:spcPct val="90000"/>
              </a:lnSpc>
              <a:defRPr sz="4000" b="0"/>
            </a:lvl1pPr>
          </a:lstStyle>
          <a:p>
            <a:r>
              <a:rPr lang="en-US" noProof="0" smtClean="0"/>
              <a:t>Click to edit Master title style</a:t>
            </a:r>
            <a:endParaRPr lang="en-US" noProof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52159" y="1097280"/>
            <a:ext cx="5212080" cy="4663440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noProof="0" smtClean="0"/>
              <a:t>Edit Master text styles</a:t>
            </a:r>
          </a:p>
          <a:p>
            <a:pPr lvl="1"/>
            <a:r>
              <a:rPr lang="en-US" noProof="0" smtClean="0"/>
              <a:t>Second level</a:t>
            </a:r>
          </a:p>
          <a:p>
            <a:pPr lvl="2"/>
            <a:r>
              <a:rPr lang="en-US" noProof="0" smtClean="0"/>
              <a:t>Third level</a:t>
            </a:r>
          </a:p>
          <a:p>
            <a:pPr lvl="3"/>
            <a:r>
              <a:rPr lang="en-US" noProof="0" smtClean="0"/>
              <a:t>Fourth level</a:t>
            </a:r>
          </a:p>
          <a:p>
            <a:pPr lvl="4"/>
            <a:r>
              <a:rPr lang="en-US" noProof="0" smtClean="0"/>
              <a:t>Fifth level</a:t>
            </a:r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3000" y="2834640"/>
            <a:ext cx="3931920" cy="301752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17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noProof="0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D525BB-DA17-4BA0-B3C8-3AC3ABC827E6}" type="datetimeFigureOut">
              <a:rPr lang="en-US" noProof="0" smtClean="0"/>
              <a:t>4/15/2019</a:t>
            </a:fld>
            <a:endParaRPr lang="en-US" noProof="0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 dirty="0"/>
              <a:t>
              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noProof="0" smtClean="0"/>
              <a:t>‹#›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15838360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3000" y="1097280"/>
            <a:ext cx="3931920" cy="1737360"/>
          </a:xfrm>
        </p:spPr>
        <p:txBody>
          <a:bodyPr anchor="b">
            <a:noAutofit/>
          </a:bodyPr>
          <a:lstStyle>
            <a:lvl1pPr>
              <a:lnSpc>
                <a:spcPct val="90000"/>
              </a:lnSpc>
              <a:defRPr sz="4000" b="0"/>
            </a:lvl1pPr>
          </a:lstStyle>
          <a:p>
            <a:r>
              <a:rPr lang="en-US" noProof="0" smtClean="0"/>
              <a:t>Click to edit Master title style</a:t>
            </a:r>
            <a:endParaRPr lang="en-US" noProof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413248" y="1069847"/>
            <a:ext cx="6099048" cy="4800600"/>
          </a:xfrm>
        </p:spPr>
        <p:txBody>
          <a:bodyPr lIns="274320" tIns="182880" anchor="t">
            <a:normAutofit/>
          </a:bodyPr>
          <a:lstStyle>
            <a:lvl1pPr marL="0" indent="0">
              <a:buNone/>
              <a:defRPr sz="28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noProof="0" smtClean="0"/>
              <a:t>Click icon to add picture</a:t>
            </a:r>
            <a:endParaRPr lang="en-US" noProof="0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3000" y="2834640"/>
            <a:ext cx="3931920" cy="288036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17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noProof="0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6C4C9A-3960-41CF-A4E9-2A8FB932454B}" type="datetimeFigureOut">
              <a:rPr lang="en-US" noProof="0" smtClean="0"/>
              <a:t>4/15/2019</a:t>
            </a:fld>
            <a:endParaRPr lang="en-US" noProof="0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 dirty="0"/>
              <a:t>
              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noProof="0" smtClean="0"/>
              <a:t>‹#›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7408487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smtClean="0"/>
              <a:t>Click to edit Master title style</a:t>
            </a:r>
            <a:endParaRPr lang="en-US" noProof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noProof="0" smtClean="0"/>
              <a:t>Edit Master text styles</a:t>
            </a:r>
          </a:p>
          <a:p>
            <a:pPr lvl="1"/>
            <a:r>
              <a:rPr lang="en-US" noProof="0" smtClean="0"/>
              <a:t>Second level</a:t>
            </a:r>
          </a:p>
          <a:p>
            <a:pPr lvl="2"/>
            <a:r>
              <a:rPr lang="en-US" noProof="0" smtClean="0"/>
              <a:t>Third level</a:t>
            </a:r>
          </a:p>
          <a:p>
            <a:pPr lvl="3"/>
            <a:r>
              <a:rPr lang="en-US" noProof="0" smtClean="0"/>
              <a:t>Fourth level</a:t>
            </a:r>
          </a:p>
          <a:p>
            <a:pPr lvl="4"/>
            <a:r>
              <a:rPr lang="en-US" noProof="0" smtClean="0"/>
              <a:t>Fifth level</a:t>
            </a:r>
            <a:endParaRPr lang="en-US" noProof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57E33E-8B18-4087-B112-809917729534}" type="datetimeFigureOut">
              <a:rPr lang="en-US" noProof="0" smtClean="0"/>
              <a:t>4/15/2019</a:t>
            </a:fld>
            <a:endParaRPr lang="en-US" noProof="0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 dirty="0"/>
              <a:t>
              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noProof="0" smtClean="0"/>
              <a:t>‹#›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4355262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762000"/>
            <a:ext cx="2324100" cy="5410200"/>
          </a:xfrm>
        </p:spPr>
        <p:txBody>
          <a:bodyPr vert="eaVert"/>
          <a:lstStyle/>
          <a:p>
            <a:r>
              <a:rPr lang="en-US" noProof="0" smtClean="0"/>
              <a:t>Click to edit Master title style</a:t>
            </a:r>
            <a:endParaRPr lang="en-US" noProof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3000" y="762000"/>
            <a:ext cx="7429500" cy="5410200"/>
          </a:xfrm>
        </p:spPr>
        <p:txBody>
          <a:bodyPr vert="eaVert"/>
          <a:lstStyle/>
          <a:p>
            <a:pPr lvl="0"/>
            <a:r>
              <a:rPr lang="en-US" noProof="0" smtClean="0"/>
              <a:t>Edit Master text styles</a:t>
            </a:r>
          </a:p>
          <a:p>
            <a:pPr lvl="1"/>
            <a:r>
              <a:rPr lang="en-US" noProof="0" smtClean="0"/>
              <a:t>Second level</a:t>
            </a:r>
          </a:p>
          <a:p>
            <a:pPr lvl="2"/>
            <a:r>
              <a:rPr lang="en-US" noProof="0" smtClean="0"/>
              <a:t>Third level</a:t>
            </a:r>
          </a:p>
          <a:p>
            <a:pPr lvl="3"/>
            <a:r>
              <a:rPr lang="en-US" noProof="0" smtClean="0"/>
              <a:t>Fourth level</a:t>
            </a:r>
          </a:p>
          <a:p>
            <a:pPr lvl="4"/>
            <a:r>
              <a:rPr lang="en-US" noProof="0" smtClean="0"/>
              <a:t>Fifth level</a:t>
            </a:r>
            <a:endParaRPr lang="en-US" noProof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FFE419-2371-464F-8239-3959401C3561}" type="datetimeFigureOut">
              <a:rPr lang="en-US" noProof="0" smtClean="0"/>
              <a:t>4/15/2019</a:t>
            </a:fld>
            <a:endParaRPr lang="en-US" noProof="0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 dirty="0"/>
              <a:t>
              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noProof="0" smtClean="0"/>
              <a:t>‹#›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199476388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231140" y="243840"/>
            <a:ext cx="11724640" cy="6377939"/>
          </a:xfrm>
          <a:prstGeom prst="rect">
            <a:avLst/>
          </a:prstGeom>
          <a:solidFill>
            <a:schemeClr val="bg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3000" y="609600"/>
            <a:ext cx="9875520" cy="135636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noProof="0" smtClean="0"/>
              <a:t>Click to edit Master title style</a:t>
            </a:r>
            <a:endParaRPr lang="en-US" noProof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3000" y="2057400"/>
            <a:ext cx="9872871" cy="40386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142996" y="6223828"/>
            <a:ext cx="232907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accent1"/>
                </a:solidFill>
              </a:defRPr>
            </a:lvl1pPr>
          </a:lstStyle>
          <a:p>
            <a:fld id="{3CBC1C18-307B-4F68-A007-B5B542270E8D}" type="datetimeFigureOut">
              <a:rPr lang="en-US" noProof="0" smtClean="0"/>
              <a:t>4/15/2019</a:t>
            </a:fld>
            <a:endParaRPr lang="en-US" noProof="0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949148" y="6223828"/>
            <a:ext cx="471777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accent1"/>
                </a:solidFill>
              </a:defRPr>
            </a:lvl1pPr>
          </a:lstStyle>
          <a:p>
            <a:r>
              <a:rPr lang="en-US" noProof="0" dirty="0"/>
              <a:t>
              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329530" y="6223828"/>
            <a:ext cx="170621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accent1"/>
                </a:solidFill>
              </a:defRPr>
            </a:lvl1pPr>
          </a:lstStyle>
          <a:p>
            <a:fld id="{6D22F896-40B5-4ADD-8801-0D06FADFA095}" type="slidenum">
              <a:rPr lang="en-US" noProof="0" smtClean="0"/>
              <a:pPr/>
              <a:t>‹#›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17022588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77" r:id="rId1"/>
    <p:sldLayoutId id="2147483878" r:id="rId2"/>
    <p:sldLayoutId id="2147483879" r:id="rId3"/>
    <p:sldLayoutId id="2147483880" r:id="rId4"/>
    <p:sldLayoutId id="2147483881" r:id="rId5"/>
    <p:sldLayoutId id="2147483882" r:id="rId6"/>
    <p:sldLayoutId id="2147483883" r:id="rId7"/>
    <p:sldLayoutId id="2147483884" r:id="rId8"/>
    <p:sldLayoutId id="2147483885" r:id="rId9"/>
    <p:sldLayoutId id="2147483886" r:id="rId10"/>
    <p:sldLayoutId id="2147483887" r:id="rId11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accent1"/>
          </a:solidFill>
          <a:latin typeface="+mj-lt"/>
          <a:ea typeface="+mj-ea"/>
          <a:cs typeface="+mj-cs"/>
        </a:defRPr>
      </a:lvl1pPr>
    </p:titleStyle>
    <p:bodyStyle>
      <a:lvl1pPr marL="228600" indent="-182880" algn="l" defTabSz="914400" rtl="0" eaLnBrk="1" latinLnBrk="0" hangingPunct="1">
        <a:lnSpc>
          <a:spcPct val="90000"/>
        </a:lnSpc>
        <a:spcBef>
          <a:spcPts val="1400"/>
        </a:spcBef>
        <a:buClr>
          <a:schemeClr val="accent1"/>
        </a:buClr>
        <a:buSzPct val="80000"/>
        <a:buFont typeface="Corbel" pitchFamily="34" charset="0"/>
        <a:buChar char="•"/>
        <a:defRPr sz="2200" kern="1200">
          <a:solidFill>
            <a:schemeClr val="accent1"/>
          </a:solidFill>
          <a:latin typeface="+mn-lt"/>
          <a:ea typeface="+mn-ea"/>
          <a:cs typeface="+mn-cs"/>
        </a:defRPr>
      </a:lvl1pPr>
      <a:lvl2pPr marL="45720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SzPct val="80000"/>
        <a:buFont typeface="Corbel" pitchFamily="34" charset="0"/>
        <a:buChar char="•"/>
        <a:defRPr sz="2000" kern="1200">
          <a:solidFill>
            <a:schemeClr val="accent1"/>
          </a:solidFill>
          <a:latin typeface="+mn-lt"/>
          <a:ea typeface="+mn-ea"/>
          <a:cs typeface="+mn-cs"/>
        </a:defRPr>
      </a:lvl2pPr>
      <a:lvl3pPr marL="73152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SzPct val="80000"/>
        <a:buFont typeface="Corbel" pitchFamily="34" charset="0"/>
        <a:buChar char="•"/>
        <a:defRPr sz="1800" kern="1200">
          <a:solidFill>
            <a:schemeClr val="accent1"/>
          </a:solidFill>
          <a:latin typeface="+mn-lt"/>
          <a:ea typeface="+mn-ea"/>
          <a:cs typeface="+mn-cs"/>
        </a:defRPr>
      </a:lvl3pPr>
      <a:lvl4pPr marL="100584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SzPct val="80000"/>
        <a:buFont typeface="Corbel" pitchFamily="34" charset="0"/>
        <a:buChar char="•"/>
        <a:defRPr sz="1600" kern="1200">
          <a:solidFill>
            <a:schemeClr val="accent1"/>
          </a:solidFill>
          <a:latin typeface="+mn-lt"/>
          <a:ea typeface="+mn-ea"/>
          <a:cs typeface="+mn-cs"/>
        </a:defRPr>
      </a:lvl4pPr>
      <a:lvl5pPr marL="128016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SzPct val="80000"/>
        <a:buFont typeface="Corbel" pitchFamily="34" charset="0"/>
        <a:buChar char="•"/>
        <a:defRPr sz="1600" kern="1200">
          <a:solidFill>
            <a:schemeClr val="accent1"/>
          </a:solidFill>
          <a:latin typeface="+mn-lt"/>
          <a:ea typeface="+mn-ea"/>
          <a:cs typeface="+mn-cs"/>
        </a:defRPr>
      </a:lvl5pPr>
      <a:lvl6pPr marL="16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SzPct val="80000"/>
        <a:buFont typeface="Corbel" pitchFamily="34" charset="0"/>
        <a:buChar char="•"/>
        <a:defRPr sz="1600" kern="1200">
          <a:solidFill>
            <a:schemeClr val="accent1"/>
          </a:solidFill>
          <a:latin typeface="+mn-lt"/>
          <a:ea typeface="+mn-ea"/>
          <a:cs typeface="+mn-cs"/>
        </a:defRPr>
      </a:lvl6pPr>
      <a:lvl7pPr marL="19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SzPct val="80000"/>
        <a:buFont typeface="Corbel" pitchFamily="34" charset="0"/>
        <a:buChar char="•"/>
        <a:defRPr sz="1600" kern="1200">
          <a:solidFill>
            <a:schemeClr val="accent1"/>
          </a:solidFill>
          <a:latin typeface="+mn-lt"/>
          <a:ea typeface="+mn-ea"/>
          <a:cs typeface="+mn-cs"/>
        </a:defRPr>
      </a:lvl7pPr>
      <a:lvl8pPr marL="22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SzPct val="80000"/>
        <a:buFont typeface="Corbel" pitchFamily="34" charset="0"/>
        <a:buChar char="•"/>
        <a:defRPr sz="1600" kern="1200">
          <a:solidFill>
            <a:schemeClr val="accent1"/>
          </a:solidFill>
          <a:latin typeface="+mn-lt"/>
          <a:ea typeface="+mn-ea"/>
          <a:cs typeface="+mn-cs"/>
        </a:defRPr>
      </a:lvl8pPr>
      <a:lvl9pPr marL="2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SzPct val="80000"/>
        <a:buFont typeface="Corbel" pitchFamily="34" charset="0"/>
        <a:buChar char="•"/>
        <a:defRPr sz="1600" kern="1200">
          <a:solidFill>
            <a:schemeClr val="accent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gif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gif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7.png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0" name="Straight Connector 41">
            <a:extLst>
              <a:ext uri="{FF2B5EF4-FFF2-40B4-BE49-F238E27FC236}">
                <a16:creationId xmlns:a16="http://schemas.microsoft.com/office/drawing/2014/main" id="{63FED537-3AF1-4C36-9904-77B6A54D27B5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978660" y="5462458"/>
            <a:ext cx="8229601" cy="0"/>
          </a:xfrm>
          <a:prstGeom prst="line">
            <a:avLst/>
          </a:prstGeom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050E78D6-F072-48E7-8270-20EFBDD26F3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18095" y="4076095"/>
            <a:ext cx="9966960" cy="1325880"/>
          </a:xfrm>
        </p:spPr>
        <p:txBody>
          <a:bodyPr>
            <a:noAutofit/>
          </a:bodyPr>
          <a:lstStyle/>
          <a:p>
            <a:r>
              <a:rPr lang="fa-IR" sz="6500" dirty="0">
                <a:cs typeface="B Nazanin" panose="00000400000000000000" pitchFamily="2" charset="-78"/>
              </a:rPr>
              <a:t>مهارت تصمیم گیری </a:t>
            </a:r>
            <a:r>
              <a:rPr lang="fa-IR" sz="6500" dirty="0" smtClean="0">
                <a:cs typeface="B Nazanin" panose="00000400000000000000" pitchFamily="2" charset="-78"/>
              </a:rPr>
              <a:t>درست</a:t>
            </a:r>
            <a:endParaRPr lang="fa-IR" sz="6500" dirty="0">
              <a:cs typeface="B Nazanin" panose="00000400000000000000" pitchFamily="2" charset="-78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FC7BD98-5486-489C-BAA0-A69CEFF691B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09530" y="5598293"/>
            <a:ext cx="8767860" cy="553690"/>
          </a:xfrm>
        </p:spPr>
        <p:txBody>
          <a:bodyPr>
            <a:normAutofit/>
          </a:bodyPr>
          <a:lstStyle/>
          <a:p>
            <a:r>
              <a:rPr lang="fa-IR" sz="2000" dirty="0">
                <a:cs typeface="B Nazanin" panose="00000400000000000000" pitchFamily="2" charset="-78"/>
              </a:rPr>
              <a:t>در مدیریت و زندگی</a:t>
            </a:r>
            <a:endParaRPr lang="en-US" sz="2000" dirty="0"/>
          </a:p>
        </p:txBody>
      </p:sp>
      <p:pic>
        <p:nvPicPr>
          <p:cNvPr id="7" name="Picture 6" descr="Man looking at landscape">
            <a:extLst>
              <a:ext uri="{FF2B5EF4-FFF2-40B4-BE49-F238E27FC236}">
                <a16:creationId xmlns:a16="http://schemas.microsoft.com/office/drawing/2014/main" id="{CD9EF39B-AB41-49AB-8163-8B5FD7D28329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243840" y="256540"/>
            <a:ext cx="11704320" cy="37642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3405040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4B6193-F9F1-4C54-838F-77350B9FC5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69125" y="425299"/>
            <a:ext cx="9875520" cy="709749"/>
          </a:xfrm>
        </p:spPr>
        <p:txBody>
          <a:bodyPr>
            <a:normAutofit fontScale="90000"/>
          </a:bodyPr>
          <a:lstStyle/>
          <a:p>
            <a:pPr algn="r"/>
            <a:r>
              <a:rPr lang="fa-IR" sz="4800" dirty="0" smtClean="0">
                <a:cs typeface="B Nazanin" panose="00000400000000000000" pitchFamily="2" charset="-78"/>
              </a:rPr>
              <a:t>تصمیم گیری چیست ؟</a:t>
            </a:r>
            <a:endParaRPr lang="en-US" sz="4800" dirty="0">
              <a:cs typeface="B Nazanin" panose="00000400000000000000" pitchFamily="2" charset="-78"/>
            </a:endParaRPr>
          </a:p>
        </p:txBody>
      </p:sp>
      <p:cxnSp>
        <p:nvCxnSpPr>
          <p:cNvPr id="8" name="Straight Connector 7"/>
          <p:cNvCxnSpPr/>
          <p:nvPr/>
        </p:nvCxnSpPr>
        <p:spPr>
          <a:xfrm>
            <a:off x="888274" y="1240973"/>
            <a:ext cx="10437223" cy="13063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grpSp>
        <p:nvGrpSpPr>
          <p:cNvPr id="27" name="Group 26"/>
          <p:cNvGrpSpPr/>
          <p:nvPr/>
        </p:nvGrpSpPr>
        <p:grpSpPr>
          <a:xfrm>
            <a:off x="888274" y="2929010"/>
            <a:ext cx="10371909" cy="1871870"/>
            <a:chOff x="953588" y="1554480"/>
            <a:chExt cx="10371909" cy="1871870"/>
          </a:xfrm>
        </p:grpSpPr>
        <p:sp>
          <p:nvSpPr>
            <p:cNvPr id="9" name="Title 1">
              <a:extLst>
                <a:ext uri="{FF2B5EF4-FFF2-40B4-BE49-F238E27FC236}">
                  <a16:creationId xmlns:a16="http://schemas.microsoft.com/office/drawing/2014/main" id="{BB4B6193-F9F1-4C54-838F-77350B9FC5DC}"/>
                </a:ext>
              </a:extLst>
            </p:cNvPr>
            <p:cNvSpPr txBox="1">
              <a:spLocks/>
            </p:cNvSpPr>
            <p:nvPr/>
          </p:nvSpPr>
          <p:spPr>
            <a:xfrm>
              <a:off x="10058400" y="1833157"/>
              <a:ext cx="1267097" cy="709749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rmAutofit fontScale="97500"/>
            </a:bodyPr>
            <a:lstStyle>
              <a:lvl1pPr algn="l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4400" kern="1200">
                  <a:solidFill>
                    <a:schemeClr val="accent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r"/>
              <a:r>
                <a:rPr lang="fa-IR" sz="2400" dirty="0" smtClean="0">
                  <a:solidFill>
                    <a:schemeClr val="tx1"/>
                  </a:solidFill>
                  <a:cs typeface="B Nazanin" panose="00000400000000000000" pitchFamily="2" charset="-78"/>
                </a:rPr>
                <a:t>حل مسئله </a:t>
              </a:r>
              <a:endParaRPr lang="en-US" sz="2400" dirty="0">
                <a:solidFill>
                  <a:schemeClr val="tx1"/>
                </a:solidFill>
                <a:cs typeface="B Nazanin" panose="00000400000000000000" pitchFamily="2" charset="-78"/>
              </a:endParaRPr>
            </a:p>
          </p:txBody>
        </p:sp>
        <p:cxnSp>
          <p:nvCxnSpPr>
            <p:cNvPr id="11" name="Straight Arrow Connector 10"/>
            <p:cNvCxnSpPr/>
            <p:nvPr/>
          </p:nvCxnSpPr>
          <p:spPr>
            <a:xfrm flipH="1">
              <a:off x="8934994" y="2188031"/>
              <a:ext cx="1188721" cy="0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13" name="Straight Arrow Connector 12"/>
            <p:cNvCxnSpPr/>
            <p:nvPr/>
          </p:nvCxnSpPr>
          <p:spPr>
            <a:xfrm flipH="1">
              <a:off x="5957667" y="2188031"/>
              <a:ext cx="1188721" cy="0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</p:cxnSp>
        <p:grpSp>
          <p:nvGrpSpPr>
            <p:cNvPr id="19" name="Group 18"/>
            <p:cNvGrpSpPr/>
            <p:nvPr/>
          </p:nvGrpSpPr>
          <p:grpSpPr>
            <a:xfrm>
              <a:off x="7419702" y="1554480"/>
              <a:ext cx="1267097" cy="1667703"/>
              <a:chOff x="7289074" y="1554480"/>
              <a:chExt cx="1267097" cy="1667703"/>
            </a:xfrm>
          </p:grpSpPr>
          <p:sp>
            <p:nvSpPr>
              <p:cNvPr id="14" name="Rectangle 13"/>
              <p:cNvSpPr/>
              <p:nvPr/>
            </p:nvSpPr>
            <p:spPr>
              <a:xfrm>
                <a:off x="7289074" y="1554480"/>
                <a:ext cx="1267097" cy="278677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fa-IR" sz="1200" dirty="0" smtClean="0"/>
                  <a:t>راه حل شماره 1</a:t>
                </a:r>
                <a:endParaRPr lang="en-US" sz="1200" dirty="0"/>
              </a:p>
            </p:txBody>
          </p:sp>
          <p:sp>
            <p:nvSpPr>
              <p:cNvPr id="15" name="Rectangle 14"/>
              <p:cNvSpPr/>
              <p:nvPr/>
            </p:nvSpPr>
            <p:spPr>
              <a:xfrm>
                <a:off x="7289074" y="1963785"/>
                <a:ext cx="1267097" cy="278677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fa-IR" sz="1200" dirty="0" smtClean="0"/>
                  <a:t>راه حل شماره 2</a:t>
                </a:r>
                <a:endParaRPr lang="en-US" sz="1200" dirty="0"/>
              </a:p>
            </p:txBody>
          </p:sp>
          <p:sp>
            <p:nvSpPr>
              <p:cNvPr id="16" name="Rectangle 15"/>
              <p:cNvSpPr/>
              <p:nvPr/>
            </p:nvSpPr>
            <p:spPr>
              <a:xfrm>
                <a:off x="7289074" y="2355678"/>
                <a:ext cx="1267097" cy="278677"/>
              </a:xfrm>
              <a:prstGeom prst="rect">
                <a:avLst/>
              </a:prstGeom>
            </p:spPr>
            <p:style>
              <a:lnRef idx="2">
                <a:schemeClr val="accent4">
                  <a:shade val="50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fa-IR" sz="1200" dirty="0" smtClean="0"/>
                  <a:t>راه حل شماره 3</a:t>
                </a:r>
                <a:endParaRPr lang="en-US" sz="1200" dirty="0"/>
              </a:p>
            </p:txBody>
          </p:sp>
          <p:sp>
            <p:nvSpPr>
              <p:cNvPr id="17" name="Rectangle 16"/>
              <p:cNvSpPr/>
              <p:nvPr/>
            </p:nvSpPr>
            <p:spPr>
              <a:xfrm>
                <a:off x="7289074" y="2943506"/>
                <a:ext cx="1267097" cy="278677"/>
              </a:xfrm>
              <a:prstGeom prst="rect">
                <a:avLst/>
              </a:prstGeom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 rtl="1"/>
                <a:r>
                  <a:rPr lang="fa-IR" sz="1200" dirty="0" smtClean="0"/>
                  <a:t>راه حل شماره </a:t>
                </a:r>
                <a:r>
                  <a:rPr lang="en-US" sz="1200" dirty="0"/>
                  <a:t> </a:t>
                </a:r>
                <a:r>
                  <a:rPr lang="en-US" sz="1200" dirty="0" smtClean="0"/>
                  <a:t>n</a:t>
                </a:r>
                <a:endParaRPr lang="en-US" sz="1200" dirty="0"/>
              </a:p>
            </p:txBody>
          </p:sp>
          <p:sp>
            <p:nvSpPr>
              <p:cNvPr id="18" name="Title 1">
                <a:extLst>
                  <a:ext uri="{FF2B5EF4-FFF2-40B4-BE49-F238E27FC236}">
                    <a16:creationId xmlns:a16="http://schemas.microsoft.com/office/drawing/2014/main" id="{BB4B6193-F9F1-4C54-838F-77350B9FC5DC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7576457" y="2638718"/>
                <a:ext cx="457200" cy="304788"/>
              </a:xfrm>
              <a:prstGeom prst="rect">
                <a:avLst/>
              </a:prstGeom>
            </p:spPr>
            <p:txBody>
              <a:bodyPr vert="horz" lIns="91440" tIns="45720" rIns="91440" bIns="45720" rtlCol="0" anchor="ctr">
                <a:normAutofit fontScale="75000" lnSpcReduction="20000"/>
              </a:bodyPr>
              <a:lstStyle>
                <a:lvl1pPr algn="l" defTabSz="914400" rtl="0" eaLnBrk="1" latinLnBrk="0" hangingPunct="1">
                  <a:lnSpc>
                    <a:spcPct val="90000"/>
                  </a:lnSpc>
                  <a:spcBef>
                    <a:spcPct val="0"/>
                  </a:spcBef>
                  <a:buNone/>
                  <a:defRPr sz="4400" kern="1200">
                    <a:solidFill>
                      <a:schemeClr val="accent1"/>
                    </a:solidFill>
                    <a:latin typeface="+mj-lt"/>
                    <a:ea typeface="+mj-ea"/>
                    <a:cs typeface="+mj-cs"/>
                  </a:defRPr>
                </a:lvl1pPr>
              </a:lstStyle>
              <a:p>
                <a:pPr algn="r"/>
                <a:r>
                  <a:rPr lang="fa-IR" sz="2400" dirty="0" smtClean="0">
                    <a:solidFill>
                      <a:schemeClr val="tx1"/>
                    </a:solidFill>
                    <a:cs typeface="B Nazanin" panose="00000400000000000000" pitchFamily="2" charset="-78"/>
                  </a:rPr>
                  <a:t>...</a:t>
                </a:r>
                <a:endParaRPr lang="en-US" sz="2400" dirty="0">
                  <a:solidFill>
                    <a:schemeClr val="tx1"/>
                  </a:solidFill>
                  <a:cs typeface="B Nazanin" panose="00000400000000000000" pitchFamily="2" charset="-78"/>
                </a:endParaRPr>
              </a:p>
            </p:txBody>
          </p:sp>
        </p:grpSp>
        <p:sp>
          <p:nvSpPr>
            <p:cNvPr id="21" name="Rectangle 20"/>
            <p:cNvSpPr/>
            <p:nvPr/>
          </p:nvSpPr>
          <p:spPr>
            <a:xfrm>
              <a:off x="4516393" y="1965572"/>
              <a:ext cx="1422184" cy="433965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rmAutofit fontScale="97500"/>
            </a:bodyPr>
            <a:lstStyle/>
            <a:p>
              <a:pPr algn="r" defTabSz="914400">
                <a:lnSpc>
                  <a:spcPct val="90000"/>
                </a:lnSpc>
                <a:spcBef>
                  <a:spcPct val="0"/>
                </a:spcBef>
              </a:pPr>
              <a:r>
                <a:rPr lang="fa-IR" sz="2400" dirty="0">
                  <a:latin typeface="+mj-lt"/>
                  <a:ea typeface="+mj-ea"/>
                  <a:cs typeface="B Nazanin" panose="00000400000000000000" pitchFamily="2" charset="-78"/>
                </a:rPr>
                <a:t>تصمیم گیری</a:t>
              </a:r>
              <a:endParaRPr lang="en-US" sz="2400" dirty="0">
                <a:latin typeface="+mj-lt"/>
                <a:ea typeface="+mj-ea"/>
                <a:cs typeface="B Nazanin" panose="00000400000000000000" pitchFamily="2" charset="-78"/>
              </a:endParaRPr>
            </a:p>
          </p:txBody>
        </p:sp>
        <p:cxnSp>
          <p:nvCxnSpPr>
            <p:cNvPr id="22" name="Straight Arrow Connector 21"/>
            <p:cNvCxnSpPr/>
            <p:nvPr/>
          </p:nvCxnSpPr>
          <p:spPr>
            <a:xfrm flipH="1">
              <a:off x="3249294" y="2176025"/>
              <a:ext cx="1188721" cy="0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</p:cxnSp>
        <p:sp>
          <p:nvSpPr>
            <p:cNvPr id="23" name="Rectangle 22"/>
            <p:cNvSpPr/>
            <p:nvPr/>
          </p:nvSpPr>
          <p:spPr>
            <a:xfrm>
              <a:off x="2231512" y="1964515"/>
              <a:ext cx="731290" cy="36933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fa-IR" b="1" dirty="0">
                  <a:cs typeface="B Nazanin" panose="00000400000000000000" pitchFamily="2" charset="-78"/>
                </a:rPr>
                <a:t>انتخاب</a:t>
              </a:r>
              <a:endParaRPr lang="en-US" b="1" dirty="0"/>
            </a:p>
          </p:txBody>
        </p:sp>
        <p:sp>
          <p:nvSpPr>
            <p:cNvPr id="24" name="Rectangle 23"/>
            <p:cNvSpPr/>
            <p:nvPr/>
          </p:nvSpPr>
          <p:spPr>
            <a:xfrm>
              <a:off x="953588" y="2003704"/>
              <a:ext cx="1267097" cy="278677"/>
            </a:xfrm>
            <a:prstGeom prst="rect">
              <a:avLst/>
            </a:prstGeom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a-IR" sz="1200" dirty="0" smtClean="0"/>
                <a:t>راه حل شماره 3</a:t>
              </a:r>
              <a:endParaRPr lang="en-US" sz="1200" dirty="0"/>
            </a:p>
          </p:txBody>
        </p:sp>
        <p:sp>
          <p:nvSpPr>
            <p:cNvPr id="25" name="Title 1">
              <a:extLst>
                <a:ext uri="{FF2B5EF4-FFF2-40B4-BE49-F238E27FC236}">
                  <a16:creationId xmlns:a16="http://schemas.microsoft.com/office/drawing/2014/main" id="{BB4B6193-F9F1-4C54-838F-77350B9FC5DC}"/>
                </a:ext>
              </a:extLst>
            </p:cNvPr>
            <p:cNvSpPr txBox="1">
              <a:spLocks/>
            </p:cNvSpPr>
            <p:nvPr/>
          </p:nvSpPr>
          <p:spPr>
            <a:xfrm>
              <a:off x="9442184" y="2716601"/>
              <a:ext cx="1883313" cy="709749"/>
            </a:xfrm>
            <a:prstGeom prst="rect">
              <a:avLst/>
            </a:prstGeom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vert="horz" lIns="91440" tIns="45720" rIns="91440" bIns="45720" rtlCol="0" anchor="ctr">
              <a:normAutofit fontScale="97500"/>
            </a:bodyPr>
            <a:lstStyle>
              <a:lvl1pPr algn="l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4400" kern="1200">
                  <a:solidFill>
                    <a:schemeClr val="accent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r"/>
              <a:r>
                <a:rPr lang="fa-IR" sz="2400" dirty="0" smtClean="0">
                  <a:solidFill>
                    <a:schemeClr val="tx1"/>
                  </a:solidFill>
                  <a:cs typeface="B Nazanin" panose="00000400000000000000" pitchFamily="2" charset="-78"/>
                </a:rPr>
                <a:t>مهارت حل مسئله </a:t>
              </a:r>
              <a:endParaRPr lang="en-US" sz="2400" dirty="0">
                <a:solidFill>
                  <a:schemeClr val="tx1"/>
                </a:solidFill>
                <a:cs typeface="B Nazanin" panose="00000400000000000000" pitchFamily="2" charset="-78"/>
              </a:endParaRPr>
            </a:p>
          </p:txBody>
        </p:sp>
        <p:sp>
          <p:nvSpPr>
            <p:cNvPr id="26" name="Title 1">
              <a:extLst>
                <a:ext uri="{FF2B5EF4-FFF2-40B4-BE49-F238E27FC236}">
                  <a16:creationId xmlns:a16="http://schemas.microsoft.com/office/drawing/2014/main" id="{BB4B6193-F9F1-4C54-838F-77350B9FC5DC}"/>
                </a:ext>
              </a:extLst>
            </p:cNvPr>
            <p:cNvSpPr txBox="1">
              <a:spLocks/>
            </p:cNvSpPr>
            <p:nvPr/>
          </p:nvSpPr>
          <p:spPr>
            <a:xfrm>
              <a:off x="4211856" y="2716600"/>
              <a:ext cx="2217330" cy="709749"/>
            </a:xfrm>
            <a:prstGeom prst="rect">
              <a:avLst/>
            </a:prstGeom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vert="horz" lIns="91440" tIns="45720" rIns="91440" bIns="45720" rtlCol="0" anchor="ctr">
              <a:normAutofit fontScale="97500" lnSpcReduction="10000"/>
            </a:bodyPr>
            <a:lstStyle>
              <a:lvl1pPr algn="l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4400" kern="1200">
                  <a:solidFill>
                    <a:schemeClr val="accent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r>
                <a:rPr lang="fa-IR" sz="2400" dirty="0" smtClean="0">
                  <a:solidFill>
                    <a:schemeClr val="tx1"/>
                  </a:solidFill>
                  <a:cs typeface="B Nazanin" panose="00000400000000000000" pitchFamily="2" charset="-78"/>
                </a:rPr>
                <a:t>مهارت تصمیم گیری درست</a:t>
              </a:r>
              <a:endParaRPr lang="en-US" sz="2400" dirty="0">
                <a:solidFill>
                  <a:schemeClr val="tx1"/>
                </a:solidFill>
                <a:cs typeface="B Nazanin" panose="00000400000000000000" pitchFamily="2" charset="-78"/>
              </a:endParaRPr>
            </a:p>
          </p:txBody>
        </p:sp>
      </p:grpSp>
      <p:sp>
        <p:nvSpPr>
          <p:cNvPr id="28" name="Rectangle 27"/>
          <p:cNvSpPr/>
          <p:nvPr/>
        </p:nvSpPr>
        <p:spPr>
          <a:xfrm>
            <a:off x="574766" y="1512448"/>
            <a:ext cx="10750731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 algn="r" rtl="1">
              <a:buFont typeface="Wingdings" panose="05000000000000000000" pitchFamily="2" charset="2"/>
              <a:buChar char="ü"/>
            </a:pPr>
            <a:r>
              <a:rPr lang="fa-IR" dirty="0">
                <a:cs typeface="B Nazanin" panose="00000400000000000000" pitchFamily="2" charset="-78"/>
              </a:rPr>
              <a:t>وقتی از </a:t>
            </a:r>
            <a:r>
              <a:rPr lang="fa-IR" b="1" dirty="0">
                <a:cs typeface="B Nazanin" panose="00000400000000000000" pitchFamily="2" charset="-78"/>
              </a:rPr>
              <a:t>تصمیم گیری</a:t>
            </a:r>
            <a:r>
              <a:rPr lang="fa-IR" dirty="0">
                <a:cs typeface="B Nazanin" panose="00000400000000000000" pitchFamily="2" charset="-78"/>
              </a:rPr>
              <a:t> حرف می‌زنیم، همیشه </a:t>
            </a:r>
            <a:r>
              <a:rPr lang="fa-IR" b="1" dirty="0">
                <a:cs typeface="B Nazanin" panose="00000400000000000000" pitchFamily="2" charset="-78"/>
              </a:rPr>
              <a:t>گزینه‌ها مشخص هستند</a:t>
            </a:r>
            <a:r>
              <a:rPr lang="fa-IR" b="1" dirty="0" smtClean="0">
                <a:cs typeface="B Nazanin" panose="00000400000000000000" pitchFamily="2" charset="-78"/>
              </a:rPr>
              <a:t>. </a:t>
            </a:r>
            <a:r>
              <a:rPr lang="fa-IR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به </a:t>
            </a:r>
            <a:r>
              <a:rPr lang="fa-IR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بیان دیگر، سوالِ </a:t>
            </a:r>
            <a:r>
              <a:rPr lang="fa-IR" b="1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تصمیم گیری </a:t>
            </a:r>
            <a:r>
              <a:rPr lang="fa-IR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این </a:t>
            </a:r>
            <a:r>
              <a:rPr lang="fa-IR" b="1" dirty="0">
                <a:solidFill>
                  <a:srgbClr val="FF0000"/>
                </a:solidFill>
                <a:latin typeface="IRANSans"/>
                <a:cs typeface="B Nazanin" panose="00000400000000000000" pitchFamily="2" charset="-78"/>
              </a:rPr>
              <a:t>نیست</a:t>
            </a:r>
            <a:r>
              <a:rPr lang="fa-IR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 </a:t>
            </a:r>
            <a:r>
              <a:rPr lang="fa-IR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که</a:t>
            </a:r>
            <a:r>
              <a:rPr lang="en-US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fa-IR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:</a:t>
            </a:r>
            <a:r>
              <a:rPr lang="fa-IR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 </a:t>
            </a:r>
            <a:r>
              <a:rPr lang="fa-IR" b="1" dirty="0">
                <a:solidFill>
                  <a:srgbClr val="002060"/>
                </a:solidFill>
                <a:latin typeface="IRANSans"/>
                <a:cs typeface="B Nazanin" panose="00000400000000000000" pitchFamily="2" charset="-78"/>
              </a:rPr>
              <a:t>چه گزینه‌هایی پیش روی من است</a:t>
            </a:r>
            <a:r>
              <a:rPr lang="fa-IR" b="1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؟</a:t>
            </a:r>
            <a:endParaRPr lang="en-US" dirty="0">
              <a:cs typeface="B Nazanin" panose="00000400000000000000" pitchFamily="2" charset="-78"/>
            </a:endParaRPr>
          </a:p>
        </p:txBody>
      </p:sp>
      <p:sp>
        <p:nvSpPr>
          <p:cNvPr id="29" name="Rectangle 28"/>
          <p:cNvSpPr/>
          <p:nvPr/>
        </p:nvSpPr>
        <p:spPr>
          <a:xfrm>
            <a:off x="1397725" y="5594308"/>
            <a:ext cx="9418320" cy="646331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r" rtl="1"/>
            <a:r>
              <a:rPr lang="fa-IR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نقش </a:t>
            </a:r>
            <a:r>
              <a:rPr lang="fa-IR" b="1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بدنه‌ی کارشناسی</a:t>
            </a:r>
            <a:r>
              <a:rPr lang="fa-IR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 در سازمان‌ها و نیز </a:t>
            </a:r>
            <a:r>
              <a:rPr lang="fa-IR" b="1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بسیاری از مشاوران</a:t>
            </a:r>
            <a:r>
              <a:rPr lang="fa-IR" b="1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،</a:t>
            </a:r>
            <a:r>
              <a:rPr lang="en-US" b="1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fa-IR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همکاری </a:t>
            </a:r>
            <a:r>
              <a:rPr lang="fa-IR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در فازِ </a:t>
            </a:r>
            <a:r>
              <a:rPr lang="fa-IR" b="1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حل مسئله</a:t>
            </a:r>
            <a:r>
              <a:rPr lang="fa-IR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 </a:t>
            </a:r>
            <a:r>
              <a:rPr lang="fa-IR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است.</a:t>
            </a:r>
            <a:r>
              <a:rPr lang="en-US" dirty="0" smtClean="0">
                <a:cs typeface="B Nazanin" panose="00000400000000000000" pitchFamily="2" charset="-78"/>
              </a:rPr>
              <a:t> </a:t>
            </a:r>
            <a:r>
              <a:rPr lang="fa-IR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اما </a:t>
            </a:r>
            <a:r>
              <a:rPr lang="fa-IR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معمولاً </a:t>
            </a:r>
            <a:r>
              <a:rPr lang="fa-IR" b="1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مدیران</a:t>
            </a:r>
            <a:r>
              <a:rPr lang="fa-IR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 هستند که وظیفه‌ی </a:t>
            </a:r>
            <a:r>
              <a:rPr lang="fa-IR" b="1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تصمیم گیری</a:t>
            </a:r>
            <a:r>
              <a:rPr lang="fa-IR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 (انتخاب از بین گزینه‌های روی میز) را بر عهده می‌گیرند. </a:t>
            </a:r>
            <a:endParaRPr lang="en-US" dirty="0">
              <a:cs typeface="B Nazanin" panose="00000400000000000000" pitchFamily="2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92847438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4B6193-F9F1-4C54-838F-77350B9FC5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69125" y="425299"/>
            <a:ext cx="9875520" cy="709749"/>
          </a:xfrm>
        </p:spPr>
        <p:txBody>
          <a:bodyPr>
            <a:normAutofit fontScale="90000"/>
          </a:bodyPr>
          <a:lstStyle/>
          <a:p>
            <a:pPr algn="r"/>
            <a:r>
              <a:rPr lang="fa-IR" sz="4800" dirty="0" smtClean="0">
                <a:cs typeface="B Nazanin" panose="00000400000000000000" pitchFamily="2" charset="-78"/>
              </a:rPr>
              <a:t>انواع تصمیم گیری </a:t>
            </a:r>
            <a:endParaRPr lang="en-US" sz="4800" dirty="0">
              <a:cs typeface="B Nazanin" panose="00000400000000000000" pitchFamily="2" charset="-78"/>
            </a:endParaRPr>
          </a:p>
        </p:txBody>
      </p:sp>
      <p:cxnSp>
        <p:nvCxnSpPr>
          <p:cNvPr id="8" name="Straight Connector 7"/>
          <p:cNvCxnSpPr/>
          <p:nvPr/>
        </p:nvCxnSpPr>
        <p:spPr>
          <a:xfrm>
            <a:off x="888274" y="1240973"/>
            <a:ext cx="10437223" cy="13063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3" name="Rectangle 2"/>
          <p:cNvSpPr/>
          <p:nvPr/>
        </p:nvSpPr>
        <p:spPr>
          <a:xfrm>
            <a:off x="7107922" y="1767601"/>
            <a:ext cx="2899954" cy="95410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 algn="just" rtl="1">
              <a:buFont typeface="Arial" panose="020B0604020202020204" pitchFamily="34" charset="0"/>
              <a:buChar char="•"/>
            </a:pPr>
            <a:r>
              <a:rPr lang="en-US" sz="1400" dirty="0" smtClean="0">
                <a:solidFill>
                  <a:srgbClr val="4372C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Individual </a:t>
            </a:r>
            <a:r>
              <a:rPr lang="en-US" sz="1400" dirty="0">
                <a:solidFill>
                  <a:srgbClr val="4372C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Decision </a:t>
            </a:r>
            <a:r>
              <a:rPr lang="en-US" sz="1400" dirty="0" smtClean="0">
                <a:solidFill>
                  <a:srgbClr val="4372C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Making</a:t>
            </a:r>
          </a:p>
          <a:p>
            <a:pPr marL="285750" indent="-285750" algn="just" rtl="1">
              <a:buFont typeface="Arial" panose="020B0604020202020204" pitchFamily="34" charset="0"/>
              <a:buChar char="•"/>
            </a:pPr>
            <a:r>
              <a:rPr lang="en-US" sz="1400" dirty="0" smtClean="0">
                <a:solidFill>
                  <a:srgbClr val="41BCB7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Managerial Decisions</a:t>
            </a:r>
          </a:p>
          <a:p>
            <a:pPr marL="285750" indent="-285750" algn="just" rtl="1">
              <a:buFont typeface="Arial" panose="020B0604020202020204" pitchFamily="34" charset="0"/>
              <a:buChar char="•"/>
            </a:pPr>
            <a:r>
              <a:rPr lang="en-US" sz="1400" dirty="0" smtClean="0">
                <a:solidFill>
                  <a:srgbClr val="44B565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Negotiation Decisions</a:t>
            </a:r>
          </a:p>
          <a:p>
            <a:pPr marL="285750" indent="-285750" algn="just" rtl="1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71AB47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Societal </a:t>
            </a:r>
            <a:r>
              <a:rPr lang="en-US" sz="1400" dirty="0" smtClean="0">
                <a:solidFill>
                  <a:srgbClr val="71AB47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Decisions</a:t>
            </a:r>
            <a:endParaRPr lang="en-US" sz="1400" dirty="0">
              <a:solidFill>
                <a:srgbClr val="71AB47"/>
              </a:solidFill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4703" y="1978669"/>
            <a:ext cx="3714750" cy="367665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9746344" y="1963896"/>
            <a:ext cx="2155372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fa-IR" sz="1400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بر </a:t>
            </a:r>
            <a:r>
              <a:rPr lang="fa-IR" sz="1400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اساس</a:t>
            </a:r>
            <a:endParaRPr lang="en-US" sz="1400" dirty="0" smtClean="0">
              <a:solidFill>
                <a:srgbClr val="000000"/>
              </a:solidFill>
              <a:latin typeface="IRANSans"/>
              <a:cs typeface="B Nazanin" panose="00000400000000000000" pitchFamily="2" charset="-78"/>
            </a:endParaRPr>
          </a:p>
          <a:p>
            <a:pPr algn="ctr"/>
            <a:r>
              <a:rPr lang="fa-IR" sz="1400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 </a:t>
            </a:r>
            <a:r>
              <a:rPr lang="fa-IR" sz="1400" b="1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نقش تصمیم گیرنده</a:t>
            </a:r>
            <a:endParaRPr lang="en-US" sz="1400" dirty="0">
              <a:cs typeface="B Nazanin" panose="00000400000000000000" pitchFamily="2" charset="-78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441369" y="1691901"/>
            <a:ext cx="4508001" cy="954107"/>
          </a:xfrm>
          <a:prstGeom prst="rect">
            <a:avLst/>
          </a:prstGeom>
          <a:ln w="28575">
            <a:solidFill>
              <a:srgbClr val="4372C2"/>
            </a:solidFill>
          </a:ln>
        </p:spPr>
        <p:txBody>
          <a:bodyPr wrap="square">
            <a:spAutoFit/>
          </a:bodyPr>
          <a:lstStyle/>
          <a:p>
            <a:pPr marL="171450" indent="-171450" algn="justLow" rtl="1">
              <a:buFont typeface="Wingdings" panose="05000000000000000000" pitchFamily="2" charset="2"/>
              <a:buChar char="ü"/>
            </a:pPr>
            <a:r>
              <a:rPr lang="fa-IR" sz="1400" b="1" dirty="0" smtClean="0">
                <a:solidFill>
                  <a:srgbClr val="C00000"/>
                </a:solidFill>
                <a:latin typeface="IRANSans"/>
                <a:cs typeface="B Nazanin" panose="00000400000000000000" pitchFamily="2" charset="-78"/>
              </a:rPr>
              <a:t>محوریت تصمیم </a:t>
            </a:r>
            <a:r>
              <a:rPr lang="fa-IR" sz="1400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فرد است و بیشترین اثر تصمیم بر روی خود فرد می باشد . </a:t>
            </a:r>
          </a:p>
          <a:p>
            <a:pPr marL="171450" indent="-171450" algn="justLow" rtl="1">
              <a:buFont typeface="Wingdings" panose="05000000000000000000" pitchFamily="2" charset="2"/>
              <a:buChar char="ü"/>
            </a:pPr>
            <a:r>
              <a:rPr lang="fa-IR" sz="1400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مسائلی </a:t>
            </a:r>
            <a:r>
              <a:rPr lang="fa-IR" sz="1400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مانند </a:t>
            </a:r>
            <a:r>
              <a:rPr lang="fa-IR" sz="14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انتخاب بر اساس احساس</a:t>
            </a:r>
            <a:r>
              <a:rPr lang="fa-IR" sz="1400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، </a:t>
            </a:r>
            <a:r>
              <a:rPr lang="fa-IR" sz="1400" b="1" dirty="0">
                <a:solidFill>
                  <a:schemeClr val="accent5">
                    <a:lumMod val="50000"/>
                  </a:schemeClr>
                </a:solidFill>
                <a:latin typeface="IRANSans"/>
                <a:cs typeface="B Nazanin" panose="00000400000000000000" pitchFamily="2" charset="-78"/>
              </a:rPr>
              <a:t>تصمیم گیری‌های شهودی</a:t>
            </a:r>
            <a:r>
              <a:rPr lang="fa-IR" sz="1400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، </a:t>
            </a:r>
            <a:r>
              <a:rPr lang="fa-IR" sz="1400" b="1" dirty="0">
                <a:solidFill>
                  <a:srgbClr val="C00000"/>
                </a:solidFill>
                <a:latin typeface="IRANSans"/>
                <a:cs typeface="B Nazanin" panose="00000400000000000000" pitchFamily="2" charset="-78"/>
              </a:rPr>
              <a:t>خطاهای شناختی</a:t>
            </a:r>
            <a:r>
              <a:rPr lang="fa-IR" sz="1400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و </a:t>
            </a:r>
            <a:r>
              <a:rPr lang="fa-IR" sz="1400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... </a:t>
            </a:r>
            <a:r>
              <a:rPr lang="fa-IR" sz="1400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از جمله موضوعاتی هستند که در این نوع تصمیم گیری‌ها مورد توجه قرار می‌گیرند.</a:t>
            </a:r>
            <a:endParaRPr lang="en-US" sz="1400" dirty="0">
              <a:cs typeface="B Nazanin" panose="00000400000000000000" pitchFamily="2" charset="-78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7458410" y="3606297"/>
            <a:ext cx="4165602" cy="1169551"/>
          </a:xfrm>
          <a:prstGeom prst="rect">
            <a:avLst/>
          </a:prstGeom>
          <a:ln w="28575">
            <a:solidFill>
              <a:srgbClr val="41BCB7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marL="171450" indent="-171450" algn="justLow" rtl="1">
              <a:buFont typeface="Wingdings" panose="05000000000000000000" pitchFamily="2" charset="2"/>
              <a:buChar char="ü"/>
            </a:pPr>
            <a:r>
              <a:rPr lang="fa-IR" sz="1400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برای این تصمیمات باید با مدیران بالادستی و </a:t>
            </a:r>
            <a:r>
              <a:rPr lang="fa-IR" sz="1400" b="1" dirty="0" smtClean="0">
                <a:solidFill>
                  <a:srgbClr val="0070C0"/>
                </a:solidFill>
                <a:latin typeface="IRANSans"/>
                <a:cs typeface="B Nazanin" panose="00000400000000000000" pitchFamily="2" charset="-78"/>
              </a:rPr>
              <a:t>سازمان هماهنگی </a:t>
            </a:r>
            <a:r>
              <a:rPr lang="fa-IR" sz="1400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صورت پذیرد . </a:t>
            </a:r>
          </a:p>
          <a:p>
            <a:pPr marL="171450" indent="-171450" algn="justLow" rtl="1">
              <a:buFont typeface="Wingdings" panose="05000000000000000000" pitchFamily="2" charset="2"/>
              <a:buChar char="ü"/>
            </a:pPr>
            <a:r>
              <a:rPr lang="fa-IR" sz="1400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کسانی </a:t>
            </a:r>
            <a:r>
              <a:rPr lang="fa-IR" sz="1400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که با تصمیم‌های مدیریتی مواجه می‌شوند، معمولاً ترجیح می‌دهند از </a:t>
            </a:r>
            <a:r>
              <a:rPr lang="fa-IR" sz="1400" b="1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الگوها و ابزارها </a:t>
            </a:r>
            <a:r>
              <a:rPr lang="fa-IR" sz="1400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و مدل‌های شناخته شده برای تصمیم گیری استفاده کنند تا بعداً بتوانند از تصمیم‌های خود بهتر دفاع کنند.</a:t>
            </a:r>
            <a:endParaRPr lang="en-US" sz="1400" dirty="0">
              <a:solidFill>
                <a:srgbClr val="000000"/>
              </a:solidFill>
              <a:latin typeface="IRANSans"/>
              <a:cs typeface="B Nazanin" panose="00000400000000000000" pitchFamily="2" charset="-78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5937068" y="5338761"/>
            <a:ext cx="4948646" cy="1169551"/>
          </a:xfrm>
          <a:prstGeom prst="rect">
            <a:avLst/>
          </a:prstGeom>
          <a:ln w="28575">
            <a:solidFill>
              <a:srgbClr val="44B563"/>
            </a:solidFill>
          </a:ln>
        </p:spPr>
        <p:txBody>
          <a:bodyPr wrap="square">
            <a:spAutoFit/>
          </a:bodyPr>
          <a:lstStyle/>
          <a:p>
            <a:pPr marL="171450" indent="-171450" algn="r" rtl="1">
              <a:buFont typeface="Wingdings" panose="05000000000000000000" pitchFamily="2" charset="2"/>
              <a:buChar char="ü"/>
            </a:pPr>
            <a:r>
              <a:rPr lang="fa-IR" sz="1400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بجای یک تصمیم، با یک </a:t>
            </a:r>
            <a:r>
              <a:rPr lang="fa-IR" sz="1400" b="1" dirty="0">
                <a:solidFill>
                  <a:srgbClr val="FF0000"/>
                </a:solidFill>
                <a:latin typeface="IRANSans"/>
                <a:cs typeface="B Nazanin" panose="00000400000000000000" pitchFamily="2" charset="-78"/>
              </a:rPr>
              <a:t>زنجیره از تصمیم‌ها</a:t>
            </a:r>
            <a:r>
              <a:rPr lang="fa-IR" sz="1400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 مواجه هستید</a:t>
            </a:r>
          </a:p>
          <a:p>
            <a:pPr marL="171450" indent="-171450" algn="r" rtl="1">
              <a:buFont typeface="Wingdings" panose="05000000000000000000" pitchFamily="2" charset="2"/>
              <a:buChar char="ü"/>
            </a:pPr>
            <a:r>
              <a:rPr lang="fa-IR" sz="1400" b="1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پارامتر‌های تصمیم گیری طرف مقابل </a:t>
            </a:r>
            <a:r>
              <a:rPr lang="fa-IR" sz="1400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هم برای ما جهت تصمیم گیری اهمیت </a:t>
            </a:r>
            <a:r>
              <a:rPr lang="fa-IR" sz="1400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دارد.</a:t>
            </a:r>
          </a:p>
          <a:p>
            <a:pPr marL="171450" indent="-171450" algn="r" rtl="1">
              <a:buFont typeface="Wingdings" panose="05000000000000000000" pitchFamily="2" charset="2"/>
              <a:buChar char="ü"/>
            </a:pPr>
            <a:r>
              <a:rPr lang="fa-IR" sz="1400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تصمیم‌های مذاکره‌ای را در بسیاری از موارد نمی‌توان به تعویق انداخت. </a:t>
            </a:r>
            <a:endParaRPr lang="fa-IR" sz="1400" dirty="0" smtClean="0">
              <a:solidFill>
                <a:srgbClr val="000000"/>
              </a:solidFill>
              <a:latin typeface="IRANSans"/>
              <a:cs typeface="B Nazanin" panose="00000400000000000000" pitchFamily="2" charset="-78"/>
            </a:endParaRPr>
          </a:p>
          <a:p>
            <a:pPr marL="171450" indent="-171450" algn="r" rtl="1">
              <a:buFont typeface="Wingdings" panose="05000000000000000000" pitchFamily="2" charset="2"/>
              <a:buChar char="ü"/>
            </a:pPr>
            <a:r>
              <a:rPr lang="fa-IR" sz="1400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چاره‌ای </a:t>
            </a:r>
            <a:r>
              <a:rPr lang="fa-IR" sz="1400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ندارید جز اینکه در همان زمان، گزینه‌ی مناسب را انتخاب کنید. </a:t>
            </a:r>
            <a:endParaRPr lang="fa-IR" sz="1400" dirty="0" smtClean="0">
              <a:solidFill>
                <a:srgbClr val="000000"/>
              </a:solidFill>
              <a:latin typeface="IRANSans"/>
              <a:cs typeface="B Nazanin" panose="00000400000000000000" pitchFamily="2" charset="-78"/>
            </a:endParaRPr>
          </a:p>
          <a:p>
            <a:pPr algn="r" rtl="1"/>
            <a:r>
              <a:rPr lang="fa-IR" sz="1400" b="1" dirty="0" smtClean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( تصمیم گیری سریع )</a:t>
            </a:r>
            <a:endParaRPr lang="en-US" sz="1400" b="1" dirty="0">
              <a:solidFill>
                <a:srgbClr val="4372C2"/>
              </a:solidFill>
              <a:latin typeface="IRANSans"/>
              <a:cs typeface="B Nazanin" panose="00000400000000000000" pitchFamily="2" charset="-78"/>
            </a:endParaRPr>
          </a:p>
        </p:txBody>
      </p:sp>
      <p:sp>
        <p:nvSpPr>
          <p:cNvPr id="30" name="Rectangle 29"/>
          <p:cNvSpPr/>
          <p:nvPr/>
        </p:nvSpPr>
        <p:spPr>
          <a:xfrm>
            <a:off x="441370" y="4471738"/>
            <a:ext cx="4264436" cy="738664"/>
          </a:xfrm>
          <a:prstGeom prst="rect">
            <a:avLst/>
          </a:prstGeom>
          <a:ln w="28575">
            <a:solidFill>
              <a:srgbClr val="71AB47"/>
            </a:solidFill>
          </a:ln>
        </p:spPr>
        <p:txBody>
          <a:bodyPr wrap="square">
            <a:spAutoFit/>
          </a:bodyPr>
          <a:lstStyle/>
          <a:p>
            <a:pPr marL="171450" indent="-171450" algn="justLow" rtl="1">
              <a:buFont typeface="Wingdings" panose="05000000000000000000" pitchFamily="2" charset="2"/>
              <a:buChar char="ü"/>
            </a:pPr>
            <a:r>
              <a:rPr lang="fa-IR" sz="1400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یکی از </a:t>
            </a:r>
            <a:r>
              <a:rPr lang="fa-IR" sz="1400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اهداف </a:t>
            </a:r>
            <a:r>
              <a:rPr lang="fa-IR" sz="1400" b="1" dirty="0">
                <a:solidFill>
                  <a:schemeClr val="accent2"/>
                </a:solidFill>
                <a:latin typeface="IRANSans"/>
                <a:cs typeface="B Nazanin" panose="00000400000000000000" pitchFamily="2" charset="-78"/>
              </a:rPr>
              <a:t>تفکر سیستمی </a:t>
            </a:r>
            <a:r>
              <a:rPr lang="fa-IR" sz="1400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بهبود این نوع تصمیم ها می باشد . </a:t>
            </a:r>
          </a:p>
          <a:p>
            <a:pPr marL="171450" indent="-171450" algn="justLow" rtl="1">
              <a:buFont typeface="Wingdings" panose="05000000000000000000" pitchFamily="2" charset="2"/>
              <a:buChar char="ü"/>
            </a:pPr>
            <a:r>
              <a:rPr lang="fa-IR" sz="1400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استفاده </a:t>
            </a:r>
            <a:r>
              <a:rPr lang="fa-IR" sz="1400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از کیسه زباله پلاستیکی یا کاغذی، خاموش کردن یا نکردن یک </a:t>
            </a:r>
            <a:r>
              <a:rPr lang="fa-IR" sz="1400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لامپ</a:t>
            </a:r>
            <a:r>
              <a:rPr lang="en-US" sz="1400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، </a:t>
            </a:r>
            <a:r>
              <a:rPr lang="fa-IR" sz="1400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تنظیم کردن </a:t>
            </a:r>
            <a:r>
              <a:rPr lang="fa-IR" sz="1400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موتور و ... از این نوع تصمیم گیری ها    می باشند . </a:t>
            </a:r>
            <a:endParaRPr lang="en-US" sz="1400" dirty="0">
              <a:solidFill>
                <a:srgbClr val="000000"/>
              </a:solidFill>
              <a:latin typeface="IRANSans"/>
              <a:cs typeface="B Nazanin" panose="00000400000000000000" pitchFamily="2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14387637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4B6193-F9F1-4C54-838F-77350B9FC5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69125" y="425299"/>
            <a:ext cx="9875520" cy="709749"/>
          </a:xfrm>
        </p:spPr>
        <p:txBody>
          <a:bodyPr>
            <a:normAutofit fontScale="90000"/>
          </a:bodyPr>
          <a:lstStyle/>
          <a:p>
            <a:pPr algn="r"/>
            <a:r>
              <a:rPr lang="fa-IR" sz="4800" dirty="0" smtClean="0">
                <a:cs typeface="B Nazanin" panose="00000400000000000000" pitchFamily="2" charset="-78"/>
              </a:rPr>
              <a:t>مهارت تصمیم گیری</a:t>
            </a:r>
            <a:endParaRPr lang="en-US" sz="4800" dirty="0">
              <a:cs typeface="B Nazanin" panose="00000400000000000000" pitchFamily="2" charset="-78"/>
            </a:endParaRPr>
          </a:p>
        </p:txBody>
      </p:sp>
      <p:cxnSp>
        <p:nvCxnSpPr>
          <p:cNvPr id="8" name="Straight Connector 7"/>
          <p:cNvCxnSpPr/>
          <p:nvPr/>
        </p:nvCxnSpPr>
        <p:spPr>
          <a:xfrm>
            <a:off x="888274" y="1240973"/>
            <a:ext cx="10437223" cy="13063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30" name="Title 1">
            <a:extLst>
              <a:ext uri="{FF2B5EF4-FFF2-40B4-BE49-F238E27FC236}">
                <a16:creationId xmlns:a16="http://schemas.microsoft.com/office/drawing/2014/main" id="{BB4B6193-F9F1-4C54-838F-77350B9FC5DC}"/>
              </a:ext>
            </a:extLst>
          </p:cNvPr>
          <p:cNvSpPr txBox="1">
            <a:spLocks/>
          </p:cNvSpPr>
          <p:nvPr/>
        </p:nvSpPr>
        <p:spPr>
          <a:xfrm>
            <a:off x="1802674" y="1359961"/>
            <a:ext cx="9522823" cy="57371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rtl="1"/>
            <a:r>
              <a:rPr lang="fa-IR" sz="2400" dirty="0" smtClean="0">
                <a:solidFill>
                  <a:schemeClr val="tx1"/>
                </a:solidFill>
                <a:cs typeface="B Nazanin" panose="00000400000000000000" pitchFamily="2" charset="-78"/>
              </a:rPr>
              <a:t>تصمیم گیری یک </a:t>
            </a:r>
            <a:r>
              <a:rPr lang="fa-IR" sz="2400" b="1" dirty="0" smtClean="0">
                <a:solidFill>
                  <a:srgbClr val="FF0000"/>
                </a:solidFill>
                <a:cs typeface="B Nazanin" panose="00000400000000000000" pitchFamily="2" charset="-78"/>
              </a:rPr>
              <a:t>مهارت</a:t>
            </a:r>
            <a:r>
              <a:rPr lang="fa-IR" sz="2400" dirty="0" smtClean="0">
                <a:solidFill>
                  <a:schemeClr val="tx1"/>
                </a:solidFill>
                <a:cs typeface="B Nazanin" panose="00000400000000000000" pitchFamily="2" charset="-78"/>
              </a:rPr>
              <a:t> است . ما با تجربه و تمرین و توجه</a:t>
            </a:r>
            <a:r>
              <a:rPr lang="en-US" sz="2400" dirty="0" smtClean="0">
                <a:solidFill>
                  <a:schemeClr val="tx1"/>
                </a:solidFill>
                <a:cs typeface="B Nazanin" panose="00000400000000000000" pitchFamily="2" charset="-78"/>
              </a:rPr>
              <a:t> </a:t>
            </a:r>
            <a:r>
              <a:rPr lang="fa-IR" sz="2400" dirty="0" smtClean="0">
                <a:solidFill>
                  <a:schemeClr val="tx1"/>
                </a:solidFill>
                <a:cs typeface="B Nazanin" panose="00000400000000000000" pitchFamily="2" charset="-78"/>
              </a:rPr>
              <a:t>، تصمیم گیری هایمان بهبود پیدا میکند .  </a:t>
            </a:r>
            <a:endParaRPr lang="en-US" sz="2400" dirty="0">
              <a:solidFill>
                <a:schemeClr val="tx1"/>
              </a:solidFill>
              <a:cs typeface="B Nazanin" panose="00000400000000000000" pitchFamily="2" charset="-78"/>
            </a:endParaRP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4959" y="2872816"/>
            <a:ext cx="981075" cy="1524000"/>
          </a:xfrm>
          <a:prstGeom prst="rect">
            <a:avLst/>
          </a:prstGeom>
        </p:spPr>
      </p:pic>
      <p:sp>
        <p:nvSpPr>
          <p:cNvPr id="31" name="Title 1">
            <a:extLst>
              <a:ext uri="{FF2B5EF4-FFF2-40B4-BE49-F238E27FC236}">
                <a16:creationId xmlns:a16="http://schemas.microsoft.com/office/drawing/2014/main" id="{BB4B6193-F9F1-4C54-838F-77350B9FC5DC}"/>
              </a:ext>
            </a:extLst>
          </p:cNvPr>
          <p:cNvSpPr txBox="1">
            <a:spLocks/>
          </p:cNvSpPr>
          <p:nvPr/>
        </p:nvSpPr>
        <p:spPr>
          <a:xfrm>
            <a:off x="1033662" y="1923087"/>
            <a:ext cx="7842340" cy="50509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fa-IR" sz="1800" dirty="0" smtClean="0">
                <a:solidFill>
                  <a:schemeClr val="accent4">
                    <a:lumMod val="75000"/>
                  </a:schemeClr>
                </a:solidFill>
                <a:cs typeface="B Nazanin" panose="00000400000000000000" pitchFamily="2" charset="-78"/>
              </a:rPr>
              <a:t>تصمیماتی که </a:t>
            </a:r>
            <a:r>
              <a:rPr lang="fa-IR" sz="1800" b="1" dirty="0" smtClean="0">
                <a:solidFill>
                  <a:schemeClr val="accent4">
                    <a:lumMod val="75000"/>
                  </a:schemeClr>
                </a:solidFill>
                <a:cs typeface="B Nazanin" panose="00000400000000000000" pitchFamily="2" charset="-78"/>
              </a:rPr>
              <a:t>قادر به بیان آنها نیستیم (سخت بیان میکنیم ) </a:t>
            </a:r>
            <a:r>
              <a:rPr lang="fa-IR" sz="1800" dirty="0" smtClean="0">
                <a:solidFill>
                  <a:schemeClr val="accent4">
                    <a:lumMod val="75000"/>
                  </a:schemeClr>
                </a:solidFill>
                <a:cs typeface="B Nazanin" panose="00000400000000000000" pitchFamily="2" charset="-78"/>
              </a:rPr>
              <a:t>/ </a:t>
            </a:r>
            <a:r>
              <a:rPr lang="fa-IR" sz="1800" b="1" dirty="0" smtClean="0">
                <a:solidFill>
                  <a:schemeClr val="accent4">
                    <a:lumMod val="75000"/>
                  </a:schemeClr>
                </a:solidFill>
                <a:cs typeface="B Nazanin" panose="00000400000000000000" pitchFamily="2" charset="-78"/>
              </a:rPr>
              <a:t>شهودی</a:t>
            </a:r>
            <a:r>
              <a:rPr lang="fa-IR" sz="1800" dirty="0" smtClean="0">
                <a:solidFill>
                  <a:schemeClr val="accent4">
                    <a:lumMod val="75000"/>
                  </a:schemeClr>
                </a:solidFill>
                <a:cs typeface="B Nazanin" panose="00000400000000000000" pitchFamily="2" charset="-78"/>
              </a:rPr>
              <a:t> هستند / از ما زمان و انرژی </a:t>
            </a:r>
            <a:r>
              <a:rPr lang="fa-IR" sz="1800" dirty="0">
                <a:solidFill>
                  <a:schemeClr val="accent4">
                    <a:lumMod val="75000"/>
                  </a:schemeClr>
                </a:solidFill>
                <a:cs typeface="B Nazanin" panose="00000400000000000000" pitchFamily="2" charset="-78"/>
              </a:rPr>
              <a:t>نمیگیرند</a:t>
            </a:r>
            <a:r>
              <a:rPr lang="fa-IR" sz="1800" dirty="0" smtClean="0">
                <a:solidFill>
                  <a:schemeClr val="accent4">
                    <a:lumMod val="75000"/>
                  </a:schemeClr>
                </a:solidFill>
                <a:cs typeface="B Nazanin" panose="00000400000000000000" pitchFamily="2" charset="-78"/>
              </a:rPr>
              <a:t>  </a:t>
            </a:r>
            <a:endParaRPr lang="en-US" sz="1800" dirty="0">
              <a:solidFill>
                <a:schemeClr val="accent4">
                  <a:lumMod val="75000"/>
                </a:schemeClr>
              </a:solidFill>
              <a:cs typeface="B Nazanin" panose="00000400000000000000" pitchFamily="2" charset="-78"/>
            </a:endParaRP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62934" y="3083619"/>
            <a:ext cx="1352550" cy="10668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 rot="16200000">
            <a:off x="8617653" y="2692392"/>
            <a:ext cx="981359" cy="307777"/>
          </a:xfrm>
          <a:prstGeom prst="rect">
            <a:avLst/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wrap="none">
            <a:spAutoFit/>
          </a:bodyPr>
          <a:lstStyle/>
          <a:p>
            <a: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System 1 </a:t>
            </a:r>
          </a:p>
        </p:txBody>
      </p:sp>
      <p:sp>
        <p:nvSpPr>
          <p:cNvPr id="32" name="Rectangle 31"/>
          <p:cNvSpPr/>
          <p:nvPr/>
        </p:nvSpPr>
        <p:spPr>
          <a:xfrm rot="16200000">
            <a:off x="8625347" y="4219650"/>
            <a:ext cx="965970" cy="307777"/>
          </a:xfrm>
          <a:prstGeom prst="rect">
            <a:avLst/>
          </a:prstGeom>
        </p:spPr>
        <p:style>
          <a:lnRef idx="1">
            <a:schemeClr val="accent4"/>
          </a:lnRef>
          <a:fillRef idx="3">
            <a:schemeClr val="accent4"/>
          </a:fillRef>
          <a:effectRef idx="2">
            <a:schemeClr val="accent4"/>
          </a:effectRef>
          <a:fontRef idx="minor">
            <a:schemeClr val="lt1"/>
          </a:fontRef>
        </p:style>
        <p:txBody>
          <a:bodyPr wrap="none">
            <a:spAutoFit/>
          </a:bodyPr>
          <a:lstStyle/>
          <a:p>
            <a:r>
              <a:rPr lang="en-US" sz="1400" dirty="0" smtClean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System 2 </a:t>
            </a:r>
            <a:endParaRPr lang="en-US" sz="14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33" name="Title 1">
            <a:extLst>
              <a:ext uri="{FF2B5EF4-FFF2-40B4-BE49-F238E27FC236}">
                <a16:creationId xmlns:a16="http://schemas.microsoft.com/office/drawing/2014/main" id="{BB4B6193-F9F1-4C54-838F-77350B9FC5DC}"/>
              </a:ext>
            </a:extLst>
          </p:cNvPr>
          <p:cNvSpPr txBox="1">
            <a:spLocks/>
          </p:cNvSpPr>
          <p:nvPr/>
        </p:nvSpPr>
        <p:spPr>
          <a:xfrm>
            <a:off x="956982" y="2355528"/>
            <a:ext cx="7842340" cy="1271560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285750" indent="-285750" algn="r" rtl="1">
              <a:buFont typeface="Arial" panose="020B0604020202020204" pitchFamily="34" charset="0"/>
              <a:buChar char="•"/>
            </a:pPr>
            <a:r>
              <a:rPr lang="fa-IR" sz="1600" dirty="0" smtClean="0">
                <a:solidFill>
                  <a:schemeClr val="tx1"/>
                </a:solidFill>
                <a:cs typeface="B Nazanin" panose="00000400000000000000" pitchFamily="2" charset="-78"/>
              </a:rPr>
              <a:t>این دفعه کدان طعم بستنی رو برای خوردن انتخاب کنم؟</a:t>
            </a:r>
          </a:p>
          <a:p>
            <a:pPr marL="285750" indent="-285750" algn="r" rtl="1">
              <a:buFont typeface="Arial" panose="020B0604020202020204" pitchFamily="34" charset="0"/>
              <a:buChar char="•"/>
            </a:pPr>
            <a:r>
              <a:rPr lang="fa-IR" sz="1600" dirty="0" smtClean="0">
                <a:solidFill>
                  <a:schemeClr val="tx1"/>
                </a:solidFill>
                <a:cs typeface="B Nazanin" panose="00000400000000000000" pitchFamily="2" charset="-78"/>
              </a:rPr>
              <a:t>هر روز صبح : امروز سر کار بروم یا نه ؟ </a:t>
            </a:r>
          </a:p>
          <a:p>
            <a:pPr marL="285750" indent="-285750" algn="r" rtl="1">
              <a:buFont typeface="Arial" panose="020B0604020202020204" pitchFamily="34" charset="0"/>
              <a:buChar char="•"/>
            </a:pPr>
            <a:r>
              <a:rPr lang="fa-IR" sz="1600" dirty="0" smtClean="0">
                <a:solidFill>
                  <a:schemeClr val="tx1"/>
                </a:solidFill>
                <a:cs typeface="B Nazanin" panose="00000400000000000000" pitchFamily="2" charset="-78"/>
              </a:rPr>
              <a:t>برای رفتن به سر کار از این کوچه بگذرم یا از اون کوچه عبور کنم ؟ </a:t>
            </a:r>
          </a:p>
          <a:p>
            <a:pPr marL="285750" indent="-285750" algn="r" rtl="1">
              <a:buFont typeface="Arial" panose="020B0604020202020204" pitchFamily="34" charset="0"/>
              <a:buChar char="•"/>
            </a:pPr>
            <a:r>
              <a:rPr lang="fa-IR" sz="1600" dirty="0" smtClean="0">
                <a:solidFill>
                  <a:schemeClr val="tx1"/>
                </a:solidFill>
                <a:cs typeface="B Nazanin" panose="00000400000000000000" pitchFamily="2" charset="-78"/>
              </a:rPr>
              <a:t>در رانندگی : الان ترمز بکنم یا نکنم ؟ </a:t>
            </a:r>
          </a:p>
          <a:p>
            <a:pPr marL="285750" indent="-285750" algn="r" rtl="1">
              <a:buFont typeface="Arial" panose="020B0604020202020204" pitchFamily="34" charset="0"/>
              <a:buChar char="•"/>
            </a:pPr>
            <a:r>
              <a:rPr lang="fa-IR" sz="1600" dirty="0" smtClean="0">
                <a:solidFill>
                  <a:schemeClr val="tx1"/>
                </a:solidFill>
                <a:cs typeface="B Nazanin" panose="00000400000000000000" pitchFamily="2" charset="-78"/>
              </a:rPr>
              <a:t>برای یک متخصص حرفه ای نرم افزار : معماری سیستم رو قبل از پیاده سازی تعیین بکنم یا نکنم ؟ </a:t>
            </a:r>
            <a:endParaRPr lang="en-US" sz="1600" dirty="0">
              <a:solidFill>
                <a:schemeClr val="tx1"/>
              </a:solidFill>
              <a:cs typeface="B Nazanin" panose="00000400000000000000" pitchFamily="2" charset="-78"/>
            </a:endParaRPr>
          </a:p>
        </p:txBody>
      </p:sp>
      <p:sp>
        <p:nvSpPr>
          <p:cNvPr id="34" name="Title 1">
            <a:extLst>
              <a:ext uri="{FF2B5EF4-FFF2-40B4-BE49-F238E27FC236}">
                <a16:creationId xmlns:a16="http://schemas.microsoft.com/office/drawing/2014/main" id="{BB4B6193-F9F1-4C54-838F-77350B9FC5DC}"/>
              </a:ext>
            </a:extLst>
          </p:cNvPr>
          <p:cNvSpPr txBox="1">
            <a:spLocks/>
          </p:cNvSpPr>
          <p:nvPr/>
        </p:nvSpPr>
        <p:spPr>
          <a:xfrm>
            <a:off x="956982" y="3660358"/>
            <a:ext cx="7842340" cy="50509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fa-IR" sz="1800" dirty="0" smtClean="0">
                <a:solidFill>
                  <a:schemeClr val="accent4">
                    <a:lumMod val="75000"/>
                  </a:schemeClr>
                </a:solidFill>
                <a:cs typeface="B Nazanin" panose="00000400000000000000" pitchFamily="2" charset="-78"/>
              </a:rPr>
              <a:t>تصمیماتی که </a:t>
            </a:r>
            <a:r>
              <a:rPr lang="fa-IR" sz="1800" b="1" dirty="0" smtClean="0">
                <a:solidFill>
                  <a:schemeClr val="accent4">
                    <a:lumMod val="75000"/>
                  </a:schemeClr>
                </a:solidFill>
                <a:cs typeface="B Nazanin" panose="00000400000000000000" pitchFamily="2" charset="-78"/>
              </a:rPr>
              <a:t>دلایل آن را مشخصا میدانیم و بیان میکنیم </a:t>
            </a:r>
            <a:r>
              <a:rPr lang="fa-IR" sz="1800" dirty="0" smtClean="0">
                <a:solidFill>
                  <a:schemeClr val="accent4">
                    <a:lumMod val="75000"/>
                  </a:schemeClr>
                </a:solidFill>
                <a:cs typeface="B Nazanin" panose="00000400000000000000" pitchFamily="2" charset="-78"/>
              </a:rPr>
              <a:t>/ از ما زمان و انرژی زیاد میگیرند   </a:t>
            </a:r>
            <a:endParaRPr lang="en-US" sz="1800" dirty="0">
              <a:solidFill>
                <a:schemeClr val="accent4">
                  <a:lumMod val="75000"/>
                </a:schemeClr>
              </a:solidFill>
              <a:cs typeface="B Nazanin" panose="00000400000000000000" pitchFamily="2" charset="-78"/>
            </a:endParaRPr>
          </a:p>
        </p:txBody>
      </p:sp>
      <p:sp>
        <p:nvSpPr>
          <p:cNvPr id="35" name="Title 1">
            <a:extLst>
              <a:ext uri="{FF2B5EF4-FFF2-40B4-BE49-F238E27FC236}">
                <a16:creationId xmlns:a16="http://schemas.microsoft.com/office/drawing/2014/main" id="{BB4B6193-F9F1-4C54-838F-77350B9FC5DC}"/>
              </a:ext>
            </a:extLst>
          </p:cNvPr>
          <p:cNvSpPr txBox="1">
            <a:spLocks/>
          </p:cNvSpPr>
          <p:nvPr/>
        </p:nvSpPr>
        <p:spPr>
          <a:xfrm>
            <a:off x="956982" y="4128441"/>
            <a:ext cx="7842340" cy="1271560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285750" indent="-285750" algn="r" rtl="1">
              <a:buFont typeface="Arial" panose="020B0604020202020204" pitchFamily="34" charset="0"/>
              <a:buChar char="•"/>
            </a:pPr>
            <a:r>
              <a:rPr lang="fa-IR" sz="1600" dirty="0" smtClean="0">
                <a:solidFill>
                  <a:schemeClr val="tx1"/>
                </a:solidFill>
                <a:cs typeface="B Nazanin" panose="00000400000000000000" pitchFamily="2" charset="-78"/>
              </a:rPr>
              <a:t>چرا این رشته دانشگاهی رو انتخاب کردم ؟ </a:t>
            </a:r>
          </a:p>
          <a:p>
            <a:pPr marL="285750" indent="-285750" algn="r" rtl="1">
              <a:buFont typeface="Arial" panose="020B0604020202020204" pitchFamily="34" charset="0"/>
              <a:buChar char="•"/>
            </a:pPr>
            <a:r>
              <a:rPr lang="fa-IR" sz="1600" dirty="0" smtClean="0">
                <a:solidFill>
                  <a:schemeClr val="tx1"/>
                </a:solidFill>
                <a:cs typeface="B Nazanin" panose="00000400000000000000" pitchFamily="2" charset="-78"/>
              </a:rPr>
              <a:t>دلایل انتخاب همسرم چه بوده ؟ </a:t>
            </a:r>
          </a:p>
          <a:p>
            <a:pPr marL="285750" indent="-285750" algn="r" rtl="1">
              <a:buFont typeface="Arial" panose="020B0604020202020204" pitchFamily="34" charset="0"/>
              <a:buChar char="•"/>
            </a:pPr>
            <a:r>
              <a:rPr lang="fa-IR" sz="1600" dirty="0" smtClean="0">
                <a:solidFill>
                  <a:schemeClr val="tx1"/>
                </a:solidFill>
                <a:cs typeface="B Nazanin" panose="00000400000000000000" pitchFamily="2" charset="-78"/>
              </a:rPr>
              <a:t>چرا امروز تصمیم گرفتم سر کار نروم ؟ </a:t>
            </a:r>
          </a:p>
          <a:p>
            <a:pPr marL="285750" indent="-285750" algn="r" rtl="1">
              <a:buFont typeface="Arial" panose="020B0604020202020204" pitchFamily="34" charset="0"/>
              <a:buChar char="•"/>
            </a:pPr>
            <a:r>
              <a:rPr lang="fa-IR" sz="1600" dirty="0" smtClean="0">
                <a:solidFill>
                  <a:schemeClr val="tx1"/>
                </a:solidFill>
                <a:cs typeface="B Nazanin" panose="00000400000000000000" pitchFamily="2" charset="-78"/>
              </a:rPr>
              <a:t>کدوم معماری نرم افزار برای سیستم من مناسب است ؟ </a:t>
            </a:r>
          </a:p>
          <a:p>
            <a:pPr marL="285750" indent="-285750" algn="r" rtl="1">
              <a:buFont typeface="Arial" panose="020B0604020202020204" pitchFamily="34" charset="0"/>
              <a:buChar char="•"/>
            </a:pPr>
            <a:r>
              <a:rPr lang="fa-IR" sz="1600" dirty="0" smtClean="0">
                <a:solidFill>
                  <a:schemeClr val="tx1"/>
                </a:solidFill>
                <a:cs typeface="B Nazanin" panose="00000400000000000000" pitchFamily="2" charset="-78"/>
              </a:rPr>
              <a:t>برای یک متخصص کم تجربه : آیا باید زمان خودم رو برای تعیین معماری سیستم صرف کنم ؟ </a:t>
            </a:r>
            <a:endParaRPr lang="en-US" sz="1600" dirty="0">
              <a:solidFill>
                <a:schemeClr val="tx1"/>
              </a:solidFill>
              <a:cs typeface="B Nazanin" panose="00000400000000000000" pitchFamily="2" charset="-78"/>
            </a:endParaRPr>
          </a:p>
        </p:txBody>
      </p:sp>
      <p:sp>
        <p:nvSpPr>
          <p:cNvPr id="36" name="Title 1">
            <a:extLst>
              <a:ext uri="{FF2B5EF4-FFF2-40B4-BE49-F238E27FC236}">
                <a16:creationId xmlns:a16="http://schemas.microsoft.com/office/drawing/2014/main" id="{BB4B6193-F9F1-4C54-838F-77350B9FC5DC}"/>
              </a:ext>
            </a:extLst>
          </p:cNvPr>
          <p:cNvSpPr txBox="1">
            <a:spLocks/>
          </p:cNvSpPr>
          <p:nvPr/>
        </p:nvSpPr>
        <p:spPr>
          <a:xfrm>
            <a:off x="147086" y="5561175"/>
            <a:ext cx="11511513" cy="515917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285750" indent="-285750" algn="r" rtl="1">
              <a:buFont typeface="Wingdings" panose="05000000000000000000" pitchFamily="2" charset="2"/>
              <a:buChar char="ü"/>
            </a:pPr>
            <a:r>
              <a:rPr lang="fa-IR" sz="1800" dirty="0" smtClean="0">
                <a:solidFill>
                  <a:schemeClr val="tx1"/>
                </a:solidFill>
                <a:cs typeface="B Nazanin" panose="00000400000000000000" pitchFamily="2" charset="-78"/>
              </a:rPr>
              <a:t>ما بعضا مواردی رو که باید از </a:t>
            </a:r>
            <a:r>
              <a:rPr lang="en-US" sz="1800" dirty="0" smtClean="0">
                <a:solidFill>
                  <a:schemeClr val="tx1"/>
                </a:solidFill>
                <a:cs typeface="B Nazanin" panose="00000400000000000000" pitchFamily="2" charset="-78"/>
              </a:rPr>
              <a:t>System  2 </a:t>
            </a:r>
            <a:r>
              <a:rPr lang="fa-IR" sz="1800" dirty="0" smtClean="0">
                <a:solidFill>
                  <a:schemeClr val="tx1"/>
                </a:solidFill>
                <a:cs typeface="B Nazanin" panose="00000400000000000000" pitchFamily="2" charset="-78"/>
              </a:rPr>
              <a:t> مغز استفاده کنیم از </a:t>
            </a:r>
            <a:r>
              <a:rPr lang="en-US" sz="1800" dirty="0" smtClean="0">
                <a:solidFill>
                  <a:schemeClr val="tx1"/>
                </a:solidFill>
                <a:cs typeface="B Nazanin" panose="00000400000000000000" pitchFamily="2" charset="-78"/>
              </a:rPr>
              <a:t>System 1 </a:t>
            </a:r>
            <a:r>
              <a:rPr lang="fa-IR" sz="1800" dirty="0" smtClean="0">
                <a:solidFill>
                  <a:schemeClr val="tx1"/>
                </a:solidFill>
                <a:cs typeface="B Nazanin" panose="00000400000000000000" pitchFamily="2" charset="-78"/>
              </a:rPr>
              <a:t> استفاده میکنیم و بعدا براش دلیل میتراشیم .  </a:t>
            </a:r>
            <a:endParaRPr lang="en-US" sz="1800" dirty="0">
              <a:solidFill>
                <a:schemeClr val="tx1"/>
              </a:solidFill>
              <a:cs typeface="B Nazanin" panose="00000400000000000000" pitchFamily="2" charset="-78"/>
            </a:endParaRPr>
          </a:p>
        </p:txBody>
      </p:sp>
      <p:sp>
        <p:nvSpPr>
          <p:cNvPr id="37" name="Title 1">
            <a:extLst>
              <a:ext uri="{FF2B5EF4-FFF2-40B4-BE49-F238E27FC236}">
                <a16:creationId xmlns:a16="http://schemas.microsoft.com/office/drawing/2014/main" id="{BB4B6193-F9F1-4C54-838F-77350B9FC5DC}"/>
              </a:ext>
            </a:extLst>
          </p:cNvPr>
          <p:cNvSpPr txBox="1">
            <a:spLocks/>
          </p:cNvSpPr>
          <p:nvPr/>
        </p:nvSpPr>
        <p:spPr>
          <a:xfrm>
            <a:off x="147085" y="6048338"/>
            <a:ext cx="11511513" cy="515917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285750" indent="-285750" algn="r" rtl="1">
              <a:buFont typeface="Wingdings" panose="05000000000000000000" pitchFamily="2" charset="2"/>
              <a:buChar char="ü"/>
            </a:pPr>
            <a:r>
              <a:rPr lang="fa-IR" sz="1800" dirty="0" smtClean="0">
                <a:solidFill>
                  <a:schemeClr val="tx1"/>
                </a:solidFill>
                <a:cs typeface="B Nazanin" panose="00000400000000000000" pitchFamily="2" charset="-78"/>
              </a:rPr>
              <a:t>بعضی موارد تصمیم گیری فقط برای افراد با تجربه بالا از جنس </a:t>
            </a:r>
            <a:r>
              <a:rPr lang="en-US" sz="1800" dirty="0" smtClean="0">
                <a:solidFill>
                  <a:schemeClr val="tx1"/>
                </a:solidFill>
                <a:cs typeface="B Nazanin" panose="00000400000000000000" pitchFamily="2" charset="-78"/>
              </a:rPr>
              <a:t> System 1</a:t>
            </a:r>
            <a:r>
              <a:rPr lang="fa-IR" sz="1800" dirty="0" smtClean="0">
                <a:solidFill>
                  <a:schemeClr val="tx1"/>
                </a:solidFill>
                <a:cs typeface="B Nazanin" panose="00000400000000000000" pitchFamily="2" charset="-78"/>
              </a:rPr>
              <a:t> است. (</a:t>
            </a:r>
            <a:r>
              <a:rPr lang="fa-IR" sz="1800" b="1" dirty="0">
                <a:solidFill>
                  <a:schemeClr val="tx1"/>
                </a:solidFill>
                <a:cs typeface="B Nazanin" panose="00000400000000000000" pitchFamily="2" charset="-78"/>
              </a:rPr>
              <a:t>آنچه جوان در آینه بیند ....  پیر در خشت خام بیند</a:t>
            </a:r>
            <a:r>
              <a:rPr lang="fa-IR" sz="1800" dirty="0" smtClean="0">
                <a:solidFill>
                  <a:schemeClr val="tx1"/>
                </a:solidFill>
                <a:cs typeface="B Nazanin" panose="00000400000000000000" pitchFamily="2" charset="-78"/>
              </a:rPr>
              <a:t> )</a:t>
            </a:r>
            <a:endParaRPr lang="en-US" sz="1800" b="1" dirty="0">
              <a:solidFill>
                <a:schemeClr val="tx1"/>
              </a:solidFill>
              <a:cs typeface="B Nazanin" panose="00000400000000000000" pitchFamily="2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219691264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4B6193-F9F1-4C54-838F-77350B9FC5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69125" y="425299"/>
            <a:ext cx="9875520" cy="709749"/>
          </a:xfrm>
        </p:spPr>
        <p:txBody>
          <a:bodyPr>
            <a:normAutofit fontScale="90000"/>
          </a:bodyPr>
          <a:lstStyle/>
          <a:p>
            <a:pPr algn="r"/>
            <a:r>
              <a:rPr lang="fa-IR" sz="4800" dirty="0" smtClean="0">
                <a:cs typeface="B Nazanin" panose="00000400000000000000" pitchFamily="2" charset="-78"/>
              </a:rPr>
              <a:t>تصمیم درست / نتیجه نامطلوب  </a:t>
            </a:r>
            <a:endParaRPr lang="en-US" sz="4800" dirty="0">
              <a:cs typeface="B Nazanin" panose="00000400000000000000" pitchFamily="2" charset="-78"/>
            </a:endParaRPr>
          </a:p>
        </p:txBody>
      </p:sp>
      <p:cxnSp>
        <p:nvCxnSpPr>
          <p:cNvPr id="8" name="Straight Connector 7"/>
          <p:cNvCxnSpPr/>
          <p:nvPr/>
        </p:nvCxnSpPr>
        <p:spPr>
          <a:xfrm>
            <a:off x="888274" y="1240973"/>
            <a:ext cx="10437223" cy="13063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3" name="Rectangle 2"/>
          <p:cNvSpPr/>
          <p:nvPr/>
        </p:nvSpPr>
        <p:spPr>
          <a:xfrm>
            <a:off x="4034244" y="1581835"/>
            <a:ext cx="7503886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 algn="r" rtl="1">
              <a:buFont typeface="Wingdings" panose="05000000000000000000" pitchFamily="2" charset="2"/>
              <a:buChar char="ü"/>
            </a:pPr>
            <a:r>
              <a:rPr lang="fa-IR" dirty="0">
                <a:cs typeface="B Nazanin" panose="00000400000000000000" pitchFamily="2" charset="-78"/>
              </a:rPr>
              <a:t>یکی از اشتباهات ذهنی ما انسان‌ها این است که </a:t>
            </a:r>
            <a:r>
              <a:rPr lang="fa-IR" b="1" dirty="0">
                <a:cs typeface="B Nazanin" panose="00000400000000000000" pitchFamily="2" charset="-78"/>
              </a:rPr>
              <a:t>فرایند تصمیم </a:t>
            </a:r>
            <a:r>
              <a:rPr lang="fa-IR" dirty="0">
                <a:cs typeface="B Nazanin" panose="00000400000000000000" pitchFamily="2" charset="-78"/>
              </a:rPr>
              <a:t>را با </a:t>
            </a:r>
            <a:r>
              <a:rPr lang="fa-IR" b="1" dirty="0">
                <a:cs typeface="B Nazanin" panose="00000400000000000000" pitchFamily="2" charset="-78"/>
              </a:rPr>
              <a:t>نتیجه تصمیم </a:t>
            </a:r>
            <a:r>
              <a:rPr lang="fa-IR" dirty="0">
                <a:cs typeface="B Nazanin" panose="00000400000000000000" pitchFamily="2" charset="-78"/>
              </a:rPr>
              <a:t>اشتباه می‌گیریم</a:t>
            </a:r>
            <a:endParaRPr lang="en-US" dirty="0">
              <a:cs typeface="B Nazanin" panose="00000400000000000000" pitchFamily="2" charset="-78"/>
            </a:endParaRPr>
          </a:p>
        </p:txBody>
      </p:sp>
      <p:grpSp>
        <p:nvGrpSpPr>
          <p:cNvPr id="10" name="Group 9"/>
          <p:cNvGrpSpPr/>
          <p:nvPr/>
        </p:nvGrpSpPr>
        <p:grpSpPr>
          <a:xfrm>
            <a:off x="391438" y="1479397"/>
            <a:ext cx="3642807" cy="520030"/>
            <a:chOff x="391438" y="1531283"/>
            <a:chExt cx="3642807" cy="446332"/>
          </a:xfrm>
        </p:grpSpPr>
        <p:sp>
          <p:nvSpPr>
            <p:cNvPr id="7" name="Rectangle 6"/>
            <p:cNvSpPr/>
            <p:nvPr/>
          </p:nvSpPr>
          <p:spPr>
            <a:xfrm>
              <a:off x="391887" y="1531283"/>
              <a:ext cx="3642358" cy="446332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Rectangle 3"/>
            <p:cNvSpPr/>
            <p:nvPr/>
          </p:nvSpPr>
          <p:spPr>
            <a:xfrm>
              <a:off x="391438" y="1639891"/>
              <a:ext cx="1632178" cy="276999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fa-IR" sz="1200" b="1" dirty="0">
                  <a:cs typeface="B Nazanin" panose="00000400000000000000" pitchFamily="2" charset="-78"/>
                </a:rPr>
                <a:t>نتیجه </a:t>
              </a:r>
              <a:r>
                <a:rPr lang="fa-IR" sz="1200" b="1" dirty="0" smtClean="0">
                  <a:cs typeface="B Nazanin" panose="00000400000000000000" pitchFamily="2" charset="-78"/>
                </a:rPr>
                <a:t>مطلوب تصمیم گیری </a:t>
              </a:r>
              <a:endParaRPr lang="en-US" sz="1200" dirty="0"/>
            </a:p>
          </p:txBody>
        </p:sp>
        <p:sp>
          <p:nvSpPr>
            <p:cNvPr id="5" name="Rectangle 4"/>
            <p:cNvSpPr/>
            <p:nvPr/>
          </p:nvSpPr>
          <p:spPr>
            <a:xfrm>
              <a:off x="2367192" y="1647539"/>
              <a:ext cx="1665841" cy="276999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fa-IR" sz="1200" b="1" dirty="0" smtClean="0">
                  <a:cs typeface="B Nazanin" panose="00000400000000000000" pitchFamily="2" charset="-78"/>
                </a:rPr>
                <a:t>فرایند درست  تصمیم گیری </a:t>
              </a:r>
              <a:endParaRPr lang="en-US" sz="1200" dirty="0"/>
            </a:p>
          </p:txBody>
        </p:sp>
        <p:pic>
          <p:nvPicPr>
            <p:cNvPr id="6" name="Picture 5"/>
            <p:cNvPicPr>
              <a:picLocks noChangeAspect="1"/>
            </p:cNvPicPr>
            <p:nvPr/>
          </p:nvPicPr>
          <p:blipFill rotWithShape="1">
            <a:blip r:embed="rId2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rcRect l="20895" t="7747" r="17893" b="11115"/>
            <a:stretch/>
          </p:blipFill>
          <p:spPr>
            <a:xfrm>
              <a:off x="2049048" y="1651559"/>
              <a:ext cx="319314" cy="265277"/>
            </a:xfrm>
            <a:prstGeom prst="rect">
              <a:avLst/>
            </a:prstGeom>
          </p:spPr>
        </p:pic>
      </p:grpSp>
      <p:sp>
        <p:nvSpPr>
          <p:cNvPr id="9" name="Rectangle 8"/>
          <p:cNvSpPr/>
          <p:nvPr/>
        </p:nvSpPr>
        <p:spPr>
          <a:xfrm>
            <a:off x="1393371" y="2079786"/>
            <a:ext cx="10144759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 algn="r" rtl="1">
              <a:buFont typeface="Wingdings" panose="05000000000000000000" pitchFamily="2" charset="2"/>
              <a:buChar char="ü"/>
            </a:pPr>
            <a:r>
              <a:rPr lang="fa-IR" dirty="0" smtClean="0">
                <a:cs typeface="B Nazanin" panose="00000400000000000000" pitchFamily="2" charset="-78"/>
              </a:rPr>
              <a:t>هیچ تظمینی وجود ندارد که طی کردن درست فرآیند تصمیم گیری به نتیجه مطلوب و دوست داشتنی ما منتهی شود !</a:t>
            </a:r>
            <a:endParaRPr lang="en-US" dirty="0">
              <a:cs typeface="B Nazanin" panose="00000400000000000000" pitchFamily="2" charset="-78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391438" y="2694637"/>
            <a:ext cx="10963087" cy="369332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r" rtl="1"/>
            <a:r>
              <a:rPr lang="fa-IR" dirty="0">
                <a:cs typeface="B Nazanin" panose="00000400000000000000" pitchFamily="2" charset="-78"/>
              </a:rPr>
              <a:t>در سه حالت ممکن است </a:t>
            </a:r>
            <a:r>
              <a:rPr lang="fa-IR" b="1" dirty="0">
                <a:cs typeface="B Nazanin" panose="00000400000000000000" pitchFamily="2" charset="-78"/>
              </a:rPr>
              <a:t>نتیجه تصمیم درست، برای ما مطلوب و دوست‌داشتنی </a:t>
            </a:r>
            <a:r>
              <a:rPr lang="fa-IR" b="1" dirty="0" smtClean="0">
                <a:cs typeface="B Nazanin" panose="00000400000000000000" pitchFamily="2" charset="-78"/>
              </a:rPr>
              <a:t>نباشد . </a:t>
            </a:r>
            <a:endParaRPr lang="en-US" b="1" dirty="0">
              <a:cs typeface="B Nazanin" panose="00000400000000000000" pitchFamily="2" charset="-78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3465286" y="2974090"/>
            <a:ext cx="7985760" cy="206595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 algn="r" rtl="1">
              <a:lnSpc>
                <a:spcPct val="250000"/>
              </a:lnSpc>
              <a:buFont typeface="Wingdings" panose="05000000000000000000" pitchFamily="2" charset="2"/>
              <a:buChar char="v"/>
            </a:pPr>
            <a:r>
              <a:rPr lang="fa-IR" b="1" dirty="0">
                <a:solidFill>
                  <a:srgbClr val="111111"/>
                </a:solidFill>
                <a:latin typeface="IRANSans"/>
                <a:cs typeface="B Nazanin" panose="00000400000000000000" pitchFamily="2" charset="-78"/>
              </a:rPr>
              <a:t>هیچ‌یک از گزینه‌ها مطلوب ما </a:t>
            </a:r>
            <a:r>
              <a:rPr lang="fa-IR" b="1" dirty="0" smtClean="0">
                <a:solidFill>
                  <a:srgbClr val="111111"/>
                </a:solidFill>
                <a:latin typeface="IRANSans"/>
                <a:cs typeface="B Nazanin" panose="00000400000000000000" pitchFamily="2" charset="-78"/>
              </a:rPr>
              <a:t>نیستند</a:t>
            </a:r>
            <a:endParaRPr lang="fa-IR" b="1" dirty="0">
              <a:solidFill>
                <a:srgbClr val="111111"/>
              </a:solidFill>
              <a:latin typeface="IRANSans"/>
              <a:cs typeface="B Nazanin" panose="00000400000000000000" pitchFamily="2" charset="-78"/>
            </a:endParaRPr>
          </a:p>
          <a:p>
            <a:pPr marL="285750" indent="-285750" algn="r" rtl="1">
              <a:lnSpc>
                <a:spcPct val="250000"/>
              </a:lnSpc>
              <a:buFont typeface="Wingdings" panose="05000000000000000000" pitchFamily="2" charset="2"/>
              <a:buChar char="v"/>
            </a:pPr>
            <a:r>
              <a:rPr lang="fa-IR" b="1" dirty="0">
                <a:cs typeface="B Nazanin" panose="00000400000000000000" pitchFamily="2" charset="-78"/>
              </a:rPr>
              <a:t>عوامل پیش‌بینی‌ناپذیر </a:t>
            </a:r>
            <a:r>
              <a:rPr lang="fa-IR" b="1" dirty="0" smtClean="0">
                <a:cs typeface="B Nazanin" panose="00000400000000000000" pitchFamily="2" charset="-78"/>
              </a:rPr>
              <a:t>محیطی </a:t>
            </a:r>
          </a:p>
          <a:p>
            <a:pPr marL="285750" indent="-285750" algn="r" rtl="1">
              <a:lnSpc>
                <a:spcPct val="250000"/>
              </a:lnSpc>
              <a:buFont typeface="Wingdings" panose="05000000000000000000" pitchFamily="2" charset="2"/>
              <a:buChar char="v"/>
            </a:pPr>
            <a:r>
              <a:rPr lang="fa-IR" b="1" dirty="0">
                <a:cs typeface="B Nazanin" panose="00000400000000000000" pitchFamily="2" charset="-78"/>
              </a:rPr>
              <a:t>وقتی یکی از سناریوهای نامطلوبِ محتملِ پیش‌بینی شده رخ </a:t>
            </a:r>
            <a:r>
              <a:rPr lang="fa-IR" b="1" dirty="0" smtClean="0">
                <a:cs typeface="B Nazanin" panose="00000400000000000000" pitchFamily="2" charset="-78"/>
              </a:rPr>
              <a:t>می‌دهند</a:t>
            </a:r>
            <a:endParaRPr lang="fa-IR" b="1" dirty="0">
              <a:cs typeface="B Nazanin" panose="00000400000000000000" pitchFamily="2" charset="-78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1764729" y="3957487"/>
            <a:ext cx="6388287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 rtl="1"/>
            <a:r>
              <a:rPr lang="fa-IR" dirty="0" smtClean="0">
                <a:cs typeface="B Nazanin" panose="00000400000000000000" pitchFamily="2" charset="-78"/>
              </a:rPr>
              <a:t>مثال :  بررسی بیشتر جهت خرید یک مدل لپ تاپ و ناگهان نایاب شدن آن مدل خاص   </a:t>
            </a:r>
            <a:endParaRPr lang="en-US" dirty="0"/>
          </a:p>
        </p:txBody>
      </p:sp>
      <p:sp>
        <p:nvSpPr>
          <p:cNvPr id="15" name="Rectangle 14"/>
          <p:cNvSpPr/>
          <p:nvPr/>
        </p:nvSpPr>
        <p:spPr>
          <a:xfrm>
            <a:off x="3843680" y="3244266"/>
            <a:ext cx="427232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 rtl="1"/>
            <a:r>
              <a:rPr lang="fa-IR" dirty="0" smtClean="0">
                <a:cs typeface="B Nazanin" panose="00000400000000000000" pitchFamily="2" charset="-78"/>
              </a:rPr>
              <a:t>مثال :  انتخاب یکی از دو استاد که هر دو رو دوست نداریم </a:t>
            </a:r>
            <a:endParaRPr lang="en-US" dirty="0"/>
          </a:p>
        </p:txBody>
      </p:sp>
      <p:sp>
        <p:nvSpPr>
          <p:cNvPr id="16" name="Rectangle 15"/>
          <p:cNvSpPr/>
          <p:nvPr/>
        </p:nvSpPr>
        <p:spPr>
          <a:xfrm>
            <a:off x="1928390" y="3311486"/>
            <a:ext cx="1850186" cy="369332"/>
          </a:xfrm>
          <a:prstGeom prst="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r>
              <a:rPr lang="fa-IR" b="1" dirty="0" smtClean="0">
                <a:solidFill>
                  <a:srgbClr val="4372C2"/>
                </a:solidFill>
                <a:cs typeface="B Nazanin" panose="00000400000000000000" pitchFamily="2" charset="-78"/>
              </a:rPr>
              <a:t>انتخاب بین بد و بدتر </a:t>
            </a:r>
            <a:endParaRPr lang="en-US" b="1" dirty="0">
              <a:solidFill>
                <a:srgbClr val="4372C2"/>
              </a:solidFill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391438" y="4510826"/>
            <a:ext cx="5142687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 rtl="1"/>
            <a:r>
              <a:rPr lang="fa-IR" dirty="0" smtClean="0">
                <a:cs typeface="B Nazanin" panose="00000400000000000000" pitchFamily="2" charset="-78"/>
              </a:rPr>
              <a:t>مثال :  مربی بانجی جامپینگ به شما میگوید از بیست هزار پرش در سال اخیر فقط یک نفر فوت شده و شما هم خیلی دوست دارید که لذت پرش و هیجان آن را تجربه کنید . </a:t>
            </a:r>
            <a:endParaRPr lang="en-US" dirty="0"/>
          </a:p>
        </p:txBody>
      </p:sp>
      <p:sp>
        <p:nvSpPr>
          <p:cNvPr id="18" name="Rectangle 17"/>
          <p:cNvSpPr/>
          <p:nvPr/>
        </p:nvSpPr>
        <p:spPr>
          <a:xfrm>
            <a:off x="275771" y="5647191"/>
            <a:ext cx="11644309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 algn="r" rtl="1">
              <a:buFont typeface="Arial" panose="020B0604020202020204" pitchFamily="34" charset="0"/>
              <a:buChar char="•"/>
            </a:pPr>
            <a:r>
              <a:rPr lang="fa-IR" dirty="0">
                <a:cs typeface="B Nazanin" panose="00000400000000000000" pitchFamily="2" charset="-78"/>
              </a:rPr>
              <a:t>شما لذت این پرش را با ریسک حاصل از آن مقایسه می‌کنید و می‌پرید. حتی اگر فوت شوید، با وجود نتیجه‌ی نامطلوب، فرایند </a:t>
            </a:r>
            <a:r>
              <a:rPr lang="fa-IR" sz="1600" b="1" dirty="0">
                <a:solidFill>
                  <a:schemeClr val="accent2"/>
                </a:solidFill>
                <a:cs typeface="B Nazanin" panose="00000400000000000000" pitchFamily="2" charset="-78"/>
              </a:rPr>
              <a:t>تصمیم گیری‌تان درست بوده </a:t>
            </a:r>
            <a:r>
              <a:rPr lang="fa-IR" dirty="0">
                <a:cs typeface="B Nazanin" panose="00000400000000000000" pitchFamily="2" charset="-78"/>
              </a:rPr>
              <a:t>است.</a:t>
            </a:r>
          </a:p>
          <a:p>
            <a:pPr marL="285750" indent="-285750" algn="r" rtl="1">
              <a:buFont typeface="Arial" panose="020B0604020202020204" pitchFamily="34" charset="0"/>
              <a:buChar char="•"/>
            </a:pPr>
            <a:r>
              <a:rPr lang="fa-IR" dirty="0">
                <a:cs typeface="B Nazanin" panose="00000400000000000000" pitchFamily="2" charset="-78"/>
              </a:rPr>
              <a:t>تنها در صورتی می‌توان گفت تصمیم شما نادرست بوده است که احتمال یک در بیست‌هزار با صفر هم‌ارز گرفته‌ باشید و به </a:t>
            </a:r>
            <a:r>
              <a:rPr lang="fa-IR" dirty="0">
                <a:solidFill>
                  <a:srgbClr val="4372C2"/>
                </a:solidFill>
                <a:cs typeface="B Nazanin" panose="00000400000000000000" pitchFamily="2" charset="-78"/>
              </a:rPr>
              <a:t>فرض اطمینان مطلق پریده باشید</a:t>
            </a:r>
            <a:r>
              <a:rPr lang="fa-IR" dirty="0">
                <a:cs typeface="B Nazanin" panose="00000400000000000000" pitchFamily="2" charset="-78"/>
              </a:rPr>
              <a:t>. در این حالت، علاوه بر نتیجه‌ی نامطلوب، فرایند </a:t>
            </a:r>
            <a:r>
              <a:rPr lang="fa-IR" dirty="0">
                <a:solidFill>
                  <a:srgbClr val="4372C2"/>
                </a:solidFill>
                <a:cs typeface="B Nazanin" panose="00000400000000000000" pitchFamily="2" charset="-78"/>
              </a:rPr>
              <a:t>تصمیم گیری شما هم نادرست بوده </a:t>
            </a:r>
            <a:r>
              <a:rPr lang="fa-IR" dirty="0">
                <a:cs typeface="B Nazanin" panose="00000400000000000000" pitchFamily="2" charset="-78"/>
              </a:rPr>
              <a:t>است.</a:t>
            </a:r>
          </a:p>
        </p:txBody>
      </p:sp>
      <p:cxnSp>
        <p:nvCxnSpPr>
          <p:cNvPr id="20" name="Straight Connector 19"/>
          <p:cNvCxnSpPr/>
          <p:nvPr/>
        </p:nvCxnSpPr>
        <p:spPr>
          <a:xfrm flipV="1">
            <a:off x="1764729" y="5526101"/>
            <a:ext cx="9100457" cy="30317"/>
          </a:xfrm>
          <a:prstGeom prst="line">
            <a:avLst/>
          </a:prstGeom>
          <a:ln>
            <a:prstDash val="lgDash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23" name="Right Brace 22"/>
          <p:cNvSpPr/>
          <p:nvPr/>
        </p:nvSpPr>
        <p:spPr>
          <a:xfrm>
            <a:off x="11362083" y="3270846"/>
            <a:ext cx="351245" cy="1742613"/>
          </a:xfrm>
          <a:prstGeom prst="rightBrace">
            <a:avLst>
              <a:gd name="adj1" fmla="val 8333"/>
              <a:gd name="adj2" fmla="val 49167"/>
            </a:avLst>
          </a:prstGeom>
          <a:ln w="381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5" name="Straight Connector 24"/>
          <p:cNvCxnSpPr/>
          <p:nvPr/>
        </p:nvCxnSpPr>
        <p:spPr>
          <a:xfrm>
            <a:off x="11640756" y="4127638"/>
            <a:ext cx="206041" cy="0"/>
          </a:xfrm>
          <a:prstGeom prst="line">
            <a:avLst/>
          </a:prstGeom>
          <a:ln w="381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/>
          <p:cNvCxnSpPr/>
          <p:nvPr/>
        </p:nvCxnSpPr>
        <p:spPr>
          <a:xfrm flipV="1">
            <a:off x="11843536" y="2884459"/>
            <a:ext cx="3261" cy="1257695"/>
          </a:xfrm>
          <a:prstGeom prst="line">
            <a:avLst/>
          </a:prstGeom>
          <a:ln w="381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/>
          <p:cNvCxnSpPr/>
          <p:nvPr/>
        </p:nvCxnSpPr>
        <p:spPr>
          <a:xfrm>
            <a:off x="11362083" y="2893928"/>
            <a:ext cx="481453" cy="1"/>
          </a:xfrm>
          <a:prstGeom prst="line">
            <a:avLst/>
          </a:prstGeom>
          <a:ln w="381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2126463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4B6193-F9F1-4C54-838F-77350B9FC5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69125" y="425299"/>
            <a:ext cx="9875520" cy="709749"/>
          </a:xfrm>
        </p:spPr>
        <p:txBody>
          <a:bodyPr>
            <a:normAutofit fontScale="90000"/>
          </a:bodyPr>
          <a:lstStyle/>
          <a:p>
            <a:pPr algn="r"/>
            <a:r>
              <a:rPr lang="fa-IR" sz="4800" dirty="0" smtClean="0">
                <a:cs typeface="B Nazanin" panose="00000400000000000000" pitchFamily="2" charset="-78"/>
              </a:rPr>
              <a:t>اهمیت </a:t>
            </a:r>
            <a:r>
              <a:rPr lang="fa-IR" sz="4800" dirty="0">
                <a:cs typeface="B Nazanin" panose="00000400000000000000" pitchFamily="2" charset="-78"/>
              </a:rPr>
              <a:t>تصمیم </a:t>
            </a:r>
            <a:r>
              <a:rPr lang="fa-IR" sz="4800" dirty="0" smtClean="0">
                <a:cs typeface="B Nazanin" panose="00000400000000000000" pitchFamily="2" charset="-78"/>
              </a:rPr>
              <a:t>سازی</a:t>
            </a:r>
            <a:endParaRPr lang="en-US" sz="4800" dirty="0">
              <a:cs typeface="B Nazanin" panose="00000400000000000000" pitchFamily="2" charset="-78"/>
            </a:endParaRPr>
          </a:p>
        </p:txBody>
      </p:sp>
      <p:cxnSp>
        <p:nvCxnSpPr>
          <p:cNvPr id="8" name="Straight Connector 7"/>
          <p:cNvCxnSpPr/>
          <p:nvPr/>
        </p:nvCxnSpPr>
        <p:spPr>
          <a:xfrm>
            <a:off x="888274" y="1240973"/>
            <a:ext cx="10437223" cy="13063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3230880" y="1987619"/>
            <a:ext cx="8094617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 algn="just" rtl="1">
              <a:buFont typeface="Wingdings" panose="05000000000000000000" pitchFamily="2" charset="2"/>
              <a:buChar char="ü"/>
            </a:pPr>
            <a:r>
              <a:rPr lang="fa-IR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کسانی که تا قبل از مرحله‌ی انتخاب نهایی، در تصمیم گیری نقش ایفا می‌کنند، </a:t>
            </a:r>
            <a:r>
              <a:rPr lang="fa-IR" b="1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تصمیم ساز</a:t>
            </a:r>
            <a:r>
              <a:rPr lang="fa-IR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 نامیده می‌شوند</a:t>
            </a:r>
            <a:r>
              <a:rPr lang="fa-IR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.</a:t>
            </a:r>
            <a:endParaRPr lang="fa-IR" dirty="0">
              <a:solidFill>
                <a:srgbClr val="000000"/>
              </a:solidFill>
              <a:latin typeface="IRANSans"/>
              <a:cs typeface="B Nazanin" panose="00000400000000000000" pitchFamily="2" charset="-78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2338253" y="2461733"/>
            <a:ext cx="8987244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 algn="just" rtl="1">
              <a:buFont typeface="Wingdings" panose="05000000000000000000" pitchFamily="2" charset="2"/>
              <a:buChar char="ü"/>
            </a:pPr>
            <a:r>
              <a:rPr lang="fa-IR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کسانی که با ارائه داده های مختلف به تصمیم گیرنده کمک میکنند که تصمیم صحیح را اتخاذ کند </a:t>
            </a:r>
            <a:r>
              <a:rPr lang="fa-IR" b="1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تصمیم یار </a:t>
            </a:r>
            <a:r>
              <a:rPr lang="fa-IR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میگویند . </a:t>
            </a:r>
            <a:endParaRPr lang="fa-IR" dirty="0">
              <a:solidFill>
                <a:srgbClr val="000000"/>
              </a:solidFill>
              <a:latin typeface="IRANSans"/>
              <a:cs typeface="B Nazanin" panose="00000400000000000000" pitchFamily="2" charset="-78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2338253" y="2935847"/>
            <a:ext cx="8987244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 algn="just" rtl="1">
              <a:buFont typeface="Wingdings" panose="05000000000000000000" pitchFamily="2" charset="2"/>
              <a:buChar char="ü"/>
            </a:pPr>
            <a:r>
              <a:rPr lang="fa-IR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کسی که از بین گزینه های مختلف بدست آمده تصمیم نهایی را اتخاذ میکند </a:t>
            </a:r>
            <a:r>
              <a:rPr lang="fa-IR" b="1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تصمیم گیر </a:t>
            </a:r>
            <a:r>
              <a:rPr lang="fa-IR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می باشد .  </a:t>
            </a:r>
            <a:endParaRPr lang="fa-IR" dirty="0">
              <a:solidFill>
                <a:srgbClr val="000000"/>
              </a:solidFill>
              <a:latin typeface="IRANSans"/>
              <a:cs typeface="B Nazanin" panose="00000400000000000000" pitchFamily="2" charset="-78"/>
            </a:endParaRPr>
          </a:p>
        </p:txBody>
      </p:sp>
      <p:grpSp>
        <p:nvGrpSpPr>
          <p:cNvPr id="16" name="Group 15"/>
          <p:cNvGrpSpPr/>
          <p:nvPr/>
        </p:nvGrpSpPr>
        <p:grpSpPr>
          <a:xfrm>
            <a:off x="4011599" y="1254036"/>
            <a:ext cx="4190571" cy="707886"/>
            <a:chOff x="2254986" y="3297707"/>
            <a:chExt cx="4190571" cy="707886"/>
          </a:xfrm>
        </p:grpSpPr>
        <p:grpSp>
          <p:nvGrpSpPr>
            <p:cNvPr id="9" name="Group 8"/>
            <p:cNvGrpSpPr/>
            <p:nvPr/>
          </p:nvGrpSpPr>
          <p:grpSpPr>
            <a:xfrm>
              <a:off x="2254986" y="3297707"/>
              <a:ext cx="4190571" cy="707886"/>
              <a:chOff x="8120208" y="1520037"/>
              <a:chExt cx="4190571" cy="707886"/>
            </a:xfrm>
          </p:grpSpPr>
          <p:sp>
            <p:nvSpPr>
              <p:cNvPr id="3" name="Rectangle 2"/>
              <p:cNvSpPr/>
              <p:nvPr/>
            </p:nvSpPr>
            <p:spPr>
              <a:xfrm>
                <a:off x="8120208" y="1520037"/>
                <a:ext cx="4190571" cy="707886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fa-IR" sz="2000" dirty="0" smtClean="0">
                    <a:cs typeface="B Nazanin" panose="00000400000000000000" pitchFamily="2" charset="-78"/>
                  </a:rPr>
                  <a:t>   تصمیم گیری </a:t>
                </a:r>
                <a:r>
                  <a:rPr lang="fa-IR" sz="3600" dirty="0" smtClean="0">
                    <a:cs typeface="B Nazanin" panose="00000400000000000000" pitchFamily="2" charset="-78"/>
                  </a:rPr>
                  <a:t>= </a:t>
                </a:r>
                <a:r>
                  <a:rPr lang="fa-IR" sz="2000" dirty="0" smtClean="0">
                    <a:cs typeface="B Nazanin" panose="00000400000000000000" pitchFamily="2" charset="-78"/>
                  </a:rPr>
                  <a:t> </a:t>
                </a:r>
                <a:r>
                  <a:rPr lang="fa-IR" sz="2000" dirty="0" smtClean="0">
                    <a:solidFill>
                      <a:srgbClr val="FF0000"/>
                    </a:solidFill>
                    <a:cs typeface="B Nazanin" panose="00000400000000000000" pitchFamily="2" charset="-78"/>
                  </a:rPr>
                  <a:t>تصمیم سازی </a:t>
                </a:r>
                <a:r>
                  <a:rPr lang="fa-IR" sz="4000" dirty="0">
                    <a:cs typeface="B Nazanin" panose="00000400000000000000" pitchFamily="2" charset="-78"/>
                  </a:rPr>
                  <a:t>=</a:t>
                </a:r>
                <a:r>
                  <a:rPr lang="fa-IR" sz="2000" dirty="0" smtClean="0">
                    <a:cs typeface="B Nazanin" panose="00000400000000000000" pitchFamily="2" charset="-78"/>
                  </a:rPr>
                  <a:t> تصمیم یاری</a:t>
                </a:r>
                <a:r>
                  <a:rPr lang="fa-IR" sz="2000" dirty="0" smtClean="0">
                    <a:solidFill>
                      <a:srgbClr val="FF0000"/>
                    </a:solidFill>
                    <a:cs typeface="B Nazanin" panose="00000400000000000000" pitchFamily="2" charset="-78"/>
                  </a:rPr>
                  <a:t> </a:t>
                </a:r>
                <a:endParaRPr lang="en-US" sz="2000" dirty="0">
                  <a:solidFill>
                    <a:srgbClr val="FF0000"/>
                  </a:solidFill>
                </a:endParaRPr>
              </a:p>
            </p:txBody>
          </p:sp>
          <p:cxnSp>
            <p:nvCxnSpPr>
              <p:cNvPr id="6" name="Straight Connector 5"/>
              <p:cNvCxnSpPr/>
              <p:nvPr/>
            </p:nvCxnSpPr>
            <p:spPr>
              <a:xfrm flipH="1">
                <a:off x="9353825" y="1804013"/>
                <a:ext cx="65314" cy="130628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4" name="Straight Connector 13"/>
            <p:cNvCxnSpPr/>
            <p:nvPr/>
          </p:nvCxnSpPr>
          <p:spPr>
            <a:xfrm flipH="1">
              <a:off x="4927693" y="3592681"/>
              <a:ext cx="65314" cy="130628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17" name="Rectangle 16"/>
          <p:cNvSpPr/>
          <p:nvPr/>
        </p:nvSpPr>
        <p:spPr>
          <a:xfrm>
            <a:off x="1557744" y="3581111"/>
            <a:ext cx="9098280" cy="133882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justLow" rtl="1">
              <a:lnSpc>
                <a:spcPct val="150000"/>
              </a:lnSpc>
            </a:pPr>
            <a:r>
              <a:rPr lang="fa-IR" b="1" dirty="0">
                <a:solidFill>
                  <a:srgbClr val="111111"/>
                </a:solidFill>
                <a:latin typeface="IRANSans"/>
                <a:cs typeface="B Nazanin" panose="00000400000000000000" pitchFamily="2" charset="-78"/>
              </a:rPr>
              <a:t>کارشناسان</a:t>
            </a:r>
            <a:r>
              <a:rPr lang="fa-IR" dirty="0">
                <a:solidFill>
                  <a:srgbClr val="111111"/>
                </a:solidFill>
                <a:latin typeface="IRANSans"/>
                <a:cs typeface="B Nazanin" panose="00000400000000000000" pitchFamily="2" charset="-78"/>
              </a:rPr>
              <a:t> در بسیاری از سازمان‌ها، نقش </a:t>
            </a:r>
            <a:r>
              <a:rPr lang="fa-IR" b="1" dirty="0">
                <a:solidFill>
                  <a:srgbClr val="111111"/>
                </a:solidFill>
                <a:latin typeface="IRANSans"/>
                <a:cs typeface="B Nazanin" panose="00000400000000000000" pitchFamily="2" charset="-78"/>
              </a:rPr>
              <a:t>تصمیم ساز</a:t>
            </a:r>
            <a:r>
              <a:rPr lang="fa-IR" dirty="0">
                <a:solidFill>
                  <a:srgbClr val="111111"/>
                </a:solidFill>
                <a:latin typeface="IRANSans"/>
                <a:cs typeface="B Nazanin" panose="00000400000000000000" pitchFamily="2" charset="-78"/>
              </a:rPr>
              <a:t> را به شکل رسمی برعهده دارند. به همین علت می‌شنویم که مدیران می‌گویند ما بر اساس </a:t>
            </a:r>
            <a:r>
              <a:rPr lang="fa-IR" b="1" dirty="0">
                <a:solidFill>
                  <a:srgbClr val="111111"/>
                </a:solidFill>
                <a:latin typeface="IRANSans"/>
                <a:cs typeface="B Nazanin" panose="00000400000000000000" pitchFamily="2" charset="-78"/>
              </a:rPr>
              <a:t>کارِ کارشناسی</a:t>
            </a:r>
            <a:r>
              <a:rPr lang="fa-IR" dirty="0">
                <a:solidFill>
                  <a:srgbClr val="111111"/>
                </a:solidFill>
                <a:latin typeface="IRANSans"/>
                <a:cs typeface="B Nazanin" panose="00000400000000000000" pitchFamily="2" charset="-78"/>
              </a:rPr>
              <a:t> یا </a:t>
            </a:r>
            <a:r>
              <a:rPr lang="fa-IR" b="1" dirty="0">
                <a:solidFill>
                  <a:srgbClr val="111111"/>
                </a:solidFill>
                <a:latin typeface="IRANSans"/>
                <a:cs typeface="B Nazanin" panose="00000400000000000000" pitchFamily="2" charset="-78"/>
              </a:rPr>
              <a:t>گزارش کارشناسان</a:t>
            </a:r>
            <a:r>
              <a:rPr lang="fa-IR" dirty="0">
                <a:solidFill>
                  <a:srgbClr val="111111"/>
                </a:solidFill>
                <a:latin typeface="IRANSans"/>
                <a:cs typeface="B Nazanin" panose="00000400000000000000" pitchFamily="2" charset="-78"/>
              </a:rPr>
              <a:t>، این یا آن تصمیم را گرفته‌ایم. گزارش کارشناسی، گزینه‌های محتمل و تحلیل آن‌ها را در اختیار مدیر قرار می‌دهد و نهایتاً این مدیر است که حکم نهایی (انتخاب آخر)‌ را اعلام </a:t>
            </a:r>
            <a:r>
              <a:rPr lang="fa-IR" dirty="0" smtClean="0">
                <a:solidFill>
                  <a:srgbClr val="111111"/>
                </a:solidFill>
                <a:latin typeface="IRANSans"/>
                <a:cs typeface="B Nazanin" panose="00000400000000000000" pitchFamily="2" charset="-78"/>
              </a:rPr>
              <a:t>می‌کند</a:t>
            </a:r>
            <a:r>
              <a:rPr lang="en-US" dirty="0" smtClean="0">
                <a:solidFill>
                  <a:srgbClr val="111111"/>
                </a:solidFill>
                <a:latin typeface="IRANSans"/>
                <a:cs typeface="B Nazanin" panose="00000400000000000000" pitchFamily="2" charset="-78"/>
              </a:rPr>
              <a:t>.</a:t>
            </a:r>
            <a:endParaRPr lang="en-US" dirty="0">
              <a:cs typeface="B Nazanin" panose="00000400000000000000" pitchFamily="2" charset="-78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1557744" y="5078304"/>
            <a:ext cx="9098280" cy="133882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justLow" rtl="1">
              <a:lnSpc>
                <a:spcPct val="150000"/>
              </a:lnSpc>
            </a:pPr>
            <a:r>
              <a:rPr lang="fa-IR" dirty="0">
                <a:solidFill>
                  <a:srgbClr val="111111"/>
                </a:solidFill>
                <a:latin typeface="IRANSans"/>
                <a:cs typeface="B Nazanin" panose="00000400000000000000" pitchFamily="2" charset="-78"/>
              </a:rPr>
              <a:t>در سازمان‌ها و کسب و کارها، گاهی اوقات این نقش را </a:t>
            </a:r>
            <a:r>
              <a:rPr lang="fa-IR" b="1" dirty="0">
                <a:solidFill>
                  <a:schemeClr val="accent2">
                    <a:lumMod val="75000"/>
                  </a:schemeClr>
                </a:solidFill>
                <a:latin typeface="IRANSans"/>
                <a:cs typeface="B Nazanin" panose="00000400000000000000" pitchFamily="2" charset="-78"/>
              </a:rPr>
              <a:t>مسئول دفتر</a:t>
            </a:r>
            <a:r>
              <a:rPr lang="fa-IR" dirty="0">
                <a:solidFill>
                  <a:srgbClr val="111111"/>
                </a:solidFill>
                <a:latin typeface="IRANSans"/>
                <a:cs typeface="B Nazanin" panose="00000400000000000000" pitchFamily="2" charset="-78"/>
              </a:rPr>
              <a:t> یک مدیر، ایفا می‌کند. او با انتخاب تماس‌هایی که برقرار می‌شوند (یا نمی‌شوند) و تأثیرگذاری بر پیام‌هایی که می‌توانند به دست مدیر برسند (یا محدود می‌شوند)، روی تصمیم مدیر تأثیر می‌گذارند.</a:t>
            </a:r>
          </a:p>
        </p:txBody>
      </p:sp>
    </p:spTree>
    <p:extLst>
      <p:ext uri="{BB962C8B-B14F-4D97-AF65-F5344CB8AC3E}">
        <p14:creationId xmlns:p14="http://schemas.microsoft.com/office/powerpoint/2010/main" val="263995498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4B6193-F9F1-4C54-838F-77350B9FC5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69125" y="425299"/>
            <a:ext cx="9875520" cy="709749"/>
          </a:xfrm>
        </p:spPr>
        <p:txBody>
          <a:bodyPr>
            <a:normAutofit fontScale="90000"/>
          </a:bodyPr>
          <a:lstStyle/>
          <a:p>
            <a:pPr algn="r"/>
            <a:r>
              <a:rPr lang="fa-IR" sz="4800" dirty="0" smtClean="0">
                <a:cs typeface="B Nazanin" panose="00000400000000000000" pitchFamily="2" charset="-78"/>
              </a:rPr>
              <a:t>خرده مهارت های مرتبط با تصمیم گیری درست </a:t>
            </a:r>
            <a:endParaRPr lang="en-US" sz="4800" dirty="0">
              <a:cs typeface="B Nazanin" panose="00000400000000000000" pitchFamily="2" charset="-78"/>
            </a:endParaRPr>
          </a:p>
        </p:txBody>
      </p:sp>
      <p:cxnSp>
        <p:nvCxnSpPr>
          <p:cNvPr id="8" name="Straight Connector 7"/>
          <p:cNvCxnSpPr/>
          <p:nvPr/>
        </p:nvCxnSpPr>
        <p:spPr>
          <a:xfrm>
            <a:off x="888274" y="1240973"/>
            <a:ext cx="10437223" cy="13063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12024" y="2316681"/>
            <a:ext cx="1589180" cy="236733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8191484" y="1017746"/>
            <a:ext cx="2070118" cy="563231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285750" indent="-285750">
              <a:lnSpc>
                <a:spcPct val="250000"/>
              </a:lnSpc>
              <a:buFont typeface="Arial" panose="020B0604020202020204" pitchFamily="34" charset="0"/>
              <a:buChar char="•"/>
            </a:pPr>
            <a:r>
              <a:rPr lang="en-US" dirty="0" smtClean="0">
                <a:solidFill>
                  <a:srgbClr val="FF0000"/>
                </a:solidFill>
                <a:latin typeface="IRANSans"/>
              </a:rPr>
              <a:t>Pr</a:t>
            </a:r>
            <a:r>
              <a:rPr lang="en-US" dirty="0" smtClean="0">
                <a:solidFill>
                  <a:srgbClr val="000000"/>
                </a:solidFill>
                <a:latin typeface="IRANSans"/>
              </a:rPr>
              <a:t>oblem</a:t>
            </a:r>
            <a:endParaRPr lang="fa-IR" dirty="0" smtClean="0">
              <a:solidFill>
                <a:srgbClr val="000000"/>
              </a:solidFill>
              <a:latin typeface="IRANSans"/>
            </a:endParaRPr>
          </a:p>
          <a:p>
            <a:pPr marL="285750" indent="-285750">
              <a:lnSpc>
                <a:spcPct val="250000"/>
              </a:lnSpc>
              <a:buFont typeface="Arial" panose="020B0604020202020204" pitchFamily="34" charset="0"/>
              <a:buChar char="•"/>
            </a:pPr>
            <a:r>
              <a:rPr lang="en-US" dirty="0" smtClean="0">
                <a:solidFill>
                  <a:srgbClr val="FF0000"/>
                </a:solidFill>
              </a:rPr>
              <a:t>O</a:t>
            </a:r>
            <a:r>
              <a:rPr lang="en-US" dirty="0" smtClean="0"/>
              <a:t>bjectives</a:t>
            </a:r>
            <a:endParaRPr lang="fa-IR" dirty="0" smtClean="0"/>
          </a:p>
          <a:p>
            <a:pPr marL="285750" indent="-285750">
              <a:lnSpc>
                <a:spcPct val="250000"/>
              </a:lnSpc>
              <a:buFont typeface="Arial" panose="020B0604020202020204" pitchFamily="34" charset="0"/>
              <a:buChar char="•"/>
            </a:pPr>
            <a:r>
              <a:rPr lang="en-US" dirty="0" smtClean="0">
                <a:solidFill>
                  <a:srgbClr val="FF0000"/>
                </a:solidFill>
              </a:rPr>
              <a:t>A</a:t>
            </a:r>
            <a:r>
              <a:rPr lang="en-US" dirty="0" smtClean="0"/>
              <a:t>lternatives</a:t>
            </a:r>
            <a:endParaRPr lang="fa-IR" dirty="0" smtClean="0"/>
          </a:p>
          <a:p>
            <a:pPr marL="285750" indent="-285750">
              <a:lnSpc>
                <a:spcPct val="250000"/>
              </a:lnSpc>
              <a:buFont typeface="Arial" panose="020B0604020202020204" pitchFamily="34" charset="0"/>
              <a:buChar char="•"/>
            </a:pPr>
            <a:r>
              <a:rPr lang="en-US" dirty="0" smtClean="0">
                <a:solidFill>
                  <a:srgbClr val="FF0000"/>
                </a:solidFill>
              </a:rPr>
              <a:t>C</a:t>
            </a:r>
            <a:r>
              <a:rPr lang="en-US" dirty="0" smtClean="0"/>
              <a:t>onsequences</a:t>
            </a:r>
            <a:endParaRPr lang="fa-IR" dirty="0" smtClean="0"/>
          </a:p>
          <a:p>
            <a:pPr marL="285750" indent="-285750">
              <a:lnSpc>
                <a:spcPct val="250000"/>
              </a:lnSpc>
              <a:buFont typeface="Arial" panose="020B0604020202020204" pitchFamily="34" charset="0"/>
              <a:buChar char="•"/>
            </a:pPr>
            <a:r>
              <a:rPr lang="en-US" dirty="0" smtClean="0">
                <a:solidFill>
                  <a:srgbClr val="FF0000"/>
                </a:solidFill>
              </a:rPr>
              <a:t>T</a:t>
            </a:r>
            <a:r>
              <a:rPr lang="en-US" dirty="0" smtClean="0"/>
              <a:t>radeoffs</a:t>
            </a:r>
            <a:endParaRPr lang="fa-IR" dirty="0" smtClean="0"/>
          </a:p>
          <a:p>
            <a:pPr marL="285750" indent="-285750">
              <a:lnSpc>
                <a:spcPct val="250000"/>
              </a:lnSpc>
              <a:buFont typeface="Arial" panose="020B0604020202020204" pitchFamily="34" charset="0"/>
              <a:buChar char="•"/>
            </a:pPr>
            <a:r>
              <a:rPr lang="en-US" dirty="0" smtClean="0"/>
              <a:t>Uncertainties</a:t>
            </a:r>
            <a:endParaRPr lang="fa-IR" dirty="0" smtClean="0"/>
          </a:p>
          <a:p>
            <a:pPr marL="285750" indent="-285750">
              <a:lnSpc>
                <a:spcPct val="250000"/>
              </a:lnSpc>
              <a:buFont typeface="Arial" panose="020B0604020202020204" pitchFamily="34" charset="0"/>
              <a:buChar char="•"/>
            </a:pPr>
            <a:r>
              <a:rPr lang="en-US" dirty="0"/>
              <a:t>Risk </a:t>
            </a:r>
            <a:r>
              <a:rPr lang="en-US" dirty="0" smtClean="0"/>
              <a:t>Tolerance</a:t>
            </a:r>
            <a:endParaRPr lang="fa-IR" dirty="0" smtClean="0"/>
          </a:p>
          <a:p>
            <a:pPr marL="285750" indent="-285750">
              <a:lnSpc>
                <a:spcPct val="250000"/>
              </a:lnSpc>
              <a:buFont typeface="Arial" panose="020B0604020202020204" pitchFamily="34" charset="0"/>
              <a:buChar char="•"/>
            </a:pPr>
            <a:r>
              <a:rPr lang="en-US" dirty="0"/>
              <a:t>Linked Decisions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908017" y="1260508"/>
            <a:ext cx="2167581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a-IR" sz="1600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مسئله را درست تشخیص بدهیم</a:t>
            </a:r>
            <a:endParaRPr lang="en-US" sz="1600" dirty="0">
              <a:cs typeface="B Nazanin" panose="00000400000000000000" pitchFamily="2" charset="-78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5087532" y="1906518"/>
            <a:ext cx="2985113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a-IR" sz="1600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خروجی مورد انتظار ما از این تصمیم چیست؟</a:t>
            </a:r>
            <a:endParaRPr lang="en-US" sz="1600" dirty="0">
              <a:solidFill>
                <a:srgbClr val="000000"/>
              </a:solidFill>
              <a:latin typeface="IRANSans"/>
              <a:cs typeface="B Nazanin" panose="00000400000000000000" pitchFamily="2" charset="-78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5341586" y="2595200"/>
            <a:ext cx="2727029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a-IR" sz="1600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چه گزینه‌هایی پیش روی من وجود دارد؟</a:t>
            </a:r>
            <a:endParaRPr lang="en-US" sz="1600" dirty="0">
              <a:solidFill>
                <a:srgbClr val="000000"/>
              </a:solidFill>
              <a:latin typeface="IRANSans"/>
              <a:cs typeface="B Nazanin" panose="00000400000000000000" pitchFamily="2" charset="-78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5298997" y="3347577"/>
            <a:ext cx="2783134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a-IR" sz="1600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 هر گزینه به چه نتیجه‌ای منتهی می‌شود؟</a:t>
            </a:r>
            <a:endParaRPr lang="en-US" sz="1600" dirty="0">
              <a:solidFill>
                <a:srgbClr val="000000"/>
              </a:solidFill>
              <a:latin typeface="IRANSans"/>
              <a:cs typeface="B Nazanin" panose="00000400000000000000" pitchFamily="2" charset="-78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3764152" y="3937109"/>
            <a:ext cx="4325223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a-IR" sz="1600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برای به دست آوردن هر چیزی، چه چیزهایی را باید از دست بدهم؟</a:t>
            </a:r>
            <a:endParaRPr lang="en-US" sz="1600" dirty="0">
              <a:solidFill>
                <a:srgbClr val="000000"/>
              </a:solidFill>
              <a:latin typeface="IRANSans"/>
              <a:cs typeface="B Nazanin" panose="00000400000000000000" pitchFamily="2" charset="-78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4380822" y="4759275"/>
            <a:ext cx="3720890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a-IR" sz="1600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چه چیزهایی را نمی‌دانم؟ چه چیزهایی را نمی‌توانم بدانم؟</a:t>
            </a:r>
            <a:endParaRPr lang="en-US" sz="1600" dirty="0">
              <a:solidFill>
                <a:srgbClr val="000000"/>
              </a:solidFill>
              <a:latin typeface="IRANSans"/>
              <a:cs typeface="B Nazanin" panose="00000400000000000000" pitchFamily="2" charset="-78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6037861" y="5425370"/>
            <a:ext cx="2037737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a-IR" sz="1600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تحمل ریسک من چقدر است؟</a:t>
            </a:r>
            <a:endParaRPr lang="en-US" sz="1600" dirty="0">
              <a:solidFill>
                <a:srgbClr val="000000"/>
              </a:solidFill>
              <a:latin typeface="IRANSans"/>
              <a:cs typeface="B Nazanin" panose="00000400000000000000" pitchFamily="2" charset="-78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5111791" y="6079274"/>
            <a:ext cx="2989921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a-IR" sz="1600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تصمیم‌های مرتبط با این تصمیم، چه هستند؟</a:t>
            </a:r>
            <a:endParaRPr lang="en-US" sz="1600" dirty="0">
              <a:solidFill>
                <a:srgbClr val="000000"/>
              </a:solidFill>
              <a:latin typeface="IRANSans"/>
              <a:cs typeface="B Nazanin" panose="00000400000000000000" pitchFamily="2" charset="-78"/>
            </a:endParaRPr>
          </a:p>
        </p:txBody>
      </p:sp>
      <p:pic>
        <p:nvPicPr>
          <p:cNvPr id="14" name="Picture 1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53528" y="2366599"/>
            <a:ext cx="1555750" cy="2338548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5" name="Rectangle 14"/>
          <p:cNvSpPr/>
          <p:nvPr/>
        </p:nvSpPr>
        <p:spPr>
          <a:xfrm>
            <a:off x="736600" y="1583291"/>
            <a:ext cx="6885766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71450" indent="-171450" algn="r" rtl="1">
              <a:buFont typeface="Arial" panose="020B0604020202020204" pitchFamily="34" charset="0"/>
              <a:buChar char="•"/>
            </a:pPr>
            <a:r>
              <a:rPr lang="fa-IR" sz="1200" b="1" dirty="0">
                <a:solidFill>
                  <a:srgbClr val="FF0000"/>
                </a:solidFill>
                <a:latin typeface="IRANSans"/>
                <a:cs typeface="B Nazanin" panose="00000400000000000000" pitchFamily="2" charset="-78"/>
              </a:rPr>
              <a:t>آیا واقعاً الان بحث سر این است که باید کنکور پزشکی بدهم یا مهندسی؟ یا ماجرای اصلی این است که اصلاً کنکور بدهم یا نه.</a:t>
            </a:r>
            <a:endParaRPr lang="en-US" sz="1200" b="1" dirty="0">
              <a:solidFill>
                <a:srgbClr val="FF0000"/>
              </a:solidFill>
              <a:cs typeface="B Nazanin" panose="00000400000000000000" pitchFamily="2" charset="-78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330200" y="2256986"/>
            <a:ext cx="7292166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71450" indent="-171450" algn="r" rtl="1">
              <a:buFont typeface="Arial" panose="020B0604020202020204" pitchFamily="34" charset="0"/>
              <a:buChar char="•"/>
            </a:pPr>
            <a:r>
              <a:rPr lang="fa-IR" sz="1200" b="1" dirty="0">
                <a:solidFill>
                  <a:srgbClr val="FF0000"/>
                </a:solidFill>
                <a:latin typeface="IRANSans"/>
                <a:cs typeface="B Nazanin" panose="00000400000000000000" pitchFamily="2" charset="-78"/>
              </a:rPr>
              <a:t>اگر می‌خواهم در مورد مهاجرت تصمیم بگیرم، هدف نهایی و خروجی مورد انتظارم چیست؟ به دنبال رفاه مادی هستم؟ زندگی در محیطی کم‌تنش‌تر؟ </a:t>
            </a:r>
            <a:endParaRPr lang="en-US" sz="1200" b="1" dirty="0">
              <a:solidFill>
                <a:srgbClr val="FF0000"/>
              </a:solidFill>
              <a:latin typeface="IRANSans"/>
              <a:cs typeface="B Nazanin" panose="00000400000000000000" pitchFamily="2" charset="-78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228600" y="2900745"/>
            <a:ext cx="7846998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71450" indent="-171450" algn="r" rtl="1">
              <a:buFont typeface="Wingdings" panose="05000000000000000000" pitchFamily="2" charset="2"/>
              <a:buChar char="ü"/>
            </a:pPr>
            <a:r>
              <a:rPr lang="fa-IR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گاهی اوقات، ما تنها یک راه پیش رو داریم. اما متوقف می‌شویم و احساس می‌کنیم که با یک تصمیم </a:t>
            </a:r>
            <a:r>
              <a:rPr lang="fa-IR" sz="1200" b="1" dirty="0" smtClean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مواجهیم</a:t>
            </a:r>
            <a:r>
              <a:rPr lang="fa-IR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fa-IR" sz="1200" b="1" dirty="0" smtClean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و در مقابل </a:t>
            </a:r>
            <a:r>
              <a:rPr lang="en-US" sz="1200" b="1" dirty="0" smtClean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fa-IR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بعضی وقت‌ها، واقعاً گزینه‌های متعددی می‌توانند وجود داشته باشند. اما ذهن ما از دیدن گزینه‌ها یا خلق گزینه‌ها ناتوان است</a:t>
            </a:r>
            <a:endParaRPr lang="en-US" sz="1200" b="1" dirty="0">
              <a:solidFill>
                <a:srgbClr val="4372C2"/>
              </a:solidFill>
              <a:latin typeface="IRANSans"/>
              <a:cs typeface="B Nazanin" panose="00000400000000000000" pitchFamily="2" charset="-78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1332822" y="3631903"/>
            <a:ext cx="6289544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71450" indent="-171450" algn="r" rtl="1">
              <a:buFont typeface="Arial" panose="020B0604020202020204" pitchFamily="34" charset="0"/>
              <a:buChar char="•"/>
            </a:pPr>
            <a:r>
              <a:rPr lang="fa-IR" sz="1200" b="1" dirty="0">
                <a:solidFill>
                  <a:srgbClr val="FF0000"/>
                </a:solidFill>
                <a:latin typeface="IRANSans"/>
                <a:cs typeface="B Nazanin" panose="00000400000000000000" pitchFamily="2" charset="-78"/>
              </a:rPr>
              <a:t>اگر امروز به عنوان اعتراض در جلسه‌ی شرکت حاضر نشوم، فردا چه اتفاقی خواهد افتاد؟</a:t>
            </a:r>
            <a:endParaRPr lang="en-US" sz="1200" b="1" dirty="0">
              <a:solidFill>
                <a:srgbClr val="FF0000"/>
              </a:solidFill>
              <a:latin typeface="IRANSans"/>
              <a:cs typeface="B Nazanin" panose="00000400000000000000" pitchFamily="2" charset="-78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228601" y="4265751"/>
            <a:ext cx="7840014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71450" indent="-171450" algn="r" rtl="1">
              <a:buFont typeface="Wingdings" panose="05000000000000000000" pitchFamily="2" charset="2"/>
              <a:buChar char="ü"/>
            </a:pPr>
            <a:r>
              <a:rPr lang="fa-IR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هر به دست آوردنی، با از دست دادنی همراه است و مهم است که من، به همان اندازه که به دستاوردهای هر انتخاب فکر می‌کنم، با خودم بیندیشم که هر انتخاب، من را از چه فرصت‌ها و هدف‌هایی دور می‌کند و کدامیک از داشته‌هایم را از من می‌گیرد.</a:t>
            </a:r>
            <a:endParaRPr lang="en-US" sz="1200" b="1" dirty="0">
              <a:solidFill>
                <a:srgbClr val="4372C2"/>
              </a:solidFill>
              <a:latin typeface="IRANSans"/>
              <a:cs typeface="B Nazanin" panose="00000400000000000000" pitchFamily="2" charset="-78"/>
            </a:endParaRPr>
          </a:p>
        </p:txBody>
      </p:sp>
      <p:sp>
        <p:nvSpPr>
          <p:cNvPr id="20" name="Rectangle 19"/>
          <p:cNvSpPr/>
          <p:nvPr/>
        </p:nvSpPr>
        <p:spPr>
          <a:xfrm>
            <a:off x="127000" y="5027295"/>
            <a:ext cx="7941614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71450" indent="-171450" algn="r" rtl="1">
              <a:buFont typeface="Wingdings" panose="05000000000000000000" pitchFamily="2" charset="2"/>
              <a:buChar char="ü"/>
            </a:pP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بعضی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چیزها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را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 smtClean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نمی</a:t>
            </a:r>
            <a:r>
              <a:rPr lang="fa-IR" sz="1200" b="1" dirty="0" smtClean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 smtClean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دانیم</a:t>
            </a:r>
            <a:r>
              <a:rPr lang="en-US" sz="1200" b="1" dirty="0" smtClean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و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بعضی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چیزها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را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 smtClean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نمی</a:t>
            </a:r>
            <a:r>
              <a:rPr lang="fa-IR" sz="1200" b="1" dirty="0" smtClean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 smtClean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توانیم</a:t>
            </a:r>
            <a:r>
              <a:rPr lang="en-US" sz="1200" b="1" dirty="0" smtClean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بدانیم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. </a:t>
            </a:r>
            <a:r>
              <a:rPr lang="fa-IR" sz="1200" b="1" dirty="0" smtClean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 smtClean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این</a:t>
            </a:r>
            <a:r>
              <a:rPr lang="en-US" sz="1200" b="1" dirty="0" smtClean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دو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را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نباید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با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هم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اشتباه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گرفت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. </a:t>
            </a:r>
            <a:r>
              <a:rPr lang="fa-IR" sz="1200" b="1" dirty="0" smtClean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 smtClean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آنچه</a:t>
            </a:r>
            <a:r>
              <a:rPr lang="en-US" sz="1200" b="1" dirty="0" smtClean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 smtClean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نمی</a:t>
            </a:r>
            <a:r>
              <a:rPr lang="fa-IR" sz="1200" b="1" dirty="0" smtClean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 smtClean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دانیم</a:t>
            </a:r>
            <a:r>
              <a:rPr lang="en-US" sz="1200" b="1" dirty="0" smtClean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در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اثر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بررسی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مشخص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میشود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و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انچه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 smtClean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نمی</a:t>
            </a:r>
            <a:r>
              <a:rPr lang="fa-IR" sz="1200" b="1" dirty="0" smtClean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 smtClean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توانیم</a:t>
            </a:r>
            <a:r>
              <a:rPr lang="en-US" sz="1200" b="1" dirty="0" smtClean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بدانیم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ابهام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اجتناب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ناپذیر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است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. </a:t>
            </a:r>
            <a:r>
              <a:rPr lang="fa-IR" sz="1200" b="1" dirty="0" smtClean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 smtClean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ابهامی</a:t>
            </a:r>
            <a:r>
              <a:rPr lang="en-US" sz="1200" b="1" dirty="0" smtClean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که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فقط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پس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از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انتخاب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رفع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می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شود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28600" y="5681557"/>
            <a:ext cx="7840014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71450" indent="-171450" algn="r" rtl="1">
              <a:buFont typeface="Wingdings" panose="05000000000000000000" pitchFamily="2" charset="2"/>
              <a:buChar char="ü"/>
            </a:pP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ما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انسان‌ها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از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نظر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میزان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تحمل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ریسک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با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یکدیگر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تفاوت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داریم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.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گاهی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اوقات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دو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فرد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متفاوت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در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شرایط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کاملا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یکسان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باید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گزینه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های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متفاوتی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را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انتخاب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کنند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.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گون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سطح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ریسک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پذیری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آنها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متفاوت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است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. 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526366" y="6331906"/>
            <a:ext cx="6096000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71450" indent="-171450" algn="r" rtl="1">
              <a:buFont typeface="Arial" panose="020B0604020202020204" pitchFamily="34" charset="0"/>
              <a:buChar char="•"/>
            </a:pPr>
            <a:r>
              <a:rPr lang="fa-IR" sz="1200" b="1" dirty="0" smtClean="0">
                <a:solidFill>
                  <a:srgbClr val="FF0000"/>
                </a:solidFill>
                <a:latin typeface="IRANSans"/>
                <a:cs typeface="B Nazanin" panose="00000400000000000000" pitchFamily="2" charset="-78"/>
              </a:rPr>
              <a:t>اگر تصمیم بگیرم که به دانشگاه برم ، چه تصمیمات دیگری را باید بگیرم ؟ چه تصمیماتی حذف می شود ؟ </a:t>
            </a:r>
            <a:endParaRPr lang="en-US" sz="1200" b="1" dirty="0">
              <a:solidFill>
                <a:srgbClr val="FF0000"/>
              </a:solidFill>
              <a:latin typeface="IRANSans"/>
              <a:cs typeface="B Nazanin" panose="00000400000000000000" pitchFamily="2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9153868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4B6193-F9F1-4C54-838F-77350B9FC5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69125" y="425299"/>
            <a:ext cx="9875520" cy="709749"/>
          </a:xfrm>
        </p:spPr>
        <p:txBody>
          <a:bodyPr>
            <a:normAutofit fontScale="90000"/>
          </a:bodyPr>
          <a:lstStyle/>
          <a:p>
            <a:pPr algn="r"/>
            <a:r>
              <a:rPr lang="fa-IR" sz="4800" dirty="0" smtClean="0">
                <a:cs typeface="B Nazanin" panose="00000400000000000000" pitchFamily="2" charset="-78"/>
              </a:rPr>
              <a:t>فوبیای تصمیم گیری </a:t>
            </a:r>
            <a:endParaRPr lang="en-US" sz="4800" dirty="0">
              <a:cs typeface="B Nazanin" panose="00000400000000000000" pitchFamily="2" charset="-78"/>
            </a:endParaRPr>
          </a:p>
        </p:txBody>
      </p:sp>
      <p:cxnSp>
        <p:nvCxnSpPr>
          <p:cNvPr id="8" name="Straight Connector 7"/>
          <p:cNvCxnSpPr/>
          <p:nvPr/>
        </p:nvCxnSpPr>
        <p:spPr>
          <a:xfrm>
            <a:off x="888274" y="1240973"/>
            <a:ext cx="10437223" cy="13063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pic>
        <p:nvPicPr>
          <p:cNvPr id="3" name="Picture 2"/>
          <p:cNvPicPr>
            <a:picLocks noChangeAspect="1"/>
          </p:cNvPicPr>
          <p:nvPr/>
        </p:nvPicPr>
        <p:blipFill rotWithShape="1">
          <a:blip r:embed="rId2"/>
          <a:srcRect b="16781"/>
          <a:stretch/>
        </p:blipFill>
        <p:spPr>
          <a:xfrm>
            <a:off x="478563" y="1307709"/>
            <a:ext cx="2143125" cy="178348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2621688" y="1685536"/>
            <a:ext cx="9065623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 algn="just" rtl="1">
              <a:buFont typeface="Wingdings" panose="05000000000000000000" pitchFamily="2" charset="2"/>
              <a:buChar char="ü"/>
            </a:pPr>
            <a:r>
              <a:rPr lang="fa-IR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همه‌ی مشکلات ما در تصمیم گیری،‌ الزاماً به علت ضعف در مهارت تصمیم گیری </a:t>
            </a:r>
            <a:r>
              <a:rPr lang="fa-IR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نیستند. گاهی</a:t>
            </a:r>
            <a:r>
              <a:rPr lang="fa-IR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 </a:t>
            </a:r>
            <a:r>
              <a:rPr lang="fa-IR" b="1" dirty="0">
                <a:solidFill>
                  <a:srgbClr val="FF0000"/>
                </a:solidFill>
                <a:latin typeface="IRANSans"/>
                <a:cs typeface="B Nazanin" panose="00000400000000000000" pitchFamily="2" charset="-78"/>
              </a:rPr>
              <a:t>ترس از تصمیم گیری</a:t>
            </a:r>
            <a:r>
              <a:rPr lang="fa-IR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 است که ما را به سوی انتخاب‌های اشتباه سوق </a:t>
            </a:r>
            <a:r>
              <a:rPr lang="fa-IR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می‌دهد </a:t>
            </a:r>
            <a:r>
              <a:rPr lang="fa-IR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. </a:t>
            </a:r>
            <a:r>
              <a:rPr lang="fa-IR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این ترس </a:t>
            </a:r>
            <a:r>
              <a:rPr lang="fa-IR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از تصمیم گیری به حدی جدی است که برای آن یک نام اختصاصی هم در نظر گرفته شده است: </a:t>
            </a:r>
            <a:r>
              <a:rPr lang="fa-IR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 </a:t>
            </a:r>
            <a:r>
              <a:rPr lang="en-US" b="1" dirty="0" err="1" smtClean="0">
                <a:solidFill>
                  <a:srgbClr val="FF0000"/>
                </a:solidFill>
                <a:latin typeface="IRANSans"/>
                <a:cs typeface="B Nazanin" panose="00000400000000000000" pitchFamily="2" charset="-78"/>
              </a:rPr>
              <a:t>Decidophobia</a:t>
            </a:r>
            <a:r>
              <a:rPr lang="fa-IR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</a:t>
            </a:r>
            <a:endParaRPr lang="fa-IR" dirty="0">
              <a:solidFill>
                <a:srgbClr val="000000"/>
              </a:solidFill>
              <a:latin typeface="IRANSans"/>
              <a:cs typeface="B Nazanin" panose="00000400000000000000" pitchFamily="2" charset="-78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478563" y="3330162"/>
            <a:ext cx="11169559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 algn="just" rtl="1">
              <a:buFont typeface="Wingdings" panose="05000000000000000000" pitchFamily="2" charset="2"/>
              <a:buChar char="ü"/>
            </a:pPr>
            <a:r>
              <a:rPr lang="fa-IR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به </a:t>
            </a:r>
            <a:r>
              <a:rPr lang="fa-IR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دلیل</a:t>
            </a:r>
            <a:r>
              <a:rPr lang="en-US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fa-IR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همین ترس از تصمیم گیری </a:t>
            </a:r>
            <a:r>
              <a:rPr lang="fa-IR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است که ما گاهی از تصمیم های </a:t>
            </a:r>
            <a:r>
              <a:rPr lang="fa-IR" b="1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ماکروسکوپیک</a:t>
            </a:r>
            <a:r>
              <a:rPr lang="fa-IR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 (</a:t>
            </a:r>
            <a:r>
              <a:rPr lang="fa-IR" dirty="0">
                <a:solidFill>
                  <a:srgbClr val="0070C0"/>
                </a:solidFill>
                <a:latin typeface="IRANSans"/>
                <a:cs typeface="B Nazanin" panose="00000400000000000000" pitchFamily="2" charset="-78"/>
              </a:rPr>
              <a:t>این رابطه را قطع کنم یا ادامه بدهم؟</a:t>
            </a:r>
            <a:r>
              <a:rPr lang="fa-IR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) به تصمیم های </a:t>
            </a:r>
            <a:r>
              <a:rPr lang="fa-IR" b="1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میکروسکوپیک</a:t>
            </a:r>
            <a:r>
              <a:rPr lang="fa-IR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 (</a:t>
            </a:r>
            <a:r>
              <a:rPr lang="fa-IR" dirty="0">
                <a:solidFill>
                  <a:srgbClr val="0070C0"/>
                </a:solidFill>
                <a:latin typeface="IRANSans"/>
                <a:cs typeface="B Nazanin" panose="00000400000000000000" pitchFamily="2" charset="-78"/>
              </a:rPr>
              <a:t>آیا این رابطه را می‌شود فعلاً برای چند ماه ادامه داد؟)</a:t>
            </a:r>
            <a:r>
              <a:rPr lang="fa-IR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 فرار می‌کنیم</a:t>
            </a:r>
            <a:r>
              <a:rPr lang="fa-IR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.</a:t>
            </a:r>
            <a:endParaRPr lang="en-US" dirty="0">
              <a:solidFill>
                <a:srgbClr val="000000"/>
              </a:solidFill>
              <a:latin typeface="IRANSans"/>
              <a:cs typeface="B Nazanin" panose="00000400000000000000" pitchFamily="2" charset="-78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2272937" y="4053143"/>
            <a:ext cx="8089856" cy="369332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fa-IR" b="1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با تقسیم یک گاو به دو قسمت، دو گوساله نخواهیم داشت. بلکه یک گاو مرده خواهیم داشت</a:t>
            </a:r>
            <a:r>
              <a:rPr lang="fa-IR" b="1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.</a:t>
            </a:r>
            <a:endParaRPr lang="fa-IR" dirty="0">
              <a:solidFill>
                <a:srgbClr val="000000"/>
              </a:solidFill>
              <a:latin typeface="IRANSans"/>
              <a:cs typeface="B Nazanin" panose="00000400000000000000" pitchFamily="2" charset="-78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2272937" y="4605747"/>
            <a:ext cx="8771708" cy="338554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fa-IR" sz="1600" b="1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ما با خرد کردن یک تصمیم به تصمیمهای کوچک‌تر، عملاً اصل آن تصمیم را کنار گذاشته و سرگرم انتخابهای دیگری شده ایم.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300613" y="3779538"/>
            <a:ext cx="865942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 rtl="1"/>
            <a:r>
              <a:rPr lang="fa-IR" sz="1400" b="1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 </a:t>
            </a:r>
            <a:r>
              <a:rPr lang="fa-IR" sz="1400" b="1" dirty="0">
                <a:solidFill>
                  <a:srgbClr val="C4161C"/>
                </a:solidFill>
                <a:latin typeface="IRANSans"/>
                <a:cs typeface="B Nazanin" panose="00000400000000000000" pitchFamily="2" charset="-78"/>
              </a:rPr>
              <a:t>پیتر سنگه</a:t>
            </a:r>
            <a:endParaRPr lang="en-US" sz="1400" b="1" dirty="0">
              <a:cs typeface="B Nazanin" panose="00000400000000000000" pitchFamily="2" charset="-78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451335" y="4067698"/>
            <a:ext cx="1678665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 rtl="1"/>
            <a:r>
              <a:rPr lang="en-US" sz="1400" b="1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#</a:t>
            </a:r>
            <a:r>
              <a:rPr lang="fa-IR" sz="1400" b="1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کتاب</a:t>
            </a:r>
            <a:r>
              <a:rPr lang="en-US" sz="1400" b="1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_</a:t>
            </a:r>
            <a:r>
              <a:rPr lang="fa-IR" sz="1400" b="1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پنجمین</a:t>
            </a:r>
            <a:r>
              <a:rPr lang="en-US" sz="1400" b="1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_</a:t>
            </a:r>
            <a:r>
              <a:rPr lang="fa-IR" sz="1400" b="1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فرمان </a:t>
            </a:r>
            <a:endParaRPr lang="en-US" sz="1400" b="1" dirty="0">
              <a:cs typeface="B Nazanin" panose="00000400000000000000" pitchFamily="2" charset="-78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918297" y="4379792"/>
            <a:ext cx="1220206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 rtl="1"/>
            <a:r>
              <a:rPr lang="fa-IR" sz="1400" b="1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#تفکر_سیستمی</a:t>
            </a:r>
            <a:endParaRPr lang="en-US" sz="1400" b="1" dirty="0">
              <a:cs typeface="B Nazanin" panose="00000400000000000000" pitchFamily="2" charset="-78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222069" y="4810695"/>
            <a:ext cx="11582807" cy="175432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 algn="just" rtl="1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fa-IR" b="1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فعلاً اولویت من نیست</a:t>
            </a:r>
          </a:p>
          <a:p>
            <a:pPr marL="285750" indent="-285750" algn="r" rtl="1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fa-IR" b="1" dirty="0">
                <a:cs typeface="B Nazanin" panose="00000400000000000000" pitchFamily="2" charset="-78"/>
              </a:rPr>
              <a:t>باید از یک مشاور کمک </a:t>
            </a:r>
            <a:r>
              <a:rPr lang="fa-IR" b="1" dirty="0" smtClean="0">
                <a:cs typeface="B Nazanin" panose="00000400000000000000" pitchFamily="2" charset="-78"/>
              </a:rPr>
              <a:t>بگیرم</a:t>
            </a:r>
            <a:endParaRPr lang="en-US" b="1" dirty="0" smtClean="0">
              <a:cs typeface="B Nazanin" panose="00000400000000000000" pitchFamily="2" charset="-78"/>
            </a:endParaRPr>
          </a:p>
          <a:p>
            <a:pPr marL="285750" indent="-285750" algn="r" rtl="1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fa-IR" b="1" dirty="0" smtClean="0">
                <a:cs typeface="B Nazanin" panose="00000400000000000000" pitchFamily="2" charset="-78"/>
              </a:rPr>
              <a:t>به </a:t>
            </a:r>
            <a:r>
              <a:rPr lang="fa-IR" b="1" dirty="0">
                <a:cs typeface="B Nazanin" panose="00000400000000000000" pitchFamily="2" charset="-78"/>
              </a:rPr>
              <a:t>اطلاعات بیشتری نیاز </a:t>
            </a:r>
            <a:r>
              <a:rPr lang="fa-IR" b="1" dirty="0" smtClean="0">
                <a:cs typeface="B Nazanin" panose="00000400000000000000" pitchFamily="2" charset="-78"/>
              </a:rPr>
              <a:t>دارم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0" y="2708546"/>
            <a:ext cx="3575276" cy="47320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 algn="just" rtl="1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fa-IR" b="1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قانع شدن به یک تغییر </a:t>
            </a:r>
            <a:r>
              <a:rPr lang="fa-IR" b="1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کوچک</a:t>
            </a:r>
            <a:r>
              <a:rPr lang="en-US" b="1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fa-IR" b="1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تر</a:t>
            </a:r>
            <a:endParaRPr lang="fa-IR" b="1" dirty="0">
              <a:solidFill>
                <a:srgbClr val="000000"/>
              </a:solidFill>
              <a:latin typeface="IRANSans"/>
              <a:cs typeface="B Nazanin" panose="00000400000000000000" pitchFamily="2" charset="-78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400185" y="5094068"/>
            <a:ext cx="9190685" cy="338554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fa-IR" sz="1600" b="1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تصمیم نگرفتن خود یک تصمیم است . اگر تصمیم گرفته ام فردا به استعفا فکر کنم در واقع تصمیم گرفته ام که امروز استعفا ندهم . </a:t>
            </a:r>
            <a:endParaRPr lang="fa-IR" sz="1600" dirty="0">
              <a:solidFill>
                <a:srgbClr val="000000"/>
              </a:solidFill>
              <a:latin typeface="IRANSans"/>
              <a:cs typeface="B Nazanin" panose="00000400000000000000" pitchFamily="2" charset="-78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400185" y="5590604"/>
            <a:ext cx="8639311" cy="338554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fa-IR" sz="1600" b="1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fa-IR" sz="1600" b="1" dirty="0">
                <a:solidFill>
                  <a:srgbClr val="FF0000"/>
                </a:solidFill>
                <a:latin typeface="IRANSans"/>
                <a:cs typeface="B Nazanin" panose="00000400000000000000" pitchFamily="2" charset="-78"/>
              </a:rPr>
              <a:t>اگر</a:t>
            </a:r>
            <a:r>
              <a:rPr lang="fa-IR" sz="1600" b="1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fa-IR" sz="1600" b="1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ما پاسخ </a:t>
            </a:r>
            <a:r>
              <a:rPr lang="fa-IR" sz="1600" b="1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را – تقریباً با قطعیت – می‌دانیم، </a:t>
            </a:r>
            <a:r>
              <a:rPr lang="fa-IR" sz="1600" b="1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احتمالا، </a:t>
            </a:r>
            <a:r>
              <a:rPr lang="fa-IR" sz="1600" b="1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مشورت گرفتن یکی از مکانیزمهای ما برای فرار از تصمیم گیری است.</a:t>
            </a:r>
            <a:endParaRPr lang="en-US" sz="1600" b="1" dirty="0">
              <a:solidFill>
                <a:srgbClr val="000000"/>
              </a:solidFill>
              <a:latin typeface="IRANSans"/>
              <a:cs typeface="B Nazanin" panose="00000400000000000000" pitchFamily="2" charset="-78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400185" y="6111126"/>
            <a:ext cx="8012295" cy="338554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r"/>
            <a:r>
              <a:rPr lang="fa-IR" sz="1600" b="1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 بخاطر داشته باشیم </a:t>
            </a:r>
            <a:r>
              <a:rPr lang="fa-IR" sz="1600" b="1" dirty="0" smtClean="0">
                <a:solidFill>
                  <a:srgbClr val="FF0000"/>
                </a:solidFill>
                <a:latin typeface="IRANSans"/>
                <a:cs typeface="B Nazanin" panose="00000400000000000000" pitchFamily="2" charset="-78"/>
              </a:rPr>
              <a:t>گاهی</a:t>
            </a:r>
            <a:r>
              <a:rPr lang="fa-IR" sz="1600" b="1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!!!  هزینه های تصمیم نگرفتن بیشتر از هزینه های یک تصمیم  غلط می باشد . </a:t>
            </a:r>
            <a:endParaRPr lang="en-US" sz="1600" b="1" dirty="0">
              <a:solidFill>
                <a:srgbClr val="000000"/>
              </a:solidFill>
              <a:latin typeface="IRANSans"/>
              <a:cs typeface="B Nazanin" panose="00000400000000000000" pitchFamily="2" charset="-78"/>
            </a:endParaRPr>
          </a:p>
        </p:txBody>
      </p:sp>
      <p:sp>
        <p:nvSpPr>
          <p:cNvPr id="20" name="Rectangle 19"/>
          <p:cNvSpPr/>
          <p:nvPr/>
        </p:nvSpPr>
        <p:spPr>
          <a:xfrm>
            <a:off x="3675306" y="657874"/>
            <a:ext cx="376898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fa-IR" b="1" dirty="0">
                <a:solidFill>
                  <a:srgbClr val="A6B727"/>
                </a:solidFill>
                <a:cs typeface="B Nazanin" panose="00000400000000000000" pitchFamily="2" charset="-78"/>
              </a:rPr>
              <a:t>برای فرار از تصمیم گیری معمولا چه میکنیم ؟ </a:t>
            </a:r>
            <a:endParaRPr lang="en-US" b="1" dirty="0">
              <a:solidFill>
                <a:srgbClr val="A6B727"/>
              </a:solidFill>
              <a:cs typeface="B Nazanin" panose="00000400000000000000" pitchFamily="2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322504944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4B6193-F9F1-4C54-838F-77350B9FC5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69125" y="425299"/>
            <a:ext cx="9875520" cy="709749"/>
          </a:xfrm>
        </p:spPr>
        <p:txBody>
          <a:bodyPr>
            <a:normAutofit fontScale="90000"/>
          </a:bodyPr>
          <a:lstStyle/>
          <a:p>
            <a:pPr algn="r"/>
            <a:r>
              <a:rPr lang="fa-IR" sz="4800" dirty="0" smtClean="0">
                <a:cs typeface="B Nazanin" panose="00000400000000000000" pitchFamily="2" charset="-78"/>
              </a:rPr>
              <a:t>اولویت بندی ارزشها در تصمیم گیری </a:t>
            </a:r>
            <a:endParaRPr lang="en-US" sz="4800" dirty="0">
              <a:cs typeface="B Nazanin" panose="00000400000000000000" pitchFamily="2" charset="-78"/>
            </a:endParaRPr>
          </a:p>
        </p:txBody>
      </p:sp>
      <p:cxnSp>
        <p:nvCxnSpPr>
          <p:cNvPr id="8" name="Straight Connector 7"/>
          <p:cNvCxnSpPr/>
          <p:nvPr/>
        </p:nvCxnSpPr>
        <p:spPr>
          <a:xfrm>
            <a:off x="888274" y="1240973"/>
            <a:ext cx="10437223" cy="13063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grpSp>
        <p:nvGrpSpPr>
          <p:cNvPr id="6" name="Group 5"/>
          <p:cNvGrpSpPr/>
          <p:nvPr/>
        </p:nvGrpSpPr>
        <p:grpSpPr>
          <a:xfrm>
            <a:off x="3873137" y="1359961"/>
            <a:ext cx="3977641" cy="2643081"/>
            <a:chOff x="659674" y="1359961"/>
            <a:chExt cx="3977641" cy="2643081"/>
          </a:xfrm>
        </p:grpSpPr>
        <p:pic>
          <p:nvPicPr>
            <p:cNvPr id="1026" name="Picture 2" descr="https://motamem.org/wp-content/uploads/2015/09/value-vs-criteria.gif"/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59674" y="1359961"/>
              <a:ext cx="3977641" cy="264308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5" name="Oval 4"/>
            <p:cNvSpPr/>
            <p:nvPr/>
          </p:nvSpPr>
          <p:spPr>
            <a:xfrm>
              <a:off x="1903911" y="3663408"/>
              <a:ext cx="757646" cy="339634"/>
            </a:xfrm>
            <a:prstGeom prst="ellipse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9" name="Straight Arrow Connector 8"/>
          <p:cNvCxnSpPr/>
          <p:nvPr/>
        </p:nvCxnSpPr>
        <p:spPr>
          <a:xfrm>
            <a:off x="7811589" y="2521133"/>
            <a:ext cx="548640" cy="0"/>
          </a:xfrm>
          <a:prstGeom prst="straightConnector1">
            <a:avLst/>
          </a:prstGeom>
          <a:ln w="57150" cap="flat" cmpd="sng" algn="ctr">
            <a:solidFill>
              <a:schemeClr val="accent2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2" name="Straight Arrow Connector 11"/>
          <p:cNvCxnSpPr/>
          <p:nvPr/>
        </p:nvCxnSpPr>
        <p:spPr>
          <a:xfrm flipH="1">
            <a:off x="3363686" y="2547259"/>
            <a:ext cx="568235" cy="0"/>
          </a:xfrm>
          <a:prstGeom prst="straightConnector1">
            <a:avLst/>
          </a:prstGeom>
          <a:ln w="57150" cap="flat" cmpd="sng" algn="ctr">
            <a:solidFill>
              <a:srgbClr val="4372C2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1300650" y="1392755"/>
            <a:ext cx="106792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sz="2800" b="1">
                <a:cs typeface="B Nazanin" panose="00000400000000000000" pitchFamily="2" charset="-78"/>
              </a:defRPr>
            </a:lvl1pPr>
          </a:lstStyle>
          <a:p>
            <a:r>
              <a:rPr lang="fa-IR" sz="2400" dirty="0">
                <a:solidFill>
                  <a:srgbClr val="4372C2"/>
                </a:solidFill>
              </a:rPr>
              <a:t>معیار ها </a:t>
            </a:r>
            <a:endParaRPr lang="en-US" sz="2400" dirty="0">
              <a:solidFill>
                <a:srgbClr val="4372C2"/>
              </a:solidFill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9204662" y="1387998"/>
            <a:ext cx="111280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a-IR" sz="2400" b="1" dirty="0" smtClean="0">
                <a:solidFill>
                  <a:srgbClr val="C00000"/>
                </a:solidFill>
                <a:cs typeface="B Nazanin" panose="00000400000000000000" pitchFamily="2" charset="-78"/>
              </a:rPr>
              <a:t>ارزش ها </a:t>
            </a:r>
            <a:endParaRPr lang="en-US" sz="2400" b="1" dirty="0">
              <a:solidFill>
                <a:srgbClr val="C00000"/>
              </a:solidFill>
              <a:cs typeface="B Nazanin" panose="00000400000000000000" pitchFamily="2" charset="-78"/>
            </a:endParaRPr>
          </a:p>
        </p:txBody>
      </p:sp>
      <p:cxnSp>
        <p:nvCxnSpPr>
          <p:cNvPr id="17" name="Straight Connector 16"/>
          <p:cNvCxnSpPr/>
          <p:nvPr/>
        </p:nvCxnSpPr>
        <p:spPr>
          <a:xfrm>
            <a:off x="1058092" y="1860387"/>
            <a:ext cx="1802674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/>
          <p:cNvCxnSpPr/>
          <p:nvPr/>
        </p:nvCxnSpPr>
        <p:spPr>
          <a:xfrm>
            <a:off x="9017454" y="1886513"/>
            <a:ext cx="1802674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210461" y="1975111"/>
            <a:ext cx="3616957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71450" indent="-171450" algn="l" rtl="1">
              <a:buFont typeface="Wingdings" panose="05000000000000000000" pitchFamily="2" charset="2"/>
              <a:buChar char="ü"/>
            </a:pPr>
            <a:r>
              <a:rPr lang="fa-IR" sz="1200" b="1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ما معمولاً در تعیین و بررسی معیارها، مشکل چندانی نداریم.</a:t>
            </a:r>
            <a:endParaRPr lang="en-US" sz="1200" dirty="0">
              <a:cs typeface="B Nazanin" panose="00000400000000000000" pitchFamily="2" charset="-78"/>
            </a:endParaRPr>
          </a:p>
        </p:txBody>
      </p:sp>
      <p:sp>
        <p:nvSpPr>
          <p:cNvPr id="22" name="Rectangle 21"/>
          <p:cNvSpPr/>
          <p:nvPr/>
        </p:nvSpPr>
        <p:spPr>
          <a:xfrm>
            <a:off x="8438608" y="1975616"/>
            <a:ext cx="3082834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71450" indent="-171450" algn="r" rtl="1">
              <a:buFont typeface="Wingdings" panose="05000000000000000000" pitchFamily="2" charset="2"/>
              <a:buChar char="ü"/>
            </a:pPr>
            <a:r>
              <a:rPr lang="fa-IR" sz="1200" b="1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تعیین ارزشها کار چندان دشواری نیست </a:t>
            </a:r>
            <a:endParaRPr lang="en-US" sz="1200" dirty="0">
              <a:cs typeface="B Nazanin" panose="00000400000000000000" pitchFamily="2" charset="-78"/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8334104" y="2471503"/>
            <a:ext cx="3187337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71450" indent="-171450" algn="r" rtl="1">
              <a:buFont typeface="Wingdings" panose="05000000000000000000" pitchFamily="2" charset="2"/>
              <a:buChar char="ü"/>
            </a:pPr>
            <a:r>
              <a:rPr lang="fa-IR" sz="1200" b="1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اولویت بندی ارزشها میتواند یک چالش مهم تاثیر گذار در تصمیم گیری باشد . </a:t>
            </a:r>
            <a:endParaRPr lang="en-US" sz="1200" dirty="0">
              <a:cs typeface="B Nazanin" panose="00000400000000000000" pitchFamily="2" charset="-78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181070" y="2824477"/>
            <a:ext cx="3437342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71450" indent="-171450" algn="r" rtl="1">
              <a:buFont typeface="Wingdings" panose="05000000000000000000" pitchFamily="2" charset="2"/>
              <a:buChar char="ü"/>
            </a:pPr>
            <a:r>
              <a:rPr lang="fa-IR" sz="1200" b="1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در تعریفی بسیار ساده، هر پارامتری که وجود یا عدم وجود آن در گزینه‌ی نهایی شما حائز اهمیت است، یک معیار محسوب می‌شود.</a:t>
            </a:r>
            <a:endParaRPr lang="en-US" sz="1200" b="1" dirty="0">
              <a:solidFill>
                <a:srgbClr val="000000"/>
              </a:solidFill>
              <a:latin typeface="IRANSans"/>
              <a:cs typeface="B Nazanin" panose="00000400000000000000" pitchFamily="2" charset="-78"/>
            </a:endParaRPr>
          </a:p>
        </p:txBody>
      </p:sp>
      <p:sp>
        <p:nvSpPr>
          <p:cNvPr id="25" name="Rectangle 24"/>
          <p:cNvSpPr/>
          <p:nvPr/>
        </p:nvSpPr>
        <p:spPr>
          <a:xfrm>
            <a:off x="8325122" y="3067158"/>
            <a:ext cx="3187337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71450" indent="-171450" algn="r" rtl="1">
              <a:buFont typeface="Wingdings" panose="05000000000000000000" pitchFamily="2" charset="2"/>
              <a:buChar char="ü"/>
            </a:pPr>
            <a:r>
              <a:rPr lang="fa-IR" sz="1200" b="1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اولویت بندی ارزشها، در اولویت بندی معیار ها نیز موثر است که مبنای تصمیم گیری و انتخاب می باشد . </a:t>
            </a:r>
            <a:endParaRPr lang="en-US" sz="1200" dirty="0">
              <a:cs typeface="B Nazanin" panose="00000400000000000000" pitchFamily="2" charset="-78"/>
            </a:endParaRPr>
          </a:p>
        </p:txBody>
      </p:sp>
      <p:sp>
        <p:nvSpPr>
          <p:cNvPr id="24" name="Rectangle 23"/>
          <p:cNvSpPr/>
          <p:nvPr/>
        </p:nvSpPr>
        <p:spPr>
          <a:xfrm>
            <a:off x="741316" y="4189961"/>
            <a:ext cx="10731137" cy="584775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 algn="r" rtl="1"/>
            <a:r>
              <a:rPr lang="fa-IR" sz="1600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هر زمان که در مقایسه‌ی دو </a:t>
            </a:r>
            <a:r>
              <a:rPr lang="fa-IR" sz="1600" b="1" dirty="0">
                <a:solidFill>
                  <a:srgbClr val="C00000"/>
                </a:solidFill>
                <a:latin typeface="IRANSans"/>
                <a:cs typeface="B Nazanin" panose="00000400000000000000" pitchFamily="2" charset="-78"/>
              </a:rPr>
              <a:t>ارزش</a:t>
            </a:r>
            <a:r>
              <a:rPr lang="fa-IR" sz="1600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 یا دو </a:t>
            </a:r>
            <a:r>
              <a:rPr lang="fa-IR" sz="16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معیار</a:t>
            </a:r>
            <a:r>
              <a:rPr lang="fa-IR" sz="1600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 مختلف </a:t>
            </a:r>
            <a:r>
              <a:rPr lang="en-US" sz="1600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X </a:t>
            </a:r>
            <a:r>
              <a:rPr lang="fa-IR" sz="1600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و </a:t>
            </a:r>
            <a:r>
              <a:rPr lang="en-US" sz="1600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Y </a:t>
            </a:r>
            <a:r>
              <a:rPr lang="fa-IR" sz="1600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دچار تردید شدید، می‌توانید دو سناریوی ذهنی طراحی کنید که در یکی از آنها </a:t>
            </a:r>
            <a:r>
              <a:rPr lang="en-US" sz="1600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 X </a:t>
            </a:r>
            <a:r>
              <a:rPr lang="fa-IR" sz="1600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به </a:t>
            </a:r>
            <a:r>
              <a:rPr lang="fa-IR" sz="1600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صورت کامل تامین شده و </a:t>
            </a:r>
            <a:r>
              <a:rPr lang="en-US" sz="1600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Y  </a:t>
            </a:r>
            <a:r>
              <a:rPr lang="fa-IR" sz="1600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به </a:t>
            </a:r>
            <a:r>
              <a:rPr lang="fa-IR" sz="1600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هیچ وجه تامین نشده است. در سناریوی دوم، </a:t>
            </a:r>
            <a:r>
              <a:rPr lang="en-US" sz="1600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Y </a:t>
            </a:r>
            <a:r>
              <a:rPr lang="fa-IR" sz="1600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به </a:t>
            </a:r>
            <a:r>
              <a:rPr lang="fa-IR" sz="1600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صورت کامل تامین شده و </a:t>
            </a:r>
            <a:r>
              <a:rPr lang="en-US" sz="1600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X </a:t>
            </a:r>
            <a:r>
              <a:rPr lang="fa-IR" sz="1600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تامین نشده است. در این حالت، احتمالاً‌ انتخاب شما راحت‌تر خواهد بود.</a:t>
            </a:r>
            <a:endParaRPr lang="en-US" sz="1600" dirty="0">
              <a:cs typeface="B Nazanin" panose="00000400000000000000" pitchFamily="2" charset="-78"/>
            </a:endParaRPr>
          </a:p>
        </p:txBody>
      </p:sp>
      <p:sp>
        <p:nvSpPr>
          <p:cNvPr id="26" name="Rectangle 25"/>
          <p:cNvSpPr/>
          <p:nvPr/>
        </p:nvSpPr>
        <p:spPr>
          <a:xfrm>
            <a:off x="1058092" y="5081757"/>
            <a:ext cx="10128068" cy="1384995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just" rtl="1"/>
            <a:r>
              <a:rPr lang="fa-IR" sz="1400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فرض کنیم در حال انتخاب یک همکار برای شرکت هستیم.</a:t>
            </a:r>
          </a:p>
          <a:p>
            <a:pPr algn="just" rtl="1"/>
            <a:r>
              <a:rPr lang="fa-IR" sz="1400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قاعدتاً ارزش‌های سازمانی در نهایت به چند معیار منتهی شده‌اند که </a:t>
            </a:r>
            <a:r>
              <a:rPr lang="fa-IR" sz="1400" b="1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صداقت</a:t>
            </a:r>
            <a:r>
              <a:rPr lang="fa-IR" sz="1400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 و </a:t>
            </a:r>
            <a:r>
              <a:rPr lang="fa-IR" sz="1400" b="1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هوش</a:t>
            </a:r>
            <a:r>
              <a:rPr lang="fa-IR" sz="1400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، دو مورد از آنهاست.</a:t>
            </a:r>
          </a:p>
          <a:p>
            <a:pPr algn="just" rtl="1"/>
            <a:r>
              <a:rPr lang="fa-IR" sz="1400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اما نمی‌دانیم کدامیک مهم‌تر است (هر چه فکر می‌کنیم به جمع‌بندی نهایی نمی‌رسیم).</a:t>
            </a:r>
          </a:p>
          <a:p>
            <a:pPr algn="just" rtl="1"/>
            <a:r>
              <a:rPr lang="fa-IR" sz="1400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برای مقایسه صداقت و هوش در انتخاب یک همکار جدید (یا حتی شریک عاطفی)، یک </a:t>
            </a:r>
            <a:r>
              <a:rPr lang="fa-IR" sz="1400" b="1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فرد تیزهوش</a:t>
            </a:r>
            <a:r>
              <a:rPr lang="fa-IR" sz="1400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 را در نظر بگیرید که حتی یک جمله‌ی راست هم از دهانش در نمی‌آید.</a:t>
            </a:r>
          </a:p>
          <a:p>
            <a:pPr algn="just" rtl="1"/>
            <a:r>
              <a:rPr lang="fa-IR" sz="1400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حالا او را با یک </a:t>
            </a:r>
            <a:r>
              <a:rPr lang="fa-IR" sz="1400" b="1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فرد بسیار کم استعداد و با درک ضعیف</a:t>
            </a:r>
            <a:r>
              <a:rPr lang="fa-IR" sz="1400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 مقایسه کنید که یک حرف دروغ هم از دهانش در نمی‌آید.</a:t>
            </a:r>
          </a:p>
          <a:p>
            <a:pPr algn="just" rtl="1"/>
            <a:r>
              <a:rPr lang="fa-IR" sz="1400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حالا تصمیم بگیرید که در صورت اجبار به انتخاب بین این دو، کدام را به عنوان یک همکار (یا شریک عاطفی) ترجیح می‌دهید.</a:t>
            </a:r>
          </a:p>
        </p:txBody>
      </p:sp>
    </p:spTree>
    <p:extLst>
      <p:ext uri="{BB962C8B-B14F-4D97-AF65-F5344CB8AC3E}">
        <p14:creationId xmlns:p14="http://schemas.microsoft.com/office/powerpoint/2010/main" val="225902200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4B6193-F9F1-4C54-838F-77350B9FC5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00200" y="397568"/>
            <a:ext cx="9875520" cy="709749"/>
          </a:xfrm>
        </p:spPr>
        <p:txBody>
          <a:bodyPr>
            <a:normAutofit/>
          </a:bodyPr>
          <a:lstStyle/>
          <a:p>
            <a:pPr algn="r"/>
            <a:r>
              <a:rPr lang="fa-IR" sz="4000" dirty="0" smtClean="0">
                <a:cs typeface="B Nazanin" panose="00000400000000000000" pitchFamily="2" charset="-78"/>
              </a:rPr>
              <a:t>چالش اخلاق و فرهنگ در تصمیم گیری </a:t>
            </a:r>
            <a:endParaRPr lang="en-US" sz="4000" dirty="0">
              <a:cs typeface="B Nazanin" panose="00000400000000000000" pitchFamily="2" charset="-78"/>
            </a:endParaRPr>
          </a:p>
        </p:txBody>
      </p:sp>
      <p:cxnSp>
        <p:nvCxnSpPr>
          <p:cNvPr id="8" name="Straight Connector 7"/>
          <p:cNvCxnSpPr/>
          <p:nvPr/>
        </p:nvCxnSpPr>
        <p:spPr>
          <a:xfrm>
            <a:off x="888274" y="1175658"/>
            <a:ext cx="10437223" cy="13063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pic>
        <p:nvPicPr>
          <p:cNvPr id="2050" name="Picture 2" descr="ÙØ³Ø¦ÙÙ ØªØ±Ø§ÙÙØ§ - ÙÙÙÙÙâØ§Û Ø§Ø² Ø§Ø®ÙØ§Ù ÙÙØ´ ÙØµÙÙØ¹Û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2277" y="1396620"/>
            <a:ext cx="3772523" cy="12875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/>
          <p:cNvSpPr txBox="1"/>
          <p:nvPr/>
        </p:nvSpPr>
        <p:spPr>
          <a:xfrm>
            <a:off x="3948197" y="2094071"/>
            <a:ext cx="114807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b="1">
                <a:cs typeface="B Nazanin" panose="00000400000000000000" pitchFamily="2" charset="-78"/>
              </a:defRPr>
            </a:lvl1pPr>
          </a:lstStyle>
          <a:p>
            <a:r>
              <a:rPr lang="fa-IR" sz="1400" dirty="0">
                <a:solidFill>
                  <a:srgbClr val="FF0000"/>
                </a:solidFill>
              </a:rPr>
              <a:t>فرد قانون مدار  </a:t>
            </a:r>
            <a:endParaRPr lang="en-US" sz="1400" dirty="0">
              <a:solidFill>
                <a:srgbClr val="FF0000"/>
              </a:solidFill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3948197" y="1547027"/>
            <a:ext cx="145264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a-IR" sz="1400" b="1" dirty="0" smtClean="0">
                <a:solidFill>
                  <a:srgbClr val="4372C2"/>
                </a:solidFill>
                <a:cs typeface="B Nazanin" panose="00000400000000000000" pitchFamily="2" charset="-78"/>
              </a:rPr>
              <a:t>افراد متخلف از قانون</a:t>
            </a:r>
            <a:endParaRPr lang="en-US" sz="1400" b="1" dirty="0">
              <a:solidFill>
                <a:srgbClr val="4372C2"/>
              </a:solidFill>
              <a:cs typeface="B Nazanin" panose="00000400000000000000" pitchFamily="2" charset="-78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813869" y="1201784"/>
            <a:ext cx="13420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b="1">
                <a:cs typeface="B Nazanin" panose="00000400000000000000" pitchFamily="2" charset="-78"/>
              </a:defRPr>
            </a:lvl1pPr>
          </a:lstStyle>
          <a:p>
            <a:r>
              <a:rPr lang="fa-IR" dirty="0" smtClean="0">
                <a:solidFill>
                  <a:srgbClr val="00B050"/>
                </a:solidFill>
              </a:rPr>
              <a:t>تصمیم گیرنده </a:t>
            </a:r>
            <a:endParaRPr lang="en-US" dirty="0">
              <a:solidFill>
                <a:srgbClr val="00B050"/>
              </a:solidFill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7700198" y="1625018"/>
            <a:ext cx="39725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b="1">
                <a:cs typeface="B Nazanin" panose="00000400000000000000" pitchFamily="2" charset="-78"/>
              </a:defRPr>
            </a:lvl1pPr>
          </a:lstStyle>
          <a:p>
            <a:r>
              <a:rPr lang="fa-IR" dirty="0" smtClean="0">
                <a:solidFill>
                  <a:schemeClr val="accent2">
                    <a:lumMod val="75000"/>
                  </a:schemeClr>
                </a:solidFill>
              </a:rPr>
              <a:t>مثال کلاسیک قطار و سوزن بان در تصمیم گیری </a:t>
            </a:r>
            <a:endParaRPr lang="en-US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5756056" y="1625018"/>
            <a:ext cx="213295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a-IR" b="1" i="1" dirty="0">
                <a:latin typeface="Corbel (Body)"/>
              </a:rPr>
              <a:t>)</a:t>
            </a:r>
            <a:r>
              <a:rPr lang="en-US" b="1" i="1" dirty="0">
                <a:latin typeface="Corbel (Body)"/>
              </a:rPr>
              <a:t>Trolley </a:t>
            </a:r>
            <a:r>
              <a:rPr lang="en-US" b="1" i="1" dirty="0" smtClean="0">
                <a:latin typeface="Corbel (Body)"/>
              </a:rPr>
              <a:t>Problem</a:t>
            </a:r>
            <a:r>
              <a:rPr lang="fa-IR" b="1" i="1" dirty="0" smtClean="0">
                <a:latin typeface="Corbel (Body)"/>
              </a:rPr>
              <a:t>(</a:t>
            </a:r>
            <a:endParaRPr lang="en-US" b="1" i="1" dirty="0">
              <a:latin typeface="Corbel (Body)"/>
            </a:endParaRPr>
          </a:p>
        </p:txBody>
      </p:sp>
      <p:pic>
        <p:nvPicPr>
          <p:cNvPr id="10" name="Picture 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12608" y="2760154"/>
            <a:ext cx="5149570" cy="1998846"/>
          </a:xfrm>
          <a:prstGeom prst="rect">
            <a:avLst/>
          </a:prstGeom>
        </p:spPr>
      </p:pic>
      <p:pic>
        <p:nvPicPr>
          <p:cNvPr id="11" name="Picture 10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8710" y="3008396"/>
            <a:ext cx="3357371" cy="2359731"/>
          </a:xfrm>
          <a:prstGeom prst="rect">
            <a:avLst/>
          </a:prstGeom>
        </p:spPr>
      </p:pic>
      <p:pic>
        <p:nvPicPr>
          <p:cNvPr id="12" name="Picture 11"/>
          <p:cNvPicPr>
            <a:picLocks noChangeAspect="1"/>
          </p:cNvPicPr>
          <p:nvPr/>
        </p:nvPicPr>
        <p:blipFill rotWithShape="1">
          <a:blip r:embed="rId5"/>
          <a:srcRect b="8497"/>
          <a:stretch/>
        </p:blipFill>
        <p:spPr>
          <a:xfrm>
            <a:off x="8857085" y="2799343"/>
            <a:ext cx="3045156" cy="3788070"/>
          </a:xfrm>
          <a:prstGeom prst="rect">
            <a:avLst/>
          </a:prstGeom>
          <a:ln>
            <a:solidFill>
              <a:srgbClr val="00B050"/>
            </a:solidFill>
          </a:ln>
        </p:spPr>
      </p:pic>
      <p:pic>
        <p:nvPicPr>
          <p:cNvPr id="13" name="Picture 12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31536" y="4842030"/>
            <a:ext cx="5085589" cy="1745383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404801" y="5368127"/>
            <a:ext cx="308129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>
                <a:solidFill>
                  <a:srgbClr val="0070C0"/>
                </a:solidFill>
              </a:rPr>
              <a:t>http://</a:t>
            </a:r>
            <a:r>
              <a:rPr lang="en-US" b="1" dirty="0">
                <a:solidFill>
                  <a:srgbClr val="0070C0"/>
                </a:solidFill>
              </a:rPr>
              <a:t>moralmachine</a:t>
            </a:r>
            <a:r>
              <a:rPr lang="en-US" dirty="0">
                <a:solidFill>
                  <a:srgbClr val="0070C0"/>
                </a:solidFill>
              </a:rPr>
              <a:t>.mit.edu/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6442" y="5830780"/>
            <a:ext cx="2247731" cy="646331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pPr algn="ctr" rtl="1"/>
            <a:r>
              <a:rPr lang="fa-IR" b="1" dirty="0" smtClean="0">
                <a:solidFill>
                  <a:srgbClr val="FF0000"/>
                </a:solidFill>
                <a:latin typeface="IRANSans"/>
                <a:cs typeface="B Nazanin" panose="00000400000000000000" pitchFamily="2" charset="-78"/>
              </a:rPr>
              <a:t>بررسی ۴۰ </a:t>
            </a:r>
            <a:r>
              <a:rPr lang="fa-IR" b="1" dirty="0">
                <a:solidFill>
                  <a:srgbClr val="FF0000"/>
                </a:solidFill>
                <a:latin typeface="IRANSans"/>
                <a:cs typeface="B Nazanin" panose="00000400000000000000" pitchFamily="2" charset="-78"/>
              </a:rPr>
              <a:t>میلیون تصمیم </a:t>
            </a:r>
            <a:r>
              <a:rPr lang="fa-IR" b="1" dirty="0" smtClean="0">
                <a:solidFill>
                  <a:srgbClr val="FF0000"/>
                </a:solidFill>
                <a:latin typeface="IRANSans"/>
                <a:cs typeface="B Nazanin" panose="00000400000000000000" pitchFamily="2" charset="-78"/>
              </a:rPr>
              <a:t> </a:t>
            </a:r>
          </a:p>
          <a:p>
            <a:pPr algn="ctr" rtl="1"/>
            <a:r>
              <a:rPr lang="fa-IR" b="1" dirty="0" smtClean="0">
                <a:solidFill>
                  <a:srgbClr val="FF0000"/>
                </a:solidFill>
                <a:latin typeface="IRANSans"/>
                <a:cs typeface="B Nazanin" panose="00000400000000000000" pitchFamily="2" charset="-78"/>
              </a:rPr>
              <a:t>در ۲۳۳</a:t>
            </a:r>
            <a:r>
              <a:rPr lang="en-US" b="1" dirty="0" smtClean="0">
                <a:solidFill>
                  <a:srgbClr val="FF0000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fa-IR" b="1" dirty="0" smtClean="0">
                <a:solidFill>
                  <a:srgbClr val="FF0000"/>
                </a:solidFill>
                <a:latin typeface="IRANSans"/>
                <a:cs typeface="B Nazanin" panose="00000400000000000000" pitchFamily="2" charset="-78"/>
              </a:rPr>
              <a:t>فرهنگ (کشو</a:t>
            </a:r>
            <a:r>
              <a:rPr lang="fa-IR" b="1" dirty="0">
                <a:solidFill>
                  <a:srgbClr val="FF0000"/>
                </a:solidFill>
                <a:latin typeface="IRANSans"/>
                <a:cs typeface="B Nazanin" panose="00000400000000000000" pitchFamily="2" charset="-78"/>
              </a:rPr>
              <a:t>ر</a:t>
            </a:r>
            <a:r>
              <a:rPr lang="fa-IR" b="1" dirty="0" smtClean="0">
                <a:solidFill>
                  <a:srgbClr val="FF0000"/>
                </a:solidFill>
                <a:latin typeface="IRANSans"/>
                <a:cs typeface="B Nazanin" panose="00000400000000000000" pitchFamily="2" charset="-78"/>
              </a:rPr>
              <a:t>)</a:t>
            </a:r>
            <a:endParaRPr lang="en-US" b="1" dirty="0">
              <a:solidFill>
                <a:srgbClr val="FF0000"/>
              </a:solidFill>
              <a:cs typeface="B Nazanin" panose="00000400000000000000" pitchFamily="2" charset="-78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4903538" y="2692735"/>
            <a:ext cx="251863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a-IR" b="1" dirty="0">
                <a:solidFill>
                  <a:srgbClr val="0070C0"/>
                </a:solidFill>
                <a:cs typeface="B Nazanin" panose="00000400000000000000" pitchFamily="2" charset="-78"/>
              </a:rPr>
              <a:t>ترجیح به حفظ جان جوان‌تر‌ها</a:t>
            </a:r>
            <a:endParaRPr lang="en-US" dirty="0">
              <a:solidFill>
                <a:srgbClr val="0070C0"/>
              </a:solidFill>
              <a:cs typeface="B Nazanin" panose="00000400000000000000" pitchFamily="2" charset="-78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4952611" y="4828967"/>
            <a:ext cx="238238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a-IR" b="1" dirty="0">
                <a:solidFill>
                  <a:srgbClr val="0070C0"/>
                </a:solidFill>
                <a:cs typeface="B Nazanin" panose="00000400000000000000" pitchFamily="2" charset="-78"/>
              </a:rPr>
              <a:t>ترجیح به حفظ جان </a:t>
            </a:r>
            <a:r>
              <a:rPr lang="fa-IR" b="1" dirty="0" smtClean="0">
                <a:solidFill>
                  <a:srgbClr val="0070C0"/>
                </a:solidFill>
                <a:cs typeface="B Nazanin" panose="00000400000000000000" pitchFamily="2" charset="-78"/>
              </a:rPr>
              <a:t>پیاده ها</a:t>
            </a:r>
            <a:endParaRPr lang="en-US" dirty="0">
              <a:solidFill>
                <a:srgbClr val="0070C0"/>
              </a:solidFill>
              <a:cs typeface="B Nazanin" panose="00000400000000000000" pitchFamily="2" charset="-78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9134955" y="2432984"/>
            <a:ext cx="262924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a-IR" b="1" dirty="0">
                <a:solidFill>
                  <a:srgbClr val="0070C0"/>
                </a:solidFill>
                <a:cs typeface="B Nazanin" panose="00000400000000000000" pitchFamily="2" charset="-78"/>
              </a:rPr>
              <a:t>ترجیح به حفظ جان </a:t>
            </a:r>
            <a:r>
              <a:rPr lang="fa-IR" b="1" dirty="0" smtClean="0">
                <a:solidFill>
                  <a:srgbClr val="0070C0"/>
                </a:solidFill>
                <a:cs typeface="B Nazanin" panose="00000400000000000000" pitchFamily="2" charset="-78"/>
              </a:rPr>
              <a:t>موارد دیگر</a:t>
            </a:r>
            <a:endParaRPr lang="en-US" dirty="0">
              <a:solidFill>
                <a:srgbClr val="0070C0"/>
              </a:solidFill>
              <a:cs typeface="B Nazanin" panose="00000400000000000000" pitchFamily="2" charset="-78"/>
            </a:endParaRPr>
          </a:p>
        </p:txBody>
      </p:sp>
      <p:cxnSp>
        <p:nvCxnSpPr>
          <p:cNvPr id="20" name="Straight Connector 19"/>
          <p:cNvCxnSpPr/>
          <p:nvPr/>
        </p:nvCxnSpPr>
        <p:spPr>
          <a:xfrm>
            <a:off x="256489" y="2691859"/>
            <a:ext cx="8609796" cy="4565"/>
          </a:xfrm>
          <a:prstGeom prst="line">
            <a:avLst/>
          </a:prstGeom>
          <a:ln w="9525" cap="flat" cmpd="sng" algn="ctr">
            <a:solidFill>
              <a:schemeClr val="accent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3" name="Straight Connector 22"/>
          <p:cNvCxnSpPr/>
          <p:nvPr/>
        </p:nvCxnSpPr>
        <p:spPr>
          <a:xfrm>
            <a:off x="3713128" y="4759398"/>
            <a:ext cx="5101302" cy="37206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1112151" y="2667744"/>
            <a:ext cx="10967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a-IR" b="1" dirty="0" smtClean="0">
                <a:solidFill>
                  <a:schemeClr val="accent2">
                    <a:lumMod val="75000"/>
                  </a:schemeClr>
                </a:solidFill>
                <a:cs typeface="B Nazanin" panose="00000400000000000000" pitchFamily="2" charset="-78"/>
              </a:rPr>
              <a:t>مثالی دیگر </a:t>
            </a:r>
            <a:endParaRPr lang="en-US" b="1" dirty="0">
              <a:solidFill>
                <a:schemeClr val="accent2">
                  <a:lumMod val="75000"/>
                </a:schemeClr>
              </a:solidFill>
              <a:cs typeface="B Nazanin" panose="00000400000000000000" pitchFamily="2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403288912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4B6193-F9F1-4C54-838F-77350B9FC5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69125" y="425299"/>
            <a:ext cx="9875520" cy="709749"/>
          </a:xfrm>
        </p:spPr>
        <p:txBody>
          <a:bodyPr vert="horz" lIns="91440" tIns="45720" rIns="91440" bIns="45720" rtlCol="0" anchor="ctr">
            <a:normAutofit fontScale="90000"/>
          </a:bodyPr>
          <a:lstStyle/>
          <a:p>
            <a:pPr algn="r"/>
            <a:r>
              <a:rPr lang="fa-IR" sz="4800" dirty="0">
                <a:cs typeface="B Nazanin" panose="00000400000000000000" pitchFamily="2" charset="-78"/>
              </a:rPr>
              <a:t> ثبت و مرور تصمیمها</a:t>
            </a:r>
            <a:endParaRPr lang="en-US" sz="4800" dirty="0">
              <a:cs typeface="B Nazanin" panose="00000400000000000000" pitchFamily="2" charset="-78"/>
            </a:endParaRPr>
          </a:p>
        </p:txBody>
      </p:sp>
      <p:cxnSp>
        <p:nvCxnSpPr>
          <p:cNvPr id="8" name="Straight Connector 7"/>
          <p:cNvCxnSpPr/>
          <p:nvPr/>
        </p:nvCxnSpPr>
        <p:spPr>
          <a:xfrm>
            <a:off x="888274" y="1240973"/>
            <a:ext cx="10437223" cy="13063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561702" y="1411742"/>
            <a:ext cx="1067235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 rtl="1"/>
            <a:r>
              <a:rPr lang="fa-IR" b="1" dirty="0">
                <a:cs typeface="B Nazanin" panose="00000400000000000000" pitchFamily="2" charset="-78"/>
              </a:rPr>
              <a:t>مدیرانی که بعد از ده یا بیست سال تجربه، همچنان تصمیمهای بدیهی را اشتباه می‌گیرند، مشکلی در تجربه تصمیم گیری </a:t>
            </a:r>
            <a:r>
              <a:rPr lang="fa-IR" b="1" dirty="0" smtClean="0">
                <a:cs typeface="B Nazanin" panose="00000400000000000000" pitchFamily="2" charset="-78"/>
              </a:rPr>
              <a:t>ندارند. بلکه </a:t>
            </a:r>
            <a:r>
              <a:rPr lang="fa-IR" b="1" dirty="0">
                <a:cs typeface="B Nazanin" panose="00000400000000000000" pitchFamily="2" charset="-78"/>
              </a:rPr>
              <a:t>ضعف آنها در </a:t>
            </a:r>
            <a:r>
              <a:rPr lang="fa-IR" b="1" dirty="0">
                <a:solidFill>
                  <a:srgbClr val="C00000"/>
                </a:solidFill>
                <a:cs typeface="B Nazanin" panose="00000400000000000000" pitchFamily="2" charset="-78"/>
              </a:rPr>
              <a:t>یادگیری از تصمیم های قبلی</a:t>
            </a:r>
            <a:r>
              <a:rPr lang="fa-IR" b="1" dirty="0">
                <a:cs typeface="B Nazanin" panose="00000400000000000000" pitchFamily="2" charset="-78"/>
              </a:rPr>
              <a:t> است</a:t>
            </a:r>
            <a:r>
              <a:rPr lang="fa-IR" b="1" dirty="0" smtClean="0">
                <a:cs typeface="B Nazanin" panose="00000400000000000000" pitchFamily="2" charset="-78"/>
              </a:rPr>
              <a:t>. </a:t>
            </a:r>
            <a:endParaRPr lang="fa-IR" b="1" dirty="0">
              <a:cs typeface="B Nazanin" panose="00000400000000000000" pitchFamily="2" charset="-78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692331" y="2228842"/>
            <a:ext cx="10633166" cy="92333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justLow" rtl="1"/>
            <a:r>
              <a:rPr lang="fa-IR" dirty="0">
                <a:cs typeface="B Nazanin" panose="00000400000000000000" pitchFamily="2" charset="-78"/>
              </a:rPr>
              <a:t>حافظه، ابزار مطمئنی برای مرور تصمیم‌ها نیست. ذهن ما به </a:t>
            </a:r>
            <a:r>
              <a:rPr lang="fa-IR" b="1" dirty="0">
                <a:solidFill>
                  <a:srgbClr val="4372C2"/>
                </a:solidFill>
                <a:cs typeface="B Nazanin" panose="00000400000000000000" pitchFamily="2" charset="-78"/>
              </a:rPr>
              <a:t>خطاهای شناختی </a:t>
            </a:r>
            <a:r>
              <a:rPr lang="fa-IR" dirty="0">
                <a:cs typeface="B Nazanin" panose="00000400000000000000" pitchFamily="2" charset="-78"/>
              </a:rPr>
              <a:t>متعددی گرفتار است و حافظه هم معمولاً بیش از آنکه در خدمت منطقِ ما باشد، در تسخیرخطاهای شناختی است</a:t>
            </a:r>
            <a:r>
              <a:rPr lang="fa-IR" dirty="0" smtClean="0">
                <a:cs typeface="B Nazanin" panose="00000400000000000000" pitchFamily="2" charset="-78"/>
              </a:rPr>
              <a:t>. متاسفانه </a:t>
            </a:r>
            <a:r>
              <a:rPr lang="fa-IR" dirty="0">
                <a:cs typeface="B Nazanin" panose="00000400000000000000" pitchFamily="2" charset="-78"/>
              </a:rPr>
              <a:t> ذهن ما خاطرات را به تدریج </a:t>
            </a:r>
            <a:r>
              <a:rPr lang="fa-IR" b="1" dirty="0">
                <a:cs typeface="B Nazanin" panose="00000400000000000000" pitchFamily="2" charset="-78"/>
              </a:rPr>
              <a:t>تحریف</a:t>
            </a:r>
            <a:r>
              <a:rPr lang="fa-IR" dirty="0">
                <a:cs typeface="B Nazanin" panose="00000400000000000000" pitchFamily="2" charset="-78"/>
              </a:rPr>
              <a:t> می‌کند و آنچه ما امروز درباره شرایط تصمیم گیری به خاطر می‌آوریم، الزاماً با آنچه واقعاً در آن زمان وجود داشته یکسان نیست.</a:t>
            </a:r>
            <a:endParaRPr lang="en-US" dirty="0">
              <a:cs typeface="B Nazanin" panose="00000400000000000000" pitchFamily="2" charset="-78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561703" y="3296815"/>
            <a:ext cx="1076379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r" rtl="1">
              <a:buFont typeface="Wingdings" panose="05000000000000000000" pitchFamily="2" charset="2"/>
              <a:buChar char="ü"/>
            </a:pPr>
            <a:r>
              <a:rPr lang="fa-IR" b="1" dirty="0">
                <a:solidFill>
                  <a:srgbClr val="002060"/>
                </a:solidFill>
                <a:cs typeface="B Nazanin" panose="00000400000000000000" pitchFamily="2" charset="-78"/>
              </a:rPr>
              <a:t>یکی از بهترین روش‌ها برای بهبود کیفیت تصمیم گیری، ثبت تصمیم‌هاست</a:t>
            </a:r>
            <a:r>
              <a:rPr lang="fa-IR" b="1" dirty="0" smtClean="0">
                <a:solidFill>
                  <a:srgbClr val="002060"/>
                </a:solidFill>
                <a:cs typeface="B Nazanin" panose="00000400000000000000" pitchFamily="2" charset="-78"/>
              </a:rPr>
              <a:t>.  ( </a:t>
            </a:r>
            <a:r>
              <a:rPr lang="fa-IR" b="1" i="1" dirty="0" smtClean="0">
                <a:solidFill>
                  <a:srgbClr val="002060"/>
                </a:solidFill>
                <a:cs typeface="B Nazanin" panose="00000400000000000000" pitchFamily="2" charset="-78"/>
              </a:rPr>
              <a:t>به همراه شرایط ، معیارها و پارامتر های تصمیم گیری در آن زمان </a:t>
            </a:r>
            <a:r>
              <a:rPr lang="fa-IR" b="1" dirty="0" smtClean="0">
                <a:solidFill>
                  <a:srgbClr val="002060"/>
                </a:solidFill>
                <a:cs typeface="B Nazanin" panose="00000400000000000000" pitchFamily="2" charset="-78"/>
              </a:rPr>
              <a:t>) مثال : </a:t>
            </a:r>
            <a:r>
              <a:rPr lang="fa-IR" dirty="0">
                <a:solidFill>
                  <a:srgbClr val="002060"/>
                </a:solidFill>
                <a:cs typeface="B Nazanin" panose="00000400000000000000" pitchFamily="2" charset="-78"/>
              </a:rPr>
              <a:t>چه گزینه‌هایی پیش روی من بود؟</a:t>
            </a:r>
            <a:r>
              <a:rPr lang="en-US" dirty="0">
                <a:solidFill>
                  <a:srgbClr val="002060"/>
                </a:solidFill>
                <a:cs typeface="B Nazanin" panose="00000400000000000000" pitchFamily="2" charset="-78"/>
              </a:rPr>
              <a:t> </a:t>
            </a:r>
            <a:r>
              <a:rPr lang="fa-IR" dirty="0">
                <a:solidFill>
                  <a:srgbClr val="002060"/>
                </a:solidFill>
                <a:cs typeface="B Nazanin" panose="00000400000000000000" pitchFamily="2" charset="-78"/>
              </a:rPr>
              <a:t>چقدر به انتخاب خودم مطمئنم؟</a:t>
            </a:r>
            <a:r>
              <a:rPr lang="en-US" dirty="0">
                <a:solidFill>
                  <a:srgbClr val="002060"/>
                </a:solidFill>
                <a:cs typeface="B Nazanin" panose="00000400000000000000" pitchFamily="2" charset="-78"/>
              </a:rPr>
              <a:t>  </a:t>
            </a:r>
            <a:r>
              <a:rPr lang="fa-IR" dirty="0">
                <a:solidFill>
                  <a:srgbClr val="002060"/>
                </a:solidFill>
                <a:cs typeface="B Nazanin" panose="00000400000000000000" pitchFamily="2" charset="-78"/>
              </a:rPr>
              <a:t>افراد موافق و مخالف با </a:t>
            </a:r>
            <a:r>
              <a:rPr lang="fa-IR" dirty="0" smtClean="0">
                <a:solidFill>
                  <a:srgbClr val="002060"/>
                </a:solidFill>
                <a:cs typeface="B Nazanin" panose="00000400000000000000" pitchFamily="2" charset="-78"/>
              </a:rPr>
              <a:t>انتخاب من </a:t>
            </a:r>
            <a:r>
              <a:rPr lang="fa-IR" dirty="0">
                <a:solidFill>
                  <a:srgbClr val="002060"/>
                </a:solidFill>
                <a:cs typeface="B Nazanin" panose="00000400000000000000" pitchFamily="2" charset="-78"/>
              </a:rPr>
              <a:t>و دلایل آنها چیست </a:t>
            </a:r>
            <a:r>
              <a:rPr lang="fa-IR" dirty="0" smtClean="0">
                <a:solidFill>
                  <a:srgbClr val="002060"/>
                </a:solidFill>
                <a:cs typeface="B Nazanin" panose="00000400000000000000" pitchFamily="2" charset="-78"/>
              </a:rPr>
              <a:t>؟ چه مواردی الان برام قطعی است و چه مواردی رو حدس میزنم ؟ چقدر برای این تصمیم زمان دارم ؟ چقدر عجله دارم ؟ و ..... </a:t>
            </a:r>
            <a:endParaRPr lang="en-US" dirty="0">
              <a:solidFill>
                <a:srgbClr val="002060"/>
              </a:solidFill>
              <a:cs typeface="B Nazanin" panose="00000400000000000000" pitchFamily="2" charset="-78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6540213" y="4423007"/>
            <a:ext cx="478528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285750" indent="-285750" algn="r" rtl="1">
              <a:buFont typeface="Wingdings" panose="05000000000000000000" pitchFamily="2" charset="2"/>
              <a:buChar char="v"/>
            </a:pPr>
            <a:r>
              <a:rPr lang="fa-IR" b="1" dirty="0" smtClean="0">
                <a:solidFill>
                  <a:srgbClr val="C00000"/>
                </a:solidFill>
                <a:cs typeface="B Nazanin" panose="00000400000000000000" pitchFamily="2" charset="-78"/>
              </a:rPr>
              <a:t>هرگز نمیتوان و نباید همه تصمیمهای خود را ثبت کنید .</a:t>
            </a:r>
            <a:endParaRPr lang="en-US" dirty="0">
              <a:solidFill>
                <a:srgbClr val="C00000"/>
              </a:solidFill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2897718" y="4753150"/>
            <a:ext cx="786946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 rtl="1"/>
            <a:r>
              <a:rPr lang="fa-IR" dirty="0" smtClean="0">
                <a:cs typeface="B Nazanin" panose="00000400000000000000" pitchFamily="2" charset="-78"/>
              </a:rPr>
              <a:t>برای ثبت تصمیم ها موضوع ، استراتژی و ... مشخص کنید ! (مثلا تصمیمات مهم در مورد جذب منابع انسانی)  </a:t>
            </a:r>
            <a:endParaRPr lang="en-US" dirty="0"/>
          </a:p>
        </p:txBody>
      </p:sp>
      <p:sp>
        <p:nvSpPr>
          <p:cNvPr id="12" name="Rectangle 11"/>
          <p:cNvSpPr/>
          <p:nvPr/>
        </p:nvSpPr>
        <p:spPr>
          <a:xfrm>
            <a:off x="3744576" y="5127852"/>
            <a:ext cx="758092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285750" indent="-285750" algn="r" rtl="1">
              <a:buFont typeface="Wingdings" panose="05000000000000000000" pitchFamily="2" charset="2"/>
              <a:buChar char="v"/>
            </a:pPr>
            <a:r>
              <a:rPr lang="fa-IR" b="1" dirty="0" smtClean="0">
                <a:solidFill>
                  <a:srgbClr val="C00000"/>
                </a:solidFill>
                <a:cs typeface="B Nazanin" panose="00000400000000000000" pitchFamily="2" charset="-78"/>
              </a:rPr>
              <a:t>الزاما در مورد همه تصمیمات نمی توانید به همه سوالات مشخص شده به یکباره پاسخ دهید. </a:t>
            </a:r>
            <a:endParaRPr lang="en-US" dirty="0">
              <a:solidFill>
                <a:srgbClr val="C00000"/>
              </a:solidFill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2141101" y="5452625"/>
            <a:ext cx="862607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 rtl="1"/>
            <a:r>
              <a:rPr lang="fa-IR" dirty="0">
                <a:cs typeface="B Nazanin" panose="00000400000000000000" pitchFamily="2" charset="-78"/>
              </a:rPr>
              <a:t>هر از چند گاهی سوالات را مرور و تکمیل </a:t>
            </a:r>
            <a:r>
              <a:rPr lang="fa-IR" dirty="0" smtClean="0">
                <a:cs typeface="B Nazanin" panose="00000400000000000000" pitchFamily="2" charset="-78"/>
              </a:rPr>
              <a:t>کنید و در مورد هر تصمیم مشخص کنید که چه سوالاتی را ثبت خواهید کرد .  </a:t>
            </a:r>
            <a:endParaRPr lang="en-US" dirty="0">
              <a:cs typeface="B Nazanin" panose="00000400000000000000" pitchFamily="2" charset="-78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6703719" y="5821957"/>
            <a:ext cx="462177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285750" indent="-285750" algn="r" rtl="1">
              <a:buFont typeface="Wingdings" panose="05000000000000000000" pitchFamily="2" charset="2"/>
              <a:buChar char="v"/>
            </a:pPr>
            <a:r>
              <a:rPr lang="fa-IR" b="1" dirty="0">
                <a:solidFill>
                  <a:srgbClr val="C00000"/>
                </a:solidFill>
                <a:cs typeface="B Nazanin" panose="00000400000000000000" pitchFamily="2" charset="-78"/>
              </a:rPr>
              <a:t> ارزش اصلی این نوع ثبت کردن در مرور تصمیم است.</a:t>
            </a:r>
            <a:endParaRPr lang="en-US" b="1" dirty="0">
              <a:solidFill>
                <a:srgbClr val="C00000"/>
              </a:solidFill>
              <a:cs typeface="B Nazanin" panose="00000400000000000000" pitchFamily="2" charset="-78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2365520" y="6184546"/>
            <a:ext cx="840166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 rtl="1"/>
            <a:r>
              <a:rPr lang="fa-IR" dirty="0" smtClean="0">
                <a:cs typeface="B Nazanin" panose="00000400000000000000" pitchFamily="2" charset="-78"/>
              </a:rPr>
              <a:t>همین </a:t>
            </a:r>
            <a:r>
              <a:rPr lang="fa-IR" dirty="0">
                <a:cs typeface="B Nazanin" panose="00000400000000000000" pitchFamily="2" charset="-78"/>
              </a:rPr>
              <a:t>که گزارش امروز خود را بعداً بخوانید قطعاً مفید و آموزنده است و برای شما تداعی‌های بسیاری ایجاد خواهد کرد.</a:t>
            </a:r>
            <a:endParaRPr lang="en-US" dirty="0">
              <a:cs typeface="B Nazanin" panose="00000400000000000000" pitchFamily="2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150834397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4B6193-F9F1-4C54-838F-77350B9FC5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69125" y="425299"/>
            <a:ext cx="9875520" cy="709749"/>
          </a:xfrm>
        </p:spPr>
        <p:txBody>
          <a:bodyPr>
            <a:normAutofit fontScale="90000"/>
          </a:bodyPr>
          <a:lstStyle/>
          <a:p>
            <a:pPr algn="r"/>
            <a:r>
              <a:rPr lang="fa-IR" sz="4800" dirty="0" smtClean="0">
                <a:cs typeface="B Nazanin" panose="00000400000000000000" pitchFamily="2" charset="-78"/>
              </a:rPr>
              <a:t>خطا های شناختی یا خطاهای ذهنی </a:t>
            </a:r>
            <a:endParaRPr lang="en-US" sz="4800" dirty="0">
              <a:cs typeface="B Nazanin" panose="00000400000000000000" pitchFamily="2" charset="-78"/>
            </a:endParaRPr>
          </a:p>
        </p:txBody>
      </p:sp>
      <p:cxnSp>
        <p:nvCxnSpPr>
          <p:cNvPr id="8" name="Straight Connector 7"/>
          <p:cNvCxnSpPr/>
          <p:nvPr/>
        </p:nvCxnSpPr>
        <p:spPr>
          <a:xfrm>
            <a:off x="888274" y="1240973"/>
            <a:ext cx="10437223" cy="13063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3" name="Rectangle 2"/>
          <p:cNvSpPr/>
          <p:nvPr/>
        </p:nvSpPr>
        <p:spPr>
          <a:xfrm>
            <a:off x="10277161" y="1977167"/>
            <a:ext cx="1266629" cy="276999"/>
          </a:xfrm>
          <a:prstGeom prst="rect">
            <a:avLst/>
          </a:prstGeom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r>
              <a:rPr lang="en-US" sz="1200" dirty="0">
                <a:solidFill>
                  <a:schemeClr val="accent1">
                    <a:lumMod val="75000"/>
                  </a:schemeClr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Cognitive Errors</a:t>
            </a:r>
          </a:p>
        </p:txBody>
      </p:sp>
      <p:sp>
        <p:nvSpPr>
          <p:cNvPr id="4" name="Rectangle 3"/>
          <p:cNvSpPr/>
          <p:nvPr/>
        </p:nvSpPr>
        <p:spPr>
          <a:xfrm>
            <a:off x="10006284" y="1693428"/>
            <a:ext cx="162736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a-IR" b="1" dirty="0">
                <a:cs typeface="B Nazanin" panose="00000400000000000000" pitchFamily="2" charset="-78"/>
              </a:rPr>
              <a:t>خطا های شناختی </a:t>
            </a:r>
            <a:endParaRPr lang="en-US" b="1" dirty="0"/>
          </a:p>
        </p:txBody>
      </p:sp>
      <p:sp>
        <p:nvSpPr>
          <p:cNvPr id="5" name="Rectangle 4"/>
          <p:cNvSpPr/>
          <p:nvPr/>
        </p:nvSpPr>
        <p:spPr>
          <a:xfrm>
            <a:off x="3174277" y="1508762"/>
            <a:ext cx="6557554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 algn="r" rtl="1">
              <a:buFont typeface="Wingdings" panose="05000000000000000000" pitchFamily="2" charset="2"/>
              <a:buChar char="ü"/>
            </a:pPr>
            <a:r>
              <a:rPr lang="fa-IR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هنگام </a:t>
            </a:r>
            <a:r>
              <a:rPr lang="fa-IR" b="1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تحلیل</a:t>
            </a:r>
            <a:r>
              <a:rPr lang="fa-IR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 و </a:t>
            </a:r>
            <a:r>
              <a:rPr lang="fa-IR" b="1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تفسیر</a:t>
            </a:r>
            <a:r>
              <a:rPr lang="fa-IR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 و </a:t>
            </a:r>
            <a:r>
              <a:rPr lang="fa-IR" b="1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قضاوت</a:t>
            </a:r>
            <a:r>
              <a:rPr lang="fa-IR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 در مورد رویدادها ما را به دام خود گرفتار </a:t>
            </a:r>
            <a:r>
              <a:rPr lang="fa-IR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می‌کنند .</a:t>
            </a:r>
            <a:endParaRPr lang="en-US" dirty="0">
              <a:cs typeface="B Nazanin" panose="00000400000000000000" pitchFamily="2" charset="-78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209008" y="1885796"/>
            <a:ext cx="9522823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 algn="r" rtl="1">
              <a:buFont typeface="Wingdings" panose="05000000000000000000" pitchFamily="2" charset="2"/>
              <a:buChar char="ü"/>
            </a:pPr>
            <a:r>
              <a:rPr lang="fa-IR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اکثر خطاهای شناختی به مرور زمان و در اثر زندگی طولانی‌ مدت انسان بر روی کره زمین، در مغز ما شکل </a:t>
            </a:r>
            <a:r>
              <a:rPr lang="fa-IR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گرفته‌اند . </a:t>
            </a:r>
            <a:r>
              <a:rPr lang="fa-IR" b="1" dirty="0" smtClean="0">
                <a:solidFill>
                  <a:srgbClr val="C00000"/>
                </a:solidFill>
                <a:latin typeface="IRANSans"/>
                <a:cs typeface="B Nazanin" panose="00000400000000000000" pitchFamily="2" charset="-78"/>
              </a:rPr>
              <a:t>(مدل ذهنی)</a:t>
            </a:r>
            <a:endParaRPr lang="en-US" b="1" dirty="0">
              <a:solidFill>
                <a:srgbClr val="C00000"/>
              </a:solidFill>
              <a:latin typeface="IRANSans"/>
              <a:cs typeface="B Nazanin" panose="00000400000000000000" pitchFamily="2" charset="-78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1097282" y="2239766"/>
            <a:ext cx="8634549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 algn="r" rtl="1">
              <a:buFont typeface="Wingdings" panose="05000000000000000000" pitchFamily="2" charset="2"/>
              <a:buChar char="ü"/>
            </a:pPr>
            <a:r>
              <a:rPr lang="fa-IR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برخی از این مدل های ذهنی به تفکر سریع و تصمیم گیری بهتر ما کمک میکنند اما بعضا هزینه هایی نیز در بر دارند . </a:t>
            </a:r>
            <a:endParaRPr lang="en-US" dirty="0">
              <a:solidFill>
                <a:srgbClr val="000000"/>
              </a:solidFill>
              <a:latin typeface="IRANSans"/>
              <a:cs typeface="B Nazanin" panose="00000400000000000000" pitchFamily="2" charset="-78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587828" y="2712274"/>
            <a:ext cx="9418456" cy="584775"/>
          </a:xfrm>
          <a:prstGeom prst="rect">
            <a:avLst/>
          </a:prstGeom>
          <a:ln w="28575">
            <a:prstDash val="solid"/>
          </a:ln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justLow" rtl="1"/>
            <a:r>
              <a:rPr lang="en-US" sz="1600" dirty="0" err="1">
                <a:cs typeface="B Nazanin" panose="00000400000000000000" pitchFamily="2" charset="-78"/>
              </a:rPr>
              <a:t>انسان</a:t>
            </a:r>
            <a:r>
              <a:rPr lang="en-US" sz="1600" dirty="0">
                <a:cs typeface="B Nazanin" panose="00000400000000000000" pitchFamily="2" charset="-78"/>
              </a:rPr>
              <a:t> </a:t>
            </a:r>
            <a:r>
              <a:rPr lang="en-US" sz="1600" dirty="0" err="1">
                <a:cs typeface="B Nazanin" panose="00000400000000000000" pitchFamily="2" charset="-78"/>
              </a:rPr>
              <a:t>امروز</a:t>
            </a:r>
            <a:r>
              <a:rPr lang="en-US" sz="1600" dirty="0">
                <a:cs typeface="B Nazanin" panose="00000400000000000000" pitchFamily="2" charset="-78"/>
              </a:rPr>
              <a:t> ، </a:t>
            </a:r>
            <a:r>
              <a:rPr lang="en-US" sz="1600" dirty="0" err="1">
                <a:cs typeface="B Nazanin" panose="00000400000000000000" pitchFamily="2" charset="-78"/>
              </a:rPr>
              <a:t>وقتی</a:t>
            </a:r>
            <a:r>
              <a:rPr lang="en-US" sz="1600" dirty="0">
                <a:cs typeface="B Nazanin" panose="00000400000000000000" pitchFamily="2" charset="-78"/>
              </a:rPr>
              <a:t> </a:t>
            </a:r>
            <a:r>
              <a:rPr lang="en-US" sz="1600" dirty="0" err="1">
                <a:cs typeface="B Nazanin" panose="00000400000000000000" pitchFamily="2" charset="-78"/>
              </a:rPr>
              <a:t>از</a:t>
            </a:r>
            <a:r>
              <a:rPr lang="en-US" sz="1600" dirty="0">
                <a:cs typeface="B Nazanin" panose="00000400000000000000" pitchFamily="2" charset="-78"/>
              </a:rPr>
              <a:t> </a:t>
            </a:r>
            <a:r>
              <a:rPr lang="en-US" sz="1600" dirty="0" err="1">
                <a:cs typeface="B Nazanin" panose="00000400000000000000" pitchFamily="2" charset="-78"/>
              </a:rPr>
              <a:t>همکاری</a:t>
            </a:r>
            <a:r>
              <a:rPr lang="en-US" sz="1600" dirty="0">
                <a:cs typeface="B Nazanin" panose="00000400000000000000" pitchFamily="2" charset="-78"/>
              </a:rPr>
              <a:t> </a:t>
            </a:r>
            <a:r>
              <a:rPr lang="en-US" sz="1600" dirty="0" err="1">
                <a:cs typeface="B Nazanin" panose="00000400000000000000" pitchFamily="2" charset="-78"/>
              </a:rPr>
              <a:t>با</a:t>
            </a:r>
            <a:r>
              <a:rPr lang="en-US" sz="1600" dirty="0">
                <a:cs typeface="B Nazanin" panose="00000400000000000000" pitchFamily="2" charset="-78"/>
              </a:rPr>
              <a:t> </a:t>
            </a:r>
            <a:r>
              <a:rPr lang="en-US" sz="1600" dirty="0" err="1">
                <a:cs typeface="B Nazanin" panose="00000400000000000000" pitchFamily="2" charset="-78"/>
              </a:rPr>
              <a:t>فردی</a:t>
            </a:r>
            <a:r>
              <a:rPr lang="en-US" sz="1600" dirty="0">
                <a:cs typeface="B Nazanin" panose="00000400000000000000" pitchFamily="2" charset="-78"/>
              </a:rPr>
              <a:t> </a:t>
            </a:r>
            <a:r>
              <a:rPr lang="en-US" sz="1600" dirty="0" err="1">
                <a:cs typeface="B Nazanin" panose="00000400000000000000" pitchFamily="2" charset="-78"/>
              </a:rPr>
              <a:t>در</a:t>
            </a:r>
            <a:r>
              <a:rPr lang="en-US" sz="1600" dirty="0">
                <a:cs typeface="B Nazanin" panose="00000400000000000000" pitchFamily="2" charset="-78"/>
              </a:rPr>
              <a:t> </a:t>
            </a:r>
            <a:r>
              <a:rPr lang="en-US" sz="1600" dirty="0" err="1">
                <a:cs typeface="B Nazanin" panose="00000400000000000000" pitchFamily="2" charset="-78"/>
              </a:rPr>
              <a:t>یک</a:t>
            </a:r>
            <a:r>
              <a:rPr lang="en-US" sz="1600" dirty="0">
                <a:cs typeface="B Nazanin" panose="00000400000000000000" pitchFamily="2" charset="-78"/>
              </a:rPr>
              <a:t> </a:t>
            </a:r>
            <a:r>
              <a:rPr lang="en-US" sz="1600" dirty="0" err="1">
                <a:cs typeface="B Nazanin" panose="00000400000000000000" pitchFamily="2" charset="-78"/>
              </a:rPr>
              <a:t>شهر</a:t>
            </a:r>
            <a:r>
              <a:rPr lang="en-US" sz="1600" dirty="0">
                <a:cs typeface="B Nazanin" panose="00000400000000000000" pitchFamily="2" charset="-78"/>
              </a:rPr>
              <a:t> </a:t>
            </a:r>
            <a:r>
              <a:rPr lang="en-US" sz="1600" dirty="0" err="1">
                <a:cs typeface="B Nazanin" panose="00000400000000000000" pitchFamily="2" charset="-78"/>
              </a:rPr>
              <a:t>متضرر</a:t>
            </a:r>
            <a:r>
              <a:rPr lang="en-US" sz="1600" dirty="0">
                <a:cs typeface="B Nazanin" panose="00000400000000000000" pitchFamily="2" charset="-78"/>
              </a:rPr>
              <a:t> </a:t>
            </a:r>
            <a:r>
              <a:rPr lang="en-US" sz="1600" dirty="0" err="1">
                <a:cs typeface="B Nazanin" panose="00000400000000000000" pitchFamily="2" charset="-78"/>
              </a:rPr>
              <a:t>می</a:t>
            </a:r>
            <a:r>
              <a:rPr lang="en-US" sz="1600" dirty="0">
                <a:cs typeface="B Nazanin" panose="00000400000000000000" pitchFamily="2" charset="-78"/>
              </a:rPr>
              <a:t> </a:t>
            </a:r>
            <a:r>
              <a:rPr lang="en-US" sz="1600" dirty="0" err="1">
                <a:cs typeface="B Nazanin" panose="00000400000000000000" pitchFamily="2" charset="-78"/>
              </a:rPr>
              <a:t>شود</a:t>
            </a:r>
            <a:r>
              <a:rPr lang="en-US" sz="1600" dirty="0">
                <a:cs typeface="B Nazanin" panose="00000400000000000000" pitchFamily="2" charset="-78"/>
              </a:rPr>
              <a:t> </a:t>
            </a:r>
            <a:r>
              <a:rPr lang="en-US" sz="1600" dirty="0" err="1">
                <a:cs typeface="B Nazanin" panose="00000400000000000000" pitchFamily="2" charset="-78"/>
              </a:rPr>
              <a:t>به</a:t>
            </a:r>
            <a:r>
              <a:rPr lang="en-US" sz="1600" dirty="0">
                <a:cs typeface="B Nazanin" panose="00000400000000000000" pitchFamily="2" charset="-78"/>
              </a:rPr>
              <a:t> </a:t>
            </a:r>
            <a:r>
              <a:rPr lang="en-US" sz="1600" dirty="0" err="1">
                <a:cs typeface="B Nazanin" panose="00000400000000000000" pitchFamily="2" charset="-78"/>
              </a:rPr>
              <a:t>این</a:t>
            </a:r>
            <a:r>
              <a:rPr lang="en-US" sz="1600" dirty="0">
                <a:cs typeface="B Nazanin" panose="00000400000000000000" pitchFamily="2" charset="-78"/>
              </a:rPr>
              <a:t> </a:t>
            </a:r>
            <a:r>
              <a:rPr lang="en-US" sz="1600" dirty="0" err="1">
                <a:cs typeface="B Nazanin" panose="00000400000000000000" pitchFamily="2" charset="-78"/>
              </a:rPr>
              <a:t>نتیجه</a:t>
            </a:r>
            <a:r>
              <a:rPr lang="en-US" sz="1600" dirty="0">
                <a:cs typeface="B Nazanin" panose="00000400000000000000" pitchFamily="2" charset="-78"/>
              </a:rPr>
              <a:t> </a:t>
            </a:r>
            <a:r>
              <a:rPr lang="en-US" sz="1600" dirty="0" err="1">
                <a:cs typeface="B Nazanin" panose="00000400000000000000" pitchFamily="2" charset="-78"/>
              </a:rPr>
              <a:t>میرسد</a:t>
            </a:r>
            <a:r>
              <a:rPr lang="en-US" sz="1600" dirty="0">
                <a:cs typeface="B Nazanin" panose="00000400000000000000" pitchFamily="2" charset="-78"/>
              </a:rPr>
              <a:t> </a:t>
            </a:r>
            <a:r>
              <a:rPr lang="en-US" sz="1600" dirty="0" err="1">
                <a:cs typeface="B Nazanin" panose="00000400000000000000" pitchFamily="2" charset="-78"/>
              </a:rPr>
              <a:t>که</a:t>
            </a:r>
            <a:r>
              <a:rPr lang="en-US" sz="1600" dirty="0">
                <a:cs typeface="B Nazanin" panose="00000400000000000000" pitchFamily="2" charset="-78"/>
              </a:rPr>
              <a:t> </a:t>
            </a:r>
            <a:r>
              <a:rPr lang="en-US" sz="1600" dirty="0" err="1">
                <a:cs typeface="B Nazanin" panose="00000400000000000000" pitchFamily="2" charset="-78"/>
              </a:rPr>
              <a:t>بهتر</a:t>
            </a:r>
            <a:r>
              <a:rPr lang="en-US" sz="1600" dirty="0">
                <a:cs typeface="B Nazanin" panose="00000400000000000000" pitchFamily="2" charset="-78"/>
              </a:rPr>
              <a:t> </a:t>
            </a:r>
            <a:r>
              <a:rPr lang="en-US" sz="1600" dirty="0" err="1">
                <a:cs typeface="B Nazanin" panose="00000400000000000000" pitchFamily="2" charset="-78"/>
              </a:rPr>
              <a:t>است</a:t>
            </a:r>
            <a:r>
              <a:rPr lang="en-US" sz="1600" dirty="0">
                <a:cs typeface="B Nazanin" panose="00000400000000000000" pitchFamily="2" charset="-78"/>
              </a:rPr>
              <a:t> </a:t>
            </a:r>
            <a:r>
              <a:rPr lang="en-US" sz="1600" dirty="0" err="1">
                <a:cs typeface="B Nazanin" panose="00000400000000000000" pitchFamily="2" charset="-78"/>
              </a:rPr>
              <a:t>با</a:t>
            </a:r>
            <a:r>
              <a:rPr lang="en-US" sz="1600" dirty="0">
                <a:cs typeface="B Nazanin" panose="00000400000000000000" pitchFamily="2" charset="-78"/>
              </a:rPr>
              <a:t> </a:t>
            </a:r>
            <a:r>
              <a:rPr lang="en-US" sz="1600" dirty="0" err="1">
                <a:cs typeface="B Nazanin" panose="00000400000000000000" pitchFamily="2" charset="-78"/>
              </a:rPr>
              <a:t>هیچ</a:t>
            </a:r>
            <a:r>
              <a:rPr lang="en-US" sz="1600" dirty="0">
                <a:cs typeface="B Nazanin" panose="00000400000000000000" pitchFamily="2" charset="-78"/>
              </a:rPr>
              <a:t> </a:t>
            </a:r>
            <a:r>
              <a:rPr lang="en-US" sz="1600" dirty="0" err="1">
                <a:cs typeface="B Nazanin" panose="00000400000000000000" pitchFamily="2" charset="-78"/>
              </a:rPr>
              <a:t>یک</a:t>
            </a:r>
            <a:r>
              <a:rPr lang="en-US" sz="1600" dirty="0">
                <a:cs typeface="B Nazanin" panose="00000400000000000000" pitchFamily="2" charset="-78"/>
              </a:rPr>
              <a:t> </a:t>
            </a:r>
            <a:r>
              <a:rPr lang="en-US" sz="1600" dirty="0" err="1">
                <a:cs typeface="B Nazanin" panose="00000400000000000000" pitchFamily="2" charset="-78"/>
              </a:rPr>
              <a:t>از</a:t>
            </a:r>
            <a:r>
              <a:rPr lang="en-US" sz="1600" dirty="0">
                <a:cs typeface="B Nazanin" panose="00000400000000000000" pitchFamily="2" charset="-78"/>
              </a:rPr>
              <a:t> </a:t>
            </a:r>
            <a:r>
              <a:rPr lang="en-US" sz="1600" dirty="0" err="1">
                <a:cs typeface="B Nazanin" panose="00000400000000000000" pitchFamily="2" charset="-78"/>
              </a:rPr>
              <a:t>افراد</a:t>
            </a:r>
            <a:r>
              <a:rPr lang="en-US" sz="1600" dirty="0">
                <a:cs typeface="B Nazanin" panose="00000400000000000000" pitchFamily="2" charset="-78"/>
              </a:rPr>
              <a:t> </a:t>
            </a:r>
            <a:r>
              <a:rPr lang="en-US" sz="1600" dirty="0" err="1">
                <a:cs typeface="B Nazanin" panose="00000400000000000000" pitchFamily="2" charset="-78"/>
              </a:rPr>
              <a:t>آن</a:t>
            </a:r>
            <a:r>
              <a:rPr lang="en-US" sz="1600" dirty="0">
                <a:cs typeface="B Nazanin" panose="00000400000000000000" pitchFamily="2" charset="-78"/>
              </a:rPr>
              <a:t> </a:t>
            </a:r>
            <a:r>
              <a:rPr lang="en-US" sz="1600" dirty="0" err="1">
                <a:cs typeface="B Nazanin" panose="00000400000000000000" pitchFamily="2" charset="-78"/>
              </a:rPr>
              <a:t>شهر</a:t>
            </a:r>
            <a:r>
              <a:rPr lang="en-US" sz="1600" dirty="0">
                <a:cs typeface="B Nazanin" panose="00000400000000000000" pitchFamily="2" charset="-78"/>
              </a:rPr>
              <a:t> </a:t>
            </a:r>
            <a:r>
              <a:rPr lang="en-US" sz="1600" dirty="0" err="1">
                <a:cs typeface="B Nazanin" panose="00000400000000000000" pitchFamily="2" charset="-78"/>
              </a:rPr>
              <a:t>همکاری</a:t>
            </a:r>
            <a:r>
              <a:rPr lang="en-US" sz="1600" dirty="0">
                <a:cs typeface="B Nazanin" panose="00000400000000000000" pitchFamily="2" charset="-78"/>
              </a:rPr>
              <a:t> </a:t>
            </a:r>
            <a:r>
              <a:rPr lang="en-US" sz="1600" dirty="0" err="1">
                <a:cs typeface="B Nazanin" panose="00000400000000000000" pitchFamily="2" charset="-78"/>
              </a:rPr>
              <a:t>نکند</a:t>
            </a:r>
            <a:r>
              <a:rPr lang="en-US" sz="1600" dirty="0">
                <a:cs typeface="B Nazanin" panose="00000400000000000000" pitchFamily="2" charset="-78"/>
              </a:rPr>
              <a:t> . </a:t>
            </a:r>
            <a:r>
              <a:rPr lang="en-US" sz="1600" dirty="0" err="1">
                <a:cs typeface="B Nazanin" panose="00000400000000000000" pitchFamily="2" charset="-78"/>
              </a:rPr>
              <a:t>او</a:t>
            </a:r>
            <a:r>
              <a:rPr lang="en-US" sz="1600" dirty="0">
                <a:cs typeface="B Nazanin" panose="00000400000000000000" pitchFamily="2" charset="-78"/>
              </a:rPr>
              <a:t> </a:t>
            </a:r>
            <a:r>
              <a:rPr lang="en-US" sz="1600" dirty="0" err="1">
                <a:cs typeface="B Nazanin" panose="00000400000000000000" pitchFamily="2" charset="-78"/>
              </a:rPr>
              <a:t>این</a:t>
            </a:r>
            <a:r>
              <a:rPr lang="en-US" sz="1600" dirty="0">
                <a:cs typeface="B Nazanin" panose="00000400000000000000" pitchFamily="2" charset="-78"/>
              </a:rPr>
              <a:t> </a:t>
            </a:r>
            <a:r>
              <a:rPr lang="en-US" sz="1600" dirty="0" err="1" smtClean="0">
                <a:cs typeface="B Nazanin" panose="00000400000000000000" pitchFamily="2" charset="-78"/>
              </a:rPr>
              <a:t>تجربه</a:t>
            </a:r>
            <a:r>
              <a:rPr lang="fa-IR" sz="1600" dirty="0" smtClean="0">
                <a:cs typeface="B Nazanin" panose="00000400000000000000" pitchFamily="2" charset="-78"/>
              </a:rPr>
              <a:t> </a:t>
            </a:r>
            <a:r>
              <a:rPr lang="fa-IR" sz="1600" b="1" dirty="0">
                <a:solidFill>
                  <a:srgbClr val="C00000"/>
                </a:solidFill>
                <a:latin typeface="IRANSans"/>
                <a:cs typeface="B Nazanin" panose="00000400000000000000" pitchFamily="2" charset="-78"/>
              </a:rPr>
              <a:t>(مدل ذهنی</a:t>
            </a:r>
            <a:r>
              <a:rPr lang="fa-IR" sz="1600" b="1" dirty="0" smtClean="0">
                <a:solidFill>
                  <a:srgbClr val="C00000"/>
                </a:solidFill>
                <a:latin typeface="IRANSans"/>
                <a:cs typeface="B Nazanin" panose="00000400000000000000" pitchFamily="2" charset="-78"/>
              </a:rPr>
              <a:t>)</a:t>
            </a:r>
            <a:r>
              <a:rPr lang="en-US" sz="1600" dirty="0" smtClean="0">
                <a:cs typeface="B Nazanin" panose="00000400000000000000" pitchFamily="2" charset="-78"/>
              </a:rPr>
              <a:t> </a:t>
            </a:r>
            <a:r>
              <a:rPr lang="en-US" sz="1600" dirty="0" err="1">
                <a:cs typeface="B Nazanin" panose="00000400000000000000" pitchFamily="2" charset="-78"/>
              </a:rPr>
              <a:t>را</a:t>
            </a:r>
            <a:r>
              <a:rPr lang="en-US" sz="1600" dirty="0">
                <a:cs typeface="B Nazanin" panose="00000400000000000000" pitchFamily="2" charset="-78"/>
              </a:rPr>
              <a:t> </a:t>
            </a:r>
            <a:r>
              <a:rPr lang="en-US" sz="1600" dirty="0" err="1">
                <a:cs typeface="B Nazanin" panose="00000400000000000000" pitchFamily="2" charset="-78"/>
              </a:rPr>
              <a:t>درست</a:t>
            </a:r>
            <a:r>
              <a:rPr lang="en-US" sz="1600" dirty="0">
                <a:cs typeface="B Nazanin" panose="00000400000000000000" pitchFamily="2" charset="-78"/>
              </a:rPr>
              <a:t> </a:t>
            </a:r>
            <a:r>
              <a:rPr lang="en-US" sz="1600" dirty="0" err="1">
                <a:cs typeface="B Nazanin" panose="00000400000000000000" pitchFamily="2" charset="-78"/>
              </a:rPr>
              <a:t>مانند</a:t>
            </a:r>
            <a:r>
              <a:rPr lang="en-US" sz="1600" dirty="0">
                <a:cs typeface="B Nazanin" panose="00000400000000000000" pitchFamily="2" charset="-78"/>
              </a:rPr>
              <a:t> </a:t>
            </a:r>
            <a:r>
              <a:rPr lang="en-US" sz="1600" b="1" dirty="0" err="1">
                <a:solidFill>
                  <a:srgbClr val="0070C0"/>
                </a:solidFill>
                <a:cs typeface="B Nazanin" panose="00000400000000000000" pitchFamily="2" charset="-78"/>
              </a:rPr>
              <a:t>تجربه</a:t>
            </a:r>
            <a:r>
              <a:rPr lang="en-US" sz="1600" b="1" dirty="0">
                <a:solidFill>
                  <a:srgbClr val="0070C0"/>
                </a:solidFill>
                <a:cs typeface="B Nazanin" panose="00000400000000000000" pitchFamily="2" charset="-78"/>
              </a:rPr>
              <a:t> </a:t>
            </a:r>
            <a:r>
              <a:rPr lang="en-US" sz="1600" b="1" dirty="0" err="1">
                <a:solidFill>
                  <a:srgbClr val="0070C0"/>
                </a:solidFill>
                <a:cs typeface="B Nazanin" panose="00000400000000000000" pitchFamily="2" charset="-78"/>
              </a:rPr>
              <a:t>خوردن</a:t>
            </a:r>
            <a:r>
              <a:rPr lang="en-US" sz="1600" b="1" dirty="0">
                <a:solidFill>
                  <a:srgbClr val="0070C0"/>
                </a:solidFill>
                <a:cs typeface="B Nazanin" panose="00000400000000000000" pitchFamily="2" charset="-78"/>
              </a:rPr>
              <a:t> </a:t>
            </a:r>
            <a:r>
              <a:rPr lang="en-US" sz="1600" b="1" dirty="0" err="1">
                <a:solidFill>
                  <a:srgbClr val="0070C0"/>
                </a:solidFill>
                <a:cs typeface="B Nazanin" panose="00000400000000000000" pitchFamily="2" charset="-78"/>
              </a:rPr>
              <a:t>میوه</a:t>
            </a:r>
            <a:r>
              <a:rPr lang="en-US" sz="1600" b="1" dirty="0">
                <a:solidFill>
                  <a:srgbClr val="0070C0"/>
                </a:solidFill>
                <a:cs typeface="B Nazanin" panose="00000400000000000000" pitchFamily="2" charset="-78"/>
              </a:rPr>
              <a:t> </a:t>
            </a:r>
            <a:r>
              <a:rPr lang="en-US" sz="1600" b="1" dirty="0" err="1">
                <a:solidFill>
                  <a:srgbClr val="0070C0"/>
                </a:solidFill>
                <a:cs typeface="B Nazanin" panose="00000400000000000000" pitchFamily="2" charset="-78"/>
              </a:rPr>
              <a:t>قرمز</a:t>
            </a:r>
            <a:r>
              <a:rPr lang="en-US" sz="1600" b="1" dirty="0">
                <a:solidFill>
                  <a:srgbClr val="0070C0"/>
                </a:solidFill>
                <a:cs typeface="B Nazanin" panose="00000400000000000000" pitchFamily="2" charset="-78"/>
              </a:rPr>
              <a:t> </a:t>
            </a:r>
            <a:r>
              <a:rPr lang="en-US" sz="1600" b="1" dirty="0" err="1">
                <a:solidFill>
                  <a:srgbClr val="0070C0"/>
                </a:solidFill>
                <a:cs typeface="B Nazanin" panose="00000400000000000000" pitchFamily="2" charset="-78"/>
              </a:rPr>
              <a:t>مرگبار</a:t>
            </a:r>
            <a:r>
              <a:rPr lang="en-US" sz="1600" b="1" dirty="0">
                <a:solidFill>
                  <a:srgbClr val="0070C0"/>
                </a:solidFill>
                <a:cs typeface="B Nazanin" panose="00000400000000000000" pitchFamily="2" charset="-78"/>
              </a:rPr>
              <a:t> </a:t>
            </a:r>
            <a:r>
              <a:rPr lang="en-US" sz="1600" dirty="0" err="1">
                <a:cs typeface="B Nazanin" panose="00000400000000000000" pitchFamily="2" charset="-78"/>
              </a:rPr>
              <a:t>به</a:t>
            </a:r>
            <a:r>
              <a:rPr lang="en-US" sz="1600" dirty="0">
                <a:cs typeface="B Nazanin" panose="00000400000000000000" pitchFamily="2" charset="-78"/>
              </a:rPr>
              <a:t> </a:t>
            </a:r>
            <a:r>
              <a:rPr lang="en-US" sz="1600" dirty="0" err="1">
                <a:cs typeface="B Nazanin" panose="00000400000000000000" pitchFamily="2" charset="-78"/>
              </a:rPr>
              <a:t>دوستانش</a:t>
            </a:r>
            <a:r>
              <a:rPr lang="en-US" sz="1600" dirty="0">
                <a:cs typeface="B Nazanin" panose="00000400000000000000" pitchFamily="2" charset="-78"/>
              </a:rPr>
              <a:t> </a:t>
            </a:r>
            <a:r>
              <a:rPr lang="en-US" sz="1600" dirty="0" err="1">
                <a:cs typeface="B Nazanin" panose="00000400000000000000" pitchFamily="2" charset="-78"/>
              </a:rPr>
              <a:t>هم</a:t>
            </a:r>
            <a:r>
              <a:rPr lang="en-US" sz="1600" dirty="0">
                <a:cs typeface="B Nazanin" panose="00000400000000000000" pitchFamily="2" charset="-78"/>
              </a:rPr>
              <a:t> </a:t>
            </a:r>
            <a:r>
              <a:rPr lang="en-US" sz="1600" dirty="0" err="1">
                <a:cs typeface="B Nazanin" panose="00000400000000000000" pitchFamily="2" charset="-78"/>
              </a:rPr>
              <a:t>منتقل</a:t>
            </a:r>
            <a:r>
              <a:rPr lang="en-US" sz="1600" dirty="0">
                <a:cs typeface="B Nazanin" panose="00000400000000000000" pitchFamily="2" charset="-78"/>
              </a:rPr>
              <a:t> </a:t>
            </a:r>
            <a:r>
              <a:rPr lang="en-US" sz="1600" dirty="0" err="1" smtClean="0">
                <a:cs typeface="B Nazanin" panose="00000400000000000000" pitchFamily="2" charset="-78"/>
              </a:rPr>
              <a:t>می</a:t>
            </a:r>
            <a:r>
              <a:rPr lang="fa-IR" sz="1600" dirty="0" smtClean="0">
                <a:cs typeface="B Nazanin" panose="00000400000000000000" pitchFamily="2" charset="-78"/>
              </a:rPr>
              <a:t> </a:t>
            </a:r>
            <a:r>
              <a:rPr lang="en-US" sz="1600" dirty="0" err="1" smtClean="0">
                <a:cs typeface="B Nazanin" panose="00000400000000000000" pitchFamily="2" charset="-78"/>
              </a:rPr>
              <a:t>نماید</a:t>
            </a:r>
            <a:r>
              <a:rPr lang="en-US" sz="1600" dirty="0" smtClean="0">
                <a:cs typeface="B Nazanin" panose="00000400000000000000" pitchFamily="2" charset="-78"/>
              </a:rPr>
              <a:t> </a:t>
            </a:r>
            <a:r>
              <a:rPr lang="en-US" sz="1600" dirty="0" err="1">
                <a:cs typeface="B Nazanin" panose="00000400000000000000" pitchFamily="2" charset="-78"/>
              </a:rPr>
              <a:t>تا</a:t>
            </a:r>
            <a:r>
              <a:rPr lang="en-US" sz="1600" dirty="0">
                <a:cs typeface="B Nazanin" panose="00000400000000000000" pitchFamily="2" charset="-78"/>
              </a:rPr>
              <a:t> </a:t>
            </a:r>
            <a:r>
              <a:rPr lang="en-US" sz="1600" dirty="0" err="1">
                <a:cs typeface="B Nazanin" panose="00000400000000000000" pitchFamily="2" charset="-78"/>
              </a:rPr>
              <a:t>آنها</a:t>
            </a:r>
            <a:r>
              <a:rPr lang="en-US" sz="1600" dirty="0">
                <a:cs typeface="B Nazanin" panose="00000400000000000000" pitchFamily="2" charset="-78"/>
              </a:rPr>
              <a:t> </a:t>
            </a:r>
            <a:r>
              <a:rPr lang="en-US" sz="1600" dirty="0" err="1">
                <a:cs typeface="B Nazanin" panose="00000400000000000000" pitchFamily="2" charset="-78"/>
              </a:rPr>
              <a:t>هم</a:t>
            </a:r>
            <a:r>
              <a:rPr lang="en-US" sz="1600" dirty="0">
                <a:cs typeface="B Nazanin" panose="00000400000000000000" pitchFamily="2" charset="-78"/>
              </a:rPr>
              <a:t> </a:t>
            </a:r>
            <a:r>
              <a:rPr lang="en-US" sz="1600" dirty="0" err="1">
                <a:cs typeface="B Nazanin" panose="00000400000000000000" pitchFamily="2" charset="-78"/>
              </a:rPr>
              <a:t>از</a:t>
            </a:r>
            <a:r>
              <a:rPr lang="en-US" sz="1600" dirty="0">
                <a:cs typeface="B Nazanin" panose="00000400000000000000" pitchFamily="2" charset="-78"/>
              </a:rPr>
              <a:t> </a:t>
            </a:r>
            <a:r>
              <a:rPr lang="en-US" sz="1600" dirty="0" err="1">
                <a:cs typeface="B Nazanin" panose="00000400000000000000" pitchFamily="2" charset="-78"/>
              </a:rPr>
              <a:t>این</a:t>
            </a:r>
            <a:r>
              <a:rPr lang="en-US" sz="1600" dirty="0">
                <a:cs typeface="B Nazanin" panose="00000400000000000000" pitchFamily="2" charset="-78"/>
              </a:rPr>
              <a:t> </a:t>
            </a:r>
            <a:r>
              <a:rPr lang="en-US" sz="1600" dirty="0" err="1">
                <a:cs typeface="B Nazanin" panose="00000400000000000000" pitchFamily="2" charset="-78"/>
              </a:rPr>
              <a:t>اشتباه</a:t>
            </a:r>
            <a:r>
              <a:rPr lang="en-US" sz="1600" dirty="0">
                <a:cs typeface="B Nazanin" panose="00000400000000000000" pitchFamily="2" charset="-78"/>
              </a:rPr>
              <a:t> </a:t>
            </a:r>
            <a:r>
              <a:rPr lang="en-US" sz="1600" dirty="0" err="1">
                <a:cs typeface="B Nazanin" panose="00000400000000000000" pitchFamily="2" charset="-78"/>
              </a:rPr>
              <a:t>در</a:t>
            </a:r>
            <a:r>
              <a:rPr lang="en-US" sz="1600" dirty="0">
                <a:cs typeface="B Nazanin" panose="00000400000000000000" pitchFamily="2" charset="-78"/>
              </a:rPr>
              <a:t> </a:t>
            </a:r>
            <a:r>
              <a:rPr lang="en-US" sz="1600" dirty="0" err="1">
                <a:cs typeface="B Nazanin" panose="00000400000000000000" pitchFamily="2" charset="-78"/>
              </a:rPr>
              <a:t>امان</a:t>
            </a:r>
            <a:r>
              <a:rPr lang="en-US" sz="1600" dirty="0">
                <a:cs typeface="B Nazanin" panose="00000400000000000000" pitchFamily="2" charset="-78"/>
              </a:rPr>
              <a:t> </a:t>
            </a:r>
            <a:r>
              <a:rPr lang="en-US" sz="1600" dirty="0" err="1">
                <a:cs typeface="B Nazanin" panose="00000400000000000000" pitchFamily="2" charset="-78"/>
              </a:rPr>
              <a:t>باشند</a:t>
            </a:r>
            <a:r>
              <a:rPr lang="en-US" sz="1600" dirty="0">
                <a:cs typeface="B Nazanin" panose="00000400000000000000" pitchFamily="2" charset="-78"/>
              </a:rPr>
              <a:t> . 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156904" y="2793710"/>
            <a:ext cx="150714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285750" indent="-285750" algn="r" rtl="1">
              <a:buFont typeface="Wingdings" panose="05000000000000000000" pitchFamily="2" charset="2"/>
              <a:buChar char="v"/>
            </a:pPr>
            <a:r>
              <a:rPr lang="fa-IR" b="1" dirty="0" smtClean="0">
                <a:cs typeface="B Nazanin" panose="00000400000000000000" pitchFamily="2" charset="-78"/>
              </a:rPr>
              <a:t>خطای تعمیم </a:t>
            </a:r>
            <a:endParaRPr lang="en-US" b="1" dirty="0"/>
          </a:p>
        </p:txBody>
      </p:sp>
      <p:sp>
        <p:nvSpPr>
          <p:cNvPr id="12" name="Rectangle 11"/>
          <p:cNvSpPr/>
          <p:nvPr/>
        </p:nvSpPr>
        <p:spPr>
          <a:xfrm>
            <a:off x="1980028" y="3431039"/>
            <a:ext cx="2643220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 rtl="1"/>
            <a:r>
              <a:rPr lang="fa-IR" b="1" dirty="0">
                <a:solidFill>
                  <a:srgbClr val="C00000"/>
                </a:solidFill>
                <a:latin typeface="IRANSans"/>
              </a:rPr>
              <a:t> </a:t>
            </a:r>
            <a:r>
              <a:rPr lang="fa-IR" b="1" dirty="0">
                <a:solidFill>
                  <a:srgbClr val="C00000"/>
                </a:solidFill>
                <a:cs typeface="B Nazanin" panose="00000400000000000000" pitchFamily="2" charset="-78"/>
              </a:rPr>
              <a:t>خطاهای </a:t>
            </a:r>
            <a:r>
              <a:rPr lang="fa-IR" b="1" dirty="0" smtClean="0">
                <a:solidFill>
                  <a:srgbClr val="C00000"/>
                </a:solidFill>
                <a:cs typeface="B Nazanin" panose="00000400000000000000" pitchFamily="2" charset="-78"/>
              </a:rPr>
              <a:t>شناختی </a:t>
            </a:r>
            <a:r>
              <a:rPr lang="fa-IR" b="1" dirty="0">
                <a:solidFill>
                  <a:srgbClr val="C00000"/>
                </a:solidFill>
                <a:cs typeface="B Nazanin" panose="00000400000000000000" pitchFamily="2" charset="-78"/>
              </a:rPr>
              <a:t>نوع سوگیری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13090" y="4202290"/>
            <a:ext cx="4532780" cy="156966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285750" indent="-285750" algn="r" rtl="1">
              <a:buFont typeface="Wingdings" panose="05000000000000000000" pitchFamily="2" charset="2"/>
              <a:buChar char="ü"/>
            </a:pPr>
            <a:r>
              <a:rPr lang="en-US" sz="1600" b="1" dirty="0" err="1">
                <a:cs typeface="B Nazanin" panose="00000400000000000000" pitchFamily="2" charset="-78"/>
              </a:rPr>
              <a:t>اعتماد</a:t>
            </a:r>
            <a:r>
              <a:rPr lang="en-US" sz="1600" b="1" dirty="0">
                <a:cs typeface="B Nazanin" panose="00000400000000000000" pitchFamily="2" charset="-78"/>
              </a:rPr>
              <a:t> </a:t>
            </a:r>
            <a:r>
              <a:rPr lang="en-US" sz="1600" b="1" dirty="0" err="1">
                <a:cs typeface="B Nazanin" panose="00000400000000000000" pitchFamily="2" charset="-78"/>
              </a:rPr>
              <a:t>به</a:t>
            </a:r>
            <a:r>
              <a:rPr lang="en-US" sz="1600" b="1" dirty="0">
                <a:cs typeface="B Nazanin" panose="00000400000000000000" pitchFamily="2" charset="-78"/>
              </a:rPr>
              <a:t> </a:t>
            </a:r>
            <a:r>
              <a:rPr lang="en-US" sz="1600" b="1" dirty="0" err="1">
                <a:cs typeface="B Nazanin" panose="00000400000000000000" pitchFamily="2" charset="-78"/>
              </a:rPr>
              <a:t>نفس</a:t>
            </a:r>
            <a:r>
              <a:rPr lang="en-US" sz="1600" b="1" dirty="0">
                <a:cs typeface="B Nazanin" panose="00000400000000000000" pitchFamily="2" charset="-78"/>
              </a:rPr>
              <a:t> </a:t>
            </a:r>
            <a:r>
              <a:rPr lang="en-US" sz="1600" b="1" dirty="0" err="1">
                <a:cs typeface="B Nazanin" panose="00000400000000000000" pitchFamily="2" charset="-78"/>
              </a:rPr>
              <a:t>بیش</a:t>
            </a:r>
            <a:r>
              <a:rPr lang="en-US" sz="1600" b="1" dirty="0">
                <a:cs typeface="B Nazanin" panose="00000400000000000000" pitchFamily="2" charset="-78"/>
              </a:rPr>
              <a:t> </a:t>
            </a:r>
            <a:r>
              <a:rPr lang="en-US" sz="1600" b="1" dirty="0" err="1">
                <a:cs typeface="B Nazanin" panose="00000400000000000000" pitchFamily="2" charset="-78"/>
              </a:rPr>
              <a:t>از</a:t>
            </a:r>
            <a:r>
              <a:rPr lang="en-US" sz="1600" b="1" dirty="0">
                <a:cs typeface="B Nazanin" panose="00000400000000000000" pitchFamily="2" charset="-78"/>
              </a:rPr>
              <a:t> </a:t>
            </a:r>
            <a:r>
              <a:rPr lang="en-US" sz="1600" b="1" dirty="0" err="1">
                <a:cs typeface="B Nazanin" panose="00000400000000000000" pitchFamily="2" charset="-78"/>
              </a:rPr>
              <a:t>حد</a:t>
            </a:r>
            <a:r>
              <a:rPr lang="en-US" sz="1600" b="1" dirty="0">
                <a:cs typeface="B Nazanin" panose="00000400000000000000" pitchFamily="2" charset="-78"/>
              </a:rPr>
              <a:t> (Overconfidence Bias)</a:t>
            </a:r>
          </a:p>
          <a:p>
            <a:pPr marL="285750" indent="-285750" algn="r" rtl="1">
              <a:buFont typeface="Wingdings" panose="05000000000000000000" pitchFamily="2" charset="2"/>
              <a:buChar char="ü"/>
            </a:pPr>
            <a:r>
              <a:rPr lang="en-US" sz="1600" b="1" dirty="0" err="1">
                <a:cs typeface="B Nazanin" panose="00000400000000000000" pitchFamily="2" charset="-78"/>
              </a:rPr>
              <a:t>خطای</a:t>
            </a:r>
            <a:r>
              <a:rPr lang="en-US" sz="1600" b="1" dirty="0">
                <a:cs typeface="B Nazanin" panose="00000400000000000000" pitchFamily="2" charset="-78"/>
              </a:rPr>
              <a:t> </a:t>
            </a:r>
            <a:r>
              <a:rPr lang="en-US" sz="1600" b="1" dirty="0" err="1">
                <a:cs typeface="B Nazanin" panose="00000400000000000000" pitchFamily="2" charset="-78"/>
              </a:rPr>
              <a:t>تایید</a:t>
            </a:r>
            <a:r>
              <a:rPr lang="en-US" sz="1600" b="1" dirty="0">
                <a:cs typeface="B Nazanin" panose="00000400000000000000" pitchFamily="2" charset="-78"/>
              </a:rPr>
              <a:t> </a:t>
            </a:r>
            <a:r>
              <a:rPr lang="en-US" sz="1600" b="1" dirty="0" err="1">
                <a:cs typeface="B Nazanin" panose="00000400000000000000" pitchFamily="2" charset="-78"/>
              </a:rPr>
              <a:t>خود</a:t>
            </a:r>
            <a:r>
              <a:rPr lang="en-US" sz="1600" b="1" dirty="0">
                <a:cs typeface="B Nazanin" panose="00000400000000000000" pitchFamily="2" charset="-78"/>
              </a:rPr>
              <a:t> (Confirmation Bias)</a:t>
            </a:r>
          </a:p>
          <a:p>
            <a:pPr marL="285750" indent="-285750" algn="r" rtl="1">
              <a:buFont typeface="Wingdings" panose="05000000000000000000" pitchFamily="2" charset="2"/>
              <a:buChar char="ü"/>
            </a:pPr>
            <a:r>
              <a:rPr lang="en-US" sz="1600" b="1" dirty="0" err="1">
                <a:cs typeface="B Nazanin" panose="00000400000000000000" pitchFamily="2" charset="-78"/>
              </a:rPr>
              <a:t>تمرکز</a:t>
            </a:r>
            <a:r>
              <a:rPr lang="en-US" sz="1600" b="1" dirty="0">
                <a:cs typeface="B Nazanin" panose="00000400000000000000" pitchFamily="2" charset="-78"/>
              </a:rPr>
              <a:t> </a:t>
            </a:r>
            <a:r>
              <a:rPr lang="en-US" sz="1600" b="1" dirty="0" err="1">
                <a:cs typeface="B Nazanin" panose="00000400000000000000" pitchFamily="2" charset="-78"/>
              </a:rPr>
              <a:t>بر</a:t>
            </a:r>
            <a:r>
              <a:rPr lang="en-US" sz="1600" b="1" dirty="0">
                <a:cs typeface="B Nazanin" panose="00000400000000000000" pitchFamily="2" charset="-78"/>
              </a:rPr>
              <a:t> </a:t>
            </a:r>
            <a:r>
              <a:rPr lang="en-US" sz="1600" b="1" dirty="0" err="1">
                <a:cs typeface="B Nazanin" panose="00000400000000000000" pitchFamily="2" charset="-78"/>
              </a:rPr>
              <a:t>آخرین</a:t>
            </a:r>
            <a:r>
              <a:rPr lang="en-US" sz="1600" b="1" dirty="0">
                <a:cs typeface="B Nazanin" panose="00000400000000000000" pitchFamily="2" charset="-78"/>
              </a:rPr>
              <a:t> </a:t>
            </a:r>
            <a:r>
              <a:rPr lang="en-US" sz="1600" b="1" dirty="0" err="1">
                <a:cs typeface="B Nazanin" panose="00000400000000000000" pitchFamily="2" charset="-78"/>
              </a:rPr>
              <a:t>اطلاعات</a:t>
            </a:r>
            <a:r>
              <a:rPr lang="en-US" sz="1600" b="1" dirty="0">
                <a:cs typeface="B Nazanin" panose="00000400000000000000" pitchFamily="2" charset="-78"/>
              </a:rPr>
              <a:t> (</a:t>
            </a:r>
            <a:r>
              <a:rPr lang="en-US" sz="1600" b="1" dirty="0" err="1">
                <a:cs typeface="B Nazanin" panose="00000400000000000000" pitchFamily="2" charset="-78"/>
              </a:rPr>
              <a:t>Recency</a:t>
            </a:r>
            <a:r>
              <a:rPr lang="en-US" sz="1600" b="1" dirty="0">
                <a:cs typeface="B Nazanin" panose="00000400000000000000" pitchFamily="2" charset="-78"/>
              </a:rPr>
              <a:t> Bias)</a:t>
            </a:r>
          </a:p>
          <a:p>
            <a:pPr marL="285750" indent="-285750" algn="r" rtl="1">
              <a:buFont typeface="Wingdings" panose="05000000000000000000" pitchFamily="2" charset="2"/>
              <a:buChar char="ü"/>
            </a:pPr>
            <a:r>
              <a:rPr lang="en-US" sz="1600" b="1" dirty="0" err="1">
                <a:cs typeface="B Nazanin" panose="00000400000000000000" pitchFamily="2" charset="-78"/>
              </a:rPr>
              <a:t>خطای</a:t>
            </a:r>
            <a:r>
              <a:rPr lang="en-US" sz="1600" b="1" dirty="0">
                <a:cs typeface="B Nazanin" panose="00000400000000000000" pitchFamily="2" charset="-78"/>
              </a:rPr>
              <a:t> </a:t>
            </a:r>
            <a:r>
              <a:rPr lang="en-US" sz="1600" b="1" dirty="0" err="1">
                <a:cs typeface="B Nazanin" panose="00000400000000000000" pitchFamily="2" charset="-78"/>
              </a:rPr>
              <a:t>تمرکز</a:t>
            </a:r>
            <a:r>
              <a:rPr lang="en-US" sz="1600" b="1" dirty="0">
                <a:cs typeface="B Nazanin" panose="00000400000000000000" pitchFamily="2" charset="-78"/>
              </a:rPr>
              <a:t> </a:t>
            </a:r>
            <a:r>
              <a:rPr lang="en-US" sz="1600" b="1" dirty="0" err="1">
                <a:cs typeface="B Nazanin" panose="00000400000000000000" pitchFamily="2" charset="-78"/>
              </a:rPr>
              <a:t>بر</a:t>
            </a:r>
            <a:r>
              <a:rPr lang="en-US" sz="1600" b="1" dirty="0">
                <a:cs typeface="B Nazanin" panose="00000400000000000000" pitchFamily="2" charset="-78"/>
              </a:rPr>
              <a:t> </a:t>
            </a:r>
            <a:r>
              <a:rPr lang="en-US" sz="1600" b="1" dirty="0" err="1">
                <a:cs typeface="B Nazanin" panose="00000400000000000000" pitchFamily="2" charset="-78"/>
              </a:rPr>
              <a:t>اطلاعات</a:t>
            </a:r>
            <a:r>
              <a:rPr lang="en-US" sz="1600" b="1" dirty="0">
                <a:cs typeface="B Nazanin" panose="00000400000000000000" pitchFamily="2" charset="-78"/>
              </a:rPr>
              <a:t> </a:t>
            </a:r>
            <a:r>
              <a:rPr lang="en-US" sz="1600" b="1" dirty="0" err="1">
                <a:cs typeface="B Nazanin" panose="00000400000000000000" pitchFamily="2" charset="-78"/>
              </a:rPr>
              <a:t>در</a:t>
            </a:r>
            <a:r>
              <a:rPr lang="en-US" sz="1600" b="1" dirty="0">
                <a:cs typeface="B Nazanin" panose="00000400000000000000" pitchFamily="2" charset="-78"/>
              </a:rPr>
              <a:t> </a:t>
            </a:r>
            <a:r>
              <a:rPr lang="en-US" sz="1600" b="1" dirty="0" err="1">
                <a:cs typeface="B Nazanin" panose="00000400000000000000" pitchFamily="2" charset="-78"/>
              </a:rPr>
              <a:t>دسترس</a:t>
            </a:r>
            <a:r>
              <a:rPr lang="en-US" sz="1600" b="1" dirty="0">
                <a:cs typeface="B Nazanin" panose="00000400000000000000" pitchFamily="2" charset="-78"/>
              </a:rPr>
              <a:t> </a:t>
            </a:r>
            <a:r>
              <a:rPr lang="fa-IR" sz="1600" b="1" dirty="0" smtClean="0">
                <a:cs typeface="B Nazanin" panose="00000400000000000000" pitchFamily="2" charset="-78"/>
              </a:rPr>
              <a:t>(</a:t>
            </a:r>
            <a:r>
              <a:rPr lang="en-US" sz="1600" b="1" dirty="0">
                <a:cs typeface="B Nazanin" panose="00000400000000000000" pitchFamily="2" charset="-78"/>
              </a:rPr>
              <a:t>Availability Bias</a:t>
            </a:r>
            <a:r>
              <a:rPr lang="fa-IR" sz="1600" b="1" dirty="0" smtClean="0">
                <a:cs typeface="B Nazanin" panose="00000400000000000000" pitchFamily="2" charset="-78"/>
              </a:rPr>
              <a:t>)</a:t>
            </a:r>
            <a:endParaRPr lang="en-US" sz="1600" b="1" dirty="0">
              <a:cs typeface="B Nazanin" panose="00000400000000000000" pitchFamily="2" charset="-78"/>
            </a:endParaRPr>
          </a:p>
          <a:p>
            <a:pPr marL="285750" indent="-285750" algn="r" rtl="1">
              <a:buFont typeface="Wingdings" panose="05000000000000000000" pitchFamily="2" charset="2"/>
              <a:buChar char="ü"/>
            </a:pPr>
            <a:r>
              <a:rPr lang="en-US" sz="1600" b="1" dirty="0">
                <a:cs typeface="B Nazanin" panose="00000400000000000000" pitchFamily="2" charset="-78"/>
              </a:rPr>
              <a:t>اجتناب </a:t>
            </a:r>
            <a:r>
              <a:rPr lang="en-US" sz="1600" b="1" dirty="0" err="1">
                <a:cs typeface="B Nazanin" panose="00000400000000000000" pitchFamily="2" charset="-78"/>
              </a:rPr>
              <a:t>از</a:t>
            </a:r>
            <a:r>
              <a:rPr lang="en-US" sz="1600" b="1" dirty="0">
                <a:cs typeface="B Nazanin" panose="00000400000000000000" pitchFamily="2" charset="-78"/>
              </a:rPr>
              <a:t> </a:t>
            </a:r>
            <a:r>
              <a:rPr lang="en-US" sz="1600" b="1" dirty="0" err="1">
                <a:cs typeface="B Nazanin" panose="00000400000000000000" pitchFamily="2" charset="-78"/>
              </a:rPr>
              <a:t>تعارض</a:t>
            </a:r>
            <a:r>
              <a:rPr lang="en-US" sz="1600" b="1" dirty="0">
                <a:cs typeface="B Nazanin" panose="00000400000000000000" pitchFamily="2" charset="-78"/>
              </a:rPr>
              <a:t> </a:t>
            </a:r>
            <a:r>
              <a:rPr lang="en-US" sz="1600" b="1" dirty="0" err="1">
                <a:cs typeface="B Nazanin" panose="00000400000000000000" pitchFamily="2" charset="-78"/>
              </a:rPr>
              <a:t>شناختی</a:t>
            </a:r>
            <a:r>
              <a:rPr lang="en-US" sz="1600" b="1" dirty="0">
                <a:cs typeface="B Nazanin" panose="00000400000000000000" pitchFamily="2" charset="-78"/>
              </a:rPr>
              <a:t> (Cognitive Dissonance)</a:t>
            </a:r>
          </a:p>
          <a:p>
            <a:pPr marL="285750" indent="-285750" algn="r" rtl="1">
              <a:buFont typeface="Wingdings" panose="05000000000000000000" pitchFamily="2" charset="2"/>
              <a:buChar char="ü"/>
            </a:pPr>
            <a:r>
              <a:rPr lang="en-US" sz="1600" b="1" dirty="0" err="1">
                <a:cs typeface="B Nazanin" panose="00000400000000000000" pitchFamily="2" charset="-78"/>
              </a:rPr>
              <a:t>تفکر</a:t>
            </a:r>
            <a:r>
              <a:rPr lang="en-US" sz="1600" b="1" dirty="0">
                <a:cs typeface="B Nazanin" panose="00000400000000000000" pitchFamily="2" charset="-78"/>
              </a:rPr>
              <a:t> </a:t>
            </a:r>
            <a:r>
              <a:rPr lang="en-US" sz="1600" b="1" dirty="0" err="1">
                <a:cs typeface="B Nazanin" panose="00000400000000000000" pitchFamily="2" charset="-78"/>
              </a:rPr>
              <a:t>کلیشه</a:t>
            </a:r>
            <a:r>
              <a:rPr lang="en-US" sz="1600" b="1" dirty="0">
                <a:cs typeface="B Nazanin" panose="00000400000000000000" pitchFamily="2" charset="-78"/>
              </a:rPr>
              <a:t> </a:t>
            </a:r>
            <a:r>
              <a:rPr lang="en-US" sz="1600" b="1" dirty="0" err="1">
                <a:cs typeface="B Nazanin" panose="00000400000000000000" pitchFamily="2" charset="-78"/>
              </a:rPr>
              <a:t>ای</a:t>
            </a:r>
            <a:r>
              <a:rPr lang="en-US" sz="1600" b="1" dirty="0">
                <a:cs typeface="B Nazanin" panose="00000400000000000000" pitchFamily="2" charset="-78"/>
              </a:rPr>
              <a:t> </a:t>
            </a:r>
            <a:r>
              <a:rPr lang="en-US" sz="1600" b="1" dirty="0" err="1">
                <a:cs typeface="B Nazanin" panose="00000400000000000000" pitchFamily="2" charset="-78"/>
              </a:rPr>
              <a:t>یا</a:t>
            </a:r>
            <a:r>
              <a:rPr lang="en-US" sz="1600" b="1" dirty="0">
                <a:cs typeface="B Nazanin" panose="00000400000000000000" pitchFamily="2" charset="-78"/>
              </a:rPr>
              <a:t> </a:t>
            </a:r>
            <a:r>
              <a:rPr lang="en-US" sz="1600" b="1" dirty="0" err="1">
                <a:cs typeface="B Nazanin" panose="00000400000000000000" pitchFamily="2" charset="-78"/>
              </a:rPr>
              <a:t>استریوتایپ</a:t>
            </a:r>
            <a:r>
              <a:rPr lang="en-US" sz="1600" b="1" dirty="0">
                <a:cs typeface="B Nazanin" panose="00000400000000000000" pitchFamily="2" charset="-78"/>
              </a:rPr>
              <a:t> </a:t>
            </a:r>
            <a:r>
              <a:rPr lang="fa-IR" sz="1600" b="1" dirty="0" smtClean="0">
                <a:cs typeface="B Nazanin" panose="00000400000000000000" pitchFamily="2" charset="-78"/>
              </a:rPr>
              <a:t>(</a:t>
            </a:r>
            <a:r>
              <a:rPr lang="en-US" sz="1600" b="1" dirty="0">
                <a:cs typeface="B Nazanin" panose="00000400000000000000" pitchFamily="2" charset="-78"/>
              </a:rPr>
              <a:t>Stereotype</a:t>
            </a:r>
            <a:r>
              <a:rPr lang="fa-IR" sz="1600" b="1" dirty="0" smtClean="0">
                <a:cs typeface="B Nazanin" panose="00000400000000000000" pitchFamily="2" charset="-78"/>
              </a:rPr>
              <a:t>)</a:t>
            </a:r>
            <a:endParaRPr lang="en-US" sz="1600" b="1" dirty="0">
              <a:cs typeface="B Nazanin" panose="00000400000000000000" pitchFamily="2" charset="-78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8401425" y="3434400"/>
            <a:ext cx="2643220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 rtl="1"/>
            <a:r>
              <a:rPr lang="fa-IR" b="1" dirty="0">
                <a:solidFill>
                  <a:srgbClr val="0070C0"/>
                </a:solidFill>
                <a:latin typeface="IRANSans"/>
              </a:rPr>
              <a:t> </a:t>
            </a:r>
            <a:r>
              <a:rPr lang="fa-IR" b="1" dirty="0">
                <a:solidFill>
                  <a:srgbClr val="0070C0"/>
                </a:solidFill>
                <a:cs typeface="B Nazanin" panose="00000400000000000000" pitchFamily="2" charset="-78"/>
              </a:rPr>
              <a:t>خطاهای </a:t>
            </a:r>
            <a:r>
              <a:rPr lang="fa-IR" b="1" dirty="0" smtClean="0">
                <a:solidFill>
                  <a:srgbClr val="0070C0"/>
                </a:solidFill>
                <a:cs typeface="B Nazanin" panose="00000400000000000000" pitchFamily="2" charset="-78"/>
              </a:rPr>
              <a:t>شناختی </a:t>
            </a:r>
            <a:r>
              <a:rPr lang="fa-IR" b="1" dirty="0">
                <a:solidFill>
                  <a:srgbClr val="0070C0"/>
                </a:solidFill>
                <a:cs typeface="B Nazanin" panose="00000400000000000000" pitchFamily="2" charset="-78"/>
              </a:rPr>
              <a:t>نوع تحریف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008916" y="3934362"/>
            <a:ext cx="5535659" cy="255454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 algn="r" rtl="1">
              <a:buFont typeface="Wingdings" panose="05000000000000000000" pitchFamily="2" charset="2"/>
              <a:buChar char="ü"/>
            </a:pPr>
            <a:r>
              <a:rPr lang="en-US" sz="1600" b="1" dirty="0" err="1">
                <a:cs typeface="B Nazanin" panose="00000400000000000000" pitchFamily="2" charset="-78"/>
              </a:rPr>
              <a:t>تفکر</a:t>
            </a:r>
            <a:r>
              <a:rPr lang="en-US" sz="1600" b="1" dirty="0">
                <a:cs typeface="B Nazanin" panose="00000400000000000000" pitchFamily="2" charset="-78"/>
              </a:rPr>
              <a:t> </a:t>
            </a:r>
            <a:r>
              <a:rPr lang="en-US" sz="1600" b="1" dirty="0" err="1">
                <a:cs typeface="B Nazanin" panose="00000400000000000000" pitchFamily="2" charset="-78"/>
              </a:rPr>
              <a:t>همه</a:t>
            </a:r>
            <a:r>
              <a:rPr lang="en-US" sz="1600" b="1" dirty="0">
                <a:cs typeface="B Nazanin" panose="00000400000000000000" pitchFamily="2" charset="-78"/>
              </a:rPr>
              <a:t> </a:t>
            </a:r>
            <a:r>
              <a:rPr lang="en-US" sz="1600" b="1" dirty="0" err="1">
                <a:cs typeface="B Nazanin" panose="00000400000000000000" pitchFamily="2" charset="-78"/>
              </a:rPr>
              <a:t>یا</a:t>
            </a:r>
            <a:r>
              <a:rPr lang="en-US" sz="1600" b="1" dirty="0">
                <a:cs typeface="B Nazanin" panose="00000400000000000000" pitchFamily="2" charset="-78"/>
              </a:rPr>
              <a:t> </a:t>
            </a:r>
            <a:r>
              <a:rPr lang="en-US" sz="1600" b="1" dirty="0" err="1">
                <a:cs typeface="B Nazanin" panose="00000400000000000000" pitchFamily="2" charset="-78"/>
              </a:rPr>
              <a:t>هیچ</a:t>
            </a:r>
            <a:r>
              <a:rPr lang="en-US" sz="1600" b="1" dirty="0">
                <a:cs typeface="B Nazanin" panose="00000400000000000000" pitchFamily="2" charset="-78"/>
              </a:rPr>
              <a:t> </a:t>
            </a:r>
            <a:r>
              <a:rPr lang="fa-IR" sz="1600" b="1" dirty="0" smtClean="0">
                <a:cs typeface="B Nazanin" panose="00000400000000000000" pitchFamily="2" charset="-78"/>
              </a:rPr>
              <a:t>(</a:t>
            </a:r>
            <a:r>
              <a:rPr lang="en-US" sz="1600" b="1" dirty="0" smtClean="0">
                <a:cs typeface="B Nazanin" panose="00000400000000000000" pitchFamily="2" charset="-78"/>
              </a:rPr>
              <a:t> </a:t>
            </a:r>
            <a:r>
              <a:rPr lang="en-US" sz="1600" b="1" dirty="0">
                <a:cs typeface="B Nazanin" panose="00000400000000000000" pitchFamily="2" charset="-78"/>
              </a:rPr>
              <a:t>All or </a:t>
            </a:r>
            <a:r>
              <a:rPr lang="en-US" sz="1600" b="1" dirty="0" smtClean="0">
                <a:cs typeface="B Nazanin" panose="00000400000000000000" pitchFamily="2" charset="-78"/>
              </a:rPr>
              <a:t>nothing</a:t>
            </a:r>
            <a:r>
              <a:rPr lang="fa-IR" sz="1600" b="1" dirty="0" smtClean="0">
                <a:cs typeface="B Nazanin" panose="00000400000000000000" pitchFamily="2" charset="-78"/>
              </a:rPr>
              <a:t>)</a:t>
            </a:r>
            <a:endParaRPr lang="en-US" sz="1600" b="1" dirty="0">
              <a:cs typeface="B Nazanin" panose="00000400000000000000" pitchFamily="2" charset="-78"/>
            </a:endParaRPr>
          </a:p>
          <a:p>
            <a:pPr marL="285750" indent="-285750" algn="r" rtl="1">
              <a:buFont typeface="Wingdings" panose="05000000000000000000" pitchFamily="2" charset="2"/>
              <a:buChar char="ü"/>
            </a:pPr>
            <a:r>
              <a:rPr lang="en-US" sz="1600" b="1" dirty="0" err="1">
                <a:cs typeface="B Nazanin" panose="00000400000000000000" pitchFamily="2" charset="-78"/>
              </a:rPr>
              <a:t>تعمیم</a:t>
            </a:r>
            <a:r>
              <a:rPr lang="en-US" sz="1600" b="1" dirty="0">
                <a:cs typeface="B Nazanin" panose="00000400000000000000" pitchFamily="2" charset="-78"/>
              </a:rPr>
              <a:t> </a:t>
            </a:r>
            <a:r>
              <a:rPr lang="en-US" sz="1600" b="1" dirty="0" err="1">
                <a:cs typeface="B Nazanin" panose="00000400000000000000" pitchFamily="2" charset="-78"/>
              </a:rPr>
              <a:t>دادن</a:t>
            </a:r>
            <a:r>
              <a:rPr lang="en-US" sz="1600" b="1" dirty="0">
                <a:cs typeface="B Nazanin" panose="00000400000000000000" pitchFamily="2" charset="-78"/>
              </a:rPr>
              <a:t> </a:t>
            </a:r>
            <a:r>
              <a:rPr lang="fa-IR" sz="1600" b="1" dirty="0" smtClean="0">
                <a:cs typeface="B Nazanin" panose="00000400000000000000" pitchFamily="2" charset="-78"/>
              </a:rPr>
              <a:t>(</a:t>
            </a:r>
            <a:r>
              <a:rPr lang="en-US" sz="1600" b="1" dirty="0">
                <a:cs typeface="B Nazanin" panose="00000400000000000000" pitchFamily="2" charset="-78"/>
              </a:rPr>
              <a:t>Over-generalization</a:t>
            </a:r>
            <a:r>
              <a:rPr lang="fa-IR" sz="1600" b="1" dirty="0" smtClean="0">
                <a:cs typeface="B Nazanin" panose="00000400000000000000" pitchFamily="2" charset="-78"/>
              </a:rPr>
              <a:t>)</a:t>
            </a:r>
            <a:endParaRPr lang="en-US" sz="1600" b="1" dirty="0">
              <a:cs typeface="B Nazanin" panose="00000400000000000000" pitchFamily="2" charset="-78"/>
            </a:endParaRPr>
          </a:p>
          <a:p>
            <a:pPr marL="285750" indent="-285750" algn="r" rtl="1">
              <a:buFont typeface="Wingdings" panose="05000000000000000000" pitchFamily="2" charset="2"/>
              <a:buChar char="ü"/>
            </a:pPr>
            <a:r>
              <a:rPr lang="en-US" sz="1600" b="1" dirty="0" err="1">
                <a:cs typeface="B Nazanin" panose="00000400000000000000" pitchFamily="2" charset="-78"/>
              </a:rPr>
              <a:t>بایدها</a:t>
            </a:r>
            <a:r>
              <a:rPr lang="en-US" sz="1600" b="1" dirty="0">
                <a:cs typeface="B Nazanin" panose="00000400000000000000" pitchFamily="2" charset="-78"/>
              </a:rPr>
              <a:t> </a:t>
            </a:r>
            <a:r>
              <a:rPr lang="fa-IR" sz="1600" b="1" dirty="0" smtClean="0">
                <a:cs typeface="B Nazanin" panose="00000400000000000000" pitchFamily="2" charset="-78"/>
              </a:rPr>
              <a:t>(</a:t>
            </a:r>
            <a:r>
              <a:rPr lang="en-US" sz="1600" b="1" dirty="0" smtClean="0">
                <a:cs typeface="B Nazanin" panose="00000400000000000000" pitchFamily="2" charset="-78"/>
              </a:rPr>
              <a:t> </a:t>
            </a:r>
            <a:r>
              <a:rPr lang="en-US" sz="1600" b="1" dirty="0">
                <a:cs typeface="B Nazanin" panose="00000400000000000000" pitchFamily="2" charset="-78"/>
              </a:rPr>
              <a:t>Should Statements </a:t>
            </a:r>
            <a:r>
              <a:rPr lang="fa-IR" sz="1600" b="1" dirty="0" smtClean="0">
                <a:cs typeface="B Nazanin" panose="00000400000000000000" pitchFamily="2" charset="-78"/>
              </a:rPr>
              <a:t>)</a:t>
            </a:r>
          </a:p>
          <a:p>
            <a:pPr marL="285750" indent="-285750" algn="r" rtl="1">
              <a:buFont typeface="Wingdings" panose="05000000000000000000" pitchFamily="2" charset="2"/>
              <a:buChar char="ü"/>
            </a:pPr>
            <a:r>
              <a:rPr lang="en-US" sz="1600" b="1" dirty="0" err="1" smtClean="0">
                <a:cs typeface="B Nazanin" panose="00000400000000000000" pitchFamily="2" charset="-78"/>
              </a:rPr>
              <a:t>برچسب</a:t>
            </a:r>
            <a:r>
              <a:rPr lang="en-US" sz="1600" b="1" dirty="0" smtClean="0">
                <a:cs typeface="B Nazanin" panose="00000400000000000000" pitchFamily="2" charset="-78"/>
              </a:rPr>
              <a:t> </a:t>
            </a:r>
            <a:r>
              <a:rPr lang="en-US" sz="1600" b="1" dirty="0" err="1">
                <a:cs typeface="B Nazanin" panose="00000400000000000000" pitchFamily="2" charset="-78"/>
              </a:rPr>
              <a:t>گذاری</a:t>
            </a:r>
            <a:r>
              <a:rPr lang="en-US" sz="1600" b="1" dirty="0">
                <a:cs typeface="B Nazanin" panose="00000400000000000000" pitchFamily="2" charset="-78"/>
              </a:rPr>
              <a:t> </a:t>
            </a:r>
            <a:r>
              <a:rPr lang="en-US" sz="1600" b="1" dirty="0" err="1">
                <a:cs typeface="B Nazanin" panose="00000400000000000000" pitchFamily="2" charset="-78"/>
              </a:rPr>
              <a:t>بر</a:t>
            </a:r>
            <a:r>
              <a:rPr lang="en-US" sz="1600" b="1" dirty="0">
                <a:cs typeface="B Nazanin" panose="00000400000000000000" pitchFamily="2" charset="-78"/>
              </a:rPr>
              <a:t> </a:t>
            </a:r>
            <a:r>
              <a:rPr lang="en-US" sz="1600" b="1" dirty="0" err="1">
                <a:cs typeface="B Nazanin" panose="00000400000000000000" pitchFamily="2" charset="-78"/>
              </a:rPr>
              <a:t>روی</a:t>
            </a:r>
            <a:r>
              <a:rPr lang="en-US" sz="1600" b="1" dirty="0">
                <a:cs typeface="B Nazanin" panose="00000400000000000000" pitchFamily="2" charset="-78"/>
              </a:rPr>
              <a:t> </a:t>
            </a:r>
            <a:r>
              <a:rPr lang="en-US" sz="1600" b="1" dirty="0" err="1">
                <a:cs typeface="B Nazanin" panose="00000400000000000000" pitchFamily="2" charset="-78"/>
              </a:rPr>
              <a:t>خود</a:t>
            </a:r>
            <a:r>
              <a:rPr lang="en-US" sz="1600" b="1" dirty="0">
                <a:cs typeface="B Nazanin" panose="00000400000000000000" pitchFamily="2" charset="-78"/>
              </a:rPr>
              <a:t> و </a:t>
            </a:r>
            <a:r>
              <a:rPr lang="en-US" sz="1600" b="1" dirty="0" err="1">
                <a:cs typeface="B Nazanin" panose="00000400000000000000" pitchFamily="2" charset="-78"/>
              </a:rPr>
              <a:t>دیگران</a:t>
            </a:r>
            <a:r>
              <a:rPr lang="en-US" sz="1600" b="1" dirty="0">
                <a:cs typeface="B Nazanin" panose="00000400000000000000" pitchFamily="2" charset="-78"/>
              </a:rPr>
              <a:t> </a:t>
            </a:r>
            <a:r>
              <a:rPr lang="fa-IR" sz="1600" b="1" dirty="0" smtClean="0">
                <a:cs typeface="B Nazanin" panose="00000400000000000000" pitchFamily="2" charset="-78"/>
              </a:rPr>
              <a:t>(</a:t>
            </a:r>
            <a:r>
              <a:rPr lang="en-US" sz="1600" b="1" dirty="0" smtClean="0">
                <a:cs typeface="B Nazanin" panose="00000400000000000000" pitchFamily="2" charset="-78"/>
              </a:rPr>
              <a:t> Labeling</a:t>
            </a:r>
            <a:r>
              <a:rPr lang="fa-IR" sz="1600" b="1" dirty="0" smtClean="0">
                <a:cs typeface="B Nazanin" panose="00000400000000000000" pitchFamily="2" charset="-78"/>
              </a:rPr>
              <a:t>)</a:t>
            </a:r>
            <a:endParaRPr lang="en-US" sz="1600" b="1" dirty="0">
              <a:cs typeface="B Nazanin" panose="00000400000000000000" pitchFamily="2" charset="-78"/>
            </a:endParaRPr>
          </a:p>
          <a:p>
            <a:pPr marL="285750" indent="-285750" algn="r" rtl="1">
              <a:buFont typeface="Wingdings" panose="05000000000000000000" pitchFamily="2" charset="2"/>
              <a:buChar char="ü"/>
            </a:pPr>
            <a:r>
              <a:rPr lang="en-US" sz="1600" b="1" dirty="0" err="1">
                <a:cs typeface="B Nazanin" panose="00000400000000000000" pitchFamily="2" charset="-78"/>
              </a:rPr>
              <a:t>بزرگنمایی</a:t>
            </a:r>
            <a:r>
              <a:rPr lang="en-US" sz="1600" b="1" dirty="0">
                <a:cs typeface="B Nazanin" panose="00000400000000000000" pitchFamily="2" charset="-78"/>
              </a:rPr>
              <a:t> و </a:t>
            </a:r>
            <a:r>
              <a:rPr lang="en-US" sz="1600" b="1" dirty="0" err="1">
                <a:cs typeface="B Nazanin" panose="00000400000000000000" pitchFamily="2" charset="-78"/>
              </a:rPr>
              <a:t>کوچکنمایی</a:t>
            </a:r>
            <a:r>
              <a:rPr lang="en-US" sz="1600" b="1" dirty="0">
                <a:cs typeface="B Nazanin" panose="00000400000000000000" pitchFamily="2" charset="-78"/>
              </a:rPr>
              <a:t> </a:t>
            </a:r>
            <a:r>
              <a:rPr lang="fa-IR" sz="1600" b="1" dirty="0" smtClean="0">
                <a:cs typeface="B Nazanin" panose="00000400000000000000" pitchFamily="2" charset="-78"/>
              </a:rPr>
              <a:t>(</a:t>
            </a:r>
            <a:r>
              <a:rPr lang="en-US" sz="1600" b="1" dirty="0">
                <a:cs typeface="B Nazanin" panose="00000400000000000000" pitchFamily="2" charset="-78"/>
              </a:rPr>
              <a:t>Magnification / </a:t>
            </a:r>
            <a:r>
              <a:rPr lang="en-US" sz="1600" b="1" dirty="0" smtClean="0">
                <a:cs typeface="B Nazanin" panose="00000400000000000000" pitchFamily="2" charset="-78"/>
              </a:rPr>
              <a:t>Minimization </a:t>
            </a:r>
            <a:r>
              <a:rPr lang="fa-IR" sz="1600" b="1" dirty="0" smtClean="0">
                <a:cs typeface="B Nazanin" panose="00000400000000000000" pitchFamily="2" charset="-78"/>
              </a:rPr>
              <a:t>)</a:t>
            </a:r>
            <a:r>
              <a:rPr lang="en-US" sz="1600" b="1" dirty="0" smtClean="0">
                <a:cs typeface="B Nazanin" panose="00000400000000000000" pitchFamily="2" charset="-78"/>
              </a:rPr>
              <a:t> </a:t>
            </a:r>
            <a:endParaRPr lang="fa-IR" sz="1600" b="1" dirty="0" smtClean="0">
              <a:cs typeface="B Nazanin" panose="00000400000000000000" pitchFamily="2" charset="-78"/>
            </a:endParaRPr>
          </a:p>
          <a:p>
            <a:pPr marL="285750" indent="-285750" algn="r" rtl="1">
              <a:buFont typeface="Wingdings" panose="05000000000000000000" pitchFamily="2" charset="2"/>
              <a:buChar char="ü"/>
            </a:pPr>
            <a:r>
              <a:rPr lang="en-US" sz="1600" b="1" dirty="0" err="1" smtClean="0">
                <a:cs typeface="B Nazanin" panose="00000400000000000000" pitchFamily="2" charset="-78"/>
              </a:rPr>
              <a:t>حذف</a:t>
            </a:r>
            <a:r>
              <a:rPr lang="en-US" sz="1600" b="1" dirty="0" smtClean="0">
                <a:cs typeface="B Nazanin" panose="00000400000000000000" pitchFamily="2" charset="-78"/>
              </a:rPr>
              <a:t> </a:t>
            </a:r>
            <a:r>
              <a:rPr lang="en-US" sz="1600" b="1" dirty="0" err="1">
                <a:cs typeface="B Nazanin" panose="00000400000000000000" pitchFamily="2" charset="-78"/>
              </a:rPr>
              <a:t>رویدادها</a:t>
            </a:r>
            <a:r>
              <a:rPr lang="en-US" sz="1600" b="1" dirty="0">
                <a:cs typeface="B Nazanin" panose="00000400000000000000" pitchFamily="2" charset="-78"/>
              </a:rPr>
              <a:t> و </a:t>
            </a:r>
            <a:r>
              <a:rPr lang="en-US" sz="1600" b="1" dirty="0" err="1">
                <a:cs typeface="B Nazanin" panose="00000400000000000000" pitchFamily="2" charset="-78"/>
              </a:rPr>
              <a:t>اطلاعات</a:t>
            </a:r>
            <a:r>
              <a:rPr lang="en-US" sz="1600" b="1" dirty="0">
                <a:cs typeface="B Nazanin" panose="00000400000000000000" pitchFamily="2" charset="-78"/>
              </a:rPr>
              <a:t> </a:t>
            </a:r>
            <a:r>
              <a:rPr lang="en-US" sz="1600" b="1" dirty="0" err="1">
                <a:cs typeface="B Nazanin" panose="00000400000000000000" pitchFamily="2" charset="-78"/>
              </a:rPr>
              <a:t>مثبت</a:t>
            </a:r>
            <a:r>
              <a:rPr lang="en-US" sz="1600" b="1" dirty="0">
                <a:cs typeface="B Nazanin" panose="00000400000000000000" pitchFamily="2" charset="-78"/>
              </a:rPr>
              <a:t> </a:t>
            </a:r>
            <a:r>
              <a:rPr lang="fa-IR" sz="1600" b="1" dirty="0" smtClean="0">
                <a:cs typeface="B Nazanin" panose="00000400000000000000" pitchFamily="2" charset="-78"/>
              </a:rPr>
              <a:t>(</a:t>
            </a:r>
            <a:r>
              <a:rPr lang="en-US" sz="1600" b="1" dirty="0">
                <a:cs typeface="B Nazanin" panose="00000400000000000000" pitchFamily="2" charset="-78"/>
              </a:rPr>
              <a:t>Disqualifying </a:t>
            </a:r>
            <a:r>
              <a:rPr lang="en-US" sz="1600" b="1" dirty="0" smtClean="0">
                <a:cs typeface="B Nazanin" panose="00000400000000000000" pitchFamily="2" charset="-78"/>
              </a:rPr>
              <a:t>Positives</a:t>
            </a:r>
            <a:r>
              <a:rPr lang="fa-IR" sz="1600" b="1" dirty="0" smtClean="0">
                <a:cs typeface="B Nazanin" panose="00000400000000000000" pitchFamily="2" charset="-78"/>
              </a:rPr>
              <a:t>)</a:t>
            </a:r>
          </a:p>
          <a:p>
            <a:pPr marL="285750" indent="-285750" algn="r" rtl="1">
              <a:buFont typeface="Wingdings" panose="05000000000000000000" pitchFamily="2" charset="2"/>
              <a:buChar char="ü"/>
            </a:pPr>
            <a:r>
              <a:rPr lang="en-US" sz="1600" b="1" dirty="0" smtClean="0">
                <a:cs typeface="B Nazanin" panose="00000400000000000000" pitchFamily="2" charset="-78"/>
              </a:rPr>
              <a:t> </a:t>
            </a:r>
            <a:r>
              <a:rPr lang="en-US" sz="1600" b="1" dirty="0" err="1" smtClean="0">
                <a:cs typeface="B Nazanin" panose="00000400000000000000" pitchFamily="2" charset="-78"/>
              </a:rPr>
              <a:t>پریدن</a:t>
            </a:r>
            <a:r>
              <a:rPr lang="en-US" sz="1600" b="1" dirty="0" smtClean="0">
                <a:cs typeface="B Nazanin" panose="00000400000000000000" pitchFamily="2" charset="-78"/>
              </a:rPr>
              <a:t> </a:t>
            </a:r>
            <a:r>
              <a:rPr lang="en-US" sz="1600" b="1" dirty="0" err="1">
                <a:cs typeface="B Nazanin" panose="00000400000000000000" pitchFamily="2" charset="-78"/>
              </a:rPr>
              <a:t>به</a:t>
            </a:r>
            <a:r>
              <a:rPr lang="en-US" sz="1600" b="1" dirty="0">
                <a:cs typeface="B Nazanin" panose="00000400000000000000" pitchFamily="2" charset="-78"/>
              </a:rPr>
              <a:t> </a:t>
            </a:r>
            <a:r>
              <a:rPr lang="en-US" sz="1600" b="1" dirty="0" err="1">
                <a:cs typeface="B Nazanin" panose="00000400000000000000" pitchFamily="2" charset="-78"/>
              </a:rPr>
              <a:t>نتیجه</a:t>
            </a:r>
            <a:r>
              <a:rPr lang="en-US" sz="1600" b="1" dirty="0">
                <a:cs typeface="B Nazanin" panose="00000400000000000000" pitchFamily="2" charset="-78"/>
              </a:rPr>
              <a:t> </a:t>
            </a:r>
            <a:r>
              <a:rPr lang="en-US" sz="1600" b="1" dirty="0" err="1">
                <a:cs typeface="B Nazanin" panose="00000400000000000000" pitchFamily="2" charset="-78"/>
              </a:rPr>
              <a:t>بدون</a:t>
            </a:r>
            <a:r>
              <a:rPr lang="en-US" sz="1600" b="1" dirty="0">
                <a:cs typeface="B Nazanin" panose="00000400000000000000" pitchFamily="2" charset="-78"/>
              </a:rPr>
              <a:t> </a:t>
            </a:r>
            <a:r>
              <a:rPr lang="en-US" sz="1600" b="1" dirty="0" err="1">
                <a:cs typeface="B Nazanin" panose="00000400000000000000" pitchFamily="2" charset="-78"/>
              </a:rPr>
              <a:t>طی</a:t>
            </a:r>
            <a:r>
              <a:rPr lang="en-US" sz="1600" b="1" dirty="0">
                <a:cs typeface="B Nazanin" panose="00000400000000000000" pitchFamily="2" charset="-78"/>
              </a:rPr>
              <a:t> </a:t>
            </a:r>
            <a:r>
              <a:rPr lang="en-US" sz="1600" b="1" dirty="0" err="1">
                <a:cs typeface="B Nazanin" panose="00000400000000000000" pitchFamily="2" charset="-78"/>
              </a:rPr>
              <a:t>شدن</a:t>
            </a:r>
            <a:r>
              <a:rPr lang="en-US" sz="1600" b="1" dirty="0">
                <a:cs typeface="B Nazanin" panose="00000400000000000000" pitchFamily="2" charset="-78"/>
              </a:rPr>
              <a:t> </a:t>
            </a:r>
            <a:r>
              <a:rPr lang="en-US" sz="1600" b="1" dirty="0" err="1">
                <a:cs typeface="B Nazanin" panose="00000400000000000000" pitchFamily="2" charset="-78"/>
              </a:rPr>
              <a:t>مسیر</a:t>
            </a:r>
            <a:r>
              <a:rPr lang="en-US" sz="1600" b="1" dirty="0">
                <a:cs typeface="B Nazanin" panose="00000400000000000000" pitchFamily="2" charset="-78"/>
              </a:rPr>
              <a:t> </a:t>
            </a:r>
            <a:r>
              <a:rPr lang="fa-IR" sz="1600" b="1" dirty="0" smtClean="0">
                <a:cs typeface="B Nazanin" panose="00000400000000000000" pitchFamily="2" charset="-78"/>
              </a:rPr>
              <a:t>(</a:t>
            </a:r>
            <a:r>
              <a:rPr lang="en-US" sz="1600" b="1" dirty="0">
                <a:cs typeface="B Nazanin" panose="00000400000000000000" pitchFamily="2" charset="-78"/>
              </a:rPr>
              <a:t>Jumping to Conclusions</a:t>
            </a:r>
            <a:r>
              <a:rPr lang="fa-IR" sz="1600" b="1" dirty="0" smtClean="0">
                <a:cs typeface="B Nazanin" panose="00000400000000000000" pitchFamily="2" charset="-78"/>
              </a:rPr>
              <a:t>)</a:t>
            </a:r>
            <a:r>
              <a:rPr lang="en-US" sz="1600" b="1" dirty="0" smtClean="0">
                <a:cs typeface="B Nazanin" panose="00000400000000000000" pitchFamily="2" charset="-78"/>
              </a:rPr>
              <a:t> </a:t>
            </a:r>
            <a:endParaRPr lang="fa-IR" sz="1600" b="1" dirty="0" smtClean="0">
              <a:cs typeface="B Nazanin" panose="00000400000000000000" pitchFamily="2" charset="-78"/>
            </a:endParaRPr>
          </a:p>
          <a:p>
            <a:pPr marL="285750" indent="-285750" algn="r" rtl="1">
              <a:buFont typeface="Wingdings" panose="05000000000000000000" pitchFamily="2" charset="2"/>
              <a:buChar char="ü"/>
            </a:pPr>
            <a:r>
              <a:rPr lang="en-US" sz="1600" b="1" dirty="0" err="1" smtClean="0">
                <a:cs typeface="B Nazanin" panose="00000400000000000000" pitchFamily="2" charset="-78"/>
              </a:rPr>
              <a:t>شخصی</a:t>
            </a:r>
            <a:r>
              <a:rPr lang="en-US" sz="1600" b="1" dirty="0" smtClean="0">
                <a:cs typeface="B Nazanin" panose="00000400000000000000" pitchFamily="2" charset="-78"/>
              </a:rPr>
              <a:t> </a:t>
            </a:r>
            <a:r>
              <a:rPr lang="en-US" sz="1600" b="1" dirty="0" err="1">
                <a:cs typeface="B Nazanin" panose="00000400000000000000" pitchFamily="2" charset="-78"/>
              </a:rPr>
              <a:t>کردن</a:t>
            </a:r>
            <a:r>
              <a:rPr lang="en-US" sz="1600" b="1" dirty="0">
                <a:cs typeface="B Nazanin" panose="00000400000000000000" pitchFamily="2" charset="-78"/>
              </a:rPr>
              <a:t> و </a:t>
            </a:r>
            <a:r>
              <a:rPr lang="en-US" sz="1600" b="1" dirty="0" err="1">
                <a:cs typeface="B Nazanin" panose="00000400000000000000" pitchFamily="2" charset="-78"/>
              </a:rPr>
              <a:t>به</a:t>
            </a:r>
            <a:r>
              <a:rPr lang="en-US" sz="1600" b="1" dirty="0">
                <a:cs typeface="B Nazanin" panose="00000400000000000000" pitchFamily="2" charset="-78"/>
              </a:rPr>
              <a:t> </a:t>
            </a:r>
            <a:r>
              <a:rPr lang="en-US" sz="1600" b="1" dirty="0" err="1">
                <a:cs typeface="B Nazanin" panose="00000400000000000000" pitchFamily="2" charset="-78"/>
              </a:rPr>
              <a:t>خودگرفتن</a:t>
            </a:r>
            <a:r>
              <a:rPr lang="en-US" sz="1600" b="1" dirty="0">
                <a:cs typeface="B Nazanin" panose="00000400000000000000" pitchFamily="2" charset="-78"/>
              </a:rPr>
              <a:t> </a:t>
            </a:r>
            <a:r>
              <a:rPr lang="fa-IR" sz="1600" b="1" dirty="0" smtClean="0">
                <a:cs typeface="B Nazanin" panose="00000400000000000000" pitchFamily="2" charset="-78"/>
              </a:rPr>
              <a:t>(</a:t>
            </a:r>
            <a:r>
              <a:rPr lang="en-US" sz="1600" b="1" dirty="0">
                <a:cs typeface="B Nazanin" panose="00000400000000000000" pitchFamily="2" charset="-78"/>
              </a:rPr>
              <a:t>Personalization</a:t>
            </a:r>
            <a:r>
              <a:rPr lang="fa-IR" sz="1600" b="1" dirty="0" smtClean="0">
                <a:cs typeface="B Nazanin" panose="00000400000000000000" pitchFamily="2" charset="-78"/>
              </a:rPr>
              <a:t>)</a:t>
            </a:r>
            <a:endParaRPr lang="en-US" sz="1600" b="1" dirty="0">
              <a:cs typeface="B Nazanin" panose="00000400000000000000" pitchFamily="2" charset="-78"/>
            </a:endParaRPr>
          </a:p>
          <a:p>
            <a:pPr marL="285750" indent="-285750" algn="r" rtl="1">
              <a:buFont typeface="Wingdings" panose="05000000000000000000" pitchFamily="2" charset="2"/>
              <a:buChar char="ü"/>
            </a:pPr>
            <a:r>
              <a:rPr lang="en-US" sz="1600" b="1" dirty="0" err="1">
                <a:cs typeface="B Nazanin" panose="00000400000000000000" pitchFamily="2" charset="-78"/>
              </a:rPr>
              <a:t>ذهن</a:t>
            </a:r>
            <a:r>
              <a:rPr lang="en-US" sz="1600" b="1" dirty="0">
                <a:cs typeface="B Nazanin" panose="00000400000000000000" pitchFamily="2" charset="-78"/>
              </a:rPr>
              <a:t> </a:t>
            </a:r>
            <a:r>
              <a:rPr lang="en-US" sz="1600" b="1" dirty="0" err="1">
                <a:cs typeface="B Nazanin" panose="00000400000000000000" pitchFamily="2" charset="-78"/>
              </a:rPr>
              <a:t>خوانی</a:t>
            </a:r>
            <a:r>
              <a:rPr lang="en-US" sz="1600" b="1" dirty="0">
                <a:cs typeface="B Nazanin" panose="00000400000000000000" pitchFamily="2" charset="-78"/>
              </a:rPr>
              <a:t> </a:t>
            </a:r>
            <a:r>
              <a:rPr lang="fa-IR" sz="1600" b="1" dirty="0" smtClean="0">
                <a:cs typeface="B Nazanin" panose="00000400000000000000" pitchFamily="2" charset="-78"/>
              </a:rPr>
              <a:t>(</a:t>
            </a:r>
            <a:r>
              <a:rPr lang="en-US" sz="1600" b="1" dirty="0" smtClean="0">
                <a:cs typeface="B Nazanin" panose="00000400000000000000" pitchFamily="2" charset="-78"/>
              </a:rPr>
              <a:t> Mindreading</a:t>
            </a:r>
            <a:r>
              <a:rPr lang="fa-IR" sz="1600" b="1" dirty="0" smtClean="0">
                <a:cs typeface="B Nazanin" panose="00000400000000000000" pitchFamily="2" charset="-78"/>
              </a:rPr>
              <a:t>)</a:t>
            </a:r>
            <a:endParaRPr lang="en-US" sz="1600" b="1" dirty="0">
              <a:cs typeface="B Nazanin" panose="00000400000000000000" pitchFamily="2" charset="-78"/>
            </a:endParaRPr>
          </a:p>
          <a:p>
            <a:pPr marL="285750" indent="-285750" algn="r" rtl="1">
              <a:buFont typeface="Wingdings" panose="05000000000000000000" pitchFamily="2" charset="2"/>
              <a:buChar char="ü"/>
            </a:pPr>
            <a:r>
              <a:rPr lang="en-US" sz="1600" b="1" dirty="0" err="1">
                <a:cs typeface="B Nazanin" panose="00000400000000000000" pitchFamily="2" charset="-78"/>
              </a:rPr>
              <a:t>خطای</a:t>
            </a:r>
            <a:r>
              <a:rPr lang="en-US" sz="1600" b="1" dirty="0">
                <a:cs typeface="B Nazanin" panose="00000400000000000000" pitchFamily="2" charset="-78"/>
              </a:rPr>
              <a:t> </a:t>
            </a:r>
            <a:r>
              <a:rPr lang="en-US" sz="1600" b="1" dirty="0" err="1">
                <a:cs typeface="B Nazanin" panose="00000400000000000000" pitchFamily="2" charset="-78"/>
              </a:rPr>
              <a:t>هاله</a:t>
            </a:r>
            <a:r>
              <a:rPr lang="en-US" sz="1600" b="1" dirty="0">
                <a:cs typeface="B Nazanin" panose="00000400000000000000" pitchFamily="2" charset="-78"/>
              </a:rPr>
              <a:t> </a:t>
            </a:r>
            <a:r>
              <a:rPr lang="en-US" sz="1600" b="1" dirty="0" err="1">
                <a:cs typeface="B Nazanin" panose="00000400000000000000" pitchFamily="2" charset="-78"/>
              </a:rPr>
              <a:t>ای</a:t>
            </a:r>
            <a:r>
              <a:rPr lang="en-US" sz="1600" b="1" dirty="0">
                <a:cs typeface="B Nazanin" panose="00000400000000000000" pitchFamily="2" charset="-78"/>
              </a:rPr>
              <a:t> (Halo Effect</a:t>
            </a:r>
            <a:r>
              <a:rPr lang="en-US" sz="1600" b="1" dirty="0" smtClean="0">
                <a:cs typeface="B Nazanin" panose="00000400000000000000" pitchFamily="2" charset="-78"/>
              </a:rPr>
              <a:t>)</a:t>
            </a:r>
            <a:endParaRPr lang="en-US" sz="1600" b="1" dirty="0">
              <a:cs typeface="B Nazanin" panose="00000400000000000000" pitchFamily="2" charset="-78"/>
            </a:endParaRPr>
          </a:p>
        </p:txBody>
      </p:sp>
      <p:cxnSp>
        <p:nvCxnSpPr>
          <p:cNvPr id="18" name="Straight Connector 17"/>
          <p:cNvCxnSpPr/>
          <p:nvPr/>
        </p:nvCxnSpPr>
        <p:spPr>
          <a:xfrm>
            <a:off x="5878286" y="3565030"/>
            <a:ext cx="13063" cy="2874959"/>
          </a:xfrm>
          <a:prstGeom prst="line">
            <a:avLst/>
          </a:prstGeom>
          <a:ln w="28575">
            <a:solidFill>
              <a:schemeClr val="accent1"/>
            </a:solidFill>
            <a:prstDash val="dash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11078693" y="2502359"/>
            <a:ext cx="554960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a-IR" sz="1600" dirty="0" smtClean="0">
                <a:cs typeface="B Nazanin" panose="00000400000000000000" pitchFamily="2" charset="-78"/>
              </a:rPr>
              <a:t>مثال :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295436944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4B6193-F9F1-4C54-838F-77350B9FC5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69125" y="425299"/>
            <a:ext cx="9875520" cy="709749"/>
          </a:xfrm>
        </p:spPr>
        <p:txBody>
          <a:bodyPr>
            <a:normAutofit fontScale="90000"/>
          </a:bodyPr>
          <a:lstStyle/>
          <a:p>
            <a:pPr algn="r"/>
            <a:r>
              <a:rPr lang="fa-IR" sz="4800" dirty="0" smtClean="0">
                <a:cs typeface="B Nazanin" panose="00000400000000000000" pitchFamily="2" charset="-78"/>
              </a:rPr>
              <a:t>بررسی توان مغز انسان</a:t>
            </a:r>
            <a:endParaRPr lang="en-US" sz="4800" dirty="0">
              <a:cs typeface="B Nazanin" panose="00000400000000000000" pitchFamily="2" charset="-78"/>
            </a:endParaRPr>
          </a:p>
        </p:txBody>
      </p:sp>
      <p:cxnSp>
        <p:nvCxnSpPr>
          <p:cNvPr id="8" name="Straight Connector 7"/>
          <p:cNvCxnSpPr/>
          <p:nvPr/>
        </p:nvCxnSpPr>
        <p:spPr>
          <a:xfrm>
            <a:off x="888274" y="1240973"/>
            <a:ext cx="10437223" cy="13063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5671" y="1905064"/>
            <a:ext cx="2857500" cy="16002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1830889" y="1394884"/>
            <a:ext cx="893545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a-IR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مغز انسان یکی از پر مصرف ترین بخش های بدن او و یکی از کم مصرف ترین ابزارهای محاسباتی و تحلیل در جهان می باشد . </a:t>
            </a:r>
            <a:endParaRPr lang="en-US" dirty="0"/>
          </a:p>
        </p:txBody>
      </p:sp>
      <p:sp>
        <p:nvSpPr>
          <p:cNvPr id="6" name="Rectangle 5"/>
          <p:cNvSpPr/>
          <p:nvPr/>
        </p:nvSpPr>
        <p:spPr>
          <a:xfrm>
            <a:off x="3633171" y="2104999"/>
            <a:ext cx="7133177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 rtl="1"/>
            <a:r>
              <a:rPr lang="fa-IR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مغز انسان بخشی از این برتری خود در پردازش با انرژی پایین را از ساختار نورونی سناپس ها بدست آورده ، اما بخشی از آن با قربانی کردن دقت بدست آمده . مغز ما میان بر هایی برای خود میسازد تا جواب های سرانگشتی سریعی برای مشکلات و چالشها پیدا کند و با همین </a:t>
            </a:r>
            <a:r>
              <a:rPr lang="fa-IR" b="1" dirty="0" smtClean="0">
                <a:solidFill>
                  <a:srgbClr val="FF0000"/>
                </a:solidFill>
                <a:latin typeface="IRANSans"/>
                <a:cs typeface="B Nazanin" panose="00000400000000000000" pitchFamily="2" charset="-78"/>
              </a:rPr>
              <a:t>میانبر</a:t>
            </a:r>
            <a:r>
              <a:rPr lang="fa-IR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ها و کمی از دست دادن دقت ، با  سرعت بیشتر و مصرف انرژی کمتر به جواب برسد .  </a:t>
            </a:r>
            <a:endParaRPr lang="en-US" dirty="0"/>
          </a:p>
        </p:txBody>
      </p:sp>
      <p:sp>
        <p:nvSpPr>
          <p:cNvPr id="5" name="Rectangle 4"/>
          <p:cNvSpPr/>
          <p:nvPr/>
        </p:nvSpPr>
        <p:spPr>
          <a:xfrm>
            <a:off x="775671" y="3694627"/>
            <a:ext cx="10721785" cy="923330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justLow" rtl="1"/>
            <a:r>
              <a:rPr lang="fa-IR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مغز انسان در طول زمان، با آزمایش و خطا و دریافت اطلاعات جدید و تجربه‌های جدید، به تدریج محیط اطراف خود را کشف می‌کند.</a:t>
            </a:r>
          </a:p>
          <a:p>
            <a:pPr algn="justLow" rtl="1"/>
            <a:r>
              <a:rPr lang="fa-IR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در این میان، بسیاری از قضاوت‌ها و قاعده‌های ذهنی، به جای اینکه بر اساس منطق خشک و دیجیتال شکل بگیرند، بر پایه‌ی آمار و احتمال و فراوانی تجربه‌ها شکل می‌گیرند</a:t>
            </a:r>
            <a:r>
              <a:rPr lang="fa-IR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. (</a:t>
            </a:r>
            <a:r>
              <a:rPr lang="en-US" b="1" dirty="0" smtClean="0">
                <a:solidFill>
                  <a:srgbClr val="FF0000"/>
                </a:solidFill>
              </a:rPr>
              <a:t>Heuristic</a:t>
            </a:r>
            <a:r>
              <a:rPr lang="fa-IR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)</a:t>
            </a:r>
            <a:endParaRPr lang="fa-IR" dirty="0">
              <a:solidFill>
                <a:srgbClr val="000000"/>
              </a:solidFill>
              <a:latin typeface="IRANSans"/>
              <a:cs typeface="B Nazanin" panose="00000400000000000000" pitchFamily="2" charset="-78"/>
            </a:endParaRPr>
          </a:p>
        </p:txBody>
      </p:sp>
      <p:grpSp>
        <p:nvGrpSpPr>
          <p:cNvPr id="11" name="Group 10"/>
          <p:cNvGrpSpPr/>
          <p:nvPr/>
        </p:nvGrpSpPr>
        <p:grpSpPr>
          <a:xfrm>
            <a:off x="775671" y="4766393"/>
            <a:ext cx="6766577" cy="1738695"/>
            <a:chOff x="4730878" y="4726476"/>
            <a:chExt cx="6766577" cy="1738695"/>
          </a:xfrm>
        </p:grpSpPr>
        <p:sp>
          <p:nvSpPr>
            <p:cNvPr id="7" name="Rectangle 6"/>
            <p:cNvSpPr/>
            <p:nvPr/>
          </p:nvSpPr>
          <p:spPr>
            <a:xfrm>
              <a:off x="4859383" y="4807320"/>
              <a:ext cx="5166503" cy="1477328"/>
            </a:xfrm>
            <a:prstGeom prst="rect">
              <a:avLst/>
            </a:prstGeom>
            <a:noFill/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algn="justLow" rtl="1"/>
              <a:r>
                <a:rPr lang="fa-IR" dirty="0">
                  <a:solidFill>
                    <a:srgbClr val="000000"/>
                  </a:solidFill>
                  <a:latin typeface="IRANSans"/>
                  <a:cs typeface="B Nazanin" panose="00000400000000000000" pitchFamily="2" charset="-78"/>
                </a:rPr>
                <a:t>نباید فراموش کرد که مغز انسان، برای به دست آوردن این سطح بالا از عملکرد، میان‌بر‌هایی را هم آموخته و به کار گرفته </a:t>
              </a:r>
              <a:r>
                <a:rPr lang="fa-IR" dirty="0" smtClean="0">
                  <a:solidFill>
                    <a:srgbClr val="000000"/>
                  </a:solidFill>
                  <a:latin typeface="IRANSans"/>
                  <a:cs typeface="B Nazanin" panose="00000400000000000000" pitchFamily="2" charset="-78"/>
                </a:rPr>
                <a:t>است.</a:t>
              </a:r>
              <a:r>
                <a:rPr lang="en-US" dirty="0" smtClean="0">
                  <a:solidFill>
                    <a:srgbClr val="000000"/>
                  </a:solidFill>
                  <a:latin typeface="IRANSans"/>
                  <a:cs typeface="B Nazanin" panose="00000400000000000000" pitchFamily="2" charset="-78"/>
                </a:rPr>
                <a:t> </a:t>
              </a:r>
              <a:r>
                <a:rPr lang="fa-IR" b="1" dirty="0" smtClean="0">
                  <a:solidFill>
                    <a:srgbClr val="FF0000"/>
                  </a:solidFill>
                  <a:latin typeface="IRANSans"/>
                  <a:cs typeface="B Nazanin" panose="00000400000000000000" pitchFamily="2" charset="-78"/>
                </a:rPr>
                <a:t>میان‌برهایی </a:t>
              </a:r>
              <a:r>
                <a:rPr lang="fa-IR" b="1" dirty="0">
                  <a:solidFill>
                    <a:srgbClr val="FF0000"/>
                  </a:solidFill>
                  <a:latin typeface="IRANSans"/>
                  <a:cs typeface="B Nazanin" panose="00000400000000000000" pitchFamily="2" charset="-78"/>
                </a:rPr>
                <a:t>ارزشمند </a:t>
              </a:r>
              <a:r>
                <a:rPr lang="fa-IR" dirty="0">
                  <a:solidFill>
                    <a:srgbClr val="000000"/>
                  </a:solidFill>
                  <a:latin typeface="IRANSans"/>
                  <a:cs typeface="B Nazanin" panose="00000400000000000000" pitchFamily="2" charset="-78"/>
                </a:rPr>
                <a:t>که اگر چه موجب بقای نسل بشر بر روی این کره‌ی خاکی شده‌اند، </a:t>
              </a:r>
              <a:r>
                <a:rPr lang="fa-IR" b="1" dirty="0">
                  <a:solidFill>
                    <a:srgbClr val="FF0000"/>
                  </a:solidFill>
                  <a:latin typeface="IRANSans"/>
                  <a:cs typeface="B Nazanin" panose="00000400000000000000" pitchFamily="2" charset="-78"/>
                </a:rPr>
                <a:t>اما منشاء </a:t>
              </a:r>
              <a:r>
                <a:rPr lang="fa-IR" dirty="0">
                  <a:solidFill>
                    <a:srgbClr val="000000"/>
                  </a:solidFill>
                  <a:latin typeface="IRANSans"/>
                  <a:cs typeface="B Nazanin" panose="00000400000000000000" pitchFamily="2" charset="-78"/>
                </a:rPr>
                <a:t>بسیاری از </a:t>
              </a:r>
              <a:r>
                <a:rPr lang="fa-IR" b="1" dirty="0">
                  <a:solidFill>
                    <a:srgbClr val="FF0000"/>
                  </a:solidFill>
                  <a:latin typeface="IRANSans"/>
                  <a:cs typeface="B Nazanin" panose="00000400000000000000" pitchFamily="2" charset="-78"/>
                </a:rPr>
                <a:t>خطاهای قضاوتی و ادراکی</a:t>
              </a:r>
              <a:r>
                <a:rPr lang="fa-IR" dirty="0">
                  <a:solidFill>
                    <a:srgbClr val="000000"/>
                  </a:solidFill>
                  <a:latin typeface="IRANSans"/>
                  <a:cs typeface="B Nazanin" panose="00000400000000000000" pitchFamily="2" charset="-78"/>
                </a:rPr>
                <a:t> ما هم بوده‌اند.</a:t>
              </a:r>
            </a:p>
          </p:txBody>
        </p:sp>
        <p:pic>
          <p:nvPicPr>
            <p:cNvPr id="9" name="Picture 8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206643" y="4795806"/>
              <a:ext cx="1238428" cy="1630176"/>
            </a:xfrm>
            <a:prstGeom prst="rect">
              <a:avLst/>
            </a:prstGeom>
          </p:spPr>
        </p:pic>
        <p:sp>
          <p:nvSpPr>
            <p:cNvPr id="10" name="Rectangle 9"/>
            <p:cNvSpPr/>
            <p:nvPr/>
          </p:nvSpPr>
          <p:spPr>
            <a:xfrm>
              <a:off x="4730878" y="4726476"/>
              <a:ext cx="6766577" cy="1738695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2" name="Picture 1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68370" y="4766393"/>
            <a:ext cx="1352550" cy="342900"/>
          </a:xfrm>
          <a:prstGeom prst="rect">
            <a:avLst/>
          </a:prstGeom>
        </p:spPr>
      </p:pic>
      <p:cxnSp>
        <p:nvCxnSpPr>
          <p:cNvPr id="14" name="Elbow Connector 13"/>
          <p:cNvCxnSpPr>
            <a:stCxn id="12" idx="2"/>
            <a:endCxn id="19" idx="0"/>
          </p:cNvCxnSpPr>
          <p:nvPr/>
        </p:nvCxnSpPr>
        <p:spPr>
          <a:xfrm rot="5400000">
            <a:off x="10082784" y="4876720"/>
            <a:ext cx="729288" cy="1194435"/>
          </a:xfrm>
          <a:prstGeom prst="bentConnector3">
            <a:avLst>
              <a:gd name="adj1" fmla="val 50000"/>
            </a:avLst>
          </a:prstGeom>
          <a:ln w="28575" cap="flat" cmpd="sng" algn="ctr">
            <a:solidFill>
              <a:schemeClr val="accent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9853996" y="5104605"/>
            <a:ext cx="59343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a-IR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معنی</a:t>
            </a:r>
            <a:endParaRPr lang="en-US" b="1" dirty="0">
              <a:solidFill>
                <a:srgbClr val="4372C2"/>
              </a:solidFill>
              <a:latin typeface="IRANSans"/>
              <a:cs typeface="B Nazanin" panose="00000400000000000000" pitchFamily="2" charset="-78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8202964" y="5838581"/>
            <a:ext cx="3294492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a-IR" sz="1400" dirty="0">
                <a:solidFill>
                  <a:srgbClr val="454638"/>
                </a:solidFill>
                <a:latin typeface="MsYekan"/>
              </a:rPr>
              <a:t>کشف کننده، پی برنده، اکتشافی، ابتکآری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20912795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4B6193-F9F1-4C54-838F-77350B9FC5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49977" y="441069"/>
            <a:ext cx="9875520" cy="709749"/>
          </a:xfrm>
        </p:spPr>
        <p:txBody>
          <a:bodyPr>
            <a:normAutofit fontScale="90000"/>
          </a:bodyPr>
          <a:lstStyle/>
          <a:p>
            <a:pPr algn="r"/>
            <a:r>
              <a:rPr lang="fa-IR" sz="4800" dirty="0" smtClean="0">
                <a:cs typeface="B Nazanin" panose="00000400000000000000" pitchFamily="2" charset="-78"/>
              </a:rPr>
              <a:t>نمونه هایی از خطاهای ذهنی </a:t>
            </a:r>
            <a:endParaRPr lang="en-US" sz="4800" dirty="0">
              <a:cs typeface="B Nazanin" panose="00000400000000000000" pitchFamily="2" charset="-78"/>
            </a:endParaRPr>
          </a:p>
        </p:txBody>
      </p:sp>
      <p:cxnSp>
        <p:nvCxnSpPr>
          <p:cNvPr id="8" name="Straight Connector 7"/>
          <p:cNvCxnSpPr/>
          <p:nvPr/>
        </p:nvCxnSpPr>
        <p:spPr>
          <a:xfrm>
            <a:off x="888274" y="1240973"/>
            <a:ext cx="10437223" cy="13063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3" name="Rectangle 2"/>
          <p:cNvSpPr/>
          <p:nvPr/>
        </p:nvSpPr>
        <p:spPr>
          <a:xfrm>
            <a:off x="8543109" y="1744286"/>
            <a:ext cx="3063238" cy="4801314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justLow" rtl="1"/>
            <a:r>
              <a:rPr lang="fa-IR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اکثر </a:t>
            </a:r>
            <a:r>
              <a:rPr lang="fa-IR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ما </a:t>
            </a:r>
            <a:r>
              <a:rPr lang="fa-IR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انسان‌ها. احنمال مرگ با سیل و زلزله را بیشتر از آتشسوزی برای خود میدانیم . در </a:t>
            </a:r>
            <a:r>
              <a:rPr lang="fa-IR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حالی که آمارها نشان می‌دهند، برای هر یک از ما، احتمال مرگ ناشی از آتش‌سوزی الزاماً از احتمال مرگ در اثر زلزله یا سقوط هواپیما کمتر نیست.</a:t>
            </a:r>
          </a:p>
          <a:p>
            <a:pPr algn="justLow" rtl="1"/>
            <a:r>
              <a:rPr lang="fa-IR" b="1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علت این نوع ارزیابی، اطلاعاتی است که در دسترس مغز است.</a:t>
            </a:r>
          </a:p>
          <a:p>
            <a:pPr algn="justLow" rtl="1"/>
            <a:r>
              <a:rPr lang="fa-IR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مغز در اثر گوش دادن به خبرها و خواندن روزنامه‌ها، حجم زیادی از اخبار مربوط به سقوط و زلزله را در دسترس دارد. به همین علت بر اساس اینکه چه چیزهایی بهتر به خاطر می‌آیند، در زمینه احتمال وقوع آنها قضاوت می‌کند</a:t>
            </a:r>
            <a:r>
              <a:rPr lang="fa-IR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.</a:t>
            </a:r>
          </a:p>
          <a:p>
            <a:pPr algn="justLow" rtl="1"/>
            <a:r>
              <a:rPr lang="fa-IR" b="1" dirty="0">
                <a:solidFill>
                  <a:srgbClr val="C00000"/>
                </a:solidFill>
                <a:latin typeface="IRANSans"/>
                <a:cs typeface="B Nazanin" panose="00000400000000000000" pitchFamily="2" charset="-78"/>
              </a:rPr>
              <a:t>به عبارتی، اطلاعاتی که سریع‌تر بازیابی می‌شوند، محتمل‌تر فرض می‌شوند</a:t>
            </a:r>
            <a:r>
              <a:rPr lang="fa-IR" b="1" dirty="0" smtClean="0">
                <a:solidFill>
                  <a:srgbClr val="C00000"/>
                </a:solidFill>
                <a:latin typeface="IRANSans"/>
                <a:cs typeface="B Nazanin" panose="00000400000000000000" pitchFamily="2" charset="-78"/>
              </a:rPr>
              <a:t>.</a:t>
            </a:r>
            <a:endParaRPr lang="fa-IR" b="1" dirty="0">
              <a:solidFill>
                <a:srgbClr val="C00000"/>
              </a:solidFill>
              <a:latin typeface="IRANSans"/>
              <a:cs typeface="B Nazanin" panose="00000400000000000000" pitchFamily="2" charset="-78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8543109" y="1359961"/>
            <a:ext cx="3063238" cy="400110"/>
          </a:xfrm>
          <a:prstGeom prst="rect">
            <a:avLst/>
          </a:prstGeom>
          <a:solidFill>
            <a:srgbClr val="AFA9FB"/>
          </a:solidFill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fa-IR" sz="2000" b="1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خطای در محاسبه‌ی احتمالات</a:t>
            </a:r>
            <a:endParaRPr lang="en-US" sz="2000" dirty="0">
              <a:cs typeface="B Nazanin" panose="00000400000000000000" pitchFamily="2" charset="-78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6074229" y="1757349"/>
            <a:ext cx="2377440" cy="4801314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justLow" rtl="1"/>
            <a:r>
              <a:rPr lang="fa-IR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فرض کنید برای خرید یک خودرو، هفته‌ها وقت صرف کرده و با ده‌ها نفر صحبت </a:t>
            </a:r>
            <a:r>
              <a:rPr lang="fa-IR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کرده‌اید.</a:t>
            </a:r>
            <a:r>
              <a:rPr lang="en-US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fa-IR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در </a:t>
            </a:r>
            <a:r>
              <a:rPr lang="fa-IR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اثر این </a:t>
            </a:r>
            <a:r>
              <a:rPr lang="fa-IR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تحقیق‌ها</a:t>
            </a:r>
            <a:r>
              <a:rPr lang="fa-IR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، با قطعیت به یک نتیجه‌ی مشخص رسیده‌اید.</a:t>
            </a:r>
          </a:p>
          <a:p>
            <a:pPr algn="justLow" rtl="1"/>
            <a:r>
              <a:rPr lang="fa-IR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هنگام خرید خودرو </a:t>
            </a:r>
            <a:r>
              <a:rPr lang="fa-IR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، یک </a:t>
            </a:r>
            <a:r>
              <a:rPr lang="fa-IR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مشتری را می‌بینید که می‌گوید: «من همین ماشین را داشتم. روز سوم خاموش شد و </a:t>
            </a:r>
            <a:r>
              <a:rPr lang="fa-IR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.... ».</a:t>
            </a:r>
            <a:endParaRPr lang="fa-IR" dirty="0">
              <a:solidFill>
                <a:srgbClr val="000000"/>
              </a:solidFill>
              <a:latin typeface="IRANSans"/>
              <a:cs typeface="B Nazanin" panose="00000400000000000000" pitchFamily="2" charset="-78"/>
            </a:endParaRPr>
          </a:p>
          <a:p>
            <a:pPr algn="justLow" rtl="1"/>
            <a:r>
              <a:rPr lang="fa-IR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آیا هنوز بر تصمیم قبلی خود باقی می‌مانید</a:t>
            </a:r>
            <a:r>
              <a:rPr lang="fa-IR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؟</a:t>
            </a:r>
          </a:p>
          <a:p>
            <a:pPr algn="justLow" rtl="1"/>
            <a:r>
              <a:rPr lang="fa-IR" b="1" dirty="0" smtClean="0">
                <a:solidFill>
                  <a:srgbClr val="C00000"/>
                </a:solidFill>
                <a:latin typeface="IRANSans"/>
                <a:cs typeface="B Nazanin" panose="00000400000000000000" pitchFamily="2" charset="-78"/>
              </a:rPr>
              <a:t>واقعیت آن است که ذهن ما برای آخرین اطلاعات بدست آمده ارزش بیشتری قایل است که این مورد میتواند نتیجه درستی نداشته باشد</a:t>
            </a:r>
            <a:r>
              <a:rPr lang="fa-IR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. </a:t>
            </a:r>
            <a:endParaRPr lang="fa-IR" dirty="0">
              <a:solidFill>
                <a:srgbClr val="000000"/>
              </a:solidFill>
              <a:latin typeface="IRANSans"/>
              <a:cs typeface="B Nazanin" panose="00000400000000000000" pitchFamily="2" charset="-78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6074229" y="1359961"/>
            <a:ext cx="2377440" cy="461665"/>
          </a:xfrm>
          <a:prstGeom prst="rect">
            <a:avLst/>
          </a:prstGeom>
          <a:solidFill>
            <a:srgbClr val="AFA9FB"/>
          </a:solidFill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fa-IR" sz="1200" b="1" dirty="0">
                <a:cs typeface="B Nazanin" panose="00000400000000000000" pitchFamily="2" charset="-78"/>
              </a:rPr>
              <a:t>خطای ناشی از مهم‌تر فرض کردن آخرین اخبار</a:t>
            </a:r>
            <a:endParaRPr lang="en-US" sz="1400" b="1" dirty="0">
              <a:cs typeface="B Nazanin" panose="00000400000000000000" pitchFamily="2" charset="-78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3278777" y="1834689"/>
            <a:ext cx="2704011" cy="4708981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justLow" rtl="1"/>
            <a:r>
              <a:rPr lang="fa-IR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فرض کنید که ماشین مورد علاقه‌ی خود را انتخاب کرده‌اید</a:t>
            </a:r>
            <a:r>
              <a:rPr lang="fa-IR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.</a:t>
            </a:r>
            <a:r>
              <a:rPr lang="en-US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fa-IR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در </a:t>
            </a:r>
            <a:r>
              <a:rPr lang="fa-IR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مسیر مراجعه برای خرید ماشین،‌ </a:t>
            </a:r>
            <a:r>
              <a:rPr lang="fa-IR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یکنفر </a:t>
            </a:r>
            <a:r>
              <a:rPr lang="fa-IR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را می‌بینید. سال‌هاست از او نفرت دارید </a:t>
            </a:r>
            <a:r>
              <a:rPr lang="fa-IR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. متوجه </a:t>
            </a:r>
            <a:r>
              <a:rPr lang="fa-IR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می‌شوید که او هم از همین ماشین خریده است.</a:t>
            </a:r>
          </a:p>
          <a:p>
            <a:pPr algn="justLow" rtl="1"/>
            <a:r>
              <a:rPr lang="fa-IR" sz="2000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آیا هنوز هم، علاقه‌ی شما به آن ماشین به اندازه‌ی قبل است؟</a:t>
            </a:r>
          </a:p>
          <a:p>
            <a:pPr algn="justLow" rtl="1"/>
            <a:r>
              <a:rPr lang="fa-IR" b="1" dirty="0">
                <a:solidFill>
                  <a:srgbClr val="C00000"/>
                </a:solidFill>
                <a:latin typeface="IRANSans"/>
                <a:cs typeface="B Nazanin" panose="00000400000000000000" pitchFamily="2" charset="-78"/>
              </a:rPr>
              <a:t>یکی از میان‌بُرهای ذهن ما این است که صفات را از انسان به کالا و از کالا به انسان و نیز از محیط به یک جسم سرایت می‌دهد.</a:t>
            </a:r>
          </a:p>
          <a:p>
            <a:pPr algn="justLow" rtl="1"/>
            <a:r>
              <a:rPr lang="fa-IR" sz="1600" b="1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در واقع اینکه بعضا با تجربه همکاری بد با یک نفر از یک شهر یا قومیت خاص ، همه افراد از آن شهر یا قومیت خاص را نا مناسب می دانیم ناشی از چنین خطای ذهنی می باشد. </a:t>
            </a:r>
            <a:endParaRPr lang="fa-IR" sz="1600" b="1" dirty="0">
              <a:solidFill>
                <a:srgbClr val="000000"/>
              </a:solidFill>
              <a:latin typeface="IRANSans"/>
              <a:cs typeface="B Nazanin" panose="00000400000000000000" pitchFamily="2" charset="-78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3278777" y="1373024"/>
            <a:ext cx="2704011" cy="461665"/>
          </a:xfrm>
          <a:prstGeom prst="rect">
            <a:avLst/>
          </a:prstGeom>
          <a:solidFill>
            <a:srgbClr val="AFA9FB"/>
          </a:solidFill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fa-IR" sz="2000" b="1" dirty="0" smtClean="0">
                <a:cs typeface="B Nazanin" panose="00000400000000000000" pitchFamily="2" charset="-78"/>
              </a:rPr>
              <a:t>خطای ذهنی سرایت </a:t>
            </a:r>
            <a:r>
              <a:rPr lang="fa-IR" sz="2400" b="1" dirty="0" smtClean="0">
                <a:cs typeface="B Nazanin" panose="00000400000000000000" pitchFamily="2" charset="-78"/>
              </a:rPr>
              <a:t> </a:t>
            </a:r>
            <a:endParaRPr lang="en-US" sz="2400" b="1" dirty="0">
              <a:cs typeface="B Nazanin" panose="00000400000000000000" pitchFamily="2" charset="-78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287383" y="1886941"/>
            <a:ext cx="2899953" cy="4247317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justLow" rtl="1"/>
            <a:r>
              <a:rPr lang="fa-IR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نویسنده‌ای در یک مصاحبه‌ی تلویزیونی می‌گوید که ۱۸ سال گذشته را صرف نگارش آخرین کتابش کرده است.</a:t>
            </a:r>
          </a:p>
          <a:p>
            <a:pPr algn="justLow" rtl="1"/>
            <a:r>
              <a:rPr lang="fa-IR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بسیاری از ما با شنیدن این جمله، احساس می‌کنیم با یک کتاب وزین و ارزشمند طرف هستیم.</a:t>
            </a:r>
          </a:p>
          <a:p>
            <a:pPr algn="justLow" rtl="1"/>
            <a:r>
              <a:rPr lang="fa-IR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البته ممکن است فرض ما نادرست هم </a:t>
            </a:r>
            <a:r>
              <a:rPr lang="fa-IR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نباشد. ممکن است نویسنده کند ذهن و تنبل بوده باشد . یا روش تحقیق مناسبلی نداشته و ... یکی </a:t>
            </a:r>
            <a:r>
              <a:rPr lang="fa-IR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از قواعد سرانگشتی </a:t>
            </a:r>
            <a:r>
              <a:rPr lang="fa-IR" b="1" dirty="0">
                <a:solidFill>
                  <a:srgbClr val="C00000"/>
                </a:solidFill>
                <a:latin typeface="IRANSans"/>
                <a:cs typeface="B Nazanin" panose="00000400000000000000" pitchFamily="2" charset="-78"/>
              </a:rPr>
              <a:t>و میان‌بُرهای محاسباتی ذهن ما این است که تلاش و کوشش و زمانی را که صرف یک کار شده، با ارزش دستاورد آن کار هم‌ارز می‌گیرد</a:t>
            </a:r>
            <a:r>
              <a:rPr lang="fa-IR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87383" y="1373024"/>
            <a:ext cx="2899953" cy="523220"/>
          </a:xfrm>
          <a:prstGeom prst="rect">
            <a:avLst/>
          </a:prstGeom>
          <a:solidFill>
            <a:srgbClr val="AFA9FB"/>
          </a:solidFill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fa-IR" sz="1400" b="1" dirty="0">
                <a:cs typeface="B Nazanin" panose="00000400000000000000" pitchFamily="2" charset="-78"/>
              </a:rPr>
              <a:t>خطای ذهنی در ایجاد رابطه میان تلاش و کیفیت</a:t>
            </a:r>
            <a:endParaRPr lang="en-US" b="1" dirty="0">
              <a:cs typeface="B Nazanin" panose="00000400000000000000" pitchFamily="2" charset="-78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287383" y="6076056"/>
            <a:ext cx="2899953" cy="461665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fa-IR" sz="2400" b="1" dirty="0" smtClean="0">
                <a:cs typeface="B Nazanin" panose="00000400000000000000" pitchFamily="2" charset="-78"/>
              </a:rPr>
              <a:t>و ...</a:t>
            </a:r>
            <a:endParaRPr lang="en-US" sz="3200" b="1" dirty="0">
              <a:cs typeface="B Nazanin" panose="00000400000000000000" pitchFamily="2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241395167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4B6193-F9F1-4C54-838F-77350B9FC5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62739" y="448038"/>
            <a:ext cx="9875520" cy="709749"/>
          </a:xfrm>
        </p:spPr>
        <p:txBody>
          <a:bodyPr>
            <a:normAutofit fontScale="90000"/>
          </a:bodyPr>
          <a:lstStyle/>
          <a:p>
            <a:pPr algn="r"/>
            <a:r>
              <a:rPr lang="fa-IR" sz="4800" dirty="0" smtClean="0">
                <a:cs typeface="B Nazanin" panose="00000400000000000000" pitchFamily="2" charset="-78"/>
              </a:rPr>
              <a:t>خطای تایید خود </a:t>
            </a:r>
            <a:endParaRPr lang="en-US" sz="4800" dirty="0">
              <a:cs typeface="B Nazanin" panose="00000400000000000000" pitchFamily="2" charset="-78"/>
            </a:endParaRPr>
          </a:p>
        </p:txBody>
      </p:sp>
      <p:cxnSp>
        <p:nvCxnSpPr>
          <p:cNvPr id="8" name="Straight Connector 7"/>
          <p:cNvCxnSpPr/>
          <p:nvPr/>
        </p:nvCxnSpPr>
        <p:spPr>
          <a:xfrm>
            <a:off x="888274" y="1240973"/>
            <a:ext cx="10437223" cy="13063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3" name="Rectangle 2"/>
          <p:cNvSpPr/>
          <p:nvPr/>
        </p:nvSpPr>
        <p:spPr>
          <a:xfrm>
            <a:off x="6413049" y="5342155"/>
            <a:ext cx="5134739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3600" b="1" u="sng" dirty="0">
                <a:ln w="12700" cmpd="sng">
                  <a:solidFill>
                    <a:schemeClr val="accent4"/>
                  </a:solidFill>
                  <a:prstDash val="solid"/>
                </a:ln>
                <a:gradFill>
                  <a:gsLst>
                    <a:gs pos="0">
                      <a:schemeClr val="accent4"/>
                    </a:gs>
                    <a:gs pos="4000">
                      <a:schemeClr val="accent4">
                        <a:lumMod val="60000"/>
                        <a:lumOff val="40000"/>
                      </a:schemeClr>
                    </a:gs>
                    <a:gs pos="87000">
                      <a:schemeClr val="accent4">
                        <a:lumMod val="20000"/>
                        <a:lumOff val="80000"/>
                      </a:schemeClr>
                    </a:gs>
                  </a:gsLst>
                  <a:lin ang="5400000"/>
                </a:gra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IRANSans"/>
              </a:rPr>
              <a:t>Self Confirmation Bias</a:t>
            </a:r>
            <a:endParaRPr lang="en-US" sz="3600" b="1" u="sng" dirty="0">
              <a:ln w="12700" cmpd="sng">
                <a:solidFill>
                  <a:schemeClr val="accent4"/>
                </a:solidFill>
                <a:prstDash val="solid"/>
              </a:ln>
              <a:gradFill>
                <a:gsLst>
                  <a:gs pos="0">
                    <a:schemeClr val="accent4"/>
                  </a:gs>
                  <a:gs pos="4000">
                    <a:schemeClr val="accent4">
                      <a:lumMod val="60000"/>
                      <a:lumOff val="40000"/>
                    </a:schemeClr>
                  </a:gs>
                  <a:gs pos="87000">
                    <a:schemeClr val="accent4">
                      <a:lumMod val="20000"/>
                      <a:lumOff val="80000"/>
                    </a:schemeClr>
                  </a:gs>
                </a:gsLst>
                <a:lin ang="5400000"/>
              </a:gra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802404" y="2286899"/>
            <a:ext cx="10635855" cy="646331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r" rtl="1"/>
            <a:r>
              <a:rPr lang="fa-IR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اینکه ما بعد از تهیه یک ماشین احساس میکنیم خیلی ها در خیابان نسبت به قبل این ماشین را تهیه کرده اند ناشی از </a:t>
            </a:r>
            <a:r>
              <a:rPr lang="fa-IR" b="1" dirty="0" smtClean="0">
                <a:solidFill>
                  <a:schemeClr val="tx1"/>
                </a:solidFill>
                <a:latin typeface="IRANSans"/>
                <a:cs typeface="B Nazanin" panose="00000400000000000000" pitchFamily="2" charset="-78"/>
              </a:rPr>
              <a:t>عدم</a:t>
            </a:r>
            <a:r>
              <a:rPr lang="fa-IR" b="1" dirty="0" smtClean="0">
                <a:solidFill>
                  <a:srgbClr val="FF0000"/>
                </a:solidFill>
                <a:latin typeface="IRANSans"/>
                <a:cs typeface="B Nazanin" panose="00000400000000000000" pitchFamily="2" charset="-78"/>
              </a:rPr>
              <a:t> فیلترینگ مغز </a:t>
            </a:r>
            <a:r>
              <a:rPr lang="fa-IR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در توجه و پردازش به این نوع ماشین می باشد . ما </a:t>
            </a:r>
            <a:r>
              <a:rPr lang="fa-IR" b="1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اطلاعاتی را که دوست داریم </a:t>
            </a:r>
            <a:r>
              <a:rPr lang="fa-IR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به آن توجه کنیم را حذف یا فیلتر نمی کنیم. </a:t>
            </a:r>
            <a:endParaRPr lang="en-US" dirty="0"/>
          </a:p>
        </p:txBody>
      </p:sp>
      <p:sp>
        <p:nvSpPr>
          <p:cNvPr id="6" name="Rectangle 5"/>
          <p:cNvSpPr/>
          <p:nvPr/>
        </p:nvSpPr>
        <p:spPr>
          <a:xfrm>
            <a:off x="2483736" y="1474196"/>
            <a:ext cx="8168513" cy="646331"/>
          </a:xfrm>
          <a:prstGeom prst="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r" rtl="1"/>
            <a:r>
              <a:rPr lang="fa-IR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اینکه احتمالا ما نمیدانیم که خانه ما چند پله دارد ولی هرگز برای تشخیص اتمام پله ها اشتباه نمیکنیم مربوط به فیلترینگ مغز ما برای تعداد پله ها می باشد . زیرا مغز به روشی این کار را میکند که کمترین انرژی را از او بگیرد . </a:t>
            </a:r>
            <a:endParaRPr lang="en-US" dirty="0"/>
          </a:p>
        </p:txBody>
      </p:sp>
      <p:sp>
        <p:nvSpPr>
          <p:cNvPr id="4" name="Rectangle 3"/>
          <p:cNvSpPr/>
          <p:nvPr/>
        </p:nvSpPr>
        <p:spPr>
          <a:xfrm>
            <a:off x="547359" y="3007243"/>
            <a:ext cx="10998251" cy="184665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 rtl="1">
              <a:lnSpc>
                <a:spcPct val="150000"/>
              </a:lnSpc>
            </a:pPr>
            <a:r>
              <a:rPr lang="fa-IR" sz="2000" b="1" dirty="0">
                <a:solidFill>
                  <a:srgbClr val="FF0000"/>
                </a:solidFill>
                <a:latin typeface="IRANSans"/>
                <a:cs typeface="B Nazanin" panose="00000400000000000000" pitchFamily="2" charset="-78"/>
              </a:rPr>
              <a:t>دریافت گزینشی اطلاعات </a:t>
            </a:r>
            <a:r>
              <a:rPr lang="fa-IR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باعث می‌شود کسی که فکر کند مردم یک شهر خاص،‌ کم هوش هستند، هر روز نمونه‌های بیشتری در تایید حرف خود پیدا کند و فرد دیگری که فکر می‌کند مردم آن شهر خاص، تیزهوش هستند، هر روز نمونه‌های دیگری در تایید باورش پیدا کند</a:t>
            </a:r>
            <a:r>
              <a:rPr lang="fa-IR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.</a:t>
            </a:r>
            <a:endParaRPr lang="fa-IR" dirty="0">
              <a:solidFill>
                <a:srgbClr val="000000"/>
              </a:solidFill>
              <a:latin typeface="IRANSans"/>
              <a:cs typeface="B Nazanin" panose="00000400000000000000" pitchFamily="2" charset="-78"/>
            </a:endParaRPr>
          </a:p>
          <a:p>
            <a:pPr algn="r" rtl="1">
              <a:lnSpc>
                <a:spcPct val="150000"/>
              </a:lnSpc>
            </a:pPr>
            <a:r>
              <a:rPr lang="fa-IR" sz="20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تمایل به تایید خود </a:t>
            </a:r>
            <a:r>
              <a:rPr lang="fa-IR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هم باعث می‌شود ما هرگز به صحت عملکرد سیستم ادراکی خود (که به دریافت گزینشی و فیلتر کردن احساسی اطلاعات مشغول است) شک </a:t>
            </a:r>
            <a:r>
              <a:rPr lang="fa-IR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نکنیم . این تایید امنیت ذهنی ما را حفظ می نماید . </a:t>
            </a:r>
            <a:endParaRPr lang="en-US" dirty="0">
              <a:solidFill>
                <a:srgbClr val="000000"/>
              </a:solidFill>
              <a:latin typeface="IRANSans"/>
              <a:cs typeface="B Nazanin" panose="00000400000000000000" pitchFamily="2" charset="-78"/>
            </a:endParaRP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"/>
          <a:srcRect t="24371"/>
          <a:stretch/>
        </p:blipFill>
        <p:spPr>
          <a:xfrm>
            <a:off x="788957" y="4556223"/>
            <a:ext cx="4781873" cy="1920516"/>
          </a:xfrm>
          <a:prstGeom prst="rect">
            <a:avLst/>
          </a:prstGeom>
        </p:spPr>
      </p:pic>
      <p:cxnSp>
        <p:nvCxnSpPr>
          <p:cNvPr id="10" name="Curved Connector 9"/>
          <p:cNvCxnSpPr>
            <a:endCxn id="6" idx="1"/>
          </p:cNvCxnSpPr>
          <p:nvPr/>
        </p:nvCxnSpPr>
        <p:spPr>
          <a:xfrm rot="5400000" flipH="1" flipV="1">
            <a:off x="1985460" y="1842412"/>
            <a:ext cx="543325" cy="453227"/>
          </a:xfrm>
          <a:prstGeom prst="curvedConnector2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0875618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4B6193-F9F1-4C54-838F-77350B9FC5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69125" y="425299"/>
            <a:ext cx="9875520" cy="709749"/>
          </a:xfrm>
        </p:spPr>
        <p:txBody>
          <a:bodyPr>
            <a:normAutofit fontScale="90000"/>
          </a:bodyPr>
          <a:lstStyle/>
          <a:p>
            <a:pPr algn="r"/>
            <a:r>
              <a:rPr lang="fa-IR" sz="4800" dirty="0" smtClean="0">
                <a:cs typeface="B Nazanin" panose="00000400000000000000" pitchFamily="2" charset="-78"/>
              </a:rPr>
              <a:t>تصمیم گیری چیست ؟</a:t>
            </a:r>
            <a:endParaRPr lang="en-US" sz="4800" dirty="0">
              <a:cs typeface="B Nazanin" panose="00000400000000000000" pitchFamily="2" charset="-78"/>
            </a:endParaRPr>
          </a:p>
        </p:txBody>
      </p:sp>
      <p:cxnSp>
        <p:nvCxnSpPr>
          <p:cNvPr id="8" name="Straight Connector 7"/>
          <p:cNvCxnSpPr/>
          <p:nvPr/>
        </p:nvCxnSpPr>
        <p:spPr>
          <a:xfrm>
            <a:off x="888274" y="1240973"/>
            <a:ext cx="10437223" cy="13063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6134097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4B6193-F9F1-4C54-838F-77350B9FC5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69125" y="425299"/>
            <a:ext cx="9875520" cy="709749"/>
          </a:xfrm>
        </p:spPr>
        <p:txBody>
          <a:bodyPr>
            <a:normAutofit fontScale="90000"/>
          </a:bodyPr>
          <a:lstStyle/>
          <a:p>
            <a:pPr algn="r" rtl="1"/>
            <a:r>
              <a:rPr lang="fa-IR" sz="4800" dirty="0" smtClean="0">
                <a:cs typeface="B Nazanin" panose="00000400000000000000" pitchFamily="2" charset="-78"/>
              </a:rPr>
              <a:t>سوگیری (</a:t>
            </a:r>
            <a:r>
              <a:rPr lang="en-US" dirty="0" smtClean="0"/>
              <a:t>Bias</a:t>
            </a:r>
            <a:r>
              <a:rPr lang="fa-IR" sz="4800" dirty="0" smtClean="0">
                <a:cs typeface="B Nazanin" panose="00000400000000000000" pitchFamily="2" charset="-78"/>
              </a:rPr>
              <a:t>)  </a:t>
            </a:r>
            <a:endParaRPr lang="en-US" sz="4800" dirty="0">
              <a:cs typeface="B Nazanin" panose="00000400000000000000" pitchFamily="2" charset="-78"/>
            </a:endParaRPr>
          </a:p>
        </p:txBody>
      </p:sp>
      <p:cxnSp>
        <p:nvCxnSpPr>
          <p:cNvPr id="8" name="Straight Connector 7"/>
          <p:cNvCxnSpPr/>
          <p:nvPr/>
        </p:nvCxnSpPr>
        <p:spPr>
          <a:xfrm>
            <a:off x="888274" y="1240973"/>
            <a:ext cx="10437223" cy="13063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3" name="Rectangle 2"/>
          <p:cNvSpPr/>
          <p:nvPr/>
        </p:nvSpPr>
        <p:spPr>
          <a:xfrm>
            <a:off x="3341914" y="1548676"/>
            <a:ext cx="7702731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 algn="r" rtl="1">
              <a:buFont typeface="Wingdings" panose="05000000000000000000" pitchFamily="2" charset="2"/>
              <a:buChar char="ü"/>
            </a:pPr>
            <a:r>
              <a:rPr lang="fa-IR" b="1" dirty="0">
                <a:solidFill>
                  <a:srgbClr val="FF0000"/>
                </a:solidFill>
                <a:latin typeface="IRANSans"/>
                <a:cs typeface="B Nazanin" panose="00000400000000000000" pitchFamily="2" charset="-78"/>
              </a:rPr>
              <a:t>سوگیری</a:t>
            </a:r>
            <a:r>
              <a:rPr lang="fa-IR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یا </a:t>
            </a:r>
            <a:r>
              <a:rPr lang="fa-IR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بایاس ، </a:t>
            </a:r>
            <a:r>
              <a:rPr lang="fa-IR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به معنای </a:t>
            </a:r>
            <a:r>
              <a:rPr lang="fa-IR" b="1" dirty="0">
                <a:solidFill>
                  <a:srgbClr val="FF0000"/>
                </a:solidFill>
                <a:latin typeface="IRANSans"/>
                <a:cs typeface="B Nazanin" panose="00000400000000000000" pitchFamily="2" charset="-78"/>
              </a:rPr>
              <a:t>خنثی نبودن نسبت</a:t>
            </a:r>
            <a:r>
              <a:rPr lang="fa-IR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به یک پدیده یا رویداد یا باور یا ارزش یا … است</a:t>
            </a:r>
            <a:r>
              <a:rPr lang="fa-IR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.</a:t>
            </a:r>
            <a:endParaRPr lang="en-US" dirty="0">
              <a:solidFill>
                <a:srgbClr val="000000"/>
              </a:solidFill>
              <a:latin typeface="IRANSans"/>
              <a:cs typeface="B Nazanin" panose="00000400000000000000" pitchFamily="2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359950921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>
            <a:extLst>
              <a:ext uri="{FF2B5EF4-FFF2-40B4-BE49-F238E27FC236}">
                <a16:creationId xmlns:a16="http://schemas.microsoft.com/office/drawing/2014/main" id="{E3DC42C2-6B58-404C-B339-2C72808A5BE1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31140" y="243840"/>
            <a:ext cx="11724640" cy="6377939"/>
          </a:xfrm>
          <a:prstGeom prst="rect">
            <a:avLst/>
          </a:prstGeom>
          <a:solidFill>
            <a:schemeClr val="accent1"/>
          </a:solidFill>
          <a:ln w="12700"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0D81407-D1A6-42DD-AE7A-4FA34ACD13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0" y="609600"/>
            <a:ext cx="5038844" cy="1356360"/>
          </a:xfrm>
        </p:spPr>
        <p:txBody>
          <a:bodyPr>
            <a:normAutofit/>
          </a:bodyPr>
          <a:lstStyle/>
          <a:p>
            <a:pPr algn="ctr"/>
            <a:r>
              <a:rPr lang="fa-IR" sz="8000" dirty="0" smtClean="0">
                <a:solidFill>
                  <a:srgbClr val="FFFFFF"/>
                </a:solidFill>
                <a:cs typeface="B Nazanin" panose="00000400000000000000" pitchFamily="2" charset="-78"/>
              </a:rPr>
              <a:t>پایان</a:t>
            </a:r>
            <a:endParaRPr lang="en-US" dirty="0">
              <a:solidFill>
                <a:srgbClr val="FFFFFF"/>
              </a:solidFill>
              <a:cs typeface="B Nazanin" panose="00000400000000000000" pitchFamily="2" charset="-78"/>
            </a:endParaRPr>
          </a:p>
        </p:txBody>
      </p:sp>
      <p:pic>
        <p:nvPicPr>
          <p:cNvPr id="4" name="Picture 3" descr="Two people climbing a mountain">
            <a:extLst>
              <a:ext uri="{FF2B5EF4-FFF2-40B4-BE49-F238E27FC236}">
                <a16:creationId xmlns:a16="http://schemas.microsoft.com/office/drawing/2014/main" id="{629F2A20-8FE1-4EA2-AE83-45314542A65B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2278" b="2278"/>
          <a:stretch/>
        </p:blipFill>
        <p:spPr>
          <a:xfrm>
            <a:off x="232860" y="243840"/>
            <a:ext cx="5432443" cy="6377939"/>
          </a:xfrm>
          <a:prstGeom prst="rect">
            <a:avLst/>
          </a:prstGeom>
        </p:spPr>
      </p:pic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41FF5D4E-7134-4EA4-BA11-FE50F4576B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0" y="2057400"/>
            <a:ext cx="5038844" cy="4038600"/>
          </a:xfrm>
        </p:spPr>
        <p:txBody>
          <a:bodyPr>
            <a:normAutofit/>
          </a:bodyPr>
          <a:lstStyle/>
          <a:p>
            <a:pPr marL="45720" indent="0" algn="ctr">
              <a:buNone/>
            </a:pPr>
            <a:r>
              <a:rPr lang="en-US" dirty="0" smtClean="0">
                <a:solidFill>
                  <a:srgbClr val="FFFFFF"/>
                </a:solidFill>
              </a:rPr>
              <a:t>Afshin.Abbaspour@gmail.com</a:t>
            </a:r>
            <a:endParaRPr lang="en-US" dirty="0">
              <a:solidFill>
                <a:srgbClr val="FFFFFF"/>
              </a:solidFill>
            </a:endParaRPr>
          </a:p>
          <a:p>
            <a:pPr algn="ctr"/>
            <a:endParaRPr lang="en-US" dirty="0">
              <a:solidFill>
                <a:srgbClr val="FFFFFF"/>
              </a:solidFill>
            </a:endParaRP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FCF82941-5589-49BF-B6B1-76122B2D0EA6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28600" y="243840"/>
            <a:ext cx="11724640" cy="6377939"/>
          </a:xfrm>
          <a:prstGeom prst="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164698361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Basis">
  <a:themeElements>
    <a:clrScheme name="Basis">
      <a:dk1>
        <a:srgbClr val="000000"/>
      </a:dk1>
      <a:lt1>
        <a:srgbClr val="FFFFFF"/>
      </a:lt1>
      <a:dk2>
        <a:srgbClr val="565349"/>
      </a:dk2>
      <a:lt2>
        <a:srgbClr val="DDDDDD"/>
      </a:lt2>
      <a:accent1>
        <a:srgbClr val="A6B727"/>
      </a:accent1>
      <a:accent2>
        <a:srgbClr val="DF5327"/>
      </a:accent2>
      <a:accent3>
        <a:srgbClr val="FE9E00"/>
      </a:accent3>
      <a:accent4>
        <a:srgbClr val="418AB3"/>
      </a:accent4>
      <a:accent5>
        <a:srgbClr val="D7D447"/>
      </a:accent5>
      <a:accent6>
        <a:srgbClr val="818183"/>
      </a:accent6>
      <a:hlink>
        <a:srgbClr val="F59E00"/>
      </a:hlink>
      <a:folHlink>
        <a:srgbClr val="B2B2B2"/>
      </a:folHlink>
    </a:clrScheme>
    <a:fontScheme name="Basis">
      <a:majorFont>
        <a:latin typeface="Corbel" panose="020B0503020204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 panose="020B0503020204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Basis">
      <a:fillStyleLst>
        <a:solidFill>
          <a:schemeClr val="phClr"/>
        </a:solidFill>
        <a:solidFill>
          <a:schemeClr val="phClr">
            <a:tint val="55000"/>
            <a:satMod val="130000"/>
          </a:schemeClr>
        </a:solidFill>
        <a:gradFill rotWithShape="1">
          <a:gsLst>
            <a:gs pos="0">
              <a:schemeClr val="phClr"/>
            </a:gs>
            <a:gs pos="90000">
              <a:schemeClr val="phClr">
                <a:shade val="100000"/>
                <a:satMod val="105000"/>
              </a:schemeClr>
            </a:gs>
            <a:gs pos="100000">
              <a:schemeClr val="phClr">
                <a:shade val="80000"/>
                <a:satMod val="12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00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53975" cap="flat" cmpd="dbl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brightRoom" dir="t"/>
          </a:scene3d>
          <a:sp3d extrusionH="12700" contourW="25400" prstMaterial="flat">
            <a:bevelT w="63500" h="152400" prst="angle"/>
            <a:contourClr>
              <a:schemeClr val="phClr">
                <a:shade val="27000"/>
                <a:satMod val="12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hade val="95000"/>
            <a:satMod val="140000"/>
          </a:schemeClr>
        </a:solidFill>
        <a:solidFill>
          <a:schemeClr val="phClr">
            <a:tint val="90000"/>
            <a:shade val="85000"/>
            <a:satMod val="160000"/>
            <a:lumMod val="110000"/>
          </a:schemeClr>
        </a:soli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Basis" id="{5665723A-49BA-4B57-8411-A56F8F207965}" vid="{90E45F77-AEFC-46EF-A7C1-5B338C297B02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MediaServiceKeyPoints xmlns="71af3243-3dd4-4a8d-8c0d-dd76da1f02a5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11" ma:contentTypeDescription="Create a new document." ma:contentTypeScope="" ma:versionID="1c2eb7a32e66fb6e4260f3771546a5e2">
  <xsd:schema xmlns:xsd="http://www.w3.org/2001/XMLSchema" xmlns:xs="http://www.w3.org/2001/XMLSchema" xmlns:p="http://schemas.microsoft.com/office/2006/metadata/properties" xmlns:ns2="71af3243-3dd4-4a8d-8c0d-dd76da1f02a5" xmlns:ns3="16c05727-aa75-4e4a-9b5f-8a80a1165891" targetNamespace="http://schemas.microsoft.com/office/2006/metadata/properties" ma:root="true" ma:fieldsID="04e1f6479c48b08974ba73b5ca973489" ns2:_="" ns3:_="">
    <xsd:import namespace="71af3243-3dd4-4a8d-8c0d-dd76da1f02a5"/>
    <xsd:import namespace="16c05727-aa75-4e4a-9b5f-8a80a116589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4965EBD3-98B5-4FD2-8FAF-5D4022A9F7F4}">
  <ds:schemaRefs>
    <ds:schemaRef ds:uri="16c05727-aa75-4e4a-9b5f-8a80a1165891"/>
    <ds:schemaRef ds:uri="71af3243-3dd4-4a8d-8c0d-dd76da1f02a5"/>
    <ds:schemaRef ds:uri="http://schemas.microsoft.com/office/infopath/2007/PartnerControls"/>
    <ds:schemaRef ds:uri="http://www.w3.org/XML/1998/namespace"/>
    <ds:schemaRef ds:uri="http://purl.org/dc/elements/1.1/"/>
    <ds:schemaRef ds:uri="http://purl.org/dc/terms/"/>
    <ds:schemaRef ds:uri="http://purl.org/dc/dcmitype/"/>
    <ds:schemaRef ds:uri="http://schemas.microsoft.com/office/2006/documentManagement/types"/>
    <ds:schemaRef ds:uri="http://schemas.openxmlformats.org/package/2006/metadata/core-properties"/>
    <ds:schemaRef ds:uri="http://schemas.microsoft.com/office/2006/metadata/properties"/>
  </ds:schemaRefs>
</ds:datastoreItem>
</file>

<file path=customXml/itemProps2.xml><?xml version="1.0" encoding="utf-8"?>
<ds:datastoreItem xmlns:ds="http://schemas.openxmlformats.org/officeDocument/2006/customXml" ds:itemID="{204E1485-0760-4ABF-A612-28A97B86DF09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55813238-AF3D-40EB-A3A4-550AB85131D4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1af3243-3dd4-4a8d-8c0d-dd76da1f02a5"/>
    <ds:schemaRef ds:uri="16c05727-aa75-4e4a-9b5f-8a80a116589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Tourism Facet design</Template>
  <TotalTime>0</TotalTime>
  <Words>2595</Words>
  <Application>Microsoft Office PowerPoint</Application>
  <PresentationFormat>Widescreen</PresentationFormat>
  <Paragraphs>220</Paragraphs>
  <Slides>18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7" baseType="lpstr">
      <vt:lpstr>Arial</vt:lpstr>
      <vt:lpstr>B Nazanin</vt:lpstr>
      <vt:lpstr>Corbel</vt:lpstr>
      <vt:lpstr>Corbel (Body)</vt:lpstr>
      <vt:lpstr>IRANSans</vt:lpstr>
      <vt:lpstr>MsYekan</vt:lpstr>
      <vt:lpstr>Tahoma</vt:lpstr>
      <vt:lpstr>Wingdings</vt:lpstr>
      <vt:lpstr>Basis</vt:lpstr>
      <vt:lpstr>مهارت تصمیم گیری درست</vt:lpstr>
      <vt:lpstr>تصمیم گیری چیست ؟</vt:lpstr>
      <vt:lpstr>انواع تصمیم گیری </vt:lpstr>
      <vt:lpstr>مهارت تصمیم گیری</vt:lpstr>
      <vt:lpstr>تصمیم درست / نتیجه نامطلوب  </vt:lpstr>
      <vt:lpstr>اهمیت تصمیم سازی</vt:lpstr>
      <vt:lpstr>خرده مهارت های مرتبط با تصمیم گیری درست </vt:lpstr>
      <vt:lpstr>فوبیای تصمیم گیری </vt:lpstr>
      <vt:lpstr>اولویت بندی ارزشها در تصمیم گیری </vt:lpstr>
      <vt:lpstr>چالش اخلاق و فرهنگ در تصمیم گیری </vt:lpstr>
      <vt:lpstr> ثبت و مرور تصمیمها</vt:lpstr>
      <vt:lpstr>خطا های شناختی یا خطاهای ذهنی </vt:lpstr>
      <vt:lpstr>بررسی توان مغز انسان</vt:lpstr>
      <vt:lpstr>نمونه هایی از خطاهای ذهنی </vt:lpstr>
      <vt:lpstr>خطای تایید خود </vt:lpstr>
      <vt:lpstr>تصمیم گیری چیست ؟</vt:lpstr>
      <vt:lpstr>سوگیری (Bias)  </vt:lpstr>
      <vt:lpstr>پایان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1</cp:revision>
  <dcterms:created xsi:type="dcterms:W3CDTF">2019-02-05T10:32:05Z</dcterms:created>
  <dcterms:modified xsi:type="dcterms:W3CDTF">2019-04-15T13:55:35Z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